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4"/>
  </p:notesMasterIdLst>
  <p:sldIdLst>
    <p:sldId id="258" r:id="rId2"/>
    <p:sldId id="343" r:id="rId3"/>
    <p:sldId id="260" r:id="rId4"/>
    <p:sldId id="262" r:id="rId5"/>
    <p:sldId id="263" r:id="rId6"/>
    <p:sldId id="264" r:id="rId7"/>
    <p:sldId id="265" r:id="rId8"/>
    <p:sldId id="266" r:id="rId9"/>
    <p:sldId id="268" r:id="rId10"/>
    <p:sldId id="269" r:id="rId11"/>
    <p:sldId id="270" r:id="rId12"/>
    <p:sldId id="271" r:id="rId13"/>
    <p:sldId id="272" r:id="rId14"/>
    <p:sldId id="344" r:id="rId15"/>
    <p:sldId id="345" r:id="rId16"/>
    <p:sldId id="275" r:id="rId17"/>
    <p:sldId id="276" r:id="rId18"/>
    <p:sldId id="346" r:id="rId19"/>
    <p:sldId id="347" r:id="rId20"/>
    <p:sldId id="348" r:id="rId21"/>
    <p:sldId id="349" r:id="rId22"/>
    <p:sldId id="350" r:id="rId23"/>
    <p:sldId id="351" r:id="rId24"/>
    <p:sldId id="352" r:id="rId25"/>
    <p:sldId id="353" r:id="rId26"/>
    <p:sldId id="354" r:id="rId27"/>
    <p:sldId id="355" r:id="rId28"/>
    <p:sldId id="286" r:id="rId29"/>
    <p:sldId id="287" r:id="rId30"/>
    <p:sldId id="288" r:id="rId31"/>
    <p:sldId id="289" r:id="rId32"/>
    <p:sldId id="290" r:id="rId33"/>
    <p:sldId id="291" r:id="rId34"/>
    <p:sldId id="292" r:id="rId35"/>
    <p:sldId id="358" r:id="rId36"/>
    <p:sldId id="359" r:id="rId37"/>
    <p:sldId id="360" r:id="rId38"/>
    <p:sldId id="361" r:id="rId39"/>
    <p:sldId id="362" r:id="rId40"/>
    <p:sldId id="363" r:id="rId41"/>
    <p:sldId id="293" r:id="rId42"/>
    <p:sldId id="294" r:id="rId43"/>
    <p:sldId id="295" r:id="rId44"/>
    <p:sldId id="296" r:id="rId45"/>
    <p:sldId id="297" r:id="rId46"/>
    <p:sldId id="298" r:id="rId47"/>
    <p:sldId id="299" r:id="rId48"/>
    <p:sldId id="365" r:id="rId49"/>
    <p:sldId id="300" r:id="rId50"/>
    <p:sldId id="301" r:id="rId51"/>
    <p:sldId id="366" r:id="rId52"/>
    <p:sldId id="367" r:id="rId53"/>
    <p:sldId id="368" r:id="rId54"/>
    <p:sldId id="369" r:id="rId55"/>
    <p:sldId id="370" r:id="rId56"/>
    <p:sldId id="371" r:id="rId57"/>
    <p:sldId id="372" r:id="rId58"/>
    <p:sldId id="373" r:id="rId59"/>
    <p:sldId id="376" r:id="rId60"/>
    <p:sldId id="377" r:id="rId61"/>
    <p:sldId id="375" r:id="rId62"/>
    <p:sldId id="374" r:id="rId63"/>
    <p:sldId id="378" r:id="rId64"/>
    <p:sldId id="379" r:id="rId65"/>
    <p:sldId id="380" r:id="rId66"/>
    <p:sldId id="381" r:id="rId67"/>
    <p:sldId id="382" r:id="rId68"/>
    <p:sldId id="383" r:id="rId69"/>
    <p:sldId id="384" r:id="rId70"/>
    <p:sldId id="385" r:id="rId71"/>
    <p:sldId id="387" r:id="rId72"/>
    <p:sldId id="386" r:id="rId73"/>
    <p:sldId id="388" r:id="rId74"/>
    <p:sldId id="389" r:id="rId75"/>
    <p:sldId id="390" r:id="rId76"/>
    <p:sldId id="391" r:id="rId77"/>
    <p:sldId id="392" r:id="rId78"/>
    <p:sldId id="393" r:id="rId79"/>
    <p:sldId id="394" r:id="rId80"/>
    <p:sldId id="395" r:id="rId81"/>
    <p:sldId id="396" r:id="rId82"/>
    <p:sldId id="398" r:id="rId83"/>
    <p:sldId id="397" r:id="rId84"/>
    <p:sldId id="399" r:id="rId85"/>
    <p:sldId id="401" r:id="rId86"/>
    <p:sldId id="402" r:id="rId87"/>
    <p:sldId id="403" r:id="rId88"/>
    <p:sldId id="400" r:id="rId89"/>
    <p:sldId id="404" r:id="rId90"/>
    <p:sldId id="405" r:id="rId91"/>
    <p:sldId id="406" r:id="rId92"/>
    <p:sldId id="407" r:id="rId93"/>
    <p:sldId id="408" r:id="rId94"/>
    <p:sldId id="409" r:id="rId95"/>
    <p:sldId id="410" r:id="rId96"/>
    <p:sldId id="411" r:id="rId97"/>
    <p:sldId id="412" r:id="rId98"/>
    <p:sldId id="413" r:id="rId99"/>
    <p:sldId id="414" r:id="rId100"/>
    <p:sldId id="416" r:id="rId101"/>
    <p:sldId id="418" r:id="rId102"/>
    <p:sldId id="419" r:id="rId103"/>
    <p:sldId id="364" r:id="rId104"/>
    <p:sldId id="420" r:id="rId105"/>
    <p:sldId id="421" r:id="rId106"/>
    <p:sldId id="422" r:id="rId107"/>
    <p:sldId id="423" r:id="rId108"/>
    <p:sldId id="424" r:id="rId109"/>
    <p:sldId id="425" r:id="rId110"/>
    <p:sldId id="427" r:id="rId111"/>
    <p:sldId id="428" r:id="rId112"/>
    <p:sldId id="429" r:id="rId113"/>
    <p:sldId id="430" r:id="rId114"/>
    <p:sldId id="440" r:id="rId115"/>
    <p:sldId id="431" r:id="rId116"/>
    <p:sldId id="432" r:id="rId117"/>
    <p:sldId id="433" r:id="rId118"/>
    <p:sldId id="434" r:id="rId119"/>
    <p:sldId id="441" r:id="rId120"/>
    <p:sldId id="436" r:id="rId121"/>
    <p:sldId id="437" r:id="rId122"/>
    <p:sldId id="442" r:id="rId123"/>
    <p:sldId id="438" r:id="rId124"/>
    <p:sldId id="439" r:id="rId125"/>
    <p:sldId id="443" r:id="rId126"/>
    <p:sldId id="444" r:id="rId127"/>
    <p:sldId id="445" r:id="rId128"/>
    <p:sldId id="446" r:id="rId129"/>
    <p:sldId id="450" r:id="rId130"/>
    <p:sldId id="447" r:id="rId131"/>
    <p:sldId id="448" r:id="rId132"/>
    <p:sldId id="453" r:id="rId133"/>
    <p:sldId id="449" r:id="rId134"/>
    <p:sldId id="451" r:id="rId135"/>
    <p:sldId id="452" r:id="rId136"/>
    <p:sldId id="454" r:id="rId137"/>
    <p:sldId id="455" r:id="rId138"/>
    <p:sldId id="457" r:id="rId139"/>
    <p:sldId id="456" r:id="rId140"/>
    <p:sldId id="458" r:id="rId141"/>
    <p:sldId id="459" r:id="rId142"/>
    <p:sldId id="460" r:id="rId143"/>
    <p:sldId id="471" r:id="rId144"/>
    <p:sldId id="472" r:id="rId145"/>
    <p:sldId id="473" r:id="rId146"/>
    <p:sldId id="474" r:id="rId147"/>
    <p:sldId id="475" r:id="rId148"/>
    <p:sldId id="476" r:id="rId149"/>
    <p:sldId id="477" r:id="rId150"/>
    <p:sldId id="478" r:id="rId151"/>
    <p:sldId id="461" r:id="rId152"/>
    <p:sldId id="479" r:id="rId153"/>
    <p:sldId id="480" r:id="rId154"/>
    <p:sldId id="481" r:id="rId155"/>
    <p:sldId id="482" r:id="rId156"/>
    <p:sldId id="483" r:id="rId157"/>
    <p:sldId id="484" r:id="rId158"/>
    <p:sldId id="485" r:id="rId159"/>
    <p:sldId id="486" r:id="rId160"/>
    <p:sldId id="487" r:id="rId161"/>
    <p:sldId id="488" r:id="rId162"/>
    <p:sldId id="462" r:id="rId163"/>
    <p:sldId id="463" r:id="rId164"/>
    <p:sldId id="464" r:id="rId165"/>
    <p:sldId id="465" r:id="rId166"/>
    <p:sldId id="466" r:id="rId167"/>
    <p:sldId id="467" r:id="rId168"/>
    <p:sldId id="468" r:id="rId169"/>
    <p:sldId id="490" r:id="rId170"/>
    <p:sldId id="489" r:id="rId171"/>
    <p:sldId id="491" r:id="rId172"/>
    <p:sldId id="492" r:id="rId173"/>
    <p:sldId id="493" r:id="rId174"/>
    <p:sldId id="494" r:id="rId175"/>
    <p:sldId id="496" r:id="rId176"/>
    <p:sldId id="495" r:id="rId177"/>
    <p:sldId id="497" r:id="rId178"/>
    <p:sldId id="498" r:id="rId179"/>
    <p:sldId id="499" r:id="rId180"/>
    <p:sldId id="500" r:id="rId181"/>
    <p:sldId id="501" r:id="rId182"/>
    <p:sldId id="502" r:id="rId183"/>
    <p:sldId id="503" r:id="rId184"/>
    <p:sldId id="504" r:id="rId185"/>
    <p:sldId id="505" r:id="rId186"/>
    <p:sldId id="506" r:id="rId187"/>
    <p:sldId id="507" r:id="rId188"/>
    <p:sldId id="508" r:id="rId189"/>
    <p:sldId id="509" r:id="rId190"/>
    <p:sldId id="510" r:id="rId191"/>
    <p:sldId id="511" r:id="rId192"/>
    <p:sldId id="512" r:id="rId193"/>
    <p:sldId id="513" r:id="rId194"/>
    <p:sldId id="514" r:id="rId195"/>
    <p:sldId id="516" r:id="rId196"/>
    <p:sldId id="515" r:id="rId197"/>
    <p:sldId id="517" r:id="rId198"/>
    <p:sldId id="518" r:id="rId199"/>
    <p:sldId id="519" r:id="rId200"/>
    <p:sldId id="521" r:id="rId201"/>
    <p:sldId id="522" r:id="rId202"/>
    <p:sldId id="523" r:id="rId20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5" d="100"/>
          <a:sy n="65" d="100"/>
        </p:scale>
        <p:origin x="153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slide" Target="slides/slide202.xml"/><Relationship Id="rId208"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4172E3A-A5AB-40A2-B003-8B1560ED575A}" type="datetimeFigureOut">
              <a:rPr lang="en-US" smtClean="0"/>
              <a:pPr/>
              <a:t>8/4/2026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1C4C052-A1F4-4A22-9B8B-CEDFAD199119}"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6" name="Rectangle 6"/>
          <p:cNvSpPr>
            <a:spLocks noGrp="1" noChangeArrowheads="1"/>
          </p:cNvSpPr>
          <p:nvPr>
            <p:ph type="sldNum" sz="quarter"/>
          </p:nvPr>
        </p:nvSpPr>
        <p:spPr>
          <a:noFill/>
          <a:ln/>
        </p:spPr>
        <p:txBody>
          <a:bodyPr/>
          <a:lstStyle/>
          <a:p>
            <a:fld id="{04FDD962-0BBA-4299-8B43-2826F161DF14}" type="slidenum">
              <a:rPr lang="en-US" altLang="en-US"/>
              <a:pPr/>
              <a:t>1</a:t>
            </a:fld>
            <a:endParaRPr lang="en-US" altLang="en-US"/>
          </a:p>
        </p:txBody>
      </p:sp>
      <p:sp>
        <p:nvSpPr>
          <p:cNvPr id="614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614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42" name="Rectangle 6"/>
          <p:cNvSpPr>
            <a:spLocks noGrp="1" noChangeArrowheads="1"/>
          </p:cNvSpPr>
          <p:nvPr>
            <p:ph type="sldNum" sz="quarter"/>
          </p:nvPr>
        </p:nvSpPr>
        <p:spPr>
          <a:noFill/>
          <a:ln/>
        </p:spPr>
        <p:txBody>
          <a:bodyPr/>
          <a:lstStyle/>
          <a:p>
            <a:fld id="{EA8E5ED8-566F-4D7E-AEB3-5C0FD34AFF6B}" type="slidenum">
              <a:rPr lang="en-US" altLang="en-US"/>
              <a:pPr/>
              <a:t>3</a:t>
            </a:fld>
            <a:endParaRPr lang="en-US" altLang="en-US"/>
          </a:p>
        </p:txBody>
      </p:sp>
      <p:sp>
        <p:nvSpPr>
          <p:cNvPr id="1024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1024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338" name="Rectangle 6"/>
          <p:cNvSpPr>
            <a:spLocks noGrp="1" noChangeArrowheads="1"/>
          </p:cNvSpPr>
          <p:nvPr>
            <p:ph type="sldNum" sz="quarter"/>
          </p:nvPr>
        </p:nvSpPr>
        <p:spPr>
          <a:noFill/>
          <a:ln/>
        </p:spPr>
        <p:txBody>
          <a:bodyPr/>
          <a:lstStyle/>
          <a:p>
            <a:fld id="{336C7550-CBA5-4EA4-8D09-4D1C7368B7A3}" type="slidenum">
              <a:rPr lang="en-US" altLang="en-US"/>
              <a:pPr/>
              <a:t>4</a:t>
            </a:fld>
            <a:endParaRPr lang="en-US" altLang="en-US"/>
          </a:p>
        </p:txBody>
      </p:sp>
      <p:sp>
        <p:nvSpPr>
          <p:cNvPr id="1433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1434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6" name="Rectangle 6"/>
          <p:cNvSpPr>
            <a:spLocks noGrp="1" noChangeArrowheads="1"/>
          </p:cNvSpPr>
          <p:nvPr>
            <p:ph type="sldNum" sz="quarter"/>
          </p:nvPr>
        </p:nvSpPr>
        <p:spPr>
          <a:noFill/>
          <a:ln/>
        </p:spPr>
        <p:txBody>
          <a:bodyPr/>
          <a:lstStyle/>
          <a:p>
            <a:fld id="{9481BB03-5847-4AD2-879B-EB9E3AE23C3D}" type="slidenum">
              <a:rPr lang="en-US" altLang="en-US"/>
              <a:pPr/>
              <a:t>5</a:t>
            </a:fld>
            <a:endParaRPr lang="en-US" altLang="en-US"/>
          </a:p>
        </p:txBody>
      </p:sp>
      <p:sp>
        <p:nvSpPr>
          <p:cNvPr id="1638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1638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34" name="Rectangle 6"/>
          <p:cNvSpPr>
            <a:spLocks noGrp="1" noChangeArrowheads="1"/>
          </p:cNvSpPr>
          <p:nvPr>
            <p:ph type="sldNum" sz="quarter"/>
          </p:nvPr>
        </p:nvSpPr>
        <p:spPr>
          <a:noFill/>
          <a:ln/>
        </p:spPr>
        <p:txBody>
          <a:bodyPr/>
          <a:lstStyle/>
          <a:p>
            <a:fld id="{89D7811B-025C-4DE3-B820-76E66E4A4F9C}" type="slidenum">
              <a:rPr lang="en-US" altLang="en-US"/>
              <a:pPr/>
              <a:t>6</a:t>
            </a:fld>
            <a:endParaRPr lang="en-US" altLang="en-US"/>
          </a:p>
        </p:txBody>
      </p:sp>
      <p:sp>
        <p:nvSpPr>
          <p:cNvPr id="1843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1843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482" name="Rectangle 6"/>
          <p:cNvSpPr>
            <a:spLocks noGrp="1" noChangeArrowheads="1"/>
          </p:cNvSpPr>
          <p:nvPr>
            <p:ph type="sldNum" sz="quarter"/>
          </p:nvPr>
        </p:nvSpPr>
        <p:spPr>
          <a:noFill/>
          <a:ln/>
        </p:spPr>
        <p:txBody>
          <a:bodyPr/>
          <a:lstStyle/>
          <a:p>
            <a:fld id="{7AF726A7-8E32-492D-BD31-4942BEFE2A09}" type="slidenum">
              <a:rPr lang="en-US" altLang="en-US"/>
              <a:pPr/>
              <a:t>7</a:t>
            </a:fld>
            <a:endParaRPr lang="en-US" altLang="en-US"/>
          </a:p>
        </p:txBody>
      </p:sp>
      <p:sp>
        <p:nvSpPr>
          <p:cNvPr id="2048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2048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30" name="Rectangle 6"/>
          <p:cNvSpPr>
            <a:spLocks noGrp="1" noChangeArrowheads="1"/>
          </p:cNvSpPr>
          <p:nvPr>
            <p:ph type="sldNum" sz="quarter"/>
          </p:nvPr>
        </p:nvSpPr>
        <p:spPr>
          <a:noFill/>
          <a:ln/>
        </p:spPr>
        <p:txBody>
          <a:bodyPr/>
          <a:lstStyle/>
          <a:p>
            <a:fld id="{1963AD5C-28CD-455B-9936-F111C3C59A66}" type="slidenum">
              <a:rPr lang="en-US" altLang="en-US"/>
              <a:pPr/>
              <a:t>8</a:t>
            </a:fld>
            <a:endParaRPr lang="en-US" altLang="en-US"/>
          </a:p>
        </p:txBody>
      </p:sp>
      <p:sp>
        <p:nvSpPr>
          <p:cNvPr id="2253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2253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626" name="Rectangle 6"/>
          <p:cNvSpPr>
            <a:spLocks noGrp="1" noChangeArrowheads="1"/>
          </p:cNvSpPr>
          <p:nvPr>
            <p:ph type="sldNum" sz="quarter"/>
          </p:nvPr>
        </p:nvSpPr>
        <p:spPr>
          <a:noFill/>
          <a:ln/>
        </p:spPr>
        <p:txBody>
          <a:bodyPr/>
          <a:lstStyle/>
          <a:p>
            <a:fld id="{EE560103-4393-4F0A-94EE-3B33C690D9DC}" type="slidenum">
              <a:rPr lang="en-US" altLang="en-US"/>
              <a:pPr/>
              <a:t>9</a:t>
            </a:fld>
            <a:endParaRPr lang="en-US" altLang="en-US"/>
          </a:p>
        </p:txBody>
      </p:sp>
      <p:sp>
        <p:nvSpPr>
          <p:cNvPr id="2662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2662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674" name="Rectangle 6"/>
          <p:cNvSpPr>
            <a:spLocks noGrp="1" noChangeArrowheads="1"/>
          </p:cNvSpPr>
          <p:nvPr>
            <p:ph type="sldNum" sz="quarter"/>
          </p:nvPr>
        </p:nvSpPr>
        <p:spPr>
          <a:noFill/>
          <a:ln/>
        </p:spPr>
        <p:txBody>
          <a:bodyPr/>
          <a:lstStyle/>
          <a:p>
            <a:fld id="{E4297FD7-B8E9-4557-A3B1-AB33FF0575FD}" type="slidenum">
              <a:rPr lang="en-US" altLang="en-US"/>
              <a:pPr/>
              <a:t>10</a:t>
            </a:fld>
            <a:endParaRPr lang="en-US" altLang="en-US"/>
          </a:p>
        </p:txBody>
      </p:sp>
      <p:sp>
        <p:nvSpPr>
          <p:cNvPr id="2867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2867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22" name="Rectangle 6"/>
          <p:cNvSpPr>
            <a:spLocks noGrp="1" noChangeArrowheads="1"/>
          </p:cNvSpPr>
          <p:nvPr>
            <p:ph type="sldNum" sz="quarter"/>
          </p:nvPr>
        </p:nvSpPr>
        <p:spPr>
          <a:noFill/>
          <a:ln/>
        </p:spPr>
        <p:txBody>
          <a:bodyPr/>
          <a:lstStyle/>
          <a:p>
            <a:fld id="{3A0B8024-F5A9-4798-B72E-C09D2D566E08}" type="slidenum">
              <a:rPr lang="en-US" altLang="en-US"/>
              <a:pPr/>
              <a:t>11</a:t>
            </a:fld>
            <a:endParaRPr lang="en-US" altLang="en-US"/>
          </a:p>
        </p:txBody>
      </p:sp>
      <p:sp>
        <p:nvSpPr>
          <p:cNvPr id="3072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3072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770" name="Rectangle 6"/>
          <p:cNvSpPr>
            <a:spLocks noGrp="1" noChangeArrowheads="1"/>
          </p:cNvSpPr>
          <p:nvPr>
            <p:ph type="sldNum" sz="quarter"/>
          </p:nvPr>
        </p:nvSpPr>
        <p:spPr>
          <a:noFill/>
          <a:ln/>
        </p:spPr>
        <p:txBody>
          <a:bodyPr/>
          <a:lstStyle/>
          <a:p>
            <a:fld id="{AE692B36-59CD-4C2B-84E1-4EDEFA266E9C}" type="slidenum">
              <a:rPr lang="en-US" altLang="en-US"/>
              <a:pPr/>
              <a:t>12</a:t>
            </a:fld>
            <a:endParaRPr lang="en-US" altLang="en-US"/>
          </a:p>
        </p:txBody>
      </p:sp>
      <p:sp>
        <p:nvSpPr>
          <p:cNvPr id="3277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3277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818" name="Rectangle 6"/>
          <p:cNvSpPr>
            <a:spLocks noGrp="1" noChangeArrowheads="1"/>
          </p:cNvSpPr>
          <p:nvPr>
            <p:ph type="sldNum" sz="quarter"/>
          </p:nvPr>
        </p:nvSpPr>
        <p:spPr>
          <a:noFill/>
          <a:ln/>
        </p:spPr>
        <p:txBody>
          <a:bodyPr/>
          <a:lstStyle/>
          <a:p>
            <a:fld id="{E83FD995-B3AF-4C5E-A68F-574C69030C6F}" type="slidenum">
              <a:rPr lang="en-US" altLang="en-US"/>
              <a:pPr/>
              <a:t>13</a:t>
            </a:fld>
            <a:endParaRPr lang="en-US" altLang="en-US"/>
          </a:p>
        </p:txBody>
      </p:sp>
      <p:sp>
        <p:nvSpPr>
          <p:cNvPr id="3481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3482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962" name="Rectangle 6"/>
          <p:cNvSpPr>
            <a:spLocks noGrp="1" noChangeArrowheads="1"/>
          </p:cNvSpPr>
          <p:nvPr>
            <p:ph type="sldNum" sz="quarter"/>
          </p:nvPr>
        </p:nvSpPr>
        <p:spPr>
          <a:noFill/>
          <a:ln/>
        </p:spPr>
        <p:txBody>
          <a:bodyPr/>
          <a:lstStyle/>
          <a:p>
            <a:fld id="{CDAB347C-56EB-4656-ACD6-9F62FE64B976}" type="slidenum">
              <a:rPr lang="en-US" altLang="en-US"/>
              <a:pPr/>
              <a:t>16</a:t>
            </a:fld>
            <a:endParaRPr lang="en-US" altLang="en-US"/>
          </a:p>
        </p:txBody>
      </p:sp>
      <p:sp>
        <p:nvSpPr>
          <p:cNvPr id="4096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4096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010" name="Rectangle 6"/>
          <p:cNvSpPr>
            <a:spLocks noGrp="1" noChangeArrowheads="1"/>
          </p:cNvSpPr>
          <p:nvPr>
            <p:ph type="sldNum" sz="quarter"/>
          </p:nvPr>
        </p:nvSpPr>
        <p:spPr>
          <a:noFill/>
          <a:ln/>
        </p:spPr>
        <p:txBody>
          <a:bodyPr/>
          <a:lstStyle/>
          <a:p>
            <a:fld id="{0C64D785-067B-4E0C-9C80-5DE65EA7C19F}" type="slidenum">
              <a:rPr lang="en-US" altLang="en-US"/>
              <a:pPr/>
              <a:t>17</a:t>
            </a:fld>
            <a:endParaRPr lang="en-US" altLang="en-US"/>
          </a:p>
        </p:txBody>
      </p:sp>
      <p:sp>
        <p:nvSpPr>
          <p:cNvPr id="4301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4301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9394" name="Rectangle 6"/>
          <p:cNvSpPr>
            <a:spLocks noGrp="1" noChangeArrowheads="1"/>
          </p:cNvSpPr>
          <p:nvPr>
            <p:ph type="sldNum" sz="quarter"/>
          </p:nvPr>
        </p:nvSpPr>
        <p:spPr>
          <a:noFill/>
          <a:ln/>
        </p:spPr>
        <p:txBody>
          <a:bodyPr/>
          <a:lstStyle/>
          <a:p>
            <a:fld id="{9538B758-8D90-419A-A20E-254603DF490A}" type="slidenum">
              <a:rPr lang="en-US" altLang="en-US"/>
              <a:pPr/>
              <a:t>41</a:t>
            </a:fld>
            <a:endParaRPr lang="en-US" altLang="en-US"/>
          </a:p>
        </p:txBody>
      </p:sp>
      <p:sp>
        <p:nvSpPr>
          <p:cNvPr id="5939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5939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42" name="Rectangle 6"/>
          <p:cNvSpPr>
            <a:spLocks noGrp="1" noChangeArrowheads="1"/>
          </p:cNvSpPr>
          <p:nvPr>
            <p:ph type="sldNum" sz="quarter"/>
          </p:nvPr>
        </p:nvSpPr>
        <p:spPr>
          <a:noFill/>
          <a:ln/>
        </p:spPr>
        <p:txBody>
          <a:bodyPr/>
          <a:lstStyle/>
          <a:p>
            <a:fld id="{6F08DCD8-6CCC-4EE4-9DBF-36C201180CB1}" type="slidenum">
              <a:rPr lang="en-US" altLang="en-US"/>
              <a:pPr/>
              <a:t>42</a:t>
            </a:fld>
            <a:endParaRPr lang="en-US" altLang="en-US"/>
          </a:p>
        </p:txBody>
      </p:sp>
      <p:sp>
        <p:nvSpPr>
          <p:cNvPr id="6144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6144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490" name="Rectangle 6"/>
          <p:cNvSpPr>
            <a:spLocks noGrp="1" noChangeArrowheads="1"/>
          </p:cNvSpPr>
          <p:nvPr>
            <p:ph type="sldNum" sz="quarter"/>
          </p:nvPr>
        </p:nvSpPr>
        <p:spPr>
          <a:noFill/>
          <a:ln/>
        </p:spPr>
        <p:txBody>
          <a:bodyPr/>
          <a:lstStyle/>
          <a:p>
            <a:fld id="{DEF0190E-3CC7-4BE9-B4F7-13EFA41A988C}" type="slidenum">
              <a:rPr lang="en-US" altLang="en-US"/>
              <a:pPr/>
              <a:t>43</a:t>
            </a:fld>
            <a:endParaRPr lang="en-US" altLang="en-US"/>
          </a:p>
        </p:txBody>
      </p:sp>
      <p:sp>
        <p:nvSpPr>
          <p:cNvPr id="6349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6349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5538" name="Rectangle 6"/>
          <p:cNvSpPr>
            <a:spLocks noGrp="1" noChangeArrowheads="1"/>
          </p:cNvSpPr>
          <p:nvPr>
            <p:ph type="sldNum" sz="quarter"/>
          </p:nvPr>
        </p:nvSpPr>
        <p:spPr>
          <a:noFill/>
          <a:ln/>
        </p:spPr>
        <p:txBody>
          <a:bodyPr/>
          <a:lstStyle/>
          <a:p>
            <a:fld id="{AEF595A0-9CEC-4172-BD17-4753F7077620}" type="slidenum">
              <a:rPr lang="en-US" altLang="en-US"/>
              <a:pPr/>
              <a:t>44</a:t>
            </a:fld>
            <a:endParaRPr lang="en-US" altLang="en-US"/>
          </a:p>
        </p:txBody>
      </p:sp>
      <p:sp>
        <p:nvSpPr>
          <p:cNvPr id="6553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6554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7586" name="Rectangle 6"/>
          <p:cNvSpPr>
            <a:spLocks noGrp="1" noChangeArrowheads="1"/>
          </p:cNvSpPr>
          <p:nvPr>
            <p:ph type="sldNum" sz="quarter"/>
          </p:nvPr>
        </p:nvSpPr>
        <p:spPr>
          <a:noFill/>
          <a:ln/>
        </p:spPr>
        <p:txBody>
          <a:bodyPr/>
          <a:lstStyle/>
          <a:p>
            <a:fld id="{CEC0F1D8-0944-4CC9-A9A6-986828879406}" type="slidenum">
              <a:rPr lang="en-US" altLang="en-US"/>
              <a:pPr/>
              <a:t>45</a:t>
            </a:fld>
            <a:endParaRPr lang="en-US" altLang="en-US"/>
          </a:p>
        </p:txBody>
      </p:sp>
      <p:sp>
        <p:nvSpPr>
          <p:cNvPr id="6758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6758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9634" name="Rectangle 6"/>
          <p:cNvSpPr>
            <a:spLocks noGrp="1" noChangeArrowheads="1"/>
          </p:cNvSpPr>
          <p:nvPr>
            <p:ph type="sldNum" sz="quarter"/>
          </p:nvPr>
        </p:nvSpPr>
        <p:spPr>
          <a:noFill/>
          <a:ln/>
        </p:spPr>
        <p:txBody>
          <a:bodyPr/>
          <a:lstStyle/>
          <a:p>
            <a:fld id="{9B3EE5A8-2EE5-44CF-9005-1A0D0C510D1B}" type="slidenum">
              <a:rPr lang="en-US" altLang="en-US"/>
              <a:pPr/>
              <a:t>46</a:t>
            </a:fld>
            <a:endParaRPr lang="en-US" altLang="en-US"/>
          </a:p>
        </p:txBody>
      </p:sp>
      <p:sp>
        <p:nvSpPr>
          <p:cNvPr id="6963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6963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682" name="Rectangle 6"/>
          <p:cNvSpPr>
            <a:spLocks noGrp="1" noChangeArrowheads="1"/>
          </p:cNvSpPr>
          <p:nvPr>
            <p:ph type="sldNum" sz="quarter"/>
          </p:nvPr>
        </p:nvSpPr>
        <p:spPr>
          <a:noFill/>
          <a:ln/>
        </p:spPr>
        <p:txBody>
          <a:bodyPr/>
          <a:lstStyle/>
          <a:p>
            <a:fld id="{2EEFE7D6-2A75-451E-9ABA-0D046112A9CD}" type="slidenum">
              <a:rPr lang="en-US" altLang="en-US"/>
              <a:pPr/>
              <a:t>47</a:t>
            </a:fld>
            <a:endParaRPr lang="en-US" altLang="en-US"/>
          </a:p>
        </p:txBody>
      </p:sp>
      <p:sp>
        <p:nvSpPr>
          <p:cNvPr id="7168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7168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3730" name="Rectangle 6"/>
          <p:cNvSpPr>
            <a:spLocks noGrp="1" noChangeArrowheads="1"/>
          </p:cNvSpPr>
          <p:nvPr>
            <p:ph type="sldNum" sz="quarter"/>
          </p:nvPr>
        </p:nvSpPr>
        <p:spPr>
          <a:noFill/>
          <a:ln/>
        </p:spPr>
        <p:txBody>
          <a:bodyPr/>
          <a:lstStyle/>
          <a:p>
            <a:fld id="{FAFFE8CD-95BF-4423-BDCA-1DFED45C8EC5}" type="slidenum">
              <a:rPr lang="en-US" altLang="en-US"/>
              <a:pPr/>
              <a:t>49</a:t>
            </a:fld>
            <a:endParaRPr lang="en-US" altLang="en-US"/>
          </a:p>
        </p:txBody>
      </p:sp>
      <p:sp>
        <p:nvSpPr>
          <p:cNvPr id="7373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7373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778" name="Rectangle 6"/>
          <p:cNvSpPr>
            <a:spLocks noGrp="1" noChangeArrowheads="1"/>
          </p:cNvSpPr>
          <p:nvPr>
            <p:ph type="sldNum" sz="quarter"/>
          </p:nvPr>
        </p:nvSpPr>
        <p:spPr>
          <a:noFill/>
          <a:ln/>
        </p:spPr>
        <p:txBody>
          <a:bodyPr/>
          <a:lstStyle/>
          <a:p>
            <a:fld id="{984BB4FE-F20A-48D9-B1DF-9206911F7BB2}" type="slidenum">
              <a:rPr lang="en-US" altLang="en-US"/>
              <a:pPr/>
              <a:t>50</a:t>
            </a:fld>
            <a:endParaRPr lang="en-US" altLang="en-US"/>
          </a:p>
        </p:txBody>
      </p:sp>
      <p:sp>
        <p:nvSpPr>
          <p:cNvPr id="7577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txBody>
          <a:bodyPr/>
          <a:lstStyle/>
          <a:p>
            <a:endParaRPr lang="en-US"/>
          </a:p>
        </p:txBody>
      </p:sp>
      <p:sp>
        <p:nvSpPr>
          <p:cNvPr id="7578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C4C052-A1F4-4A22-9B8B-CEDFAD199119}" type="slidenum">
              <a:rPr lang="en-US" smtClean="0"/>
              <a:pPr/>
              <a:t>151</a:t>
            </a:fld>
            <a:endParaRPr lang="en-US"/>
          </a:p>
        </p:txBody>
      </p:sp>
    </p:spTree>
    <p:extLst>
      <p:ext uri="{BB962C8B-B14F-4D97-AF65-F5344CB8AC3E}">
        <p14:creationId xmlns:p14="http://schemas.microsoft.com/office/powerpoint/2010/main" val="30388410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82157AA-F0B9-43D6-86F2-FAA33B99CE2E}" type="datetimeFigureOut">
              <a:rPr lang="en-US" smtClean="0"/>
              <a:pPr/>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82157AA-F0B9-43D6-86F2-FAA33B99CE2E}" type="datetimeFigureOut">
              <a:rPr lang="en-US" smtClean="0"/>
              <a:pPr/>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82157AA-F0B9-43D6-86F2-FAA33B99CE2E}" type="datetimeFigureOut">
              <a:rPr lang="en-US" smtClean="0"/>
              <a:pPr/>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82157AA-F0B9-43D6-86F2-FAA33B99CE2E}" type="datetimeFigureOut">
              <a:rPr lang="en-US" smtClean="0"/>
              <a:pPr/>
              <a:t>8/4/2026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82157AA-F0B9-43D6-86F2-FAA33B99CE2E}" type="datetimeFigureOut">
              <a:rPr lang="en-US" smtClean="0"/>
              <a:pPr/>
              <a:t>8/4/2026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82157AA-F0B9-43D6-86F2-FAA33B99CE2E}" type="datetimeFigureOut">
              <a:rPr lang="en-US" smtClean="0"/>
              <a:pPr/>
              <a:t>8/4/2026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2157AA-F0B9-43D6-86F2-FAA33B99CE2E}" type="datetimeFigureOut">
              <a:rPr lang="en-US" smtClean="0"/>
              <a:pPr/>
              <a:t>8/4/2026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82157AA-F0B9-43D6-86F2-FAA33B99CE2E}" type="datetimeFigureOut">
              <a:rPr lang="en-US" smtClean="0"/>
              <a:pPr/>
              <a:t>8/4/2026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82157AA-F0B9-43D6-86F2-FAA33B99CE2E}" type="datetimeFigureOut">
              <a:rPr lang="en-US" smtClean="0"/>
              <a:pPr/>
              <a:t>8/4/2026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82157AA-F0B9-43D6-86F2-FAA33B99CE2E}" type="datetimeFigureOut">
              <a:rPr lang="en-US" smtClean="0"/>
              <a:pPr/>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82157AA-F0B9-43D6-86F2-FAA33B99CE2E}" type="datetimeFigureOut">
              <a:rPr lang="en-US" smtClean="0"/>
              <a:pPr/>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2157AA-F0B9-43D6-86F2-FAA33B99CE2E}" type="datetimeFigureOut">
              <a:rPr lang="en-US" smtClean="0"/>
              <a:pPr/>
              <a:t>8/4/2026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903F8F-F07C-4F14-BB6B-9F00CB52A0D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a:t>
            </a:fld>
            <a:endParaRPr lang="en-US"/>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TOPICS</a:t>
            </a:r>
            <a:endParaRPr lang="en-US" sz="4000" dirty="0">
              <a:latin typeface="Lucida Sans Unicode" pitchFamily="34" charset="0"/>
              <a:cs typeface="Arial" charset="0"/>
            </a:endParaRPr>
          </a:p>
        </p:txBody>
      </p:sp>
      <p:sp>
        <p:nvSpPr>
          <p:cNvPr id="51201" name="Rectangle 1"/>
          <p:cNvSpPr>
            <a:spLocks noChangeArrowheads="1"/>
          </p:cNvSpPr>
          <p:nvPr/>
        </p:nvSpPr>
        <p:spPr bwMode="auto">
          <a:xfrm>
            <a:off x="457200" y="1295400"/>
            <a:ext cx="8458200" cy="310854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800" b="1" dirty="0"/>
              <a:t>JAVA BASICS: </a:t>
            </a:r>
            <a:r>
              <a:rPr lang="en-US" sz="2800" dirty="0"/>
              <a:t>Review of Object oriented concepts, History of Java, Java buzzwords, JVM architecture, Data types, Variables, Scope and life time of variables, arrays, operators, control statements, type conversion and casting, simple java program, constructors, methods, Static block, Static Data, Static Method String and String Buffer Classes, Using Java API Document.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60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65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69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79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Box 1"/>
          <p:cNvSpPr txBox="1">
            <a:spLocks noChangeArrowheads="1"/>
          </p:cNvSpPr>
          <p:nvPr/>
        </p:nvSpPr>
        <p:spPr bwMode="auto">
          <a:xfrm>
            <a:off x="914400" y="762000"/>
            <a:ext cx="7620000" cy="1200150"/>
          </a:xfrm>
          <a:prstGeom prst="rect">
            <a:avLst/>
          </a:prstGeom>
          <a:noFill/>
          <a:ln w="9525">
            <a:noFill/>
            <a:miter lim="800000"/>
            <a:headEnd/>
            <a:tailEnd/>
          </a:ln>
        </p:spPr>
        <p:txBody>
          <a:bodyPr>
            <a:spAutoFit/>
          </a:bodyPr>
          <a:lstStyle/>
          <a:p>
            <a:pPr>
              <a:lnSpc>
                <a:spcPct val="150000"/>
              </a:lnSpc>
            </a:pPr>
            <a:endParaRPr lang="en-US" sz="2400" b="1" u="sng">
              <a:solidFill>
                <a:srgbClr val="00B050"/>
              </a:solidFill>
            </a:endParaRPr>
          </a:p>
          <a:p>
            <a:pPr>
              <a:lnSpc>
                <a:spcPct val="150000"/>
              </a:lnSpc>
            </a:pPr>
            <a:endParaRPr lang="en-US" sz="2400" b="1" u="sng">
              <a:solidFill>
                <a:srgbClr val="00B050"/>
              </a:solidFill>
            </a:endParaRPr>
          </a:p>
        </p:txBody>
      </p:sp>
      <p:sp>
        <p:nvSpPr>
          <p:cNvPr id="4" name="TextBox 3"/>
          <p:cNvSpPr txBox="1"/>
          <p:nvPr/>
        </p:nvSpPr>
        <p:spPr>
          <a:xfrm>
            <a:off x="228600" y="838200"/>
            <a:ext cx="8915400" cy="6586418"/>
          </a:xfrm>
          <a:prstGeom prst="rect">
            <a:avLst/>
          </a:prstGeom>
          <a:noFill/>
        </p:spPr>
        <p:txBody>
          <a:bodyPr wrap="square">
            <a:spAutoFit/>
          </a:bodyPr>
          <a:lstStyle/>
          <a:p>
            <a:pPr algn="just">
              <a:lnSpc>
                <a:spcPct val="200000"/>
              </a:lnSpc>
              <a:buClr>
                <a:srgbClr val="C00000"/>
              </a:buClr>
            </a:pPr>
            <a:r>
              <a:rPr lang="en-US" b="1" u="sng" dirty="0">
                <a:latin typeface="Times New Roman" panose="02020603050405020304" pitchFamily="18" charset="0"/>
                <a:cs typeface="Times New Roman" panose="02020603050405020304" pitchFamily="18" charset="0"/>
              </a:rPr>
              <a:t>Benefits of Inheritance</a:t>
            </a:r>
          </a:p>
          <a:p>
            <a:pPr algn="just">
              <a:lnSpc>
                <a:spcPct val="200000"/>
              </a:lnSpc>
              <a:buClr>
                <a:srgbClr val="C00000"/>
              </a:buClr>
            </a:pPr>
            <a:endParaRPr lang="en-US" b="1" u="sng" dirty="0">
              <a:latin typeface="Times New Roman" panose="02020603050405020304" pitchFamily="18" charset="0"/>
              <a:cs typeface="Times New Roman" panose="02020603050405020304" pitchFamily="18" charset="0"/>
            </a:endParaRPr>
          </a:p>
          <a:p>
            <a:pPr marL="798513" indent="-290513" algn="just" eaLnBrk="1" hangingPunct="1">
              <a:lnSpc>
                <a:spcPct val="150000"/>
              </a:lnSpc>
              <a:spcBef>
                <a:spcPts val="0"/>
              </a:spcBef>
              <a:spcAft>
                <a:spcPts val="600"/>
              </a:spcAft>
              <a:buFont typeface="+mj-lt"/>
              <a:buAutoNum type="arabicParenR"/>
              <a:defRPr/>
            </a:pPr>
            <a:r>
              <a:rPr lang="en-US" b="1" dirty="0">
                <a:latin typeface="Times New Roman" panose="02020603050405020304" pitchFamily="18" charset="0"/>
                <a:cs typeface="Times New Roman" panose="02020603050405020304" pitchFamily="18" charset="0"/>
              </a:rPr>
              <a:t>Software reusability </a:t>
            </a:r>
            <a:r>
              <a:rPr lang="en-US" dirty="0">
                <a:latin typeface="Times New Roman" panose="02020603050405020304" pitchFamily="18" charset="0"/>
                <a:cs typeface="Times New Roman" panose="02020603050405020304" pitchFamily="18" charset="0"/>
              </a:rPr>
              <a:t>(among projects)  : Functions written once can be reused. No need to spend time in rewriting the code	</a:t>
            </a:r>
          </a:p>
          <a:p>
            <a:pPr marL="798513" indent="-290513" algn="just" eaLnBrk="1" hangingPunct="1">
              <a:lnSpc>
                <a:spcPct val="150000"/>
              </a:lnSpc>
              <a:spcBef>
                <a:spcPts val="0"/>
              </a:spcBef>
              <a:spcAft>
                <a:spcPts val="600"/>
              </a:spcAft>
              <a:defRPr/>
            </a:pPr>
            <a:endParaRPr lang="en-US" dirty="0">
              <a:latin typeface="Times New Roman" panose="02020603050405020304" pitchFamily="18" charset="0"/>
              <a:cs typeface="Times New Roman" panose="02020603050405020304" pitchFamily="18" charset="0"/>
            </a:endParaRPr>
          </a:p>
          <a:p>
            <a:pPr marL="850900" indent="-342900" algn="just" eaLnBrk="1" hangingPunct="1">
              <a:lnSpc>
                <a:spcPct val="150000"/>
              </a:lnSpc>
              <a:spcBef>
                <a:spcPts val="0"/>
              </a:spcBef>
              <a:spcAft>
                <a:spcPts val="600"/>
              </a:spcAft>
              <a:buFont typeface="Arial" pitchFamily="34" charset="0"/>
              <a:buAutoNum type="arabicParenR" startAt="2"/>
              <a:defRPr/>
            </a:pPr>
            <a:r>
              <a:rPr lang="en-US" b="1" dirty="0">
                <a:latin typeface="Times New Roman" panose="02020603050405020304" pitchFamily="18" charset="0"/>
                <a:cs typeface="Times New Roman" panose="02020603050405020304" pitchFamily="18" charset="0"/>
              </a:rPr>
              <a:t>Code sharing </a:t>
            </a:r>
            <a:r>
              <a:rPr lang="en-US" dirty="0">
                <a:latin typeface="Times New Roman" panose="02020603050405020304" pitchFamily="18" charset="0"/>
                <a:cs typeface="Times New Roman" panose="02020603050405020304" pitchFamily="18" charset="0"/>
              </a:rPr>
              <a:t>(within a project) : Many users and projects can use the same classes.</a:t>
            </a:r>
          </a:p>
          <a:p>
            <a:pPr marL="850900" indent="-342900" algn="just" eaLnBrk="1" hangingPunct="1">
              <a:lnSpc>
                <a:spcPct val="150000"/>
              </a:lnSpc>
              <a:spcBef>
                <a:spcPts val="0"/>
              </a:spcBef>
              <a:spcAft>
                <a:spcPts val="600"/>
              </a:spcAft>
              <a:defRPr/>
            </a:pPr>
            <a:endParaRPr lang="en-US" dirty="0">
              <a:latin typeface="Times New Roman" panose="02020603050405020304" pitchFamily="18" charset="0"/>
              <a:cs typeface="Times New Roman" panose="02020603050405020304" pitchFamily="18" charset="0"/>
            </a:endParaRPr>
          </a:p>
          <a:p>
            <a:pPr marL="850900" indent="-342900" algn="just" eaLnBrk="1" hangingPunct="1">
              <a:lnSpc>
                <a:spcPct val="150000"/>
              </a:lnSpc>
              <a:spcBef>
                <a:spcPts val="0"/>
              </a:spcBef>
              <a:spcAft>
                <a:spcPts val="600"/>
              </a:spcAft>
              <a:buFont typeface="Arial" pitchFamily="34" charset="0"/>
              <a:buAutoNum type="arabicParenR" startAt="3"/>
              <a:defRPr/>
            </a:pPr>
            <a:r>
              <a:rPr lang="en-US" b="1" dirty="0">
                <a:latin typeface="Times New Roman" panose="02020603050405020304" pitchFamily="18" charset="0"/>
                <a:cs typeface="Times New Roman" panose="02020603050405020304" pitchFamily="18" charset="0"/>
              </a:rPr>
              <a:t>Increased reliability </a:t>
            </a:r>
            <a:r>
              <a:rPr lang="en-US" dirty="0">
                <a:latin typeface="Times New Roman" panose="02020603050405020304" pitchFamily="18" charset="0"/>
                <a:cs typeface="Times New Roman" panose="02020603050405020304" pitchFamily="18" charset="0"/>
              </a:rPr>
              <a:t>(resulting from reuse and sharing of well-tested code) : Probability of fewer bugs in already used and tested code.</a:t>
            </a:r>
          </a:p>
          <a:p>
            <a:pPr marL="850900" indent="-342900" algn="just" eaLnBrk="1" hangingPunct="1">
              <a:lnSpc>
                <a:spcPct val="150000"/>
              </a:lnSpc>
              <a:spcBef>
                <a:spcPts val="0"/>
              </a:spcBef>
              <a:spcAft>
                <a:spcPts val="600"/>
              </a:spcAft>
              <a:defRPr/>
            </a:pPr>
            <a:endParaRPr lang="en-US" dirty="0">
              <a:latin typeface="Times New Roman" panose="02020603050405020304" pitchFamily="18" charset="0"/>
              <a:cs typeface="Times New Roman" panose="02020603050405020304" pitchFamily="18" charset="0"/>
            </a:endParaRPr>
          </a:p>
          <a:p>
            <a:pPr marL="798513" indent="-290513" algn="just" eaLnBrk="1" hangingPunct="1">
              <a:lnSpc>
                <a:spcPct val="150000"/>
              </a:lnSpc>
              <a:spcBef>
                <a:spcPts val="0"/>
              </a:spcBef>
              <a:spcAft>
                <a:spcPts val="600"/>
              </a:spcAft>
              <a:buFont typeface="Arial" pitchFamily="34" charset="0"/>
              <a:buNone/>
              <a:defRPr/>
            </a:pPr>
            <a:endParaRPr lang="en-US" dirty="0">
              <a:latin typeface="Times New Roman" panose="02020603050405020304" pitchFamily="18" charset="0"/>
              <a:cs typeface="Times New Roman" panose="02020603050405020304" pitchFamily="18" charset="0"/>
            </a:endParaRPr>
          </a:p>
          <a:p>
            <a:pPr algn="just">
              <a:lnSpc>
                <a:spcPct val="200000"/>
              </a:lnSpc>
            </a:pPr>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p:txBody>
      </p:sp>
      <p:sp>
        <p:nvSpPr>
          <p:cNvPr id="16389"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lnSpc>
                <a:spcPct val="150000"/>
              </a:lnSpc>
            </a:pPr>
            <a:r>
              <a:rPr lang="en-US" sz="4000" b="1" dirty="0"/>
              <a:t> OOP CONCEPTS </a:t>
            </a:r>
            <a:endParaRPr lang="en-US" sz="3200" b="1" dirty="0"/>
          </a:p>
        </p:txBody>
      </p:sp>
      <p:sp>
        <p:nvSpPr>
          <p:cNvPr id="6" name="Slide Number Placeholder 5"/>
          <p:cNvSpPr>
            <a:spLocks noGrp="1"/>
          </p:cNvSpPr>
          <p:nvPr>
            <p:ph type="sldNum" sz="quarter" idx="12"/>
          </p:nvPr>
        </p:nvSpPr>
        <p:spPr/>
        <p:txBody>
          <a:bodyPr/>
          <a:lstStyle/>
          <a:p>
            <a:pPr>
              <a:defRPr/>
            </a:pPr>
            <a:fld id="{862374CD-8486-48B9-8C2D-7E4B9ABEDC6C}" type="slidenum">
              <a:rPr lang="en-US" smtClean="0"/>
              <a:pPr>
                <a:defRPr/>
              </a:pPr>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Box 1"/>
          <p:cNvSpPr txBox="1">
            <a:spLocks noChangeArrowheads="1"/>
          </p:cNvSpPr>
          <p:nvPr/>
        </p:nvSpPr>
        <p:spPr bwMode="auto">
          <a:xfrm>
            <a:off x="914400" y="762000"/>
            <a:ext cx="7620000" cy="1200150"/>
          </a:xfrm>
          <a:prstGeom prst="rect">
            <a:avLst/>
          </a:prstGeom>
          <a:noFill/>
          <a:ln w="9525">
            <a:noFill/>
            <a:miter lim="800000"/>
            <a:headEnd/>
            <a:tailEnd/>
          </a:ln>
        </p:spPr>
        <p:txBody>
          <a:bodyPr>
            <a:spAutoFit/>
          </a:bodyPr>
          <a:lstStyle/>
          <a:p>
            <a:pPr>
              <a:lnSpc>
                <a:spcPct val="150000"/>
              </a:lnSpc>
            </a:pPr>
            <a:endParaRPr lang="en-US" sz="2400" b="1" u="sng">
              <a:solidFill>
                <a:srgbClr val="00B050"/>
              </a:solidFill>
            </a:endParaRPr>
          </a:p>
          <a:p>
            <a:pPr>
              <a:lnSpc>
                <a:spcPct val="150000"/>
              </a:lnSpc>
            </a:pPr>
            <a:endParaRPr lang="en-US" sz="2400" b="1" u="sng">
              <a:solidFill>
                <a:srgbClr val="00B050"/>
              </a:solidFill>
            </a:endParaRPr>
          </a:p>
        </p:txBody>
      </p:sp>
      <p:sp>
        <p:nvSpPr>
          <p:cNvPr id="4" name="TextBox 3"/>
          <p:cNvSpPr txBox="1"/>
          <p:nvPr/>
        </p:nvSpPr>
        <p:spPr>
          <a:xfrm>
            <a:off x="457200" y="914400"/>
            <a:ext cx="7848600" cy="1892826"/>
          </a:xfrm>
          <a:prstGeom prst="rect">
            <a:avLst/>
          </a:prstGeom>
          <a:noFill/>
        </p:spPr>
        <p:txBody>
          <a:bodyPr wrap="square">
            <a:spAutoFit/>
          </a:bodyPr>
          <a:lstStyle/>
          <a:p>
            <a:pPr algn="just">
              <a:buClr>
                <a:srgbClr val="C00000"/>
              </a:buClr>
            </a:pPr>
            <a:endParaRPr lang="en-US" b="1" u="sng" dirty="0">
              <a:latin typeface="Lucida Bright"/>
            </a:endParaRPr>
          </a:p>
          <a:p>
            <a:pPr marL="465138" indent="-349250" algn="just" eaLnBrk="1" hangingPunct="1">
              <a:lnSpc>
                <a:spcPct val="150000"/>
              </a:lnSpc>
              <a:spcBef>
                <a:spcPts val="0"/>
              </a:spcBef>
              <a:defRPr/>
            </a:pPr>
            <a:endParaRPr lang="en-US" dirty="0">
              <a:latin typeface="Lucida Bright" pitchFamily="18" charset="0"/>
            </a:endParaRPr>
          </a:p>
          <a:p>
            <a:pPr algn="just">
              <a:lnSpc>
                <a:spcPct val="200000"/>
              </a:lnSpc>
            </a:pPr>
            <a:endParaRPr lang="en-US" dirty="0">
              <a:latin typeface="Lucida Bright"/>
              <a:cs typeface="Times New Roman" pitchFamily="18" charset="0"/>
            </a:endParaRPr>
          </a:p>
          <a:p>
            <a:pPr algn="just"/>
            <a:endParaRPr lang="en-US" dirty="0">
              <a:latin typeface="Lucida Bright"/>
              <a:cs typeface="Times New Roman" pitchFamily="18" charset="0"/>
            </a:endParaRPr>
          </a:p>
          <a:p>
            <a:pPr algn="just"/>
            <a:endParaRPr lang="en-US" dirty="0">
              <a:latin typeface="Lucida Bright"/>
              <a:cs typeface="Times New Roman" pitchFamily="18" charset="0"/>
            </a:endParaRPr>
          </a:p>
        </p:txBody>
      </p:sp>
      <p:sp>
        <p:nvSpPr>
          <p:cNvPr id="16389"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lnSpc>
                <a:spcPct val="150000"/>
              </a:lnSpc>
            </a:pPr>
            <a:r>
              <a:rPr lang="en-US" sz="4000" b="1" dirty="0"/>
              <a:t> OOP CONCEPTS </a:t>
            </a:r>
            <a:endParaRPr lang="en-US" sz="3200" b="1" dirty="0"/>
          </a:p>
        </p:txBody>
      </p:sp>
      <p:sp>
        <p:nvSpPr>
          <p:cNvPr id="6" name="Slide Number Placeholder 5"/>
          <p:cNvSpPr>
            <a:spLocks noGrp="1"/>
          </p:cNvSpPr>
          <p:nvPr>
            <p:ph type="sldNum" sz="quarter" idx="12"/>
          </p:nvPr>
        </p:nvSpPr>
        <p:spPr/>
        <p:txBody>
          <a:bodyPr/>
          <a:lstStyle/>
          <a:p>
            <a:pPr>
              <a:defRPr/>
            </a:pPr>
            <a:fld id="{862374CD-8486-48B9-8C2D-7E4B9ABEDC6C}" type="slidenum">
              <a:rPr lang="en-US" smtClean="0"/>
              <a:pPr>
                <a:defRPr/>
              </a:pPr>
              <a:t>15</a:t>
            </a:fld>
            <a:endParaRPr lang="en-US"/>
          </a:p>
        </p:txBody>
      </p:sp>
      <p:sp>
        <p:nvSpPr>
          <p:cNvPr id="7" name="Rectangle 6"/>
          <p:cNvSpPr/>
          <p:nvPr/>
        </p:nvSpPr>
        <p:spPr>
          <a:xfrm>
            <a:off x="228600" y="1823884"/>
            <a:ext cx="8686800" cy="2948243"/>
          </a:xfrm>
          <a:prstGeom prst="rect">
            <a:avLst/>
          </a:prstGeom>
        </p:spPr>
        <p:txBody>
          <a:bodyPr wrap="square">
            <a:spAutoFit/>
          </a:bodyPr>
          <a:lstStyle/>
          <a:p>
            <a:pPr marL="465138" indent="-349250" algn="just">
              <a:lnSpc>
                <a:spcPct val="150000"/>
              </a:lnSpc>
              <a:defRPr/>
            </a:pPr>
            <a:r>
              <a:rPr lang="en-US" dirty="0">
                <a:latin typeface="Lucida Bright" pitchFamily="18" charset="0"/>
              </a:rPr>
              <a:t>4) </a:t>
            </a:r>
            <a:r>
              <a:rPr lang="en-US" b="1" dirty="0">
                <a:latin typeface="Lucida Bright" pitchFamily="18" charset="0"/>
              </a:rPr>
              <a:t>Polymorphism and frameworks </a:t>
            </a:r>
            <a:r>
              <a:rPr lang="en-US" dirty="0">
                <a:latin typeface="Lucida Bright" pitchFamily="18" charset="0"/>
              </a:rPr>
              <a:t>(high-level reusable components): Polymorphism permits the programmer to generate high-level reusable components that can be tailored to fit different applications by changes in their low-level parts.</a:t>
            </a:r>
          </a:p>
          <a:p>
            <a:pPr marL="465138" indent="-349250" algn="just">
              <a:lnSpc>
                <a:spcPct val="150000"/>
              </a:lnSpc>
              <a:defRPr/>
            </a:pPr>
            <a:endParaRPr lang="en-US" dirty="0">
              <a:latin typeface="Lucida Bright" pitchFamily="18" charset="0"/>
            </a:endParaRPr>
          </a:p>
          <a:p>
            <a:pPr marL="465138" indent="-349250" algn="just">
              <a:lnSpc>
                <a:spcPct val="150000"/>
              </a:lnSpc>
              <a:defRPr/>
            </a:pPr>
            <a:r>
              <a:rPr lang="en-US" dirty="0">
                <a:latin typeface="Lucida Bright" pitchFamily="18" charset="0"/>
              </a:rPr>
              <a:t>5) </a:t>
            </a:r>
            <a:r>
              <a:rPr lang="en-US" b="1" dirty="0">
                <a:latin typeface="Lucida Bright" pitchFamily="18" charset="0"/>
              </a:rPr>
              <a:t>Information hiding  : </a:t>
            </a:r>
            <a:r>
              <a:rPr lang="en-US" dirty="0">
                <a:latin typeface="Lucida Bright" pitchFamily="18" charset="0"/>
              </a:rPr>
              <a:t>Reduces inter connections between software system thus decreasing software complexity.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3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98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title"/>
          </p:nvPr>
        </p:nvSpPr>
        <p:spPr>
          <a:xfrm>
            <a:off x="0" y="0"/>
            <a:ext cx="9144000" cy="563563"/>
          </a:xfrm>
          <a:solidFill>
            <a:srgbClr val="FFFF00"/>
          </a:solidFill>
        </p:spPr>
        <p:txBody>
          <a:bodyPr>
            <a:normAutofit fontScale="90000"/>
          </a:bodyPr>
          <a:lstStyle/>
          <a:p>
            <a:pPr eaLnBrk="1" hangingPunct="1"/>
            <a:br>
              <a:rPr lang="en-US" sz="3900"/>
            </a:br>
            <a:r>
              <a:rPr lang="en-US" sz="3900"/>
              <a:t>Java History</a:t>
            </a:r>
            <a:br>
              <a:rPr lang="en-US" sz="3900"/>
            </a:br>
            <a:endParaRPr lang="en-US" sz="3900"/>
          </a:p>
        </p:txBody>
      </p:sp>
      <p:sp>
        <p:nvSpPr>
          <p:cNvPr id="3075" name="Rectangle 5"/>
          <p:cNvSpPr>
            <a:spLocks noGrp="1" noChangeArrowheads="1"/>
          </p:cNvSpPr>
          <p:nvPr>
            <p:ph type="body" idx="1"/>
          </p:nvPr>
        </p:nvSpPr>
        <p:spPr>
          <a:xfrm>
            <a:off x="228600" y="685800"/>
            <a:ext cx="8763000" cy="5943600"/>
          </a:xfrm>
        </p:spPr>
        <p:txBody>
          <a:bodyPr/>
          <a:lstStyle/>
          <a:p>
            <a:pPr algn="just" eaLnBrk="1" hangingPunct="1">
              <a:lnSpc>
                <a:spcPct val="80000"/>
              </a:lnSpc>
              <a:buFontTx/>
              <a:buNone/>
            </a:pPr>
            <a:endParaRPr lang="en-US" sz="1800" b="1" dirty="0">
              <a:latin typeface="Times New Roman" panose="02020603050405020304" pitchFamily="18" charset="0"/>
              <a:cs typeface="Times New Roman" panose="02020603050405020304" pitchFamily="18" charset="0"/>
            </a:endParaRPr>
          </a:p>
          <a:p>
            <a:pPr algn="just" eaLnBrk="1" hangingPunct="1">
              <a:lnSpc>
                <a:spcPct val="80000"/>
              </a:lnSpc>
              <a:buFontTx/>
              <a:buNone/>
            </a:pPr>
            <a:r>
              <a:rPr lang="en-US" sz="1800" b="1" dirty="0">
                <a:latin typeface="Times New Roman" panose="02020603050405020304" pitchFamily="18" charset="0"/>
                <a:cs typeface="Times New Roman" panose="02020603050405020304" pitchFamily="18" charset="0"/>
              </a:rPr>
              <a:t>C language </a:t>
            </a:r>
            <a:r>
              <a:rPr lang="en-US" sz="1800" dirty="0">
                <a:latin typeface="Times New Roman" panose="02020603050405020304" pitchFamily="18" charset="0"/>
                <a:cs typeface="Times New Roman" panose="02020603050405020304" pitchFamily="18" charset="0"/>
              </a:rPr>
              <a:t>:</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Designed by Dennis Ritchie in 1970s.</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Before C: BASIC, COBOL, FORTRAN, PASCAL </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C- structured, efficient, high-level language that could replace assembly code when creating systems programs.</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Designed, implemented and tested by programmers.</a:t>
            </a:r>
          </a:p>
          <a:p>
            <a:pPr algn="just" eaLnBrk="1" hangingPunct="1">
              <a:lnSpc>
                <a:spcPct val="80000"/>
              </a:lnSpc>
              <a:buFontTx/>
              <a:buNone/>
            </a:pPr>
            <a:endParaRPr lang="en-US" sz="1800" dirty="0">
              <a:latin typeface="Times New Roman" panose="02020603050405020304" pitchFamily="18" charset="0"/>
              <a:cs typeface="Times New Roman" panose="02020603050405020304" pitchFamily="18" charset="0"/>
            </a:endParaRPr>
          </a:p>
          <a:p>
            <a:pPr algn="just" eaLnBrk="1" hangingPunct="1">
              <a:lnSpc>
                <a:spcPct val="80000"/>
              </a:lnSpc>
              <a:buFontTx/>
              <a:buNone/>
            </a:pPr>
            <a:endParaRPr lang="en-US" sz="1800" dirty="0">
              <a:latin typeface="Times New Roman" panose="02020603050405020304" pitchFamily="18" charset="0"/>
              <a:cs typeface="Times New Roman" panose="02020603050405020304" pitchFamily="18" charset="0"/>
            </a:endParaRPr>
          </a:p>
          <a:p>
            <a:pPr algn="just" eaLnBrk="1" hangingPunct="1">
              <a:lnSpc>
                <a:spcPct val="80000"/>
              </a:lnSpc>
              <a:buFontTx/>
              <a:buNone/>
            </a:pPr>
            <a:r>
              <a:rPr lang="en-US" sz="1800" b="1" dirty="0">
                <a:latin typeface="Times New Roman" panose="02020603050405020304" pitchFamily="18" charset="0"/>
                <a:cs typeface="Times New Roman" panose="02020603050405020304" pitchFamily="18" charset="0"/>
              </a:rPr>
              <a:t>C++ Language :</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Designed by Bjarne Stroustrup in 1979.</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Response to the increased complexity of programs and respective improvements in the programming paradigms and methods:</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1) assembler languages</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2) high-level languages</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3) structured programming</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4) object-oriented programming (OOP)</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OOP – methodology that helps organize complex programs through the use of inheritance, encapsulation and polymorphism.</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C++ extends C by adding object-oriented features</a:t>
            </a:r>
            <a:endParaRPr lang="en-US" sz="2400" dirty="0">
              <a:latin typeface="Times New Roman" panose="02020603050405020304" pitchFamily="18" charset="0"/>
              <a:cs typeface="Times New Roman" panose="02020603050405020304" pitchFamily="18" charset="0"/>
            </a:endParaRPr>
          </a:p>
        </p:txBody>
      </p:sp>
      <p:sp>
        <p:nvSpPr>
          <p:cNvPr id="3076" name="Slide Number Placeholder 3"/>
          <p:cNvSpPr>
            <a:spLocks noGrp="1"/>
          </p:cNvSpPr>
          <p:nvPr>
            <p:ph type="sldNum" sz="quarter" idx="12"/>
          </p:nvPr>
        </p:nvSpPr>
        <p:spPr>
          <a:noFill/>
        </p:spPr>
        <p:txBody>
          <a:bodyPr/>
          <a:lstStyle/>
          <a:p>
            <a:fld id="{3306CB1D-AA30-46BE-A791-7B4BC834EC65}" type="slidenum">
              <a:rPr lang="en-US" smtClean="0"/>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
          <p:cNvSpPr>
            <a:spLocks noGrp="1" noChangeArrowheads="1"/>
          </p:cNvSpPr>
          <p:nvPr>
            <p:ph type="body" idx="1"/>
          </p:nvPr>
        </p:nvSpPr>
        <p:spPr>
          <a:xfrm>
            <a:off x="228600" y="228600"/>
            <a:ext cx="8610600" cy="5791200"/>
          </a:xfrm>
        </p:spPr>
        <p:txBody>
          <a:bodyPr/>
          <a:lstStyle/>
          <a:p>
            <a:pPr algn="just" eaLnBrk="1" hangingPunct="1">
              <a:lnSpc>
                <a:spcPct val="90000"/>
              </a:lnSpc>
              <a:buFontTx/>
              <a:buNone/>
            </a:pPr>
            <a:r>
              <a:rPr lang="en-US" sz="2400" b="1" dirty="0">
                <a:latin typeface="Times New Roman" panose="02020603050405020304" pitchFamily="18" charset="0"/>
                <a:cs typeface="Times New Roman" panose="02020603050405020304" pitchFamily="18" charset="0"/>
              </a:rPr>
              <a:t>JAVA language :</a:t>
            </a:r>
          </a:p>
          <a:p>
            <a:pPr algn="just" eaLnBrk="1" hangingPunct="1">
              <a:lnSpc>
                <a:spcPct val="90000"/>
              </a:lnSpc>
              <a:buFontTx/>
              <a:buNone/>
            </a:pPr>
            <a:endParaRPr lang="en-US" sz="2400" b="1" dirty="0">
              <a:latin typeface="Times New Roman" panose="02020603050405020304" pitchFamily="18" charset="0"/>
              <a:cs typeface="Times New Roman" panose="02020603050405020304" pitchFamily="18" charset="0"/>
            </a:endParaRPr>
          </a:p>
          <a:p>
            <a:pPr algn="just" eaLnBrk="1" hangingPunct="1"/>
            <a:r>
              <a:rPr lang="en-US" sz="2400" dirty="0">
                <a:latin typeface="Times New Roman" panose="02020603050405020304" pitchFamily="18" charset="0"/>
                <a:cs typeface="Times New Roman" panose="02020603050405020304" pitchFamily="18" charset="0"/>
              </a:rPr>
              <a:t>Computer language innovation and development occurs for two fundamental reasons:</a:t>
            </a:r>
          </a:p>
          <a:p>
            <a:pPr algn="just" eaLnBrk="1" hangingPunct="1">
              <a:buFontTx/>
              <a:buNone/>
            </a:pPr>
            <a:r>
              <a:rPr lang="en-US" sz="2400" dirty="0">
                <a:latin typeface="Times New Roman" panose="02020603050405020304" pitchFamily="18" charset="0"/>
                <a:cs typeface="Times New Roman" panose="02020603050405020304" pitchFamily="18" charset="0"/>
              </a:rPr>
              <a:t>	1) to adapt to changing environments and uses</a:t>
            </a:r>
          </a:p>
          <a:p>
            <a:pPr algn="just" eaLnBrk="1" hangingPunct="1">
              <a:buFontTx/>
              <a:buNone/>
            </a:pPr>
            <a:r>
              <a:rPr lang="en-US" sz="2400" dirty="0">
                <a:latin typeface="Times New Roman" panose="02020603050405020304" pitchFamily="18" charset="0"/>
                <a:cs typeface="Times New Roman" panose="02020603050405020304" pitchFamily="18" charset="0"/>
              </a:rPr>
              <a:t>	2) to implement improvements in the art of programming</a:t>
            </a:r>
          </a:p>
          <a:p>
            <a:pPr algn="just" eaLnBrk="1" hangingPunct="1"/>
            <a:r>
              <a:rPr lang="en-US" sz="2400" dirty="0">
                <a:latin typeface="Times New Roman" panose="02020603050405020304" pitchFamily="18" charset="0"/>
                <a:cs typeface="Times New Roman" panose="02020603050405020304" pitchFamily="18" charset="0"/>
              </a:rPr>
              <a:t>The development of Java was driven by both in equal measures.</a:t>
            </a:r>
          </a:p>
          <a:p>
            <a:pPr algn="just" eaLnBrk="1" hangingPunct="1"/>
            <a:r>
              <a:rPr lang="en-US" sz="2400" dirty="0">
                <a:latin typeface="Times New Roman" panose="02020603050405020304" pitchFamily="18" charset="0"/>
                <a:cs typeface="Times New Roman" panose="02020603050405020304" pitchFamily="18" charset="0"/>
              </a:rPr>
              <a:t>Many Java features are inherited from the earlier languages:</a:t>
            </a:r>
          </a:p>
          <a:p>
            <a:pPr algn="just" eaLnBrk="1" hangingPunct="1">
              <a:buFontTx/>
              <a:buNone/>
            </a:pPr>
            <a:r>
              <a:rPr lang="en-US" sz="2400" dirty="0">
                <a:latin typeface="Times New Roman" panose="02020603050405020304" pitchFamily="18" charset="0"/>
                <a:cs typeface="Times New Roman" panose="02020603050405020304" pitchFamily="18" charset="0"/>
              </a:rPr>
              <a:t>			B </a:t>
            </a:r>
            <a:r>
              <a:rPr lang="en-US" sz="2400" dirty="0">
                <a:latin typeface="Times New Roman" panose="02020603050405020304" pitchFamily="18" charset="0"/>
                <a:cs typeface="Times New Roman" panose="02020603050405020304" pitchFamily="18" charset="0"/>
                <a:sym typeface="Wingdings" pitchFamily="2" charset="2"/>
              </a:rPr>
              <a:t></a:t>
            </a:r>
            <a:r>
              <a:rPr lang="en-US" sz="2400" dirty="0">
                <a:latin typeface="Times New Roman" panose="02020603050405020304" pitchFamily="18" charset="0"/>
                <a:cs typeface="Times New Roman" panose="02020603050405020304" pitchFamily="18" charset="0"/>
              </a:rPr>
              <a:t> C </a:t>
            </a:r>
            <a:r>
              <a:rPr lang="en-US" sz="2400" dirty="0">
                <a:latin typeface="Times New Roman" panose="02020603050405020304" pitchFamily="18" charset="0"/>
                <a:cs typeface="Times New Roman" panose="02020603050405020304" pitchFamily="18" charset="0"/>
                <a:sym typeface="Wingdings" pitchFamily="2" charset="2"/>
              </a:rPr>
              <a:t></a:t>
            </a:r>
            <a:r>
              <a:rPr lang="en-US" sz="2400" dirty="0">
                <a:latin typeface="Times New Roman" panose="02020603050405020304" pitchFamily="18" charset="0"/>
                <a:cs typeface="Times New Roman" panose="02020603050405020304" pitchFamily="18" charset="0"/>
              </a:rPr>
              <a:t> C++ </a:t>
            </a:r>
            <a:r>
              <a:rPr lang="en-US" sz="2400" dirty="0">
                <a:latin typeface="Times New Roman" panose="02020603050405020304" pitchFamily="18" charset="0"/>
                <a:cs typeface="Times New Roman" panose="02020603050405020304" pitchFamily="18" charset="0"/>
                <a:sym typeface="Wingdings" pitchFamily="2" charset="2"/>
              </a:rPr>
              <a:t></a:t>
            </a:r>
            <a:r>
              <a:rPr lang="en-US" sz="2400" dirty="0">
                <a:latin typeface="Times New Roman" panose="02020603050405020304" pitchFamily="18" charset="0"/>
                <a:cs typeface="Times New Roman" panose="02020603050405020304" pitchFamily="18" charset="0"/>
              </a:rPr>
              <a:t> Java</a:t>
            </a:r>
          </a:p>
          <a:p>
            <a:pPr algn="just" eaLnBrk="1" hangingPunct="1">
              <a:buFontTx/>
              <a:buNone/>
            </a:pPr>
            <a:endParaRPr lang="en-US" sz="2800" dirty="0">
              <a:latin typeface="Times New Roman" panose="02020603050405020304" pitchFamily="18" charset="0"/>
              <a:cs typeface="Times New Roman" panose="02020603050405020304" pitchFamily="18" charset="0"/>
            </a:endParaRPr>
          </a:p>
        </p:txBody>
      </p:sp>
      <p:sp>
        <p:nvSpPr>
          <p:cNvPr id="4099" name="Slide Number Placeholder 2"/>
          <p:cNvSpPr>
            <a:spLocks noGrp="1"/>
          </p:cNvSpPr>
          <p:nvPr>
            <p:ph type="sldNum" sz="quarter" idx="12"/>
          </p:nvPr>
        </p:nvSpPr>
        <p:spPr>
          <a:noFill/>
        </p:spPr>
        <p:txBody>
          <a:bodyPr/>
          <a:lstStyle/>
          <a:p>
            <a:fld id="{2A39FF64-64F8-4797-B08F-75C21E2749E8}" type="slidenum">
              <a:rPr lang="en-US" smtClean="0"/>
              <a:p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0" y="0"/>
            <a:ext cx="9144000" cy="609600"/>
          </a:xfrm>
          <a:solidFill>
            <a:srgbClr val="FFFF00"/>
          </a:solidFill>
        </p:spPr>
        <p:txBody>
          <a:bodyPr>
            <a:normAutofit fontScale="90000"/>
          </a:bodyPr>
          <a:lstStyle/>
          <a:p>
            <a:pPr eaLnBrk="1" hangingPunct="1"/>
            <a:r>
              <a:rPr lang="en-US" sz="4000" b="1"/>
              <a:t>Java</a:t>
            </a:r>
          </a:p>
        </p:txBody>
      </p:sp>
      <p:sp>
        <p:nvSpPr>
          <p:cNvPr id="5123" name="Rectangle 3"/>
          <p:cNvSpPr>
            <a:spLocks noGrp="1" noChangeArrowheads="1"/>
          </p:cNvSpPr>
          <p:nvPr>
            <p:ph type="body" idx="1"/>
          </p:nvPr>
        </p:nvSpPr>
        <p:spPr>
          <a:xfrm>
            <a:off x="152400" y="762000"/>
            <a:ext cx="8991600" cy="5029200"/>
          </a:xfrm>
        </p:spPr>
        <p:txBody>
          <a:bodyPr/>
          <a:lstStyle/>
          <a:p>
            <a:pPr eaLnBrk="1" hangingPunct="1">
              <a:lnSpc>
                <a:spcPct val="90000"/>
              </a:lnSpc>
            </a:pPr>
            <a:r>
              <a:rPr lang="en-US" sz="2000" b="1" dirty="0">
                <a:latin typeface="Times New Roman" panose="02020603050405020304" pitchFamily="18" charset="0"/>
                <a:cs typeface="Times New Roman" panose="02020603050405020304" pitchFamily="18" charset="0"/>
              </a:rPr>
              <a:t>In 1991, Sun Microsystems </a:t>
            </a:r>
          </a:p>
          <a:p>
            <a:pPr eaLnBrk="1" hangingPunct="1">
              <a:lnSpc>
                <a:spcPct val="90000"/>
              </a:lnSpc>
            </a:pPr>
            <a:endParaRPr lang="en-US" sz="2000" b="1"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Designed by James Gosling, Patrick </a:t>
            </a:r>
            <a:r>
              <a:rPr lang="en-US" sz="2000" dirty="0" err="1">
                <a:latin typeface="Times New Roman" panose="02020603050405020304" pitchFamily="18" charset="0"/>
                <a:cs typeface="Times New Roman" panose="02020603050405020304" pitchFamily="18" charset="0"/>
              </a:rPr>
              <a:t>Naughton</a:t>
            </a:r>
            <a:r>
              <a:rPr lang="en-US" sz="2000" dirty="0">
                <a:latin typeface="Times New Roman" panose="02020603050405020304" pitchFamily="18" charset="0"/>
                <a:cs typeface="Times New Roman" panose="02020603050405020304" pitchFamily="18" charset="0"/>
              </a:rPr>
              <a:t>, Chris </a:t>
            </a:r>
            <a:r>
              <a:rPr lang="en-US" sz="2000" dirty="0" err="1">
                <a:latin typeface="Times New Roman" panose="02020603050405020304" pitchFamily="18" charset="0"/>
                <a:cs typeface="Times New Roman" panose="02020603050405020304" pitchFamily="18" charset="0"/>
              </a:rPr>
              <a:t>Warth</a:t>
            </a:r>
            <a:r>
              <a:rPr lang="en-US" sz="2000" dirty="0">
                <a:latin typeface="Times New Roman" panose="02020603050405020304" pitchFamily="18" charset="0"/>
                <a:cs typeface="Times New Roman" panose="02020603050405020304" pitchFamily="18" charset="0"/>
              </a:rPr>
              <a:t>, Ed Frank and Mike Sheridan at Sun Microsystems in 1991.</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The original motivation is not Internet: platform-independent software embedded in consumer electronics devices.</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Java as an “Internet version of C++”? No.</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Java was not designed to replace C++, but to solve a different set of problems.</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90000"/>
              </a:lnSpc>
            </a:pPr>
            <a:endParaRPr lang="en-US" sz="2400" b="1" dirty="0">
              <a:latin typeface="Times New Roman" panose="02020603050405020304" pitchFamily="18" charset="0"/>
              <a:cs typeface="Times New Roman" panose="02020603050405020304" pitchFamily="18" charset="0"/>
            </a:endParaRPr>
          </a:p>
        </p:txBody>
      </p:sp>
      <p:sp>
        <p:nvSpPr>
          <p:cNvPr id="5124" name="Slide Number Placeholder 3"/>
          <p:cNvSpPr>
            <a:spLocks noGrp="1"/>
          </p:cNvSpPr>
          <p:nvPr>
            <p:ph type="sldNum" sz="quarter" idx="12"/>
          </p:nvPr>
        </p:nvSpPr>
        <p:spPr>
          <a:noFill/>
        </p:spPr>
        <p:txBody>
          <a:bodyPr/>
          <a:lstStyle/>
          <a:p>
            <a:fld id="{1188E2C2-2A2B-4568-8680-EA7A85546201}" type="slidenum">
              <a:rPr lang="en-US" smtClean="0"/>
              <a:pP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838201"/>
            <a:ext cx="8763000" cy="5883274"/>
          </a:xfrm>
        </p:spPr>
        <p:txBody>
          <a:bodyPr>
            <a:normAutofit fontScale="92500" lnSpcReduction="10000"/>
          </a:bodyPr>
          <a:lstStyle/>
          <a:p>
            <a:pPr marL="0" indent="0" eaLnBrk="1" hangingPunct="1">
              <a:lnSpc>
                <a:spcPct val="80000"/>
              </a:lnSpc>
              <a:buNone/>
            </a:pPr>
            <a:r>
              <a:rPr lang="en-US" sz="2600" dirty="0">
                <a:latin typeface="Times New Roman" panose="02020603050405020304" pitchFamily="18" charset="0"/>
                <a:cs typeface="Times New Roman" panose="02020603050405020304" pitchFamily="18" charset="0"/>
              </a:rPr>
              <a:t>The key considerations were summed up by the Java team in the following list of buzzwords:</a:t>
            </a:r>
          </a:p>
          <a:p>
            <a:pPr marL="514350" indent="-514350">
              <a:buFont typeface="+mj-lt"/>
              <a:buAutoNum type="arabicPeriod"/>
            </a:pPr>
            <a:r>
              <a:rPr lang="en-US" sz="2800" dirty="0"/>
              <a:t> Simple</a:t>
            </a:r>
          </a:p>
          <a:p>
            <a:pPr marL="514350" indent="-514350">
              <a:buFont typeface="+mj-lt"/>
              <a:buAutoNum type="arabicPeriod"/>
            </a:pPr>
            <a:r>
              <a:rPr lang="en-US" sz="2800" dirty="0"/>
              <a:t>Object-Oriented</a:t>
            </a:r>
          </a:p>
          <a:p>
            <a:pPr marL="514350" indent="-514350">
              <a:buFont typeface="+mj-lt"/>
              <a:buAutoNum type="arabicPeriod"/>
            </a:pPr>
            <a:r>
              <a:rPr lang="en-US" sz="2800" dirty="0"/>
              <a:t>Portable</a:t>
            </a:r>
          </a:p>
          <a:p>
            <a:pPr marL="514350" indent="-514350">
              <a:buFont typeface="+mj-lt"/>
              <a:buAutoNum type="arabicPeriod"/>
            </a:pPr>
            <a:r>
              <a:rPr lang="en-US" sz="2800" dirty="0"/>
              <a:t>Platform independent</a:t>
            </a:r>
          </a:p>
          <a:p>
            <a:pPr marL="514350" indent="-514350">
              <a:buFont typeface="+mj-lt"/>
              <a:buAutoNum type="arabicPeriod"/>
            </a:pPr>
            <a:r>
              <a:rPr lang="en-US" sz="2800" dirty="0"/>
              <a:t>Secured</a:t>
            </a:r>
          </a:p>
          <a:p>
            <a:pPr marL="514350" indent="-514350">
              <a:buFont typeface="+mj-lt"/>
              <a:buAutoNum type="arabicPeriod"/>
            </a:pPr>
            <a:r>
              <a:rPr lang="en-US" sz="2800" dirty="0"/>
              <a:t>Robust</a:t>
            </a:r>
          </a:p>
          <a:p>
            <a:pPr marL="514350" indent="-514350">
              <a:buFont typeface="+mj-lt"/>
              <a:buAutoNum type="arabicPeriod"/>
            </a:pPr>
            <a:r>
              <a:rPr lang="en-US" sz="2800" dirty="0"/>
              <a:t>Architecture neutral</a:t>
            </a:r>
          </a:p>
          <a:p>
            <a:pPr marL="514350" indent="-514350">
              <a:buFont typeface="+mj-lt"/>
              <a:buAutoNum type="arabicPeriod"/>
            </a:pPr>
            <a:r>
              <a:rPr lang="en-US" sz="2800" dirty="0"/>
              <a:t>Dynamic</a:t>
            </a:r>
          </a:p>
          <a:p>
            <a:pPr marL="514350" indent="-514350">
              <a:buFont typeface="+mj-lt"/>
              <a:buAutoNum type="arabicPeriod"/>
            </a:pPr>
            <a:r>
              <a:rPr lang="en-US" sz="2800" dirty="0"/>
              <a:t>Interpreted</a:t>
            </a:r>
          </a:p>
          <a:p>
            <a:pPr marL="514350" indent="-514350">
              <a:buFont typeface="+mj-lt"/>
              <a:buAutoNum type="arabicPeriod"/>
            </a:pPr>
            <a:r>
              <a:rPr lang="en-US" sz="2800" dirty="0"/>
              <a:t>High Performance</a:t>
            </a:r>
          </a:p>
          <a:p>
            <a:pPr marL="514350" indent="-514350">
              <a:buFont typeface="+mj-lt"/>
              <a:buAutoNum type="arabicPeriod"/>
            </a:pPr>
            <a:r>
              <a:rPr lang="en-US" sz="2800" dirty="0"/>
              <a:t>Multithreaded</a:t>
            </a:r>
          </a:p>
          <a:p>
            <a:pPr marL="514350" indent="-514350">
              <a:buFont typeface="+mj-lt"/>
              <a:buAutoNum type="arabicPeriod"/>
            </a:pPr>
            <a:r>
              <a:rPr lang="en-US" sz="2800" dirty="0"/>
              <a:t>Distributed</a:t>
            </a: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a:bodyPr>
          <a:lstStyle/>
          <a:p>
            <a:r>
              <a:rPr lang="en-US" b="1" dirty="0">
                <a:latin typeface="Times New Roman" panose="02020603050405020304" pitchFamily="18" charset="0"/>
                <a:cs typeface="Times New Roman" panose="02020603050405020304" pitchFamily="18" charset="0"/>
              </a:rPr>
              <a:t>Simple: </a:t>
            </a:r>
            <a:r>
              <a:rPr lang="en-US" dirty="0">
                <a:latin typeface="Times New Roman" panose="02020603050405020304" pitchFamily="18" charset="0"/>
                <a:cs typeface="Times New Roman" panose="02020603050405020304" pitchFamily="18" charset="0"/>
              </a:rPr>
              <a:t>According to Sun, Java language is simple because: </a:t>
            </a:r>
          </a:p>
          <a:p>
            <a:pPr>
              <a:buFont typeface="Wingdings" pitchFamily="2" charset="2"/>
              <a:buChar char="Ø"/>
            </a:pPr>
            <a:r>
              <a:rPr lang="en-US" dirty="0">
                <a:latin typeface="Times New Roman" panose="02020603050405020304" pitchFamily="18" charset="0"/>
                <a:cs typeface="Times New Roman" panose="02020603050405020304" pitchFamily="18" charset="0"/>
              </a:rPr>
              <a:t>       syntax is based on C++ (so easier for programmers to learn it after C++).     </a:t>
            </a:r>
          </a:p>
          <a:p>
            <a:pPr>
              <a:buFont typeface="Wingdings" pitchFamily="2" charset="2"/>
              <a:buChar char="Ø"/>
            </a:pPr>
            <a:r>
              <a:rPr lang="en-US" dirty="0">
                <a:latin typeface="Times New Roman" panose="02020603050405020304" pitchFamily="18" charset="0"/>
                <a:cs typeface="Times New Roman" panose="02020603050405020304" pitchFamily="18" charset="0"/>
              </a:rPr>
              <a:t>     removed many confusing and/or rarely-used features e.g., explicit pointers, operator overloading etc.      </a:t>
            </a:r>
          </a:p>
          <a:p>
            <a:pPr>
              <a:buFont typeface="Wingdings" pitchFamily="2" charset="2"/>
              <a:buChar char="Ø"/>
            </a:pPr>
            <a:r>
              <a:rPr lang="en-US" dirty="0">
                <a:latin typeface="Times New Roman" panose="02020603050405020304" pitchFamily="18" charset="0"/>
                <a:cs typeface="Times New Roman" panose="02020603050405020304" pitchFamily="18" charset="0"/>
              </a:rPr>
              <a:t>  No need to remove unreferenced objects because there is Automatic Garbage Collection in java.</a:t>
            </a: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92500"/>
          </a:bodyPr>
          <a:lstStyle/>
          <a:p>
            <a:pPr algn="just">
              <a:lnSpc>
                <a:spcPct val="150000"/>
              </a:lnSpc>
            </a:pPr>
            <a:r>
              <a:rPr lang="en-US" sz="2600" b="1" dirty="0">
                <a:latin typeface="Times New Roman" panose="02020603050405020304" pitchFamily="18" charset="0"/>
                <a:cs typeface="Times New Roman" panose="02020603050405020304" pitchFamily="18" charset="0"/>
              </a:rPr>
              <a:t>Object-oriented: </a:t>
            </a:r>
            <a:r>
              <a:rPr lang="en-US" sz="2600" dirty="0">
                <a:latin typeface="Times New Roman" panose="02020603050405020304" pitchFamily="18" charset="0"/>
                <a:cs typeface="Times New Roman" panose="02020603050405020304" pitchFamily="18" charset="0"/>
              </a:rPr>
              <a:t>Object-oriented means we organize our software as a combination of different types of objects that incorporates both data and behavior.</a:t>
            </a:r>
          </a:p>
          <a:p>
            <a:pPr algn="just">
              <a:lnSpc>
                <a:spcPct val="150000"/>
              </a:lnSpc>
            </a:pPr>
            <a:r>
              <a:rPr lang="en-US" sz="2600" b="1" dirty="0">
                <a:latin typeface="Times New Roman" panose="02020603050405020304" pitchFamily="18" charset="0"/>
                <a:cs typeface="Times New Roman" panose="02020603050405020304" pitchFamily="18" charset="0"/>
              </a:rPr>
              <a:t>Platform Independent: </a:t>
            </a:r>
            <a:r>
              <a:rPr lang="en-US" sz="2600" dirty="0">
                <a:latin typeface="Times New Roman" panose="02020603050405020304" pitchFamily="18" charset="0"/>
                <a:cs typeface="Times New Roman" panose="02020603050405020304" pitchFamily="18" charset="0"/>
              </a:rPr>
              <a:t>Java code can be run on multiple platforms e.g. Windows, Linux, Sun Solaris, Mac/OS etc. Java code is compiled by the compiler and converted into bytecode. </a:t>
            </a:r>
          </a:p>
          <a:p>
            <a:pPr algn="just">
              <a:lnSpc>
                <a:spcPct val="150000"/>
              </a:lnSpc>
            </a:pPr>
            <a:r>
              <a:rPr lang="en-US" sz="2600" dirty="0">
                <a:latin typeface="Times New Roman" panose="02020603050405020304" pitchFamily="18" charset="0"/>
                <a:cs typeface="Times New Roman" panose="02020603050405020304" pitchFamily="18" charset="0"/>
              </a:rPr>
              <a:t>This bytecode is a platform-independent code because it can be run on multiple platforms i.e. Write Once and Run Anywhere(WORA).</a:t>
            </a:r>
          </a:p>
          <a:p>
            <a:pPr algn="just"/>
            <a:endParaRPr lang="en-US" sz="2800"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92500"/>
          </a:bodyPr>
          <a:lstStyle/>
          <a:p>
            <a:pPr algn="just">
              <a:lnSpc>
                <a:spcPct val="110000"/>
              </a:lnSpc>
            </a:pPr>
            <a:r>
              <a:rPr lang="en-US" b="1" dirty="0">
                <a:latin typeface="Times New Roman" panose="02020603050405020304" pitchFamily="18" charset="0"/>
                <a:cs typeface="Times New Roman" panose="02020603050405020304" pitchFamily="18" charset="0"/>
              </a:rPr>
              <a:t>Secured: </a:t>
            </a:r>
            <a:r>
              <a:rPr lang="en-US" dirty="0">
                <a:latin typeface="Times New Roman" panose="02020603050405020304" pitchFamily="18" charset="0"/>
                <a:cs typeface="Times New Roman" panose="02020603050405020304" pitchFamily="18" charset="0"/>
              </a:rPr>
              <a:t>Java is secured because:</a:t>
            </a:r>
          </a:p>
          <a:p>
            <a:pPr algn="just">
              <a:lnSpc>
                <a:spcPct val="110000"/>
              </a:lnSpc>
              <a:buNone/>
            </a:pPr>
            <a:r>
              <a:rPr lang="en-US" dirty="0">
                <a:latin typeface="Times New Roman" panose="02020603050405020304" pitchFamily="18" charset="0"/>
                <a:cs typeface="Times New Roman" panose="02020603050405020304" pitchFamily="18" charset="0"/>
              </a:rPr>
              <a:t>No explicit pointer</a:t>
            </a:r>
          </a:p>
          <a:p>
            <a:pPr algn="just">
              <a:lnSpc>
                <a:spcPct val="110000"/>
              </a:lnSpc>
              <a:buNone/>
            </a:pPr>
            <a:r>
              <a:rPr lang="en-US" dirty="0">
                <a:latin typeface="Times New Roman" panose="02020603050405020304" pitchFamily="18" charset="0"/>
                <a:cs typeface="Times New Roman" panose="02020603050405020304" pitchFamily="18" charset="0"/>
              </a:rPr>
              <a:t>Java Programs run inside virtual machine</a:t>
            </a:r>
          </a:p>
          <a:p>
            <a:pPr algn="just">
              <a:lnSpc>
                <a:spcPct val="110000"/>
              </a:lnSpc>
            </a:pPr>
            <a:r>
              <a:rPr lang="en-US" b="1" dirty="0">
                <a:latin typeface="Times New Roman" panose="02020603050405020304" pitchFamily="18" charset="0"/>
                <a:cs typeface="Times New Roman" panose="02020603050405020304" pitchFamily="18" charset="0"/>
              </a:rPr>
              <a:t>Robust: </a:t>
            </a:r>
            <a:r>
              <a:rPr lang="en-US" dirty="0">
                <a:latin typeface="Times New Roman" panose="02020603050405020304" pitchFamily="18" charset="0"/>
                <a:cs typeface="Times New Roman" panose="02020603050405020304" pitchFamily="18" charset="0"/>
              </a:rPr>
              <a:t>Robust simply means strong. Java uses </a:t>
            </a:r>
            <a:r>
              <a:rPr lang="en-US" b="1" dirty="0">
                <a:solidFill>
                  <a:srgbClr val="FF0000"/>
                </a:solidFill>
                <a:latin typeface="Times New Roman" panose="02020603050405020304" pitchFamily="18" charset="0"/>
                <a:cs typeface="Times New Roman" panose="02020603050405020304" pitchFamily="18" charset="0"/>
              </a:rPr>
              <a:t>strong memory management</a:t>
            </a:r>
            <a:r>
              <a:rPr lang="en-US" dirty="0">
                <a:latin typeface="Times New Roman" panose="02020603050405020304" pitchFamily="18" charset="0"/>
                <a:cs typeface="Times New Roman" panose="02020603050405020304" pitchFamily="18" charset="0"/>
              </a:rPr>
              <a:t>. There are lack of pointers that avoids security problem. There is </a:t>
            </a:r>
            <a:r>
              <a:rPr lang="en-US" sz="2800" b="1" i="1" dirty="0">
                <a:solidFill>
                  <a:srgbClr val="FF0000"/>
                </a:solidFill>
                <a:latin typeface="Times New Roman" panose="02020603050405020304" pitchFamily="18" charset="0"/>
                <a:cs typeface="Times New Roman" panose="02020603050405020304" pitchFamily="18" charset="0"/>
              </a:rPr>
              <a:t>automatic garbage collection </a:t>
            </a:r>
            <a:r>
              <a:rPr lang="en-US" dirty="0">
                <a:latin typeface="Times New Roman" panose="02020603050405020304" pitchFamily="18" charset="0"/>
                <a:cs typeface="Times New Roman" panose="02020603050405020304" pitchFamily="18" charset="0"/>
              </a:rPr>
              <a:t>in java. There is </a:t>
            </a:r>
            <a:r>
              <a:rPr lang="en-US" b="1" dirty="0">
                <a:latin typeface="Times New Roman" panose="02020603050405020304" pitchFamily="18" charset="0"/>
                <a:cs typeface="Times New Roman" panose="02020603050405020304" pitchFamily="18" charset="0"/>
              </a:rPr>
              <a:t>exception</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handling</a:t>
            </a:r>
            <a:r>
              <a:rPr lang="en-US" dirty="0">
                <a:latin typeface="Times New Roman" panose="02020603050405020304" pitchFamily="18" charset="0"/>
                <a:cs typeface="Times New Roman" panose="02020603050405020304" pitchFamily="18" charset="0"/>
              </a:rPr>
              <a:t> and </a:t>
            </a:r>
            <a:r>
              <a:rPr lang="en-US" b="1" dirty="0">
                <a:latin typeface="Times New Roman" panose="02020603050405020304" pitchFamily="18" charset="0"/>
                <a:cs typeface="Times New Roman" panose="02020603050405020304" pitchFamily="18" charset="0"/>
              </a:rPr>
              <a:t>type checking </a:t>
            </a:r>
            <a:r>
              <a:rPr lang="en-US" dirty="0">
                <a:latin typeface="Times New Roman" panose="02020603050405020304" pitchFamily="18" charset="0"/>
                <a:cs typeface="Times New Roman" panose="02020603050405020304" pitchFamily="18" charset="0"/>
              </a:rPr>
              <a:t>mechanism in java. All these points makes java robust.</a:t>
            </a:r>
          </a:p>
          <a:p>
            <a:pPr algn="just">
              <a:lnSpc>
                <a:spcPct val="110000"/>
              </a:lnSpc>
            </a:pPr>
            <a:endParaRPr lang="en-US" dirty="0">
              <a:latin typeface="Times New Roman" panose="02020603050405020304" pitchFamily="18" charset="0"/>
              <a:cs typeface="Times New Roman" panose="02020603050405020304" pitchFamily="18" charset="0"/>
            </a:endParaRPr>
          </a:p>
          <a:p>
            <a:pPr algn="just">
              <a:lnSpc>
                <a:spcPct val="110000"/>
              </a:lnSpc>
            </a:pPr>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85000" lnSpcReduction="20000"/>
          </a:bodyPr>
          <a:lstStyle/>
          <a:p>
            <a:pPr algn="just"/>
            <a:r>
              <a:rPr lang="en-US" b="1" dirty="0">
                <a:latin typeface="Times New Roman" panose="02020603050405020304" pitchFamily="18" charset="0"/>
                <a:cs typeface="Times New Roman" panose="02020603050405020304" pitchFamily="18" charset="0"/>
              </a:rPr>
              <a:t>Architecture-neutral</a:t>
            </a:r>
          </a:p>
          <a:p>
            <a:pPr marL="0" indent="0" algn="just">
              <a:buNone/>
            </a:pPr>
            <a:endParaRPr lang="en-US" b="1" dirty="0">
              <a:latin typeface="Times New Roman" panose="02020603050405020304" pitchFamily="18" charset="0"/>
              <a:cs typeface="Times New Roman" panose="02020603050405020304" pitchFamily="18" charset="0"/>
            </a:endParaRPr>
          </a:p>
          <a:p>
            <a:pPr algn="just">
              <a:buNone/>
            </a:pPr>
            <a:r>
              <a:rPr lang="en-US" dirty="0">
                <a:latin typeface="Times New Roman" panose="02020603050405020304" pitchFamily="18" charset="0"/>
                <a:cs typeface="Times New Roman" panose="02020603050405020304" pitchFamily="18" charset="0"/>
              </a:rPr>
              <a:t>   There is no implementation dependent features e.g. size of primitive types is fixed.</a:t>
            </a:r>
          </a:p>
          <a:p>
            <a:pPr algn="just">
              <a:buNone/>
            </a:pPr>
            <a:r>
              <a:rPr lang="en-US" dirty="0">
                <a:latin typeface="Times New Roman" panose="02020603050405020304" pitchFamily="18" charset="0"/>
                <a:cs typeface="Times New Roman" panose="02020603050405020304" pitchFamily="18" charset="0"/>
              </a:rPr>
              <a:t>   In C programming, </a:t>
            </a:r>
            <a:r>
              <a:rPr lang="en-US" dirty="0" err="1">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data type occupies 2 bytes of memory for 32-bit architecture and 4 bytes of memory for 64-bit architecture. But in java, it occupies 4 bytes of memory for both 32 and 64 bit architectures.</a:t>
            </a:r>
          </a:p>
          <a:p>
            <a:pPr algn="just">
              <a:buNone/>
            </a:pP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Portable</a:t>
            </a:r>
          </a:p>
          <a:p>
            <a:pPr algn="just">
              <a:buNone/>
            </a:pPr>
            <a:r>
              <a:rPr lang="en-US" dirty="0">
                <a:latin typeface="Times New Roman" panose="02020603050405020304" pitchFamily="18" charset="0"/>
                <a:cs typeface="Times New Roman" panose="02020603050405020304" pitchFamily="18" charset="0"/>
              </a:rPr>
              <a:t>     We may carry the java </a:t>
            </a:r>
            <a:r>
              <a:rPr lang="en-US" dirty="0" err="1">
                <a:latin typeface="Times New Roman" panose="02020603050405020304" pitchFamily="18" charset="0"/>
                <a:cs typeface="Times New Roman" panose="02020603050405020304" pitchFamily="18" charset="0"/>
              </a:rPr>
              <a:t>bytecode</a:t>
            </a:r>
            <a:r>
              <a:rPr lang="en-US" dirty="0">
                <a:latin typeface="Times New Roman" panose="02020603050405020304" pitchFamily="18" charset="0"/>
                <a:cs typeface="Times New Roman" panose="02020603050405020304" pitchFamily="18" charset="0"/>
              </a:rPr>
              <a:t> to any platform.</a:t>
            </a:r>
          </a:p>
          <a:p>
            <a:pPr algn="just">
              <a:buNone/>
            </a:pP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92500" lnSpcReduction="10000"/>
          </a:bodyPr>
          <a:lstStyle/>
          <a:p>
            <a:pPr algn="just"/>
            <a:r>
              <a:rPr lang="en-US" b="1" dirty="0">
                <a:latin typeface="Times New Roman" panose="02020603050405020304" pitchFamily="18" charset="0"/>
                <a:cs typeface="Times New Roman" panose="02020603050405020304" pitchFamily="18" charset="0"/>
              </a:rPr>
              <a:t>High-performance</a:t>
            </a:r>
          </a:p>
          <a:p>
            <a:pPr algn="just">
              <a:buNone/>
            </a:pPr>
            <a:r>
              <a:rPr lang="en-US" dirty="0">
                <a:latin typeface="Times New Roman" panose="02020603050405020304" pitchFamily="18" charset="0"/>
                <a:cs typeface="Times New Roman" panose="02020603050405020304" pitchFamily="18" charset="0"/>
              </a:rPr>
              <a:t>   Java is faster than traditional interpretation since byte code is "close" to native code still somewhat slower than a compiled language (e.g., C++).</a:t>
            </a:r>
          </a:p>
          <a:p>
            <a:pPr algn="just">
              <a:buNone/>
            </a:pP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Distributed</a:t>
            </a:r>
          </a:p>
          <a:p>
            <a:pPr algn="just">
              <a:buNone/>
            </a:pPr>
            <a:r>
              <a:rPr lang="en-US" dirty="0">
                <a:latin typeface="Times New Roman" panose="02020603050405020304" pitchFamily="18" charset="0"/>
                <a:cs typeface="Times New Roman" panose="02020603050405020304" pitchFamily="18" charset="0"/>
              </a:rPr>
              <a:t>  We can create distributed applications in java. RMI  is used for creating distributed applications. We may access files by calling the methods from any machine on the internet.</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a:bodyPr>
          <a:lstStyle/>
          <a:p>
            <a:pPr algn="just"/>
            <a:r>
              <a:rPr lang="en-US" b="1" dirty="0">
                <a:latin typeface="Times New Roman" panose="02020603050405020304" pitchFamily="18" charset="0"/>
                <a:cs typeface="Times New Roman" panose="02020603050405020304" pitchFamily="18" charset="0"/>
              </a:rPr>
              <a:t>Multi-threaded</a:t>
            </a:r>
          </a:p>
          <a:p>
            <a:pPr algn="just">
              <a:buNone/>
            </a:pPr>
            <a:r>
              <a:rPr lang="en-US" dirty="0">
                <a:latin typeface="Times New Roman" panose="02020603050405020304" pitchFamily="18" charset="0"/>
                <a:cs typeface="Times New Roman" panose="02020603050405020304" pitchFamily="18" charset="0"/>
              </a:rPr>
              <a:t>     A thread is like a separate program, executing concurrently. We can write Java programs that deal with many tasks at once by defining multiple threads. The main advantage of multi-threading is that it doesn't occupy memory for each thread. It shares a common memory area. Threads are important for multi-media, Web applications etc.</a:t>
            </a:r>
          </a:p>
          <a:p>
            <a:pPr algn="just"/>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28</a:t>
            </a:fld>
            <a:endParaRPr lang="en-US"/>
          </a:p>
        </p:txBody>
      </p:sp>
      <p:sp>
        <p:nvSpPr>
          <p:cNvPr id="15363" name="Rectangle 18"/>
          <p:cNvSpPr>
            <a:spLocks noChangeArrowheads="1"/>
          </p:cNvSpPr>
          <p:nvPr/>
        </p:nvSpPr>
        <p:spPr bwMode="auto">
          <a:xfrm>
            <a:off x="228600" y="1219200"/>
            <a:ext cx="8763000" cy="3970318"/>
          </a:xfrm>
          <a:prstGeom prst="rect">
            <a:avLst/>
          </a:prstGeom>
          <a:noFill/>
          <a:ln w="9525">
            <a:noFill/>
            <a:miter lim="800000"/>
            <a:headEnd/>
            <a:tailEnd/>
          </a:ln>
        </p:spPr>
        <p:txBody>
          <a:bodyPr wrap="square">
            <a:spAutoFit/>
          </a:bodyPr>
          <a:lstStyle/>
          <a:p>
            <a:pPr algn="just" fontAlgn="base"/>
            <a:r>
              <a:rPr lang="en-US" sz="2800" b="1" dirty="0">
                <a:latin typeface="Times New Roman" panose="02020603050405020304" pitchFamily="18" charset="0"/>
                <a:cs typeface="Times New Roman" panose="02020603050405020304" pitchFamily="18" charset="0"/>
              </a:rPr>
              <a:t>JVM(Java Virtual Machine</a:t>
            </a:r>
            <a:r>
              <a:rPr lang="en-US" sz="2800" dirty="0">
                <a:latin typeface="Times New Roman" panose="02020603050405020304" pitchFamily="18" charset="0"/>
                <a:cs typeface="Times New Roman" panose="02020603050405020304" pitchFamily="18" charset="0"/>
              </a:rPr>
              <a:t>) acts as a run-time engine to run Java applications. JVM is a part of JRE(Java Run Environment).</a:t>
            </a:r>
          </a:p>
          <a:p>
            <a:pPr algn="just"/>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Java applications are called </a:t>
            </a:r>
            <a:r>
              <a:rPr lang="en-US" sz="2800" b="1" dirty="0">
                <a:latin typeface="Times New Roman" panose="02020603050405020304" pitchFamily="18" charset="0"/>
                <a:cs typeface="Times New Roman" panose="02020603050405020304" pitchFamily="18" charset="0"/>
              </a:rPr>
              <a:t>WORA</a:t>
            </a:r>
            <a:r>
              <a:rPr lang="en-US" sz="2800" dirty="0">
                <a:latin typeface="Times New Roman" panose="02020603050405020304" pitchFamily="18" charset="0"/>
                <a:cs typeface="Times New Roman" panose="02020603050405020304" pitchFamily="18" charset="0"/>
              </a:rPr>
              <a:t> (Write Once Run Everywhere). This means a programmer can develop Java code on one system and can expect it to run on any other Java enabled system without any adjustment. This is all possible because of JVM.</a:t>
            </a:r>
            <a:endParaRPr lang="en-US" sz="2800" b="1" dirty="0">
              <a:latin typeface="Times New Roman" panose="02020603050405020304" pitchFamily="18" charset="0"/>
              <a:cs typeface="Times New Roman" panose="02020603050405020304" pitchFamily="18" charset="0"/>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Times New Roman" panose="02020603050405020304" pitchFamily="18" charset="0"/>
                <a:cs typeface="Times New Roman" panose="02020603050405020304" pitchFamily="18" charset="0"/>
              </a:rPr>
              <a:t>JVM Architecture</a:t>
            </a:r>
            <a:endParaRPr lang="en-US" sz="4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29</a:t>
            </a:fld>
            <a:endParaRPr lang="en-US"/>
          </a:p>
        </p:txBody>
      </p:sp>
      <p:sp>
        <p:nvSpPr>
          <p:cNvPr id="15363" name="Rectangle 18"/>
          <p:cNvSpPr>
            <a:spLocks noChangeArrowheads="1"/>
          </p:cNvSpPr>
          <p:nvPr/>
        </p:nvSpPr>
        <p:spPr bwMode="auto">
          <a:xfrm>
            <a:off x="228600" y="1219200"/>
            <a:ext cx="8763000" cy="2246769"/>
          </a:xfrm>
          <a:prstGeom prst="rect">
            <a:avLst/>
          </a:prstGeom>
          <a:noFill/>
          <a:ln w="9525">
            <a:noFill/>
            <a:miter lim="800000"/>
            <a:headEnd/>
            <a:tailEnd/>
          </a:ln>
        </p:spPr>
        <p:txBody>
          <a:bodyPr wrap="square">
            <a:spAutoFit/>
          </a:bodyPr>
          <a:lstStyle/>
          <a:p>
            <a:pPr algn="just"/>
            <a:r>
              <a:rPr lang="en-US" sz="2800" dirty="0">
                <a:latin typeface="Times New Roman" panose="02020603050405020304" pitchFamily="18" charset="0"/>
                <a:cs typeface="Times New Roman" panose="02020603050405020304" pitchFamily="18" charset="0"/>
              </a:rPr>
              <a:t>When we compile a </a:t>
            </a:r>
            <a:r>
              <a:rPr lang="en-US" sz="2800" b="1" i="1" dirty="0">
                <a:latin typeface="Times New Roman" panose="02020603050405020304" pitchFamily="18" charset="0"/>
                <a:cs typeface="Times New Roman" panose="02020603050405020304" pitchFamily="18" charset="0"/>
              </a:rPr>
              <a:t>.java</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file, a </a:t>
            </a:r>
            <a:r>
              <a:rPr lang="en-US" sz="2800" b="1" i="1" dirty="0">
                <a:latin typeface="Times New Roman" panose="02020603050405020304" pitchFamily="18" charset="0"/>
                <a:cs typeface="Times New Roman" panose="02020603050405020304" pitchFamily="18" charset="0"/>
              </a:rPr>
              <a:t>.class</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file (contains byte-code) with the same filename is generated by the Java compiler. </a:t>
            </a:r>
          </a:p>
          <a:p>
            <a:pPr algn="just"/>
            <a:r>
              <a:rPr lang="en-US" sz="2800" dirty="0">
                <a:latin typeface="Times New Roman" panose="02020603050405020304" pitchFamily="18" charset="0"/>
                <a:cs typeface="Times New Roman" panose="02020603050405020304" pitchFamily="18" charset="0"/>
              </a:rPr>
              <a:t>This </a:t>
            </a:r>
            <a:r>
              <a:rPr lang="en-US" sz="2800" b="1" i="1" dirty="0">
                <a:latin typeface="Times New Roman" panose="02020603050405020304" pitchFamily="18" charset="0"/>
                <a:cs typeface="Times New Roman" panose="02020603050405020304" pitchFamily="18" charset="0"/>
              </a:rPr>
              <a:t>.class</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file goes into various steps when we run it. These steps together describe the whole JVM.</a:t>
            </a:r>
            <a:endParaRPr lang="en-US" sz="2800" b="1" dirty="0">
              <a:latin typeface="Times New Roman" panose="02020603050405020304" pitchFamily="18" charset="0"/>
              <a:cs typeface="Times New Roman" panose="02020603050405020304" pitchFamily="18" charset="0"/>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30</a:t>
            </a:fld>
            <a:endParaRPr lang="en-US"/>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Times New Roman" panose="02020603050405020304" pitchFamily="18" charset="0"/>
                <a:cs typeface="Times New Roman" panose="02020603050405020304" pitchFamily="18" charset="0"/>
              </a:rPr>
              <a:t>JVM Architecture</a:t>
            </a:r>
            <a:endParaRPr lang="en-US" sz="4000" dirty="0">
              <a:latin typeface="Times New Roman" panose="02020603050405020304" pitchFamily="18" charset="0"/>
              <a:cs typeface="Times New Roman" panose="02020603050405020304" pitchFamily="18" charset="0"/>
            </a:endParaRPr>
          </a:p>
        </p:txBody>
      </p:sp>
      <p:pic>
        <p:nvPicPr>
          <p:cNvPr id="6" name="Picture 2" descr="Image result for jvm architecture in java"/>
          <p:cNvPicPr>
            <a:picLocks noChangeAspect="1" noChangeArrowheads="1"/>
          </p:cNvPicPr>
          <p:nvPr/>
        </p:nvPicPr>
        <p:blipFill>
          <a:blip r:embed="rId2" cstate="print"/>
          <a:srcRect/>
          <a:stretch>
            <a:fillRect/>
          </a:stretch>
        </p:blipFill>
        <p:spPr bwMode="auto">
          <a:xfrm>
            <a:off x="914400" y="1219201"/>
            <a:ext cx="7543800" cy="49530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31</a:t>
            </a:fld>
            <a:endParaRPr lang="en-US"/>
          </a:p>
        </p:txBody>
      </p:sp>
      <p:sp>
        <p:nvSpPr>
          <p:cNvPr id="15363" name="Rectangle 18"/>
          <p:cNvSpPr>
            <a:spLocks noChangeArrowheads="1"/>
          </p:cNvSpPr>
          <p:nvPr/>
        </p:nvSpPr>
        <p:spPr bwMode="auto">
          <a:xfrm>
            <a:off x="228600" y="1219200"/>
            <a:ext cx="7696200" cy="3539430"/>
          </a:xfrm>
          <a:prstGeom prst="rect">
            <a:avLst/>
          </a:prstGeom>
          <a:noFill/>
          <a:ln w="9525">
            <a:noFill/>
            <a:miter lim="800000"/>
            <a:headEnd/>
            <a:tailEnd/>
          </a:ln>
        </p:spPr>
        <p:txBody>
          <a:bodyPr>
            <a:spAutoFit/>
          </a:bodyPr>
          <a:lstStyle/>
          <a:p>
            <a:pPr fontAlgn="base"/>
            <a:endParaRPr lang="en-US" sz="2800" dirty="0"/>
          </a:p>
          <a:p>
            <a:pPr fontAlgn="base"/>
            <a:r>
              <a:rPr lang="en-US" sz="2800" dirty="0"/>
              <a:t>JVM is mainly responsible for three activities.</a:t>
            </a:r>
          </a:p>
          <a:p>
            <a:pPr fontAlgn="base">
              <a:buFont typeface="Wingdings" pitchFamily="2" charset="2"/>
              <a:buChar char="Ø"/>
            </a:pPr>
            <a:endParaRPr lang="en-US" sz="2800" dirty="0"/>
          </a:p>
          <a:p>
            <a:pPr fontAlgn="base">
              <a:buFont typeface="Wingdings" pitchFamily="2" charset="2"/>
              <a:buChar char="Ø"/>
            </a:pPr>
            <a:endParaRPr lang="en-US" sz="2800" dirty="0"/>
          </a:p>
          <a:p>
            <a:pPr fontAlgn="base">
              <a:buFont typeface="Wingdings" pitchFamily="2" charset="2"/>
              <a:buChar char="Ø"/>
            </a:pPr>
            <a:r>
              <a:rPr lang="en-US" sz="2800" dirty="0"/>
              <a:t>Loading</a:t>
            </a:r>
          </a:p>
          <a:p>
            <a:pPr fontAlgn="base">
              <a:buFont typeface="Wingdings" pitchFamily="2" charset="2"/>
              <a:buChar char="Ø"/>
            </a:pPr>
            <a:r>
              <a:rPr lang="en-US" sz="2800" dirty="0"/>
              <a:t>Linking</a:t>
            </a:r>
          </a:p>
          <a:p>
            <a:pPr fontAlgn="base">
              <a:buFont typeface="Wingdings" pitchFamily="2" charset="2"/>
              <a:buChar char="Ø"/>
            </a:pPr>
            <a:r>
              <a:rPr lang="en-US" sz="2800" dirty="0"/>
              <a:t>Initialization</a:t>
            </a:r>
          </a:p>
          <a:p>
            <a:endParaRPr lang="en-US" sz="2800" b="1" dirty="0">
              <a:latin typeface="Lucida Bright"/>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32</a:t>
            </a:fld>
            <a:endParaRPr lang="en-US"/>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
        <p:nvSpPr>
          <p:cNvPr id="7" name="TextBox 6"/>
          <p:cNvSpPr txBox="1"/>
          <p:nvPr/>
        </p:nvSpPr>
        <p:spPr>
          <a:xfrm>
            <a:off x="762000" y="1295400"/>
            <a:ext cx="7315200" cy="5693866"/>
          </a:xfrm>
          <a:prstGeom prst="rect">
            <a:avLst/>
          </a:prstGeom>
          <a:noFill/>
        </p:spPr>
        <p:txBody>
          <a:bodyPr wrap="square" rtlCol="0">
            <a:spAutoFit/>
          </a:bodyPr>
          <a:lstStyle/>
          <a:p>
            <a:pPr algn="just" fontAlgn="base"/>
            <a:r>
              <a:rPr lang="en-US" sz="2800" b="1" dirty="0"/>
              <a:t>Loading :</a:t>
            </a:r>
            <a:r>
              <a:rPr lang="en-US" sz="2800" dirty="0"/>
              <a:t> The Class loader reads the </a:t>
            </a:r>
            <a:r>
              <a:rPr lang="en-US" sz="2800" b="1" i="1" dirty="0"/>
              <a:t>.class</a:t>
            </a:r>
            <a:r>
              <a:rPr lang="en-US" sz="2800" b="1" dirty="0"/>
              <a:t> </a:t>
            </a:r>
            <a:r>
              <a:rPr lang="en-US" sz="2800" dirty="0"/>
              <a:t>file, generate the corresponding </a:t>
            </a:r>
            <a:r>
              <a:rPr lang="en-US" sz="2800" b="1" dirty="0"/>
              <a:t>binary data </a:t>
            </a:r>
            <a:r>
              <a:rPr lang="en-US" sz="2800" dirty="0"/>
              <a:t>and save it in method area. For each </a:t>
            </a:r>
            <a:r>
              <a:rPr lang="en-US" sz="2800" b="1" i="1" dirty="0"/>
              <a:t>.class</a:t>
            </a:r>
            <a:r>
              <a:rPr lang="en-US" sz="2800" b="1" dirty="0"/>
              <a:t> file</a:t>
            </a:r>
            <a:r>
              <a:rPr lang="en-US" sz="2800" dirty="0"/>
              <a:t>, JVM stores following information in method area.</a:t>
            </a:r>
          </a:p>
          <a:p>
            <a:pPr algn="just" fontAlgn="base">
              <a:buFont typeface="Arial" pitchFamily="34" charset="0"/>
              <a:buChar char="•"/>
            </a:pPr>
            <a:r>
              <a:rPr lang="en-US" sz="2800" dirty="0"/>
              <a:t>Fully qualified name of the loaded class and its immediate parent class.</a:t>
            </a:r>
          </a:p>
          <a:p>
            <a:pPr algn="just" fontAlgn="base">
              <a:buFont typeface="Arial" pitchFamily="34" charset="0"/>
              <a:buChar char="•"/>
            </a:pPr>
            <a:r>
              <a:rPr lang="en-US" sz="2800" dirty="0"/>
              <a:t>Whether </a:t>
            </a:r>
            <a:r>
              <a:rPr lang="en-US" sz="2800" b="1" i="1" dirty="0"/>
              <a:t>.class</a:t>
            </a:r>
            <a:r>
              <a:rPr lang="en-US" sz="2800" b="1" dirty="0"/>
              <a:t> </a:t>
            </a:r>
            <a:r>
              <a:rPr lang="en-US" sz="2800" dirty="0"/>
              <a:t>file is related to Class or Interface or </a:t>
            </a:r>
            <a:r>
              <a:rPr lang="en-US" sz="2800" dirty="0" err="1"/>
              <a:t>Enum</a:t>
            </a:r>
            <a:endParaRPr lang="en-US" sz="2800" dirty="0"/>
          </a:p>
          <a:p>
            <a:pPr algn="just" fontAlgn="base">
              <a:buFont typeface="Arial" pitchFamily="34" charset="0"/>
              <a:buChar char="•"/>
            </a:pPr>
            <a:r>
              <a:rPr lang="en-US" sz="2800" dirty="0"/>
              <a:t>Modifier, Variables and Method information etc.</a:t>
            </a:r>
          </a:p>
          <a:p>
            <a:pPr algn="just" fontAlgn="base"/>
            <a:r>
              <a:rPr lang="en-US" sz="2800" dirty="0"/>
              <a:t>After loading </a:t>
            </a:r>
            <a:r>
              <a:rPr lang="en-US" sz="2800" b="1" i="1" dirty="0"/>
              <a:t>.class</a:t>
            </a:r>
            <a:r>
              <a:rPr lang="en-US" sz="2800" b="1" dirty="0"/>
              <a:t> file</a:t>
            </a:r>
            <a:r>
              <a:rPr lang="en-US" sz="2800" dirty="0"/>
              <a:t>, JVM creates an object of type Class to represent this file in the heap memory.</a:t>
            </a:r>
          </a:p>
          <a:p>
            <a:pPr algn="just"/>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33</a:t>
            </a:fld>
            <a:endParaRPr lang="en-US"/>
          </a:p>
        </p:txBody>
      </p:sp>
      <p:sp>
        <p:nvSpPr>
          <p:cNvPr id="15363" name="Rectangle 18"/>
          <p:cNvSpPr>
            <a:spLocks noChangeArrowheads="1"/>
          </p:cNvSpPr>
          <p:nvPr/>
        </p:nvSpPr>
        <p:spPr bwMode="auto">
          <a:xfrm>
            <a:off x="381000" y="990600"/>
            <a:ext cx="7696200" cy="5693866"/>
          </a:xfrm>
          <a:prstGeom prst="rect">
            <a:avLst/>
          </a:prstGeom>
          <a:noFill/>
          <a:ln w="9525">
            <a:noFill/>
            <a:miter lim="800000"/>
            <a:headEnd/>
            <a:tailEnd/>
          </a:ln>
        </p:spPr>
        <p:txBody>
          <a:bodyPr>
            <a:spAutoFit/>
          </a:bodyPr>
          <a:lstStyle/>
          <a:p>
            <a:pPr fontAlgn="base"/>
            <a:endParaRPr lang="en-US" sz="2800" dirty="0"/>
          </a:p>
          <a:p>
            <a:pPr algn="just" fontAlgn="base"/>
            <a:r>
              <a:rPr lang="en-US" sz="2800" b="1" dirty="0"/>
              <a:t>Linking :</a:t>
            </a:r>
            <a:r>
              <a:rPr lang="en-US" sz="2800" dirty="0"/>
              <a:t> Performs verification, preparation, and (optionally) resolution.</a:t>
            </a:r>
          </a:p>
          <a:p>
            <a:pPr algn="just" fontAlgn="base"/>
            <a:r>
              <a:rPr lang="en-US" sz="2800" b="1" i="1" dirty="0"/>
              <a:t>Verification</a:t>
            </a:r>
            <a:r>
              <a:rPr lang="en-US" sz="2800" b="1" dirty="0"/>
              <a:t> : </a:t>
            </a:r>
            <a:r>
              <a:rPr lang="en-US" sz="2800" dirty="0"/>
              <a:t>It ensures the correctness of </a:t>
            </a:r>
            <a:r>
              <a:rPr lang="en-US" sz="2800" b="1" i="1" dirty="0"/>
              <a:t>.class</a:t>
            </a:r>
            <a:r>
              <a:rPr lang="en-US" sz="2800" b="1" dirty="0"/>
              <a:t> </a:t>
            </a:r>
            <a:r>
              <a:rPr lang="en-US" sz="2800" dirty="0"/>
              <a:t>file i.e. it check whether this file is properly formatted and generated by valid compiler or not. If verification fails, we get run-time exception </a:t>
            </a:r>
            <a:r>
              <a:rPr lang="en-US" sz="2800" i="1" dirty="0" err="1"/>
              <a:t>java.lang.VerifyError</a:t>
            </a:r>
            <a:r>
              <a:rPr lang="en-US" sz="2800" dirty="0"/>
              <a:t>.</a:t>
            </a:r>
          </a:p>
          <a:p>
            <a:pPr fontAlgn="base"/>
            <a:endParaRPr lang="en-US" sz="2800" i="1" dirty="0"/>
          </a:p>
          <a:p>
            <a:pPr fontAlgn="base"/>
            <a:r>
              <a:rPr lang="en-US" sz="2800" b="1" i="1" dirty="0"/>
              <a:t>Preparation</a:t>
            </a:r>
            <a:r>
              <a:rPr lang="en-US" sz="2800" b="1" dirty="0"/>
              <a:t> : </a:t>
            </a:r>
            <a:r>
              <a:rPr lang="en-US" sz="2800" dirty="0"/>
              <a:t>JVM allocates memory for class variables and initializing the memory to default values.</a:t>
            </a:r>
          </a:p>
          <a:p>
            <a:endParaRPr lang="en-US" sz="2800" b="1" dirty="0">
              <a:latin typeface="Lucida Bright"/>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34</a:t>
            </a:fld>
            <a:endParaRPr lang="en-US"/>
          </a:p>
        </p:txBody>
      </p:sp>
      <p:sp>
        <p:nvSpPr>
          <p:cNvPr id="15363" name="Rectangle 18"/>
          <p:cNvSpPr>
            <a:spLocks noChangeArrowheads="1"/>
          </p:cNvSpPr>
          <p:nvPr/>
        </p:nvSpPr>
        <p:spPr bwMode="auto">
          <a:xfrm>
            <a:off x="459556" y="1143000"/>
            <a:ext cx="8379644" cy="2246769"/>
          </a:xfrm>
          <a:prstGeom prst="rect">
            <a:avLst/>
          </a:prstGeom>
          <a:noFill/>
          <a:ln w="9525">
            <a:noFill/>
            <a:miter lim="800000"/>
            <a:headEnd/>
            <a:tailEnd/>
          </a:ln>
        </p:spPr>
        <p:txBody>
          <a:bodyPr wrap="square">
            <a:spAutoFit/>
          </a:bodyPr>
          <a:lstStyle/>
          <a:p>
            <a:pPr algn="just" fontAlgn="base"/>
            <a:r>
              <a:rPr lang="en-US" sz="2800" b="1" dirty="0">
                <a:latin typeface="Times New Roman" panose="02020603050405020304" pitchFamily="18" charset="0"/>
                <a:cs typeface="Times New Roman" panose="02020603050405020304" pitchFamily="18" charset="0"/>
              </a:rPr>
              <a:t>Initialization :</a:t>
            </a:r>
            <a:r>
              <a:rPr lang="en-US" sz="2800" dirty="0">
                <a:latin typeface="Times New Roman" panose="02020603050405020304" pitchFamily="18" charset="0"/>
                <a:cs typeface="Times New Roman" panose="02020603050405020304" pitchFamily="18" charset="0"/>
              </a:rPr>
              <a:t> In this phase, all static variables are assigned with their values defined in the code and static block(if any). This is executed from top to bottom in a class and from parent to child in class hierarchy.</a:t>
            </a:r>
          </a:p>
          <a:p>
            <a:pPr algn="just"/>
            <a:endParaRPr lang="en-US" sz="2800" b="1" dirty="0">
              <a:latin typeface="Times New Roman" panose="02020603050405020304" pitchFamily="18" charset="0"/>
              <a:cs typeface="Times New Roman" panose="02020603050405020304" pitchFamily="18" charset="0"/>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B76A1-A8B2-35C3-32E4-BEB323633B61}"/>
              </a:ext>
            </a:extLst>
          </p:cNvPr>
          <p:cNvSpPr>
            <a:spLocks noGrp="1"/>
          </p:cNvSpPr>
          <p:nvPr>
            <p:ph type="title"/>
          </p:nvPr>
        </p:nvSpPr>
        <p:spPr>
          <a:xfrm>
            <a:off x="457200" y="228600"/>
            <a:ext cx="8229600" cy="457199"/>
          </a:xfrm>
        </p:spPr>
        <p:txBody>
          <a:bodyPr>
            <a:noAutofit/>
          </a:bodyPr>
          <a:lstStyle/>
          <a:p>
            <a:r>
              <a:rPr lang="en-US" sz="2400" b="1" dirty="0">
                <a:solidFill>
                  <a:srgbClr val="FF0000"/>
                </a:solidFill>
                <a:latin typeface="Times New Roman" panose="02020603050405020304" pitchFamily="18" charset="0"/>
                <a:cs typeface="Times New Roman" panose="02020603050405020304" pitchFamily="18" charset="0"/>
              </a:rPr>
              <a:t>DATA TYPES IN JAVA</a:t>
            </a:r>
            <a:br>
              <a:rPr lang="en-US" sz="2400" b="1"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D392F6F-07E9-4113-7351-49ACBF45054D}"/>
              </a:ext>
            </a:extLst>
          </p:cNvPr>
          <p:cNvSpPr>
            <a:spLocks noGrp="1"/>
          </p:cNvSpPr>
          <p:nvPr>
            <p:ph idx="1"/>
          </p:nvPr>
        </p:nvSpPr>
        <p:spPr>
          <a:xfrm>
            <a:off x="457200" y="457200"/>
            <a:ext cx="8229600" cy="5668964"/>
          </a:xfrm>
        </p:spPr>
        <p:txBody>
          <a:bodyPr>
            <a:normAutofit/>
          </a:bodyPr>
          <a:lstStyle/>
          <a:p>
            <a:pPr algn="just"/>
            <a:r>
              <a:rPr lang="en-US" sz="2000" dirty="0">
                <a:latin typeface="Times New Roman" panose="02020603050405020304" pitchFamily="18" charset="0"/>
                <a:cs typeface="Times New Roman" panose="02020603050405020304" pitchFamily="18" charset="0"/>
              </a:rPr>
              <a:t>Java programming language has a rich set of data types. The data type is a category of data stored in variables. In java, data types are classified into two types and they are as follows.</a:t>
            </a:r>
          </a:p>
          <a:p>
            <a:pPr lvl="2" algn="just"/>
            <a:r>
              <a:rPr lang="en-US" sz="2000" b="1" dirty="0">
                <a:latin typeface="Times New Roman" panose="02020603050405020304" pitchFamily="18" charset="0"/>
                <a:cs typeface="Times New Roman" panose="02020603050405020304" pitchFamily="18" charset="0"/>
              </a:rPr>
              <a:t>Primitive Data Types</a:t>
            </a:r>
          </a:p>
          <a:p>
            <a:pPr lvl="2" algn="just"/>
            <a:r>
              <a:rPr lang="en-US" sz="2000" b="1" dirty="0">
                <a:latin typeface="Times New Roman" panose="02020603050405020304" pitchFamily="18" charset="0"/>
                <a:cs typeface="Times New Roman" panose="02020603050405020304" pitchFamily="18" charset="0"/>
              </a:rPr>
              <a:t>Non-primitive Data Types</a:t>
            </a:r>
          </a:p>
          <a:p>
            <a:pPr algn="just"/>
            <a:endParaRPr lang="en-US" sz="16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6C4673FD-0FFB-306B-F24A-127D23C8ED62}"/>
              </a:ext>
            </a:extLst>
          </p:cNvPr>
          <p:cNvPicPr>
            <a:picLocks noChangeAspect="1"/>
          </p:cNvPicPr>
          <p:nvPr/>
        </p:nvPicPr>
        <p:blipFill>
          <a:blip r:embed="rId2"/>
          <a:stretch>
            <a:fillRect/>
          </a:stretch>
        </p:blipFill>
        <p:spPr>
          <a:xfrm>
            <a:off x="609600" y="2209800"/>
            <a:ext cx="8077200" cy="4144964"/>
          </a:xfrm>
          <a:prstGeom prst="rect">
            <a:avLst/>
          </a:prstGeom>
        </p:spPr>
      </p:pic>
    </p:spTree>
    <p:extLst>
      <p:ext uri="{BB962C8B-B14F-4D97-AF65-F5344CB8AC3E}">
        <p14:creationId xmlns:p14="http://schemas.microsoft.com/office/powerpoint/2010/main" val="12836722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840B2E-B7C0-4075-DCFC-AE48831BC697}"/>
              </a:ext>
            </a:extLst>
          </p:cNvPr>
          <p:cNvSpPr>
            <a:spLocks noGrp="1"/>
          </p:cNvSpPr>
          <p:nvPr>
            <p:ph idx="1"/>
          </p:nvPr>
        </p:nvSpPr>
        <p:spPr>
          <a:xfrm>
            <a:off x="457200" y="365918"/>
            <a:ext cx="8229600" cy="6126163"/>
          </a:xfrm>
        </p:spPr>
        <p:txBody>
          <a:bodyPr>
            <a:normAutofit/>
          </a:bodyPr>
          <a:lstStyle/>
          <a:p>
            <a:pPr algn="just"/>
            <a:r>
              <a:rPr lang="en-US" sz="2000" b="1" dirty="0">
                <a:latin typeface="Times New Roman" panose="02020603050405020304" pitchFamily="18" charset="0"/>
                <a:cs typeface="Times New Roman" panose="02020603050405020304" pitchFamily="18" charset="0"/>
              </a:rPr>
              <a:t>Primitive Data Types </a:t>
            </a:r>
            <a:endParaRPr lang="en-US" sz="2000" dirty="0">
              <a:latin typeface="Times New Roman" panose="02020603050405020304" pitchFamily="18" charset="0"/>
              <a:cs typeface="Times New Roman" panose="02020603050405020304" pitchFamily="18" charset="0"/>
            </a:endParaRPr>
          </a:p>
          <a:p>
            <a:pPr marL="0" indent="0" algn="just">
              <a:buNone/>
            </a:pPr>
            <a:r>
              <a:rPr lang="en-US" sz="2000" dirty="0">
                <a:latin typeface="Times New Roman" panose="02020603050405020304" pitchFamily="18" charset="0"/>
                <a:cs typeface="Times New Roman" panose="02020603050405020304" pitchFamily="18" charset="0"/>
              </a:rPr>
              <a:t>The primitive data types are built-in data types and they specify the type of value stored in a variable and the memory size. </a:t>
            </a:r>
          </a:p>
          <a:p>
            <a:pPr algn="just"/>
            <a:r>
              <a:rPr lang="en-US" sz="2000" b="1" dirty="0">
                <a:latin typeface="Times New Roman" panose="02020603050405020304" pitchFamily="18" charset="0"/>
                <a:cs typeface="Times New Roman" panose="02020603050405020304" pitchFamily="18" charset="0"/>
              </a:rPr>
              <a:t>Integer Data Types </a:t>
            </a:r>
            <a:endParaRPr lang="en-US" sz="2000" dirty="0">
              <a:latin typeface="Times New Roman" panose="02020603050405020304" pitchFamily="18" charset="0"/>
              <a:cs typeface="Times New Roman" panose="02020603050405020304" pitchFamily="18" charset="0"/>
            </a:endParaRPr>
          </a:p>
          <a:p>
            <a:pPr marL="0" indent="0" algn="just">
              <a:buNone/>
            </a:pPr>
            <a:r>
              <a:rPr lang="en-US" sz="2000" dirty="0">
                <a:latin typeface="Times New Roman" panose="02020603050405020304" pitchFamily="18" charset="0"/>
                <a:cs typeface="Times New Roman" panose="02020603050405020304" pitchFamily="18" charset="0"/>
              </a:rPr>
              <a:t>Integer Data Types represent integer numbers, </a:t>
            </a:r>
            <a:r>
              <a:rPr lang="en-US" sz="2000" dirty="0" err="1">
                <a:latin typeface="Times New Roman" panose="02020603050405020304" pitchFamily="18" charset="0"/>
                <a:cs typeface="Times New Roman" panose="02020603050405020304" pitchFamily="18" charset="0"/>
              </a:rPr>
              <a:t>i.e</a:t>
            </a:r>
            <a:r>
              <a:rPr lang="en-US" sz="2000" dirty="0">
                <a:latin typeface="Times New Roman" panose="02020603050405020304" pitchFamily="18" charset="0"/>
                <a:cs typeface="Times New Roman" panose="02020603050405020304" pitchFamily="18" charset="0"/>
              </a:rPr>
              <a:t> numbers without any fractional parts or decimal points. </a:t>
            </a:r>
          </a:p>
          <a:p>
            <a:pPr marL="0" indent="0" algn="just">
              <a:buNone/>
            </a:pPr>
            <a:endParaRPr lang="en-US" sz="20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CD36C628-D8FC-D7E1-3FE3-90887466CF7A}"/>
              </a:ext>
            </a:extLst>
          </p:cNvPr>
          <p:cNvPicPr>
            <a:picLocks noChangeAspect="1"/>
          </p:cNvPicPr>
          <p:nvPr/>
        </p:nvPicPr>
        <p:blipFill>
          <a:blip r:embed="rId2"/>
          <a:stretch>
            <a:fillRect/>
          </a:stretch>
        </p:blipFill>
        <p:spPr>
          <a:xfrm>
            <a:off x="1066800" y="2438400"/>
            <a:ext cx="7334786" cy="3429000"/>
          </a:xfrm>
          <a:prstGeom prst="rect">
            <a:avLst/>
          </a:prstGeom>
        </p:spPr>
      </p:pic>
    </p:spTree>
    <p:extLst>
      <p:ext uri="{BB962C8B-B14F-4D97-AF65-F5344CB8AC3E}">
        <p14:creationId xmlns:p14="http://schemas.microsoft.com/office/powerpoint/2010/main" val="27249230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E5C140-C59C-E95B-84A1-B951F9131606}"/>
              </a:ext>
            </a:extLst>
          </p:cNvPr>
          <p:cNvSpPr>
            <a:spLocks noGrp="1"/>
          </p:cNvSpPr>
          <p:nvPr>
            <p:ph idx="1"/>
          </p:nvPr>
        </p:nvSpPr>
        <p:spPr>
          <a:xfrm>
            <a:off x="457200" y="381000"/>
            <a:ext cx="8229600" cy="5745163"/>
          </a:xfrm>
        </p:spPr>
        <p:txBody>
          <a:bodyPr>
            <a:normAutofit lnSpcReduction="10000"/>
          </a:bodyPr>
          <a:lstStyle/>
          <a:p>
            <a:r>
              <a:rPr lang="en-US" sz="2000" b="1" dirty="0">
                <a:latin typeface="Times New Roman" panose="02020603050405020304" pitchFamily="18" charset="0"/>
                <a:cs typeface="Times New Roman" panose="02020603050405020304" pitchFamily="18" charset="0"/>
              </a:rPr>
              <a:t>Float Data Types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Float data types are represent numbers with decimal point. </a:t>
            </a:r>
          </a:p>
          <a:p>
            <a:endParaRPr lang="en-US" dirty="0"/>
          </a:p>
          <a:p>
            <a:endParaRPr lang="en-US" dirty="0"/>
          </a:p>
          <a:p>
            <a:endParaRPr lang="en-US" dirty="0"/>
          </a:p>
          <a:p>
            <a:endParaRPr lang="en-US" dirty="0"/>
          </a:p>
          <a:p>
            <a:endParaRPr lang="en-US" dirty="0"/>
          </a:p>
          <a:p>
            <a:endParaRPr lang="en-US" dirty="0"/>
          </a:p>
          <a:p>
            <a:pPr marL="0" indent="0">
              <a:buNone/>
            </a:pPr>
            <a:r>
              <a:rPr lang="en-US" sz="2200" b="1" dirty="0">
                <a:latin typeface="Times New Roman" panose="02020603050405020304" pitchFamily="18" charset="0"/>
                <a:cs typeface="Times New Roman" panose="02020603050405020304" pitchFamily="18" charset="0"/>
              </a:rPr>
              <a:t>Note: </a:t>
            </a:r>
            <a:r>
              <a:rPr lang="en-US" sz="2200" dirty="0">
                <a:latin typeface="Times New Roman" panose="02020603050405020304" pitchFamily="18" charset="0"/>
                <a:cs typeface="Times New Roman" panose="02020603050405020304" pitchFamily="18" charset="0"/>
              </a:rPr>
              <a:t>Float data type can represent up to 7 digits accurately after decimal point. </a:t>
            </a:r>
          </a:p>
          <a:p>
            <a:r>
              <a:rPr lang="en-US" sz="2200" dirty="0">
                <a:latin typeface="Times New Roman" panose="02020603050405020304" pitchFamily="18" charset="0"/>
                <a:cs typeface="Times New Roman" panose="02020603050405020304" pitchFamily="18" charset="0"/>
              </a:rPr>
              <a:t>Double data type can represent up to 15 digits accurately after decimal point. </a:t>
            </a:r>
          </a:p>
        </p:txBody>
      </p:sp>
      <p:pic>
        <p:nvPicPr>
          <p:cNvPr id="5" name="Picture 4">
            <a:extLst>
              <a:ext uri="{FF2B5EF4-FFF2-40B4-BE49-F238E27FC236}">
                <a16:creationId xmlns:a16="http://schemas.microsoft.com/office/drawing/2014/main" id="{29C41CB3-958D-EC6F-E645-F90F43B6C38F}"/>
              </a:ext>
            </a:extLst>
          </p:cNvPr>
          <p:cNvPicPr>
            <a:picLocks noChangeAspect="1"/>
          </p:cNvPicPr>
          <p:nvPr/>
        </p:nvPicPr>
        <p:blipFill>
          <a:blip r:embed="rId2"/>
          <a:stretch>
            <a:fillRect/>
          </a:stretch>
        </p:blipFill>
        <p:spPr>
          <a:xfrm>
            <a:off x="481781" y="1676400"/>
            <a:ext cx="7696200" cy="2400300"/>
          </a:xfrm>
          <a:prstGeom prst="rect">
            <a:avLst/>
          </a:prstGeom>
        </p:spPr>
      </p:pic>
    </p:spTree>
    <p:extLst>
      <p:ext uri="{BB962C8B-B14F-4D97-AF65-F5344CB8AC3E}">
        <p14:creationId xmlns:p14="http://schemas.microsoft.com/office/powerpoint/2010/main" val="42943609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6B0BF9-C015-4A43-1B0B-A261994AF849}"/>
              </a:ext>
            </a:extLst>
          </p:cNvPr>
          <p:cNvSpPr>
            <a:spLocks noGrp="1"/>
          </p:cNvSpPr>
          <p:nvPr>
            <p:ph idx="1"/>
          </p:nvPr>
        </p:nvSpPr>
        <p:spPr>
          <a:xfrm>
            <a:off x="457200" y="304800"/>
            <a:ext cx="8229600" cy="5821363"/>
          </a:xfrm>
        </p:spPr>
        <p:txBody>
          <a:bodyPr>
            <a:normAutofit/>
          </a:bodyPr>
          <a:lstStyle/>
          <a:p>
            <a:r>
              <a:rPr lang="en-US" sz="2000" b="1" dirty="0">
                <a:latin typeface="Times New Roman" panose="02020603050405020304" pitchFamily="18" charset="0"/>
                <a:cs typeface="Times New Roman" panose="02020603050405020304" pitchFamily="18" charset="0"/>
              </a:rPr>
              <a:t>Character Data Type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Character data type are represents a single character like a, P, &amp;, *,..etc. </a:t>
            </a: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Boolean Data Types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Boolean data types represent any of the two values, true or false. JVM uses 1 bit to represent a Boolean value internally. </a:t>
            </a:r>
          </a:p>
          <a:p>
            <a:pPr marL="0" indent="0">
              <a:buNone/>
            </a:pPr>
            <a:endParaRPr lang="en-US"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3B8C7B11-EC2A-D0BC-AB4A-9646A55B892C}"/>
              </a:ext>
            </a:extLst>
          </p:cNvPr>
          <p:cNvPicPr>
            <a:picLocks noChangeAspect="1"/>
          </p:cNvPicPr>
          <p:nvPr/>
        </p:nvPicPr>
        <p:blipFill>
          <a:blip r:embed="rId2"/>
          <a:stretch>
            <a:fillRect/>
          </a:stretch>
        </p:blipFill>
        <p:spPr>
          <a:xfrm>
            <a:off x="852487" y="1295398"/>
            <a:ext cx="7619937" cy="1496959"/>
          </a:xfrm>
          <a:prstGeom prst="rect">
            <a:avLst/>
          </a:prstGeom>
        </p:spPr>
      </p:pic>
      <p:pic>
        <p:nvPicPr>
          <p:cNvPr id="7" name="Picture 6">
            <a:extLst>
              <a:ext uri="{FF2B5EF4-FFF2-40B4-BE49-F238E27FC236}">
                <a16:creationId xmlns:a16="http://schemas.microsoft.com/office/drawing/2014/main" id="{2C78B88B-20F6-28B8-2FBE-5505095C2489}"/>
              </a:ext>
            </a:extLst>
          </p:cNvPr>
          <p:cNvPicPr>
            <a:picLocks noChangeAspect="1"/>
          </p:cNvPicPr>
          <p:nvPr/>
        </p:nvPicPr>
        <p:blipFill>
          <a:blip r:embed="rId3"/>
          <a:stretch>
            <a:fillRect/>
          </a:stretch>
        </p:blipFill>
        <p:spPr>
          <a:xfrm>
            <a:off x="685800" y="4191001"/>
            <a:ext cx="7620000" cy="1496960"/>
          </a:xfrm>
          <a:prstGeom prst="rect">
            <a:avLst/>
          </a:prstGeom>
        </p:spPr>
      </p:pic>
    </p:spTree>
    <p:extLst>
      <p:ext uri="{BB962C8B-B14F-4D97-AF65-F5344CB8AC3E}">
        <p14:creationId xmlns:p14="http://schemas.microsoft.com/office/powerpoint/2010/main" val="8600244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AB384A-71E6-8852-30E9-199E70DA2C8A}"/>
              </a:ext>
            </a:extLst>
          </p:cNvPr>
          <p:cNvSpPr>
            <a:spLocks noGrp="1"/>
          </p:cNvSpPr>
          <p:nvPr>
            <p:ph idx="1"/>
          </p:nvPr>
        </p:nvSpPr>
        <p:spPr>
          <a:xfrm>
            <a:off x="457200" y="228600"/>
            <a:ext cx="8229600" cy="5897563"/>
          </a:xfrm>
        </p:spPr>
        <p:txBody>
          <a:bodyPr>
            <a:normAutofit fontScale="77500" lnSpcReduction="20000"/>
          </a:bodyPr>
          <a:lstStyle/>
          <a:p>
            <a:pPr marL="0" indent="0" algn="ctr">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VARIABLES</a:t>
            </a:r>
          </a:p>
          <a:p>
            <a:pPr marL="0" indent="0" algn="just">
              <a:lnSpc>
                <a:spcPct val="120000"/>
              </a:lnSpc>
              <a:buNone/>
            </a:pPr>
            <a:r>
              <a:rPr lang="en-US" dirty="0">
                <a:latin typeface="Times New Roman" panose="02020603050405020304" pitchFamily="18" charset="0"/>
                <a:cs typeface="Times New Roman" panose="02020603050405020304" pitchFamily="18" charset="0"/>
              </a:rPr>
              <a:t>Variable is a name given to a memory location where we can store different values of the same data type during the program execution.</a:t>
            </a:r>
          </a:p>
          <a:p>
            <a:pPr marL="0" indent="0" algn="just">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The following are the rules to specify a variable name</a:t>
            </a:r>
            <a:r>
              <a:rPr lang="en-US" b="1" dirty="0">
                <a:latin typeface="Times New Roman" panose="02020603050405020304" pitchFamily="18" charset="0"/>
                <a:cs typeface="Times New Roman" panose="02020603050405020304" pitchFamily="18" charset="0"/>
              </a:rPr>
              <a:t>...</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A variable name may contain letters, digits and underscore symbol</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Variable name should not start with digit.</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Keywords should not be used as variable names.</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Variable name should not contain any special symbols except underscore(_).</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Variable name can be of any length but compiler considers only the first 31 characters of the variable name.</a:t>
            </a:r>
          </a:p>
          <a:p>
            <a:pPr algn="just">
              <a:lnSpc>
                <a:spcPct val="120000"/>
              </a:lnSpc>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798523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21AC57-3696-5B0C-0D79-42327D0F8B9A}"/>
              </a:ext>
            </a:extLst>
          </p:cNvPr>
          <p:cNvSpPr>
            <a:spLocks noGrp="1"/>
          </p:cNvSpPr>
          <p:nvPr>
            <p:ph idx="1"/>
          </p:nvPr>
        </p:nvSpPr>
        <p:spPr>
          <a:xfrm>
            <a:off x="457200" y="228600"/>
            <a:ext cx="8229600" cy="5897563"/>
          </a:xfrm>
        </p:spPr>
        <p:txBody>
          <a:bodyPr>
            <a:normAutofit fontScale="70000" lnSpcReduction="20000"/>
          </a:bodyPr>
          <a:lstStyle/>
          <a:p>
            <a:pPr marL="0" indent="0" algn="ctr">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Declaration of Variable</a:t>
            </a:r>
          </a:p>
          <a:p>
            <a:pPr marL="0" indent="0" algn="just">
              <a:lnSpc>
                <a:spcPct val="120000"/>
              </a:lnSpc>
              <a:buNone/>
            </a:pPr>
            <a:r>
              <a:rPr lang="en-US" dirty="0">
                <a:latin typeface="Times New Roman" panose="02020603050405020304" pitchFamily="18" charset="0"/>
                <a:cs typeface="Times New Roman" panose="02020603050405020304" pitchFamily="18" charset="0"/>
              </a:rPr>
              <a:t>Declaration of a variable tells to the compiler to allocate required amount of memory with specified variable name and allows only specified datatype values into that memory location.</a:t>
            </a: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 </a:t>
            </a:r>
            <a:r>
              <a:rPr lang="en-US" dirty="0">
                <a:latin typeface="Times New Roman" panose="02020603050405020304" pitchFamily="18" charset="0"/>
                <a:cs typeface="Times New Roman" panose="02020603050405020304" pitchFamily="18" charset="0"/>
              </a:rPr>
              <a:t>datatype </a:t>
            </a:r>
            <a:r>
              <a:rPr lang="en-US" dirty="0" err="1">
                <a:latin typeface="Times New Roman" panose="02020603050405020304" pitchFamily="18" charset="0"/>
                <a:cs typeface="Times New Roman" panose="02020603050405020304" pitchFamily="18" charset="0"/>
              </a:rPr>
              <a:t>variablename</a:t>
            </a:r>
            <a:r>
              <a:rPr lang="en-US" dirty="0">
                <a:latin typeface="Times New Roman" panose="02020603050405020304" pitchFamily="18" charset="0"/>
                <a:cs typeface="Times New Roman" panose="02020603050405020304" pitchFamily="18" charset="0"/>
              </a:rPr>
              <a:t>;</a:t>
            </a:r>
          </a:p>
          <a:p>
            <a:pPr marL="0" indent="0">
              <a:lnSpc>
                <a:spcPct val="120000"/>
              </a:lnSpc>
              <a:buNone/>
            </a:pPr>
            <a:r>
              <a:rPr lang="en-US" b="1" dirty="0">
                <a:latin typeface="Times New Roman" panose="02020603050405020304" pitchFamily="18" charset="0"/>
                <a:cs typeface="Times New Roman" panose="02020603050405020304" pitchFamily="18" charset="0"/>
              </a:rPr>
              <a:t>Example : int a;</a:t>
            </a:r>
            <a:endParaRPr lang="en-US" dirty="0">
              <a:latin typeface="Times New Roman" panose="02020603050405020304" pitchFamily="18" charset="0"/>
              <a:cs typeface="Times New Roman" panose="02020603050405020304" pitchFamily="18" charset="0"/>
            </a:endParaRP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a:t>
            </a:r>
            <a:r>
              <a:rPr lang="en-US" b="1" dirty="0">
                <a:latin typeface="Times New Roman" panose="02020603050405020304" pitchFamily="18" charset="0"/>
                <a:cs typeface="Times New Roman" panose="02020603050405020304" pitchFamily="18" charset="0"/>
              </a:rPr>
              <a:t> : </a:t>
            </a:r>
            <a:r>
              <a:rPr lang="en-US" b="1" dirty="0" err="1">
                <a:latin typeface="Times New Roman" panose="02020603050405020304" pitchFamily="18" charset="0"/>
                <a:cs typeface="Times New Roman" panose="02020603050405020304" pitchFamily="18" charset="0"/>
              </a:rPr>
              <a:t>data_type</a:t>
            </a:r>
            <a:r>
              <a:rPr lang="en-US" b="1" dirty="0">
                <a:latin typeface="Times New Roman" panose="02020603050405020304" pitchFamily="18" charset="0"/>
                <a:cs typeface="Times New Roman" panose="02020603050405020304" pitchFamily="18" charset="0"/>
              </a:rPr>
              <a:t> variable_name_1, variable_name_2,...; Example : int a, b;</a:t>
            </a:r>
            <a:endParaRPr lang="en-US" dirty="0">
              <a:latin typeface="Times New Roman" panose="02020603050405020304" pitchFamily="18" charset="0"/>
              <a:cs typeface="Times New Roman" panose="02020603050405020304" pitchFamily="18" charset="0"/>
            </a:endParaRPr>
          </a:p>
          <a:p>
            <a:pPr marL="0" indent="0" algn="ctr">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Initialization of a variable:</a:t>
            </a:r>
            <a:endParaRPr lang="en-US" dirty="0">
              <a:solidFill>
                <a:srgbClr val="FF0000"/>
              </a:solidFill>
              <a:latin typeface="Times New Roman" panose="02020603050405020304" pitchFamily="18" charset="0"/>
              <a:cs typeface="Times New Roman" panose="02020603050405020304" pitchFamily="18" charset="0"/>
            </a:endParaRP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 </a:t>
            </a:r>
            <a:r>
              <a:rPr lang="en-US" dirty="0">
                <a:latin typeface="Times New Roman" panose="02020603050405020304" pitchFamily="18" charset="0"/>
                <a:cs typeface="Times New Roman" panose="02020603050405020304" pitchFamily="18" charset="0"/>
              </a:rPr>
              <a:t>datatype </a:t>
            </a:r>
            <a:r>
              <a:rPr lang="en-US" dirty="0" err="1">
                <a:latin typeface="Times New Roman" panose="02020603050405020304" pitchFamily="18" charset="0"/>
                <a:cs typeface="Times New Roman" panose="02020603050405020304" pitchFamily="18" charset="0"/>
              </a:rPr>
              <a:t>variablename</a:t>
            </a:r>
            <a:r>
              <a:rPr lang="en-US" dirty="0">
                <a:latin typeface="Times New Roman" panose="02020603050405020304" pitchFamily="18" charset="0"/>
                <a:cs typeface="Times New Roman" panose="02020603050405020304" pitchFamily="18" charset="0"/>
              </a:rPr>
              <a:t> = value;</a:t>
            </a:r>
          </a:p>
          <a:p>
            <a:pPr marL="0" indent="0">
              <a:lnSpc>
                <a:spcPct val="120000"/>
              </a:lnSpc>
              <a:buNone/>
            </a:pPr>
            <a:r>
              <a:rPr lang="en-US" b="1" dirty="0">
                <a:latin typeface="Times New Roman" panose="02020603050405020304" pitchFamily="18" charset="0"/>
                <a:cs typeface="Times New Roman" panose="02020603050405020304" pitchFamily="18" charset="0"/>
              </a:rPr>
              <a:t>Example : </a:t>
            </a:r>
            <a:r>
              <a:rPr lang="en-US" dirty="0">
                <a:latin typeface="Times New Roman" panose="02020603050405020304" pitchFamily="18" charset="0"/>
                <a:cs typeface="Times New Roman" panose="02020603050405020304" pitchFamily="18" charset="0"/>
              </a:rPr>
              <a:t>int a = 10;</a:t>
            </a: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 </a:t>
            </a:r>
            <a:r>
              <a:rPr lang="en-US" b="1"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data_type</a:t>
            </a:r>
            <a:r>
              <a:rPr lang="en-US" dirty="0">
                <a:latin typeface="Times New Roman" panose="02020603050405020304" pitchFamily="18" charset="0"/>
                <a:cs typeface="Times New Roman" panose="02020603050405020304" pitchFamily="18" charset="0"/>
              </a:rPr>
              <a:t> variable_name_1=value, variable_name_2 = value;</a:t>
            </a:r>
          </a:p>
          <a:p>
            <a:pPr marL="0" indent="0">
              <a:lnSpc>
                <a:spcPct val="120000"/>
              </a:lnSpc>
              <a:buNone/>
            </a:pPr>
            <a:r>
              <a:rPr lang="en-US" b="1" dirty="0">
                <a:latin typeface="Times New Roman" panose="02020603050405020304" pitchFamily="18" charset="0"/>
                <a:cs typeface="Times New Roman" panose="02020603050405020304" pitchFamily="18" charset="0"/>
              </a:rPr>
              <a:t>Exampl</a:t>
            </a:r>
            <a:r>
              <a:rPr lang="en-US" dirty="0">
                <a:latin typeface="Times New Roman" panose="02020603050405020304" pitchFamily="18" charset="0"/>
                <a:cs typeface="Times New Roman" panose="02020603050405020304" pitchFamily="18" charset="0"/>
              </a:rPr>
              <a:t>e : int a = 10, b = 20;</a:t>
            </a:r>
          </a:p>
          <a:p>
            <a:pPr>
              <a:lnSpc>
                <a:spcPct val="120000"/>
              </a:lnSpc>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36718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837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041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246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451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656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61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65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878918D-2CA4-1067-1763-9C9E3916C322}"/>
              </a:ext>
            </a:extLst>
          </p:cNvPr>
          <p:cNvSpPr>
            <a:spLocks noGrp="1"/>
          </p:cNvSpPr>
          <p:nvPr>
            <p:ph idx="1"/>
          </p:nvPr>
        </p:nvSpPr>
        <p:spPr>
          <a:xfrm>
            <a:off x="457200" y="152400"/>
            <a:ext cx="8229600" cy="5973763"/>
          </a:xfrm>
        </p:spPr>
        <p:txBody>
          <a:bodyPr>
            <a:normAutofit lnSpcReduction="10000"/>
          </a:bodyPr>
          <a:lstStyle/>
          <a:p>
            <a:pPr marL="0" indent="0" algn="ctr">
              <a:buNone/>
            </a:pPr>
            <a:r>
              <a:rPr lang="en-US" i="1" dirty="0"/>
              <a:t> </a:t>
            </a:r>
            <a:r>
              <a:rPr lang="en-US" sz="2400" b="1" dirty="0">
                <a:solidFill>
                  <a:srgbClr val="FF0000"/>
                </a:solidFill>
                <a:latin typeface="Times New Roman" panose="02020603050405020304" pitchFamily="18" charset="0"/>
                <a:cs typeface="Times New Roman" panose="02020603050405020304" pitchFamily="18" charset="0"/>
              </a:rPr>
              <a:t>SCOPE AND LIFETIME OF A VARIABLE</a:t>
            </a:r>
            <a:endParaRPr lang="en-US" b="1" dirty="0">
              <a:solidFill>
                <a:srgbClr val="FF0000"/>
              </a:solidFill>
              <a:latin typeface="Times New Roman" panose="02020603050405020304" pitchFamily="18" charset="0"/>
              <a:cs typeface="Times New Roman" panose="02020603050405020304" pitchFamily="18" charset="0"/>
            </a:endParaRPr>
          </a:p>
          <a:p>
            <a:pPr lvl="0" algn="just"/>
            <a:r>
              <a:rPr lang="en-US" dirty="0">
                <a:latin typeface="Times New Roman" panose="02020603050405020304" pitchFamily="18" charset="0"/>
                <a:cs typeface="Times New Roman" panose="02020603050405020304" pitchFamily="18" charset="0"/>
              </a:rPr>
              <a:t>In programming, a variable can be declared and defined inside a class, method, or block.</a:t>
            </a:r>
          </a:p>
          <a:p>
            <a:pPr lvl="0" algn="just"/>
            <a:r>
              <a:rPr lang="en-US" dirty="0">
                <a:latin typeface="Times New Roman" panose="02020603050405020304" pitchFamily="18" charset="0"/>
                <a:cs typeface="Times New Roman" panose="02020603050405020304" pitchFamily="18" charset="0"/>
              </a:rPr>
              <a:t>It defines the scope of the variable i.e. the visibility or accessibility of a variable.</a:t>
            </a:r>
          </a:p>
          <a:p>
            <a:pPr lvl="0" algn="just"/>
            <a:r>
              <a:rPr lang="en-US" dirty="0">
                <a:latin typeface="Times New Roman" panose="02020603050405020304" pitchFamily="18" charset="0"/>
                <a:cs typeface="Times New Roman" panose="02020603050405020304" pitchFamily="18" charset="0"/>
              </a:rPr>
              <a:t>Variable declared inside a block or method are not visible to outside.</a:t>
            </a:r>
          </a:p>
          <a:p>
            <a:pPr lvl="0" algn="just"/>
            <a:r>
              <a:rPr lang="en-US" dirty="0">
                <a:latin typeface="Times New Roman" panose="02020603050405020304" pitchFamily="18" charset="0"/>
                <a:cs typeface="Times New Roman" panose="02020603050405020304" pitchFamily="18" charset="0"/>
              </a:rPr>
              <a:t>If we try to do so, we will get a compilation error. Note that the scope of a variable can be nested.</a:t>
            </a:r>
          </a:p>
          <a:p>
            <a:pPr lvl="0" algn="just"/>
            <a:r>
              <a:rPr lang="en-US" b="1" dirty="0">
                <a:latin typeface="Times New Roman" panose="02020603050405020304" pitchFamily="18" charset="0"/>
                <a:cs typeface="Times New Roman" panose="02020603050405020304" pitchFamily="18" charset="0"/>
              </a:rPr>
              <a:t>Lifetime </a:t>
            </a:r>
            <a:r>
              <a:rPr lang="en-US" dirty="0">
                <a:latin typeface="Times New Roman" panose="02020603050405020304" pitchFamily="18" charset="0"/>
                <a:cs typeface="Times New Roman" panose="02020603050405020304" pitchFamily="18" charset="0"/>
              </a:rPr>
              <a:t>of a variable indicates how long the variable stays alive in the memory.</a:t>
            </a:r>
          </a:p>
          <a:p>
            <a:pPr algn="just"/>
            <a:endParaRPr lang="en-US" dirty="0"/>
          </a:p>
        </p:txBody>
      </p:sp>
    </p:spTree>
    <p:extLst>
      <p:ext uri="{BB962C8B-B14F-4D97-AF65-F5344CB8AC3E}">
        <p14:creationId xmlns:p14="http://schemas.microsoft.com/office/powerpoint/2010/main" val="38043600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70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75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3D0DC-8A21-B54B-4E32-EB33D746D5DD}"/>
              </a:ext>
            </a:extLst>
          </p:cNvPr>
          <p:cNvSpPr>
            <a:spLocks noGrp="1"/>
          </p:cNvSpPr>
          <p:nvPr>
            <p:ph type="title"/>
          </p:nvPr>
        </p:nvSpPr>
        <p:spPr>
          <a:xfrm>
            <a:off x="457200" y="274638"/>
            <a:ext cx="8229600" cy="457199"/>
          </a:xfrm>
        </p:spPr>
        <p:txBody>
          <a:bodyPr>
            <a:normAutofit fontScale="90000"/>
          </a:bodyPr>
          <a:lstStyle/>
          <a:p>
            <a:r>
              <a:rPr lang="en-US" dirty="0"/>
              <a:t>Main.java</a:t>
            </a:r>
          </a:p>
        </p:txBody>
      </p:sp>
      <p:sp>
        <p:nvSpPr>
          <p:cNvPr id="3" name="Content Placeholder 2">
            <a:extLst>
              <a:ext uri="{FF2B5EF4-FFF2-40B4-BE49-F238E27FC236}">
                <a16:creationId xmlns:a16="http://schemas.microsoft.com/office/drawing/2014/main" id="{F3FA3C45-76B0-4BB2-7450-304C407AAC92}"/>
              </a:ext>
            </a:extLst>
          </p:cNvPr>
          <p:cNvSpPr>
            <a:spLocks noGrp="1"/>
          </p:cNvSpPr>
          <p:nvPr>
            <p:ph idx="1"/>
          </p:nvPr>
        </p:nvSpPr>
        <p:spPr>
          <a:xfrm>
            <a:off x="457200" y="731838"/>
            <a:ext cx="8229600" cy="5394326"/>
          </a:xfrm>
        </p:spPr>
        <p:txBody>
          <a:bodyPr>
            <a:normAutofit fontScale="77500" lnSpcReduction="20000"/>
          </a:bodyPr>
          <a:lstStyle/>
          <a:p>
            <a:pPr marL="0" indent="0">
              <a:lnSpc>
                <a:spcPct val="120000"/>
              </a:lnSpc>
              <a:buNone/>
            </a:pPr>
            <a:r>
              <a:rPr lang="en-US" dirty="0">
                <a:latin typeface="Times New Roman" panose="02020603050405020304" pitchFamily="18" charset="0"/>
                <a:cs typeface="Times New Roman" panose="02020603050405020304" pitchFamily="18" charset="0"/>
              </a:rPr>
              <a:t>public class </a:t>
            </a:r>
            <a:r>
              <a:rPr lang="en-US" dirty="0">
                <a:solidFill>
                  <a:srgbClr val="FF0000"/>
                </a:solidFill>
                <a:latin typeface="Times New Roman" panose="02020603050405020304" pitchFamily="18" charset="0"/>
                <a:cs typeface="Times New Roman" panose="02020603050405020304" pitchFamily="18" charset="0"/>
              </a:rPr>
              <a:t>Main</a:t>
            </a:r>
            <a:r>
              <a:rPr lang="en-US" dirty="0">
                <a:latin typeface="Times New Roman" panose="02020603050405020304" pitchFamily="18" charset="0"/>
                <a:cs typeface="Times New Roman" panose="02020603050405020304" pitchFamily="18" charset="0"/>
              </a:rPr>
              <a:t> {</a:t>
            </a:r>
          </a:p>
          <a:p>
            <a:pPr marL="0" indent="0">
              <a:lnSpc>
                <a:spcPct val="120000"/>
              </a:lnSpc>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lnSpc>
                <a:spcPct val="120000"/>
              </a:lnSpc>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("Hello World");</a:t>
            </a:r>
          </a:p>
          <a:p>
            <a:pPr marL="0" indent="0">
              <a:lnSpc>
                <a:spcPct val="120000"/>
              </a:lnSpc>
              <a:buNone/>
            </a:pPr>
            <a:r>
              <a:rPr lang="en-US" dirty="0">
                <a:latin typeface="Times New Roman" panose="02020603050405020304" pitchFamily="18" charset="0"/>
                <a:cs typeface="Times New Roman" panose="02020603050405020304" pitchFamily="18" charset="0"/>
              </a:rPr>
              <a:t>  }</a:t>
            </a:r>
          </a:p>
          <a:p>
            <a:pPr marL="0" indent="0">
              <a:lnSpc>
                <a:spcPct val="120000"/>
              </a:lnSpc>
              <a:buNone/>
            </a:pPr>
            <a:r>
              <a:rPr lang="en-US" dirty="0">
                <a:latin typeface="Times New Roman" panose="02020603050405020304" pitchFamily="18" charset="0"/>
                <a:cs typeface="Times New Roman" panose="02020603050405020304" pitchFamily="18" charset="0"/>
              </a:rPr>
              <a:t>}</a:t>
            </a:r>
          </a:p>
          <a:p>
            <a:pPr marL="0" indent="0">
              <a:lnSpc>
                <a:spcPct val="120000"/>
              </a:lnSpc>
              <a:buNone/>
            </a:pPr>
            <a:endParaRPr lang="en-US" dirty="0">
              <a:latin typeface="Times New Roman" panose="02020603050405020304" pitchFamily="18" charset="0"/>
              <a:cs typeface="Times New Roman" panose="02020603050405020304" pitchFamily="18" charset="0"/>
            </a:endParaRPr>
          </a:p>
          <a:p>
            <a:pPr>
              <a:lnSpc>
                <a:spcPct val="120000"/>
              </a:lnSpc>
            </a:pPr>
            <a:r>
              <a:rPr lang="en-US" dirty="0">
                <a:latin typeface="Times New Roman" panose="02020603050405020304" pitchFamily="18" charset="0"/>
                <a:cs typeface="Times New Roman" panose="02020603050405020304" pitchFamily="18" charset="0"/>
              </a:rPr>
              <a:t>Every line of code that runs in Java must be </a:t>
            </a:r>
            <a:r>
              <a:rPr lang="en-US" b="1" i="1" dirty="0">
                <a:solidFill>
                  <a:srgbClr val="FF0000"/>
                </a:solidFill>
                <a:latin typeface="Times New Roman" panose="02020603050405020304" pitchFamily="18" charset="0"/>
                <a:cs typeface="Times New Roman" panose="02020603050405020304" pitchFamily="18" charset="0"/>
              </a:rPr>
              <a:t>inside a class</a:t>
            </a:r>
            <a:r>
              <a:rPr lang="en-US" dirty="0">
                <a:latin typeface="Times New Roman" panose="02020603050405020304" pitchFamily="18" charset="0"/>
                <a:cs typeface="Times New Roman" panose="02020603050405020304" pitchFamily="18" charset="0"/>
              </a:rPr>
              <a:t>. The </a:t>
            </a:r>
            <a:r>
              <a:rPr lang="en-US" b="1" i="1" dirty="0">
                <a:solidFill>
                  <a:srgbClr val="FF0000"/>
                </a:solidFill>
                <a:latin typeface="Times New Roman" panose="02020603050405020304" pitchFamily="18" charset="0"/>
                <a:cs typeface="Times New Roman" panose="02020603050405020304" pitchFamily="18" charset="0"/>
              </a:rPr>
              <a:t>class name should always start with an uppercase first letter</a:t>
            </a:r>
            <a:r>
              <a:rPr lang="en-US" dirty="0">
                <a:latin typeface="Times New Roman" panose="02020603050405020304" pitchFamily="18" charset="0"/>
                <a:cs typeface="Times New Roman" panose="02020603050405020304" pitchFamily="18" charset="0"/>
              </a:rPr>
              <a:t>. In our example, we named the class</a:t>
            </a:r>
            <a:r>
              <a:rPr lang="en-US" dirty="0">
                <a:solidFill>
                  <a:srgbClr val="FF0000"/>
                </a:solidFill>
                <a:latin typeface="Times New Roman" panose="02020603050405020304" pitchFamily="18" charset="0"/>
                <a:cs typeface="Times New Roman" panose="02020603050405020304" pitchFamily="18" charset="0"/>
              </a:rPr>
              <a:t> </a:t>
            </a:r>
            <a:r>
              <a:rPr lang="en-US" b="1" dirty="0">
                <a:solidFill>
                  <a:srgbClr val="FF0000"/>
                </a:solidFill>
                <a:latin typeface="Times New Roman" panose="02020603050405020304" pitchFamily="18" charset="0"/>
                <a:cs typeface="Times New Roman" panose="02020603050405020304" pitchFamily="18" charset="0"/>
              </a:rPr>
              <a:t>Main</a:t>
            </a:r>
            <a:r>
              <a:rPr lang="en-US" dirty="0">
                <a:solidFill>
                  <a:srgbClr val="FF0000"/>
                </a:solidFill>
                <a:latin typeface="Times New Roman" panose="02020603050405020304" pitchFamily="18" charset="0"/>
                <a:cs typeface="Times New Roman" panose="02020603050405020304" pitchFamily="18" charset="0"/>
              </a:rPr>
              <a:t>.</a:t>
            </a:r>
          </a:p>
          <a:p>
            <a:pPr marL="0" indent="0">
              <a:lnSpc>
                <a:spcPct val="120000"/>
              </a:lnSpc>
              <a:buNone/>
            </a:pPr>
            <a:endParaRPr lang="en-US" dirty="0">
              <a:latin typeface="Times New Roman" panose="02020603050405020304" pitchFamily="18" charset="0"/>
              <a:cs typeface="Times New Roman" panose="02020603050405020304" pitchFamily="18" charset="0"/>
            </a:endParaRPr>
          </a:p>
          <a:p>
            <a:pPr>
              <a:lnSpc>
                <a:spcPct val="120000"/>
              </a:lnSpc>
            </a:pPr>
            <a:r>
              <a:rPr lang="en-US" b="1" dirty="0">
                <a:latin typeface="Times New Roman" panose="02020603050405020304" pitchFamily="18" charset="0"/>
                <a:cs typeface="Times New Roman" panose="02020603050405020304" pitchFamily="18" charset="0"/>
              </a:rPr>
              <a:t>Note:</a:t>
            </a:r>
            <a:r>
              <a:rPr lang="en-US" dirty="0">
                <a:latin typeface="Times New Roman" panose="02020603050405020304" pitchFamily="18" charset="0"/>
                <a:cs typeface="Times New Roman" panose="02020603050405020304" pitchFamily="18" charset="0"/>
              </a:rPr>
              <a:t> Java is case-sensitive. </a:t>
            </a:r>
            <a:r>
              <a:rPr lang="en-US" dirty="0" err="1">
                <a:latin typeface="Times New Roman" panose="02020603050405020304" pitchFamily="18" charset="0"/>
                <a:cs typeface="Times New Roman" panose="02020603050405020304" pitchFamily="18" charset="0"/>
              </a:rPr>
              <a:t>MyClass</a:t>
            </a:r>
            <a:r>
              <a:rPr lang="en-US" dirty="0">
                <a:latin typeface="Times New Roman" panose="02020603050405020304" pitchFamily="18" charset="0"/>
                <a:cs typeface="Times New Roman" panose="02020603050405020304" pitchFamily="18" charset="0"/>
              </a:rPr>
              <a:t> and </a:t>
            </a:r>
            <a:r>
              <a:rPr lang="en-US" dirty="0" err="1">
                <a:latin typeface="Times New Roman" panose="02020603050405020304" pitchFamily="18" charset="0"/>
                <a:cs typeface="Times New Roman" panose="02020603050405020304" pitchFamily="18" charset="0"/>
              </a:rPr>
              <a:t>myclass</a:t>
            </a:r>
            <a:r>
              <a:rPr lang="en-US" dirty="0">
                <a:latin typeface="Times New Roman" panose="02020603050405020304" pitchFamily="18" charset="0"/>
                <a:cs typeface="Times New Roman" panose="02020603050405020304" pitchFamily="18" charset="0"/>
              </a:rPr>
              <a:t> would be treated as two completely different names.</a:t>
            </a:r>
          </a:p>
          <a:p>
            <a:pPr marL="0" indent="0">
              <a:lnSpc>
                <a:spcPct val="120000"/>
              </a:lnSpc>
              <a:buNone/>
            </a:pPr>
            <a:endParaRPr lang="en-US" dirty="0">
              <a:latin typeface="Times New Roman" panose="02020603050405020304" pitchFamily="18" charset="0"/>
              <a:cs typeface="Times New Roman" panose="02020603050405020304" pitchFamily="18" charset="0"/>
            </a:endParaRPr>
          </a:p>
          <a:p>
            <a:pPr>
              <a:lnSpc>
                <a:spcPct val="120000"/>
              </a:lnSpc>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59664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B21F48-7236-D3CA-C2DB-FF010C8E2C51}"/>
              </a:ext>
            </a:extLst>
          </p:cNvPr>
          <p:cNvSpPr>
            <a:spLocks noGrp="1"/>
          </p:cNvSpPr>
          <p:nvPr>
            <p:ph idx="1"/>
          </p:nvPr>
        </p:nvSpPr>
        <p:spPr>
          <a:xfrm>
            <a:off x="457200" y="381000"/>
            <a:ext cx="8229600" cy="5745163"/>
          </a:xfrm>
        </p:spPr>
        <p:txBody>
          <a:bodyPr>
            <a:normAutofit lnSpcReduction="10000"/>
          </a:bodyPr>
          <a:lstStyle/>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The name of the Java file </a:t>
            </a:r>
            <a:r>
              <a:rPr lang="en-US" b="1" dirty="0">
                <a:latin typeface="Times New Roman" panose="02020603050405020304" pitchFamily="18" charset="0"/>
                <a:cs typeface="Times New Roman" panose="02020603050405020304" pitchFamily="18" charset="0"/>
              </a:rPr>
              <a:t>must match</a:t>
            </a:r>
            <a:r>
              <a:rPr lang="en-US" dirty="0">
                <a:latin typeface="Times New Roman" panose="02020603050405020304" pitchFamily="18" charset="0"/>
                <a:cs typeface="Times New Roman" panose="02020603050405020304" pitchFamily="18" charset="0"/>
              </a:rPr>
              <a:t> the class name. </a:t>
            </a:r>
          </a:p>
          <a:p>
            <a:pPr algn="just"/>
            <a:r>
              <a:rPr lang="en-US" dirty="0">
                <a:latin typeface="Times New Roman" panose="02020603050405020304" pitchFamily="18" charset="0"/>
                <a:cs typeface="Times New Roman" panose="02020603050405020304" pitchFamily="18" charset="0"/>
              </a:rPr>
              <a:t>So if your class is called </a:t>
            </a:r>
            <a:r>
              <a:rPr lang="en-US" dirty="0">
                <a:solidFill>
                  <a:srgbClr val="FF0000"/>
                </a:solidFill>
                <a:latin typeface="Times New Roman" panose="02020603050405020304" pitchFamily="18" charset="0"/>
                <a:cs typeface="Times New Roman" panose="02020603050405020304" pitchFamily="18" charset="0"/>
              </a:rPr>
              <a:t>Main</a:t>
            </a:r>
            <a:r>
              <a:rPr lang="en-US" dirty="0">
                <a:latin typeface="Times New Roman" panose="02020603050405020304" pitchFamily="18" charset="0"/>
                <a:cs typeface="Times New Roman" panose="02020603050405020304" pitchFamily="18" charset="0"/>
              </a:rPr>
              <a:t>, the file must be saved as </a:t>
            </a:r>
            <a:r>
              <a:rPr lang="en-US" dirty="0">
                <a:solidFill>
                  <a:srgbClr val="FF0000"/>
                </a:solidFill>
                <a:latin typeface="Times New Roman" panose="02020603050405020304" pitchFamily="18" charset="0"/>
                <a:cs typeface="Times New Roman" panose="02020603050405020304" pitchFamily="18" charset="0"/>
              </a:rPr>
              <a:t>Main.java</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This is because Java uses the class name to find and run your code. If the names don't match, Java will give an error and the program will not run.</a:t>
            </a:r>
          </a:p>
          <a:p>
            <a:pPr algn="just"/>
            <a:r>
              <a:rPr lang="en-US" dirty="0">
                <a:latin typeface="Times New Roman" panose="02020603050405020304" pitchFamily="18" charset="0"/>
                <a:cs typeface="Times New Roman" panose="02020603050405020304" pitchFamily="18" charset="0"/>
              </a:rPr>
              <a:t>When saving the file, save it using the class name and add </a:t>
            </a:r>
            <a:r>
              <a:rPr lang="en-US" dirty="0">
                <a:solidFill>
                  <a:srgbClr val="FF0000"/>
                </a:solidFill>
                <a:latin typeface="Times New Roman" panose="02020603050405020304" pitchFamily="18" charset="0"/>
                <a:cs typeface="Times New Roman" panose="02020603050405020304" pitchFamily="18" charset="0"/>
              </a:rPr>
              <a:t>.java </a:t>
            </a:r>
            <a:r>
              <a:rPr lang="en-US" dirty="0">
                <a:latin typeface="Times New Roman" panose="02020603050405020304" pitchFamily="18" charset="0"/>
                <a:cs typeface="Times New Roman" panose="02020603050405020304" pitchFamily="18" charset="0"/>
              </a:rPr>
              <a:t>to the end of the filename</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54412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050B8-CC1A-84E1-253C-E89C9A102DE1}"/>
              </a:ext>
            </a:extLst>
          </p:cNvPr>
          <p:cNvSpPr>
            <a:spLocks noGrp="1"/>
          </p:cNvSpPr>
          <p:nvPr>
            <p:ph type="title"/>
          </p:nvPr>
        </p:nvSpPr>
        <p:spPr>
          <a:xfrm>
            <a:off x="457200" y="274638"/>
            <a:ext cx="8229600" cy="457199"/>
          </a:xfrm>
        </p:spPr>
        <p:txBody>
          <a:bodyPr>
            <a:noAutofit/>
          </a:bodyPr>
          <a:lstStyle/>
          <a:p>
            <a:r>
              <a:rPr lang="en-US" sz="2400" dirty="0">
                <a:solidFill>
                  <a:srgbClr val="FF0000"/>
                </a:solidFill>
                <a:latin typeface="Times New Roman" panose="02020603050405020304" pitchFamily="18" charset="0"/>
                <a:cs typeface="Times New Roman" panose="02020603050405020304" pitchFamily="18" charset="0"/>
              </a:rPr>
              <a:t>The main Method</a:t>
            </a:r>
          </a:p>
        </p:txBody>
      </p:sp>
      <p:sp>
        <p:nvSpPr>
          <p:cNvPr id="3" name="Content Placeholder 2">
            <a:extLst>
              <a:ext uri="{FF2B5EF4-FFF2-40B4-BE49-F238E27FC236}">
                <a16:creationId xmlns:a16="http://schemas.microsoft.com/office/drawing/2014/main" id="{97A32BE9-4247-871E-B8CA-8FA84DAA073E}"/>
              </a:ext>
            </a:extLst>
          </p:cNvPr>
          <p:cNvSpPr>
            <a:spLocks noGrp="1"/>
          </p:cNvSpPr>
          <p:nvPr>
            <p:ph idx="1"/>
          </p:nvPr>
        </p:nvSpPr>
        <p:spPr>
          <a:xfrm>
            <a:off x="457200" y="838200"/>
            <a:ext cx="8229600" cy="6019800"/>
          </a:xfrm>
        </p:spPr>
        <p:txBody>
          <a:bodyPr>
            <a:normAutofit fontScale="92500" lnSpcReduction="20000"/>
          </a:bodyPr>
          <a:lstStyle/>
          <a:p>
            <a:r>
              <a:rPr lang="en-US" sz="2400" dirty="0">
                <a:latin typeface="Times New Roman" panose="02020603050405020304" pitchFamily="18" charset="0"/>
                <a:cs typeface="Times New Roman" panose="02020603050405020304" pitchFamily="18" charset="0"/>
              </a:rPr>
              <a:t>The main() method is required in every Java program. It is where the program starts running:</a:t>
            </a:r>
          </a:p>
          <a:p>
            <a:pPr marL="0" indent="0" algn="ctr">
              <a:buNone/>
            </a:pPr>
            <a:r>
              <a:rPr lang="en-US" sz="2400"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public static void </a:t>
            </a:r>
            <a:r>
              <a:rPr lang="en-US" sz="2800" b="1" dirty="0">
                <a:latin typeface="Times New Roman" panose="02020603050405020304" pitchFamily="18" charset="0"/>
                <a:cs typeface="Times New Roman" panose="02020603050405020304" pitchFamily="18" charset="0"/>
              </a:rPr>
              <a:t>main</a:t>
            </a:r>
            <a:r>
              <a:rPr lang="en-US" sz="2800" dirty="0">
                <a:latin typeface="Times New Roman" panose="02020603050405020304" pitchFamily="18" charset="0"/>
                <a:cs typeface="Times New Roman" panose="02020603050405020304" pitchFamily="18" charset="0"/>
              </a:rPr>
              <a:t>(String[] </a:t>
            </a:r>
            <a:r>
              <a:rPr lang="en-US" sz="2800" dirty="0" err="1">
                <a:latin typeface="Times New Roman" panose="02020603050405020304" pitchFamily="18" charset="0"/>
                <a:cs typeface="Times New Roman" panose="02020603050405020304" pitchFamily="18" charset="0"/>
              </a:rPr>
              <a:t>args</a:t>
            </a:r>
            <a:r>
              <a:rPr lang="en-US" sz="2800" dirty="0">
                <a:latin typeface="Times New Roman" panose="02020603050405020304" pitchFamily="18" charset="0"/>
                <a:cs typeface="Times New Roman" panose="02020603050405020304" pitchFamily="18" charset="0"/>
              </a:rPr>
              <a:t>)</a:t>
            </a:r>
          </a:p>
          <a:p>
            <a:pPr marL="0" indent="0" algn="ctr">
              <a:buNone/>
            </a:pPr>
            <a:endParaRPr lang="en-US" sz="28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Each word in this statement grants specific permissions and behaviors to the JVM:</a:t>
            </a:r>
          </a:p>
          <a:p>
            <a:pPr algn="just"/>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Access Modifier</a:t>
            </a:r>
            <a:r>
              <a:rPr lang="en-US" sz="2400" dirty="0">
                <a:latin typeface="Times New Roman" panose="02020603050405020304" pitchFamily="18" charset="0"/>
                <a:cs typeface="Times New Roman" panose="02020603050405020304" pitchFamily="18" charset="0"/>
              </a:rPr>
              <a:t>): Makes the method globally visible. The JVM must access this method from outside your program's class to start it.</a:t>
            </a:r>
          </a:p>
          <a:p>
            <a:pPr algn="just"/>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Keyword</a:t>
            </a:r>
            <a:r>
              <a:rPr lang="en-US" sz="2400" dirty="0">
                <a:latin typeface="Times New Roman" panose="02020603050405020304" pitchFamily="18" charset="0"/>
                <a:cs typeface="Times New Roman" panose="02020603050405020304" pitchFamily="18" charset="0"/>
              </a:rPr>
              <a:t>): Allows the JVM to invoke the method directly on the class without instantiating it first. This saves memory because no object needs to be created just to start the application.</a:t>
            </a:r>
          </a:p>
          <a:p>
            <a:pPr algn="just"/>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Return Type</a:t>
            </a:r>
            <a:r>
              <a:rPr lang="en-US" sz="2400" dirty="0">
                <a:latin typeface="Times New Roman" panose="02020603050405020304" pitchFamily="18" charset="0"/>
                <a:cs typeface="Times New Roman" panose="02020603050405020304" pitchFamily="18" charset="0"/>
              </a:rPr>
              <a:t>): Indicates that this method does not return any data or value once it finishes executing.</a:t>
            </a:r>
          </a:p>
          <a:p>
            <a:pPr algn="just"/>
            <a:r>
              <a:rPr lang="en-US" sz="2400" b="1" dirty="0">
                <a:latin typeface="Times New Roman" panose="02020603050405020304" pitchFamily="18" charset="0"/>
                <a:cs typeface="Times New Roman" panose="02020603050405020304" pitchFamily="18" charset="0"/>
              </a:rPr>
              <a:t>main</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Method Name</a:t>
            </a:r>
            <a:r>
              <a:rPr lang="en-US" sz="2400" dirty="0">
                <a:latin typeface="Times New Roman" panose="02020603050405020304" pitchFamily="18" charset="0"/>
                <a:cs typeface="Times New Roman" panose="02020603050405020304" pitchFamily="18" charset="0"/>
              </a:rPr>
              <a:t>): The designated name the JVM explicitly searches for as the baseline starting point.</a:t>
            </a:r>
          </a:p>
          <a:p>
            <a:pPr algn="just"/>
            <a:r>
              <a:rPr lang="en-US" sz="2400" b="1" dirty="0">
                <a:latin typeface="Times New Roman" panose="02020603050405020304" pitchFamily="18" charset="0"/>
                <a:cs typeface="Times New Roman" panose="02020603050405020304" pitchFamily="18" charset="0"/>
              </a:rPr>
              <a:t>String[] </a:t>
            </a:r>
            <a:r>
              <a:rPr lang="en-US" sz="2400" b="1"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Parameters</a:t>
            </a:r>
            <a:r>
              <a:rPr lang="en-US" sz="2400" dirty="0">
                <a:latin typeface="Times New Roman" panose="02020603050405020304" pitchFamily="18" charset="0"/>
                <a:cs typeface="Times New Roman" panose="02020603050405020304" pitchFamily="18" charset="0"/>
              </a:rPr>
              <a:t>): An array of text strings that lets you pass command-line arguments into your program when you launch it.</a:t>
            </a:r>
          </a:p>
          <a:p>
            <a:pPr marL="0" indent="0">
              <a:buNone/>
            </a:pPr>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8993606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8A545-AF84-D68E-72FA-97DF1FFE4A45}"/>
              </a:ext>
            </a:extLst>
          </p:cNvPr>
          <p:cNvSpPr>
            <a:spLocks noGrp="1"/>
          </p:cNvSpPr>
          <p:nvPr>
            <p:ph type="title"/>
          </p:nvPr>
        </p:nvSpPr>
        <p:spPr>
          <a:xfrm>
            <a:off x="457200" y="274638"/>
            <a:ext cx="8229600" cy="457199"/>
          </a:xfrm>
        </p:spPr>
        <p:txBody>
          <a:bodyPr>
            <a:normAutofit fontScale="90000"/>
          </a:bodyPr>
          <a:lstStyle/>
          <a:p>
            <a:r>
              <a:rPr lang="en-US" sz="3200" dirty="0"/>
              <a:t>built-in command </a:t>
            </a:r>
            <a:r>
              <a:rPr lang="en-US" sz="3200" dirty="0" err="1">
                <a:solidFill>
                  <a:srgbClr val="FF0000"/>
                </a:solidFill>
              </a:rPr>
              <a:t>System.out.println</a:t>
            </a:r>
            <a:r>
              <a:rPr lang="en-US" sz="3200" dirty="0"/>
              <a:t>(...)</a:t>
            </a:r>
          </a:p>
        </p:txBody>
      </p:sp>
      <p:sp>
        <p:nvSpPr>
          <p:cNvPr id="3" name="Content Placeholder 2">
            <a:extLst>
              <a:ext uri="{FF2B5EF4-FFF2-40B4-BE49-F238E27FC236}">
                <a16:creationId xmlns:a16="http://schemas.microsoft.com/office/drawing/2014/main" id="{BCCE1D7F-F3C3-1F16-0A01-981383E5EFC8}"/>
              </a:ext>
            </a:extLst>
          </p:cNvPr>
          <p:cNvSpPr>
            <a:spLocks noGrp="1"/>
          </p:cNvSpPr>
          <p:nvPr>
            <p:ph idx="1"/>
          </p:nvPr>
        </p:nvSpPr>
        <p:spPr>
          <a:xfrm>
            <a:off x="457200" y="838200"/>
            <a:ext cx="8229600" cy="5287963"/>
          </a:xfrm>
        </p:spPr>
        <p:txBody>
          <a:bodyPr>
            <a:normAutofit/>
          </a:bodyPr>
          <a:lstStyle/>
          <a:p>
            <a:pPr algn="just"/>
            <a:r>
              <a:rPr lang="en-US" sz="2400" dirty="0">
                <a:latin typeface="Times New Roman" panose="02020603050405020304" pitchFamily="18" charset="0"/>
                <a:cs typeface="Times New Roman" panose="02020603050405020304" pitchFamily="18" charset="0"/>
              </a:rPr>
              <a:t>This is the built-in command to print text onto your screen.</a:t>
            </a:r>
          </a:p>
          <a:p>
            <a:pPr algn="just"/>
            <a:r>
              <a:rPr lang="en-US" sz="2400" b="1" dirty="0">
                <a:latin typeface="Times New Roman" panose="02020603050405020304" pitchFamily="18" charset="0"/>
                <a:cs typeface="Times New Roman" panose="02020603050405020304" pitchFamily="18" charset="0"/>
              </a:rPr>
              <a:t>System: </a:t>
            </a:r>
            <a:r>
              <a:rPr lang="en-US" sz="2400" dirty="0">
                <a:latin typeface="Times New Roman" panose="02020603050405020304" pitchFamily="18" charset="0"/>
                <a:cs typeface="Times New Roman" panose="02020603050405020304" pitchFamily="18" charset="0"/>
              </a:rPr>
              <a:t>A pre-built class that holds system utilities.</a:t>
            </a:r>
          </a:p>
          <a:p>
            <a:pPr algn="just"/>
            <a:r>
              <a:rPr lang="en-US" sz="2400" b="1" dirty="0">
                <a:latin typeface="Times New Roman" panose="02020603050405020304" pitchFamily="18" charset="0"/>
                <a:cs typeface="Times New Roman" panose="02020603050405020304" pitchFamily="18" charset="0"/>
              </a:rPr>
              <a:t>out: </a:t>
            </a:r>
            <a:r>
              <a:rPr lang="en-US" sz="2400" dirty="0">
                <a:latin typeface="Times New Roman" panose="02020603050405020304" pitchFamily="18" charset="0"/>
                <a:cs typeface="Times New Roman" panose="02020603050405020304" pitchFamily="18" charset="0"/>
              </a:rPr>
              <a:t>The output stream directed to your console.</a:t>
            </a:r>
          </a:p>
          <a:p>
            <a:pPr algn="just"/>
            <a:r>
              <a:rPr lang="en-US" sz="2400" b="1" dirty="0" err="1">
                <a:latin typeface="Times New Roman" panose="02020603050405020304" pitchFamily="18" charset="0"/>
                <a:cs typeface="Times New Roman" panose="02020603050405020304" pitchFamily="18" charset="0"/>
              </a:rPr>
              <a:t>println</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Short for "print line." It displays the text and moves the cursor to the next line.</a:t>
            </a:r>
          </a:p>
          <a:p>
            <a:pPr algn="just"/>
            <a:endParaRPr lang="en-US" sz="2400" dirty="0">
              <a:latin typeface="Times New Roman" panose="02020603050405020304" pitchFamily="18" charset="0"/>
              <a:cs typeface="Times New Roman" panose="02020603050405020304" pitchFamily="18" charset="0"/>
            </a:endParaRPr>
          </a:p>
          <a:p>
            <a:pPr marL="0" indent="0" fontAlgn="base">
              <a:buNone/>
            </a:pPr>
            <a:r>
              <a:rPr lang="en-US" sz="2400" b="1" dirty="0">
                <a:latin typeface="Times New Roman" panose="02020603050405020304" pitchFamily="18" charset="0"/>
                <a:cs typeface="Times New Roman" panose="02020603050405020304" pitchFamily="18" charset="0"/>
              </a:rPr>
              <a:t>Steps to Implement a Java Program</a:t>
            </a:r>
          </a:p>
          <a:p>
            <a:pPr fontAlgn="base"/>
            <a:r>
              <a:rPr lang="en-US" sz="2400" dirty="0">
                <a:latin typeface="Times New Roman" panose="02020603050405020304" pitchFamily="18" charset="0"/>
                <a:cs typeface="Times New Roman" panose="02020603050405020304" pitchFamily="18" charset="0"/>
              </a:rPr>
              <a:t>Java is a platform-independent language that follows a two-step execution process:</a:t>
            </a:r>
          </a:p>
          <a:p>
            <a:pPr fontAlgn="base"/>
            <a:r>
              <a:rPr lang="en-US" sz="2400" b="1" dirty="0">
                <a:latin typeface="Times New Roman" panose="02020603050405020304" pitchFamily="18" charset="0"/>
                <a:cs typeface="Times New Roman" panose="02020603050405020304" pitchFamily="18" charset="0"/>
              </a:rPr>
              <a:t>Compilation </a:t>
            </a:r>
            <a:r>
              <a:rPr lang="en-US" sz="2400" dirty="0">
                <a:latin typeface="Times New Roman" panose="02020603050405020304" pitchFamily="18" charset="0"/>
                <a:cs typeface="Times New Roman" panose="02020603050405020304" pitchFamily="18" charset="0"/>
              </a:rPr>
              <a:t>(source code -&gt; bytecode)</a:t>
            </a:r>
          </a:p>
          <a:p>
            <a:pPr fontAlgn="base"/>
            <a:r>
              <a:rPr lang="en-US" sz="2400" b="1" dirty="0">
                <a:latin typeface="Times New Roman" panose="02020603050405020304" pitchFamily="18" charset="0"/>
                <a:cs typeface="Times New Roman" panose="02020603050405020304" pitchFamily="18" charset="0"/>
              </a:rPr>
              <a:t>Execution </a:t>
            </a:r>
            <a:r>
              <a:rPr lang="en-US" sz="2400" dirty="0">
                <a:latin typeface="Times New Roman" panose="02020603050405020304" pitchFamily="18" charset="0"/>
                <a:cs typeface="Times New Roman" panose="02020603050405020304" pitchFamily="18" charset="0"/>
              </a:rPr>
              <a:t>(bytecode -&gt; machine code via JVM)</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11097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BBDC2-2441-2E88-7953-C74DCE524BA3}"/>
              </a:ext>
            </a:extLst>
          </p:cNvPr>
          <p:cNvSpPr>
            <a:spLocks noGrp="1"/>
          </p:cNvSpPr>
          <p:nvPr>
            <p:ph type="title"/>
          </p:nvPr>
        </p:nvSpPr>
        <p:spPr>
          <a:xfrm>
            <a:off x="457200" y="274638"/>
            <a:ext cx="8229600" cy="334962"/>
          </a:xfrm>
        </p:spPr>
        <p:txBody>
          <a:bodyPr>
            <a:normAutofit fontScale="90000"/>
          </a:bodyPr>
          <a:lstStyle/>
          <a:p>
            <a:r>
              <a:rPr lang="en-US" b="1" dirty="0"/>
              <a:t>Scanner class</a:t>
            </a:r>
            <a:endParaRPr lang="en-US" dirty="0"/>
          </a:p>
        </p:txBody>
      </p:sp>
      <p:sp>
        <p:nvSpPr>
          <p:cNvPr id="3" name="Content Placeholder 2">
            <a:extLst>
              <a:ext uri="{FF2B5EF4-FFF2-40B4-BE49-F238E27FC236}">
                <a16:creationId xmlns:a16="http://schemas.microsoft.com/office/drawing/2014/main" id="{DC101E0B-7ABE-85F9-27A9-7A9E864E69D4}"/>
              </a:ext>
            </a:extLst>
          </p:cNvPr>
          <p:cNvSpPr>
            <a:spLocks noGrp="1"/>
          </p:cNvSpPr>
          <p:nvPr>
            <p:ph idx="1"/>
          </p:nvPr>
        </p:nvSpPr>
        <p:spPr>
          <a:xfrm>
            <a:off x="457200" y="1066800"/>
            <a:ext cx="8229600" cy="4983163"/>
          </a:xfrm>
        </p:spPr>
        <p:txBody>
          <a:bodyPr>
            <a:normAutofit fontScale="85000" lnSpcReduction="20000"/>
          </a:bodyPr>
          <a:lstStyle/>
          <a:p>
            <a:pPr algn="just"/>
            <a:r>
              <a:rPr lang="en-US" dirty="0">
                <a:latin typeface="Times New Roman" panose="02020603050405020304" pitchFamily="18" charset="0"/>
                <a:cs typeface="Times New Roman" panose="02020603050405020304" pitchFamily="18" charset="0"/>
              </a:rPr>
              <a:t>To read a value from the keyboard in Java, the easiest and most common way is to use the </a:t>
            </a:r>
            <a:r>
              <a:rPr lang="en-US" b="1" dirty="0">
                <a:latin typeface="Times New Roman" panose="02020603050405020304" pitchFamily="18" charset="0"/>
                <a:cs typeface="Times New Roman" panose="02020603050405020304" pitchFamily="18" charset="0"/>
              </a:rPr>
              <a:t>Scanner class</a:t>
            </a:r>
            <a:r>
              <a:rPr lang="en-US" dirty="0">
                <a:latin typeface="Times New Roman" panose="02020603050405020304" pitchFamily="18" charset="0"/>
                <a:cs typeface="Times New Roman" panose="02020603050405020304" pitchFamily="18" charset="0"/>
              </a:rPr>
              <a:t> from the </a:t>
            </a:r>
            <a:r>
              <a:rPr lang="en-US" dirty="0" err="1">
                <a:latin typeface="Times New Roman" panose="02020603050405020304" pitchFamily="18" charset="0"/>
                <a:cs typeface="Times New Roman" panose="02020603050405020304" pitchFamily="18" charset="0"/>
              </a:rPr>
              <a:t>java.util</a:t>
            </a:r>
            <a:r>
              <a:rPr lang="en-US" dirty="0">
                <a:latin typeface="Times New Roman" panose="02020603050405020304" pitchFamily="18" charset="0"/>
                <a:cs typeface="Times New Roman" panose="02020603050405020304" pitchFamily="18" charset="0"/>
              </a:rPr>
              <a:t> package.</a:t>
            </a:r>
          </a:p>
          <a:p>
            <a:pPr algn="just"/>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Essential Scanner Methods</a:t>
            </a:r>
          </a:p>
          <a:p>
            <a:pPr marL="0" indent="0" algn="just">
              <a:buNone/>
            </a:pPr>
            <a:r>
              <a:rPr lang="en-US" dirty="0">
                <a:latin typeface="Times New Roman" panose="02020603050405020304" pitchFamily="18" charset="0"/>
                <a:cs typeface="Times New Roman" panose="02020603050405020304" pitchFamily="18" charset="0"/>
              </a:rPr>
              <a:t>Depending on what type of data you want to collect…</a:t>
            </a:r>
          </a:p>
          <a:p>
            <a:pPr algn="just"/>
            <a:r>
              <a:rPr lang="en-US" b="1" dirty="0" err="1">
                <a:latin typeface="Times New Roman" panose="02020603050405020304" pitchFamily="18" charset="0"/>
                <a:cs typeface="Times New Roman" panose="02020603050405020304" pitchFamily="18" charset="0"/>
              </a:rPr>
              <a:t>nextLine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whole line of text.</a:t>
            </a:r>
          </a:p>
          <a:p>
            <a:pPr algn="just"/>
            <a:r>
              <a:rPr lang="en-US" b="1" dirty="0">
                <a:latin typeface="Times New Roman" panose="02020603050405020304" pitchFamily="18" charset="0"/>
                <a:cs typeface="Times New Roman" panose="02020603050405020304" pitchFamily="18" charset="0"/>
              </a:rPr>
              <a:t>next()</a:t>
            </a:r>
            <a:r>
              <a:rPr lang="en-US" dirty="0">
                <a:latin typeface="Times New Roman" panose="02020603050405020304" pitchFamily="18" charset="0"/>
                <a:cs typeface="Times New Roman" panose="02020603050405020304" pitchFamily="18" charset="0"/>
              </a:rPr>
              <a:t>: Reads just a single word (stops at the first space).</a:t>
            </a:r>
          </a:p>
          <a:p>
            <a:pPr algn="just"/>
            <a:r>
              <a:rPr lang="en-US" b="1" dirty="0" err="1">
                <a:latin typeface="Times New Roman" panose="02020603050405020304" pitchFamily="18" charset="0"/>
                <a:cs typeface="Times New Roman" panose="02020603050405020304" pitchFamily="18" charset="0"/>
              </a:rPr>
              <a:t>nextInt</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whole number (int).</a:t>
            </a:r>
          </a:p>
          <a:p>
            <a:pPr algn="just"/>
            <a:r>
              <a:rPr lang="en-US" b="1" dirty="0" err="1">
                <a:latin typeface="Times New Roman" panose="02020603050405020304" pitchFamily="18" charset="0"/>
                <a:cs typeface="Times New Roman" panose="02020603050405020304" pitchFamily="18" charset="0"/>
              </a:rPr>
              <a:t>nextDouble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decimal number (double).</a:t>
            </a:r>
          </a:p>
          <a:p>
            <a:pPr algn="just"/>
            <a:r>
              <a:rPr lang="en-US" b="1" dirty="0" err="1">
                <a:latin typeface="Times New Roman" panose="02020603050405020304" pitchFamily="18" charset="0"/>
                <a:cs typeface="Times New Roman" panose="02020603050405020304" pitchFamily="18" charset="0"/>
              </a:rPr>
              <a:t>nextBoolean</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true or false value.</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93123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C2373D-2B3E-8CC0-DA7D-D464E9D66C24}"/>
              </a:ext>
            </a:extLst>
          </p:cNvPr>
          <p:cNvSpPr>
            <a:spLocks noGrp="1"/>
          </p:cNvSpPr>
          <p:nvPr>
            <p:ph idx="1"/>
          </p:nvPr>
        </p:nvSpPr>
        <p:spPr>
          <a:xfrm>
            <a:off x="457200" y="228600"/>
            <a:ext cx="8229600" cy="5897563"/>
          </a:xfrm>
        </p:spPr>
        <p:txBody>
          <a:bodyPr>
            <a:normAutofit lnSpcReduction="10000"/>
          </a:bodyPr>
          <a:lstStyle/>
          <a:p>
            <a:pPr marL="0" indent="0">
              <a:buNone/>
            </a:pPr>
            <a:r>
              <a:rPr lang="en-US" dirty="0">
                <a:solidFill>
                  <a:srgbClr val="FF0000"/>
                </a:solidFill>
              </a:rPr>
              <a:t>Program :- To print a message on the screen.</a:t>
            </a:r>
          </a:p>
          <a:p>
            <a:pPr marL="514350" indent="-514350">
              <a:buFont typeface="+mj-lt"/>
              <a:buAutoNum type="arabicParenR"/>
            </a:pPr>
            <a:r>
              <a:rPr lang="en-US" dirty="0"/>
              <a:t>Create a class. </a:t>
            </a:r>
          </a:p>
          <a:p>
            <a:pPr marL="514350" indent="-514350">
              <a:buFont typeface="+mj-lt"/>
              <a:buAutoNum type="arabicParenR"/>
            </a:pPr>
            <a:r>
              <a:rPr lang="en-US" dirty="0"/>
              <a:t>Define the main() method. </a:t>
            </a:r>
          </a:p>
          <a:p>
            <a:pPr marL="514350" indent="-514350">
              <a:buFont typeface="+mj-lt"/>
              <a:buAutoNum type="arabicParenR"/>
            </a:pPr>
            <a:r>
              <a:rPr lang="en-US" dirty="0"/>
              <a:t>Use </a:t>
            </a:r>
            <a:r>
              <a:rPr lang="en-US" dirty="0" err="1"/>
              <a:t>System.out.println</a:t>
            </a:r>
            <a:r>
              <a:rPr lang="en-US" dirty="0"/>
              <a:t>() to print the message.</a:t>
            </a:r>
          </a:p>
          <a:p>
            <a:pPr marL="514350" indent="-514350">
              <a:buFont typeface="+mj-lt"/>
              <a:buAutoNum type="arabicParenR"/>
            </a:pPr>
            <a:endParaRPr lang="en-US" dirty="0"/>
          </a:p>
          <a:p>
            <a:pPr marL="0" indent="0">
              <a:buNone/>
            </a:pPr>
            <a:r>
              <a:rPr lang="en-US" dirty="0"/>
              <a:t>public class HelloWorld {</a:t>
            </a:r>
          </a:p>
          <a:p>
            <a:pPr marL="0" indent="0">
              <a:buNone/>
            </a:pPr>
            <a:r>
              <a:rPr lang="en-US" dirty="0"/>
              <a:t>    public static void main(String[] </a:t>
            </a:r>
            <a:r>
              <a:rPr lang="en-US" dirty="0" err="1"/>
              <a:t>args</a:t>
            </a:r>
            <a:r>
              <a:rPr lang="en-US" dirty="0"/>
              <a:t>) {</a:t>
            </a:r>
          </a:p>
          <a:p>
            <a:pPr marL="0" indent="0">
              <a:buNone/>
            </a:pPr>
            <a:r>
              <a:rPr lang="en-US" dirty="0"/>
              <a:t>        </a:t>
            </a:r>
            <a:r>
              <a:rPr lang="en-US" dirty="0" err="1"/>
              <a:t>System.out.println</a:t>
            </a:r>
            <a:r>
              <a:rPr lang="en-US" dirty="0"/>
              <a:t>("Hello, World!");</a:t>
            </a:r>
          </a:p>
          <a:p>
            <a:pPr marL="0" indent="0">
              <a:buNone/>
            </a:pPr>
            <a:r>
              <a:rPr lang="en-US" dirty="0"/>
              <a:t>    }</a:t>
            </a:r>
          </a:p>
          <a:p>
            <a:pPr marL="0" indent="0">
              <a:buNone/>
            </a:pPr>
            <a:r>
              <a:rPr lang="en-US" dirty="0"/>
              <a:t>}</a:t>
            </a:r>
          </a:p>
        </p:txBody>
      </p:sp>
    </p:spTree>
    <p:extLst>
      <p:ext uri="{BB962C8B-B14F-4D97-AF65-F5344CB8AC3E}">
        <p14:creationId xmlns:p14="http://schemas.microsoft.com/office/powerpoint/2010/main" val="27353979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DE7EB6A-967D-9AF1-A305-933089CA6A47}"/>
              </a:ext>
            </a:extLst>
          </p:cNvPr>
          <p:cNvSpPr>
            <a:spLocks noGrp="1"/>
          </p:cNvSpPr>
          <p:nvPr>
            <p:ph idx="1"/>
          </p:nvPr>
        </p:nvSpPr>
        <p:spPr>
          <a:xfrm>
            <a:off x="457200" y="365918"/>
            <a:ext cx="8229600" cy="6126163"/>
          </a:xfrm>
        </p:spPr>
        <p:txBody>
          <a:bodyPr>
            <a:normAutofit fontScale="70000" lnSpcReduction="20000"/>
          </a:bodyPr>
          <a:lstStyle/>
          <a:p>
            <a:pPr marL="0" indent="0">
              <a:buNone/>
            </a:pPr>
            <a:r>
              <a:rPr lang="en-US" dirty="0">
                <a:latin typeface="Times New Roman" panose="02020603050405020304" pitchFamily="18" charset="0"/>
                <a:cs typeface="Times New Roman" panose="02020603050405020304" pitchFamily="18" charset="0"/>
              </a:rPr>
              <a:t>public class HelloWorld {</a:t>
            </a:r>
          </a:p>
          <a:p>
            <a:pPr marL="0" indent="0">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("Hello, World!");</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sz="2800" b="1" dirty="0">
                <a:latin typeface="Times New Roman" panose="02020603050405020304" pitchFamily="18" charset="0"/>
                <a:cs typeface="Times New Roman" panose="02020603050405020304" pitchFamily="18" charset="0"/>
              </a:rPr>
              <a:t>Explanation</a:t>
            </a:r>
          </a:p>
          <a:p>
            <a:r>
              <a:rPr lang="en-US" b="1" i="1" dirty="0">
                <a:solidFill>
                  <a:srgbClr val="FF0000"/>
                </a:solidFill>
                <a:latin typeface="Times New Roman" panose="02020603050405020304" pitchFamily="18" charset="0"/>
                <a:cs typeface="Times New Roman" panose="02020603050405020304" pitchFamily="18" charset="0"/>
              </a:rPr>
              <a:t>public class </a:t>
            </a:r>
            <a:r>
              <a:rPr lang="en-US" dirty="0">
                <a:solidFill>
                  <a:schemeClr val="tx2"/>
                </a:solidFill>
                <a:latin typeface="Times New Roman" panose="02020603050405020304" pitchFamily="18" charset="0"/>
                <a:cs typeface="Times New Roman" panose="02020603050405020304" pitchFamily="18" charset="0"/>
              </a:rPr>
              <a:t>HelloWorld</a:t>
            </a:r>
            <a:r>
              <a:rPr lang="en-US" dirty="0">
                <a:latin typeface="Times New Roman" panose="02020603050405020304" pitchFamily="18" charset="0"/>
                <a:cs typeface="Times New Roman" panose="02020603050405020304" pitchFamily="18" charset="0"/>
              </a:rPr>
              <a:t> creates a class named </a:t>
            </a:r>
            <a:r>
              <a:rPr lang="en-US" dirty="0">
                <a:solidFill>
                  <a:schemeClr val="tx2"/>
                </a:solidFill>
                <a:latin typeface="Times New Roman" panose="02020603050405020304" pitchFamily="18" charset="0"/>
                <a:cs typeface="Times New Roman" panose="02020603050405020304" pitchFamily="18" charset="0"/>
              </a:rPr>
              <a:t>HelloWorld</a:t>
            </a: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 </a:t>
            </a:r>
          </a:p>
          <a:p>
            <a:r>
              <a:rPr lang="en-US" dirty="0">
                <a:solidFill>
                  <a:srgbClr val="C00000"/>
                </a:solidFill>
                <a:latin typeface="Times New Roman" panose="02020603050405020304" pitchFamily="18" charset="0"/>
                <a:cs typeface="Times New Roman" panose="02020603050405020304" pitchFamily="18" charset="0"/>
              </a:rPr>
              <a:t>public static void main(String[] </a:t>
            </a:r>
            <a:r>
              <a:rPr lang="en-US" dirty="0" err="1">
                <a:solidFill>
                  <a:srgbClr val="C00000"/>
                </a:solidFill>
                <a:latin typeface="Times New Roman" panose="02020603050405020304" pitchFamily="18" charset="0"/>
                <a:cs typeface="Times New Roman" panose="02020603050405020304" pitchFamily="18" charset="0"/>
              </a:rPr>
              <a:t>args</a:t>
            </a:r>
            <a:r>
              <a:rPr lang="en-US" dirty="0">
                <a:solidFill>
                  <a:srgbClr val="C0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is the </a:t>
            </a:r>
            <a:r>
              <a:rPr lang="en-US" b="1" i="1" dirty="0">
                <a:solidFill>
                  <a:srgbClr val="FF0000"/>
                </a:solidFill>
                <a:latin typeface="Times New Roman" panose="02020603050405020304" pitchFamily="18" charset="0"/>
                <a:cs typeface="Times New Roman" panose="02020603050405020304" pitchFamily="18" charset="0"/>
              </a:rPr>
              <a:t>entry point </a:t>
            </a:r>
            <a:r>
              <a:rPr lang="en-US" dirty="0">
                <a:latin typeface="Times New Roman" panose="02020603050405020304" pitchFamily="18" charset="0"/>
                <a:cs typeface="Times New Roman" panose="02020603050405020304" pitchFamily="18" charset="0"/>
              </a:rPr>
              <a:t>of every Java program.</a:t>
            </a:r>
          </a:p>
          <a:p>
            <a:pPr marL="0" indent="0">
              <a:buNone/>
            </a:pPr>
            <a:endParaRPr lang="en-US" dirty="0">
              <a:latin typeface="Times New Roman" panose="02020603050405020304" pitchFamily="18" charset="0"/>
              <a:cs typeface="Times New Roman" panose="02020603050405020304" pitchFamily="18" charset="0"/>
            </a:endParaRPr>
          </a:p>
          <a:p>
            <a:r>
              <a:rPr lang="en-US" b="1" i="1" dirty="0" err="1">
                <a:solidFill>
                  <a:srgbClr val="FF0000"/>
                </a:solidFill>
                <a:latin typeface="Times New Roman" panose="02020603050405020304" pitchFamily="18" charset="0"/>
                <a:cs typeface="Times New Roman" panose="02020603050405020304" pitchFamily="18" charset="0"/>
              </a:rPr>
              <a:t>System.out.println</a:t>
            </a:r>
            <a:r>
              <a:rPr lang="en-US" b="1" i="1" dirty="0">
                <a:solidFill>
                  <a:srgbClr val="FF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prints text on the console and moves the cursor to the next line.</a:t>
            </a:r>
          </a:p>
          <a:p>
            <a:r>
              <a:rPr lang="en-US" sz="2800" b="1" dirty="0"/>
              <a:t>System </a:t>
            </a:r>
            <a:r>
              <a:rPr lang="en-US" sz="2800" dirty="0"/>
              <a:t>is a </a:t>
            </a:r>
            <a:r>
              <a:rPr lang="en-US" sz="2800" dirty="0">
                <a:solidFill>
                  <a:srgbClr val="FF0000"/>
                </a:solidFill>
              </a:rPr>
              <a:t>predefined class </a:t>
            </a:r>
            <a:r>
              <a:rPr lang="en-US" sz="2800" dirty="0"/>
              <a:t>in the </a:t>
            </a:r>
            <a:r>
              <a:rPr lang="en-US" sz="2800" dirty="0" err="1"/>
              <a:t>java.lang</a:t>
            </a:r>
            <a:r>
              <a:rPr lang="en-US" sz="2800" dirty="0"/>
              <a:t> package.</a:t>
            </a:r>
          </a:p>
          <a:p>
            <a:r>
              <a:rPr lang="en-US" sz="2800" b="1" dirty="0"/>
              <a:t>out</a:t>
            </a:r>
            <a:r>
              <a:rPr lang="en-US" sz="2800" dirty="0"/>
              <a:t> is a </a:t>
            </a:r>
            <a:r>
              <a:rPr lang="en-US" sz="2800" dirty="0">
                <a:solidFill>
                  <a:srgbClr val="FF0000"/>
                </a:solidFill>
              </a:rPr>
              <a:t>static object </a:t>
            </a:r>
            <a:r>
              <a:rPr lang="en-US" sz="2800" dirty="0"/>
              <a:t>of the </a:t>
            </a:r>
            <a:r>
              <a:rPr lang="en-US" sz="2800" dirty="0" err="1"/>
              <a:t>PrintStream</a:t>
            </a:r>
            <a:r>
              <a:rPr lang="en-US" sz="2800" dirty="0"/>
              <a:t> class.</a:t>
            </a:r>
          </a:p>
          <a:p>
            <a:r>
              <a:rPr lang="en-US" sz="2800" b="1" dirty="0" err="1"/>
              <a:t>println</a:t>
            </a:r>
            <a:r>
              <a:rPr lang="en-US" sz="2800" b="1" dirty="0"/>
              <a:t>()</a:t>
            </a:r>
            <a:r>
              <a:rPr lang="en-US" sz="2800" dirty="0"/>
              <a:t> is a </a:t>
            </a:r>
            <a:r>
              <a:rPr lang="en-US" sz="2800" dirty="0">
                <a:solidFill>
                  <a:srgbClr val="FF0000"/>
                </a:solidFill>
              </a:rPr>
              <a:t>method</a:t>
            </a:r>
            <a:r>
              <a:rPr lang="en-US" sz="2800" dirty="0"/>
              <a:t> of the </a:t>
            </a:r>
            <a:r>
              <a:rPr lang="en-US" sz="2800" dirty="0" err="1"/>
              <a:t>PrintStream</a:t>
            </a:r>
            <a:r>
              <a:rPr lang="en-US" sz="2800" dirty="0"/>
              <a:t> class.</a:t>
            </a:r>
          </a:p>
          <a:p>
            <a:endParaRPr lang="en-US" sz="2800" dirty="0"/>
          </a:p>
          <a:p>
            <a:endParaRPr lang="en-US" dirty="0"/>
          </a:p>
          <a:p>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14945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55FDBC-FAEF-89C8-1233-319CE9E52D58}"/>
              </a:ext>
            </a:extLst>
          </p:cNvPr>
          <p:cNvSpPr>
            <a:spLocks noGrp="1"/>
          </p:cNvSpPr>
          <p:nvPr>
            <p:ph idx="1"/>
          </p:nvPr>
        </p:nvSpPr>
        <p:spPr>
          <a:xfrm>
            <a:off x="457200" y="228600"/>
            <a:ext cx="8229600" cy="5897563"/>
          </a:xfrm>
        </p:spPr>
        <p:txBody>
          <a:bodyPr/>
          <a:lstStyle/>
          <a:p>
            <a:pPr marL="0" indent="0">
              <a:buNone/>
            </a:pPr>
            <a:r>
              <a:rPr lang="en-US" dirty="0">
                <a:solidFill>
                  <a:srgbClr val="FF0000"/>
                </a:solidFill>
              </a:rPr>
              <a:t>Program – 2:- To add two integers entered by the user.</a:t>
            </a:r>
          </a:p>
          <a:p>
            <a:pPr marL="514350" indent="-514350">
              <a:buFont typeface="+mj-lt"/>
              <a:buAutoNum type="arabicParenR"/>
            </a:pPr>
            <a:r>
              <a:rPr lang="en-US" dirty="0"/>
              <a:t>Import the Scanner class. </a:t>
            </a:r>
          </a:p>
          <a:p>
            <a:pPr marL="514350" indent="-514350">
              <a:buFont typeface="+mj-lt"/>
              <a:buAutoNum type="arabicParenR"/>
            </a:pPr>
            <a:r>
              <a:rPr lang="en-US" dirty="0"/>
              <a:t>Read two numbers from the keyboard. </a:t>
            </a:r>
          </a:p>
          <a:p>
            <a:pPr marL="514350" indent="-514350">
              <a:buFont typeface="+mj-lt"/>
              <a:buAutoNum type="arabicParenR"/>
            </a:pPr>
            <a:r>
              <a:rPr lang="en-US" dirty="0"/>
              <a:t>Add the numbers. </a:t>
            </a:r>
          </a:p>
          <a:p>
            <a:pPr marL="514350" indent="-514350">
              <a:buFont typeface="+mj-lt"/>
              <a:buAutoNum type="arabicParenR"/>
            </a:pPr>
            <a:r>
              <a:rPr lang="en-US" dirty="0"/>
              <a:t>Display the result.</a:t>
            </a:r>
          </a:p>
          <a:p>
            <a:pPr marL="0" indent="0">
              <a:buNone/>
            </a:pPr>
            <a:endParaRPr lang="en-US" dirty="0">
              <a:solidFill>
                <a:srgbClr val="FF0000"/>
              </a:solidFill>
            </a:endParaRPr>
          </a:p>
        </p:txBody>
      </p:sp>
    </p:spTree>
    <p:extLst>
      <p:ext uri="{BB962C8B-B14F-4D97-AF65-F5344CB8AC3E}">
        <p14:creationId xmlns:p14="http://schemas.microsoft.com/office/powerpoint/2010/main" val="20407003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BC3C35-2A9C-3B57-9842-1D65EF42F3A4}"/>
              </a:ext>
            </a:extLst>
          </p:cNvPr>
          <p:cNvSpPr>
            <a:spLocks noGrp="1"/>
          </p:cNvSpPr>
          <p:nvPr>
            <p:ph type="title"/>
          </p:nvPr>
        </p:nvSpPr>
        <p:spPr/>
        <p:txBody>
          <a:bodyPr>
            <a:noAutofit/>
          </a:bodyPr>
          <a:lstStyle/>
          <a:p>
            <a:r>
              <a:rPr lang="en-US" sz="3600" dirty="0">
                <a:solidFill>
                  <a:srgbClr val="FF0000"/>
                </a:solidFill>
              </a:rPr>
              <a:t>Scanner </a:t>
            </a:r>
            <a:r>
              <a:rPr lang="en-US" sz="3600" dirty="0" err="1"/>
              <a:t>sc</a:t>
            </a:r>
            <a:r>
              <a:rPr lang="en-US" sz="3600" dirty="0">
                <a:solidFill>
                  <a:srgbClr val="FF0000"/>
                </a:solidFill>
              </a:rPr>
              <a:t> = </a:t>
            </a:r>
            <a:r>
              <a:rPr lang="en-US" sz="3600" dirty="0">
                <a:solidFill>
                  <a:schemeClr val="accent1"/>
                </a:solidFill>
              </a:rPr>
              <a:t>new</a:t>
            </a:r>
            <a:r>
              <a:rPr lang="en-US" sz="3600" dirty="0">
                <a:solidFill>
                  <a:srgbClr val="FF0000"/>
                </a:solidFill>
              </a:rPr>
              <a:t> Scanner(</a:t>
            </a:r>
            <a:r>
              <a:rPr lang="en-US" sz="3600" dirty="0"/>
              <a:t>System.in</a:t>
            </a:r>
            <a:r>
              <a:rPr lang="en-US" sz="3600" dirty="0">
                <a:solidFill>
                  <a:srgbClr val="FF0000"/>
                </a:solidFill>
              </a:rPr>
              <a:t>);</a:t>
            </a:r>
          </a:p>
        </p:txBody>
      </p:sp>
      <p:sp>
        <p:nvSpPr>
          <p:cNvPr id="3" name="Content Placeholder 2">
            <a:extLst>
              <a:ext uri="{FF2B5EF4-FFF2-40B4-BE49-F238E27FC236}">
                <a16:creationId xmlns:a16="http://schemas.microsoft.com/office/drawing/2014/main" id="{A0359865-EAF7-D79C-C98E-C7373E922D48}"/>
              </a:ext>
            </a:extLst>
          </p:cNvPr>
          <p:cNvSpPr>
            <a:spLocks noGrp="1"/>
          </p:cNvSpPr>
          <p:nvPr>
            <p:ph idx="1"/>
          </p:nvPr>
        </p:nvSpPr>
        <p:spPr/>
        <p:txBody>
          <a:bodyPr>
            <a:normAutofit fontScale="70000" lnSpcReduction="20000"/>
          </a:bodyPr>
          <a:lstStyle/>
          <a:p>
            <a:pPr marL="0" indent="0" algn="just">
              <a:buNone/>
            </a:pPr>
            <a:r>
              <a:rPr lang="en-US" b="1" dirty="0">
                <a:latin typeface="Times New Roman" panose="02020603050405020304" pitchFamily="18" charset="0"/>
                <a:cs typeface="Times New Roman" panose="02020603050405020304" pitchFamily="18" charset="0"/>
              </a:rPr>
              <a:t>Scanner</a:t>
            </a:r>
          </a:p>
          <a:p>
            <a:pPr algn="just"/>
            <a:r>
              <a:rPr lang="en-US" dirty="0">
                <a:latin typeface="Times New Roman" panose="02020603050405020304" pitchFamily="18" charset="0"/>
                <a:cs typeface="Times New Roman" panose="02020603050405020304" pitchFamily="18" charset="0"/>
              </a:rPr>
              <a:t>Scanner is </a:t>
            </a:r>
            <a:r>
              <a:rPr lang="en-US" dirty="0">
                <a:solidFill>
                  <a:srgbClr val="FF0000"/>
                </a:solidFill>
                <a:latin typeface="Times New Roman" panose="02020603050405020304" pitchFamily="18" charset="0"/>
                <a:cs typeface="Times New Roman" panose="02020603050405020304" pitchFamily="18" charset="0"/>
              </a:rPr>
              <a:t>a predefined class in the </a:t>
            </a:r>
            <a:r>
              <a:rPr lang="en-US" dirty="0" err="1">
                <a:solidFill>
                  <a:srgbClr val="FF0000"/>
                </a:solidFill>
                <a:latin typeface="Times New Roman" panose="02020603050405020304" pitchFamily="18" charset="0"/>
                <a:cs typeface="Times New Roman" panose="02020603050405020304" pitchFamily="18" charset="0"/>
              </a:rPr>
              <a:t>java.util</a:t>
            </a:r>
            <a:r>
              <a:rPr lang="en-US" dirty="0">
                <a:solidFill>
                  <a:srgbClr val="FF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package. </a:t>
            </a:r>
          </a:p>
          <a:p>
            <a:pPr algn="just"/>
            <a:r>
              <a:rPr lang="en-US" dirty="0">
                <a:latin typeface="Times New Roman" panose="02020603050405020304" pitchFamily="18" charset="0"/>
                <a:cs typeface="Times New Roman" panose="02020603050405020304" pitchFamily="18" charset="0"/>
              </a:rPr>
              <a:t>It is used to read different types of input such as integers, floating-point numbers, characters, words, and strings from the user.</a:t>
            </a:r>
          </a:p>
          <a:p>
            <a:pPr algn="just"/>
            <a:r>
              <a:rPr lang="en-US" dirty="0">
                <a:latin typeface="Times New Roman" panose="02020603050405020304" pitchFamily="18" charset="0"/>
                <a:cs typeface="Times New Roman" panose="02020603050405020304" pitchFamily="18" charset="0"/>
              </a:rPr>
              <a:t>Before using Scanner, you must import it:</a:t>
            </a:r>
          </a:p>
          <a:p>
            <a:pPr marL="0" indent="0" algn="ctr">
              <a:buNone/>
            </a:pPr>
            <a:r>
              <a:rPr lang="en-US" dirty="0">
                <a:solidFill>
                  <a:srgbClr val="FF0000"/>
                </a:solidFill>
                <a:latin typeface="Times New Roman" panose="02020603050405020304" pitchFamily="18" charset="0"/>
                <a:cs typeface="Times New Roman" panose="02020603050405020304" pitchFamily="18" charset="0"/>
              </a:rPr>
              <a:t>import </a:t>
            </a:r>
            <a:r>
              <a:rPr lang="en-US" dirty="0" err="1">
                <a:solidFill>
                  <a:srgbClr val="FF0000"/>
                </a:solidFill>
                <a:latin typeface="Times New Roman" panose="02020603050405020304" pitchFamily="18" charset="0"/>
                <a:cs typeface="Times New Roman" panose="02020603050405020304" pitchFamily="18" charset="0"/>
              </a:rPr>
              <a:t>java.util.Scanner</a:t>
            </a:r>
            <a:r>
              <a:rPr lang="en-US">
                <a:solidFill>
                  <a:srgbClr val="FF0000"/>
                </a:solidFill>
                <a:latin typeface="Times New Roman" panose="02020603050405020304" pitchFamily="18" charset="0"/>
                <a:cs typeface="Times New Roman" panose="02020603050405020304" pitchFamily="18" charset="0"/>
              </a:rPr>
              <a:t>; (or)</a:t>
            </a:r>
            <a:endParaRPr lang="en-US" dirty="0">
              <a:solidFill>
                <a:srgbClr val="FF0000"/>
              </a:solidFill>
              <a:latin typeface="Times New Roman" panose="02020603050405020304" pitchFamily="18" charset="0"/>
              <a:cs typeface="Times New Roman" panose="02020603050405020304" pitchFamily="18" charset="0"/>
            </a:endParaRPr>
          </a:p>
          <a:p>
            <a:pPr marL="0" indent="0" algn="ctr">
              <a:buNone/>
            </a:pPr>
            <a:r>
              <a:rPr lang="en-US" dirty="0">
                <a:solidFill>
                  <a:srgbClr val="FF0000"/>
                </a:solidFill>
                <a:latin typeface="Times New Roman" panose="02020603050405020304" pitchFamily="18" charset="0"/>
                <a:cs typeface="Times New Roman" panose="02020603050405020304" pitchFamily="18" charset="0"/>
              </a:rPr>
              <a:t>Import </a:t>
            </a:r>
            <a:r>
              <a:rPr lang="en-US" dirty="0" err="1">
                <a:solidFill>
                  <a:srgbClr val="FF0000"/>
                </a:solidFill>
                <a:latin typeface="Times New Roman" panose="02020603050405020304" pitchFamily="18" charset="0"/>
                <a:cs typeface="Times New Roman" panose="02020603050405020304" pitchFamily="18" charset="0"/>
              </a:rPr>
              <a:t>java.util</a:t>
            </a:r>
            <a:r>
              <a:rPr lang="en-US" dirty="0">
                <a:solidFill>
                  <a:srgbClr val="FF0000"/>
                </a:solidFill>
                <a:latin typeface="Times New Roman" panose="02020603050405020304" pitchFamily="18" charset="0"/>
                <a:cs typeface="Times New Roman" panose="02020603050405020304" pitchFamily="18" charset="0"/>
              </a:rPr>
              <a:t>.*;</a:t>
            </a:r>
          </a:p>
          <a:p>
            <a:pPr algn="just"/>
            <a:endParaRPr lang="en-US" dirty="0">
              <a:latin typeface="Times New Roman" panose="02020603050405020304" pitchFamily="18" charset="0"/>
              <a:cs typeface="Times New Roman" panose="02020603050405020304" pitchFamily="18" charset="0"/>
            </a:endParaRPr>
          </a:p>
          <a:p>
            <a:pPr marL="0" indent="0" algn="just">
              <a:buNone/>
            </a:pPr>
            <a:r>
              <a:rPr lang="en-US" b="1" dirty="0">
                <a:latin typeface="Times New Roman" panose="02020603050405020304" pitchFamily="18" charset="0"/>
                <a:cs typeface="Times New Roman" panose="02020603050405020304" pitchFamily="18" charset="0"/>
              </a:rPr>
              <a:t>Sc </a:t>
            </a:r>
          </a:p>
          <a:p>
            <a:pPr algn="just"/>
            <a:r>
              <a:rPr lang="en-US" dirty="0" err="1">
                <a:latin typeface="Times New Roman" panose="02020603050405020304" pitchFamily="18" charset="0"/>
                <a:cs typeface="Times New Roman" panose="02020603050405020304" pitchFamily="18" charset="0"/>
              </a:rPr>
              <a:t>sc</a:t>
            </a:r>
            <a:r>
              <a:rPr lang="en-US" dirty="0">
                <a:latin typeface="Times New Roman" panose="02020603050405020304" pitchFamily="18" charset="0"/>
                <a:cs typeface="Times New Roman" panose="02020603050405020304" pitchFamily="18" charset="0"/>
              </a:rPr>
              <a:t> is the </a:t>
            </a:r>
            <a:r>
              <a:rPr lang="en-US" b="1" dirty="0">
                <a:latin typeface="Times New Roman" panose="02020603050405020304" pitchFamily="18" charset="0"/>
                <a:cs typeface="Times New Roman" panose="02020603050405020304" pitchFamily="18" charset="0"/>
              </a:rPr>
              <a:t>reference variable</a:t>
            </a:r>
            <a:r>
              <a:rPr lang="en-US" dirty="0">
                <a:latin typeface="Times New Roman" panose="02020603050405020304" pitchFamily="18" charset="0"/>
                <a:cs typeface="Times New Roman" panose="02020603050405020304" pitchFamily="18" charset="0"/>
              </a:rPr>
              <a:t> (or object name). </a:t>
            </a:r>
          </a:p>
          <a:p>
            <a:pPr algn="just"/>
            <a:r>
              <a:rPr lang="en-US" dirty="0">
                <a:latin typeface="Times New Roman" panose="02020603050405020304" pitchFamily="18" charset="0"/>
                <a:cs typeface="Times New Roman" panose="02020603050405020304" pitchFamily="18" charset="0"/>
              </a:rPr>
              <a:t>It refers to the Scanner object. </a:t>
            </a:r>
          </a:p>
          <a:p>
            <a:pPr algn="just"/>
            <a:r>
              <a:rPr lang="en-US" dirty="0">
                <a:latin typeface="Times New Roman" panose="02020603050405020304" pitchFamily="18" charset="0"/>
                <a:cs typeface="Times New Roman" panose="02020603050405020304" pitchFamily="18" charset="0"/>
              </a:rPr>
              <a:t>You can choose any valid name instead of </a:t>
            </a:r>
            <a:r>
              <a:rPr lang="en-US" dirty="0" err="1">
                <a:latin typeface="Times New Roman" panose="02020603050405020304" pitchFamily="18" charset="0"/>
                <a:cs typeface="Times New Roman" panose="02020603050405020304" pitchFamily="18" charset="0"/>
              </a:rPr>
              <a:t>sc</a:t>
            </a:r>
            <a:r>
              <a:rPr lang="en-US" dirty="0">
                <a:latin typeface="Times New Roman" panose="02020603050405020304" pitchFamily="18" charset="0"/>
                <a:cs typeface="Times New Roman" panose="02020603050405020304" pitchFamily="18" charset="0"/>
              </a:rPr>
              <a:t>, such as input or scanner.</a:t>
            </a: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marL="0" indent="0" algn="just">
              <a:buNone/>
            </a:pPr>
            <a:endParaRPr lang="en-US" dirty="0">
              <a:solidFill>
                <a:srgbClr val="FF0000"/>
              </a:solidFill>
              <a:latin typeface="Times New Roman" panose="02020603050405020304" pitchFamily="18" charset="0"/>
              <a:cs typeface="Times New Roman" panose="02020603050405020304" pitchFamily="18" charset="0"/>
            </a:endParaRPr>
          </a:p>
          <a:p>
            <a:pPr marL="0" indent="0" algn="just">
              <a:buNone/>
            </a:pPr>
            <a:endParaRPr lang="en-US" dirty="0">
              <a:solidFill>
                <a:srgbClr val="FF0000"/>
              </a:solidFill>
              <a:latin typeface="Times New Roman" panose="02020603050405020304" pitchFamily="18" charset="0"/>
              <a:cs typeface="Times New Roman" panose="02020603050405020304" pitchFamily="18" charset="0"/>
            </a:endParaRPr>
          </a:p>
          <a:p>
            <a:pPr marL="0" indent="0" algn="just">
              <a:buNone/>
            </a:pPr>
            <a:endParaRPr lang="en-US"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68551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40F16-451F-CE02-CEEE-834D85E3B248}"/>
              </a:ext>
            </a:extLst>
          </p:cNvPr>
          <p:cNvSpPr>
            <a:spLocks noGrp="1"/>
          </p:cNvSpPr>
          <p:nvPr>
            <p:ph type="title"/>
          </p:nvPr>
        </p:nvSpPr>
        <p:spPr/>
        <p:txBody>
          <a:bodyPr>
            <a:normAutofit fontScale="90000"/>
          </a:bodyPr>
          <a:lstStyle/>
          <a:p>
            <a:r>
              <a:rPr lang="en-US" dirty="0">
                <a:solidFill>
                  <a:srgbClr val="FF0000"/>
                </a:solidFill>
              </a:rPr>
              <a:t>Scanner </a:t>
            </a:r>
            <a:r>
              <a:rPr lang="en-US" dirty="0" err="1"/>
              <a:t>sc</a:t>
            </a:r>
            <a:r>
              <a:rPr lang="en-US" dirty="0">
                <a:solidFill>
                  <a:srgbClr val="FF0000"/>
                </a:solidFill>
              </a:rPr>
              <a:t> = </a:t>
            </a:r>
            <a:r>
              <a:rPr lang="en-US" dirty="0">
                <a:solidFill>
                  <a:schemeClr val="accent1"/>
                </a:solidFill>
              </a:rPr>
              <a:t>new</a:t>
            </a:r>
            <a:r>
              <a:rPr lang="en-US" dirty="0">
                <a:solidFill>
                  <a:srgbClr val="FF0000"/>
                </a:solidFill>
              </a:rPr>
              <a:t> Scanner(</a:t>
            </a:r>
            <a:r>
              <a:rPr lang="en-US" dirty="0"/>
              <a:t>System.in</a:t>
            </a:r>
            <a:r>
              <a:rPr lang="en-US" dirty="0">
                <a:solidFill>
                  <a:srgbClr val="FF0000"/>
                </a:solidFill>
              </a:rPr>
              <a:t>);</a:t>
            </a:r>
            <a:endParaRPr lang="en-US" dirty="0"/>
          </a:p>
        </p:txBody>
      </p:sp>
      <p:sp>
        <p:nvSpPr>
          <p:cNvPr id="3" name="Content Placeholder 2">
            <a:extLst>
              <a:ext uri="{FF2B5EF4-FFF2-40B4-BE49-F238E27FC236}">
                <a16:creationId xmlns:a16="http://schemas.microsoft.com/office/drawing/2014/main" id="{70BDF06C-BC4F-EE7D-BD1A-EA6FFCA80945}"/>
              </a:ext>
            </a:extLst>
          </p:cNvPr>
          <p:cNvSpPr>
            <a:spLocks noGrp="1"/>
          </p:cNvSpPr>
          <p:nvPr>
            <p:ph idx="1"/>
          </p:nvPr>
        </p:nvSpPr>
        <p:spPr/>
        <p:txBody>
          <a:bodyPr>
            <a:normAutofit/>
          </a:bodyPr>
          <a:lstStyle/>
          <a:p>
            <a:pPr marL="0" indent="0" algn="just">
              <a:buNone/>
            </a:pPr>
            <a:r>
              <a:rPr lang="en-US" sz="2200" b="1" dirty="0">
                <a:latin typeface="Times New Roman" panose="02020603050405020304" pitchFamily="18" charset="0"/>
                <a:cs typeface="Times New Roman" panose="02020603050405020304" pitchFamily="18" charset="0"/>
              </a:rPr>
              <a:t> 3) new</a:t>
            </a:r>
          </a:p>
          <a:p>
            <a:pPr algn="just"/>
            <a:r>
              <a:rPr lang="en-US" sz="2200" dirty="0">
                <a:latin typeface="Times New Roman" panose="02020603050405020304" pitchFamily="18" charset="0"/>
                <a:cs typeface="Times New Roman" panose="02020603050405020304" pitchFamily="18" charset="0"/>
              </a:rPr>
              <a:t>new is a Java keyword used to </a:t>
            </a:r>
            <a:r>
              <a:rPr lang="en-US" sz="2200" b="1" dirty="0">
                <a:solidFill>
                  <a:srgbClr val="FF0000"/>
                </a:solidFill>
                <a:latin typeface="Times New Roman" panose="02020603050405020304" pitchFamily="18" charset="0"/>
                <a:cs typeface="Times New Roman" panose="02020603050405020304" pitchFamily="18" charset="0"/>
              </a:rPr>
              <a:t>create an object</a:t>
            </a:r>
            <a:r>
              <a:rPr lang="en-US" sz="2200" dirty="0">
                <a:latin typeface="Times New Roman" panose="02020603050405020304" pitchFamily="18" charset="0"/>
                <a:cs typeface="Times New Roman" panose="02020603050405020304" pitchFamily="18" charset="0"/>
              </a:rPr>
              <a:t>. </a:t>
            </a:r>
          </a:p>
          <a:p>
            <a:pPr algn="just"/>
            <a:r>
              <a:rPr lang="en-US" sz="2200" dirty="0">
                <a:latin typeface="Times New Roman" panose="02020603050405020304" pitchFamily="18" charset="0"/>
                <a:cs typeface="Times New Roman" panose="02020603050405020304" pitchFamily="18" charset="0"/>
              </a:rPr>
              <a:t>It allocates memory for the object and calls the constructor of the class.</a:t>
            </a:r>
          </a:p>
          <a:p>
            <a:pPr marL="0" indent="0" algn="just">
              <a:buNone/>
            </a:pPr>
            <a:endParaRPr lang="en-US" sz="2200" dirty="0">
              <a:latin typeface="Times New Roman" panose="02020603050405020304" pitchFamily="18" charset="0"/>
              <a:cs typeface="Times New Roman" panose="02020603050405020304" pitchFamily="18" charset="0"/>
            </a:endParaRPr>
          </a:p>
          <a:p>
            <a:pPr marL="0" indent="0" algn="just">
              <a:buNone/>
            </a:pPr>
            <a:r>
              <a:rPr lang="en-US" sz="2200" b="1" dirty="0">
                <a:latin typeface="Times New Roman" panose="02020603050405020304" pitchFamily="18" charset="0"/>
                <a:cs typeface="Times New Roman" panose="02020603050405020304" pitchFamily="18" charset="0"/>
              </a:rPr>
              <a:t>4) Scanner(System.in)</a:t>
            </a:r>
          </a:p>
          <a:p>
            <a:pPr algn="just"/>
            <a:r>
              <a:rPr lang="en-US" sz="2200" dirty="0">
                <a:latin typeface="Times New Roman" panose="02020603050405020304" pitchFamily="18" charset="0"/>
                <a:cs typeface="Times New Roman" panose="02020603050405020304" pitchFamily="18" charset="0"/>
              </a:rPr>
              <a:t>Scanner() is the constructor of the Scanner class. </a:t>
            </a:r>
          </a:p>
          <a:p>
            <a:pPr algn="just"/>
            <a:r>
              <a:rPr lang="en-US" sz="2200" dirty="0">
                <a:solidFill>
                  <a:srgbClr val="FF0000"/>
                </a:solidFill>
                <a:latin typeface="Times New Roman" panose="02020603050405020304" pitchFamily="18" charset="0"/>
                <a:cs typeface="Times New Roman" panose="02020603050405020304" pitchFamily="18" charset="0"/>
              </a:rPr>
              <a:t>System.in </a:t>
            </a:r>
            <a:r>
              <a:rPr lang="en-US" sz="2200" dirty="0">
                <a:latin typeface="Times New Roman" panose="02020603050405020304" pitchFamily="18" charset="0"/>
                <a:cs typeface="Times New Roman" panose="02020603050405020304" pitchFamily="18" charset="0"/>
              </a:rPr>
              <a:t>represents the </a:t>
            </a:r>
            <a:r>
              <a:rPr lang="en-US" sz="2200" b="1" dirty="0">
                <a:latin typeface="Times New Roman" panose="02020603050405020304" pitchFamily="18" charset="0"/>
                <a:cs typeface="Times New Roman" panose="02020603050405020304" pitchFamily="18" charset="0"/>
              </a:rPr>
              <a:t>standard input stream</a:t>
            </a:r>
            <a:r>
              <a:rPr lang="en-US" sz="2200" dirty="0">
                <a:latin typeface="Times New Roman" panose="02020603050405020304" pitchFamily="18" charset="0"/>
                <a:cs typeface="Times New Roman" panose="02020603050405020304" pitchFamily="18" charset="0"/>
              </a:rPr>
              <a:t>, which is usually the keyboard. </a:t>
            </a:r>
          </a:p>
          <a:p>
            <a:pPr algn="just"/>
            <a:r>
              <a:rPr lang="en-US" sz="2200" dirty="0">
                <a:latin typeface="Times New Roman" panose="02020603050405020304" pitchFamily="18" charset="0"/>
                <a:cs typeface="Times New Roman" panose="02020603050405020304" pitchFamily="18" charset="0"/>
              </a:rPr>
              <a:t>Passing </a:t>
            </a:r>
            <a:r>
              <a:rPr lang="en-US" sz="2200" dirty="0">
                <a:solidFill>
                  <a:srgbClr val="FF0000"/>
                </a:solidFill>
                <a:latin typeface="Times New Roman" panose="02020603050405020304" pitchFamily="18" charset="0"/>
                <a:cs typeface="Times New Roman" panose="02020603050405020304" pitchFamily="18" charset="0"/>
              </a:rPr>
              <a:t>System.in </a:t>
            </a:r>
            <a:r>
              <a:rPr lang="en-US" sz="2200" dirty="0">
                <a:latin typeface="Times New Roman" panose="02020603050405020304" pitchFamily="18" charset="0"/>
                <a:cs typeface="Times New Roman" panose="02020603050405020304" pitchFamily="18" charset="0"/>
              </a:rPr>
              <a:t>to the constructor tells the Scanner to read input from the keyboard.</a:t>
            </a:r>
          </a:p>
          <a:p>
            <a:pPr marL="0" indent="0" algn="just">
              <a:buNone/>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159922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3CEC34-113E-2BF4-673B-F5F7E93808BA}"/>
              </a:ext>
            </a:extLst>
          </p:cNvPr>
          <p:cNvSpPr>
            <a:spLocks noGrp="1"/>
          </p:cNvSpPr>
          <p:nvPr>
            <p:ph idx="1"/>
          </p:nvPr>
        </p:nvSpPr>
        <p:spPr>
          <a:xfrm>
            <a:off x="457200" y="533400"/>
            <a:ext cx="8229600" cy="5592763"/>
          </a:xfrm>
        </p:spPr>
        <p:txBody>
          <a:bodyPr>
            <a:normAutofit lnSpcReduction="10000"/>
          </a:bodyPr>
          <a:lstStyle/>
          <a:p>
            <a:pPr marL="0" indent="0" algn="ctr">
              <a:buNone/>
            </a:pPr>
            <a:r>
              <a:rPr lang="en-US" dirty="0"/>
              <a:t>Keyboard</a:t>
            </a:r>
          </a:p>
          <a:p>
            <a:pPr marL="0" indent="0" algn="ctr">
              <a:buNone/>
            </a:pPr>
            <a:r>
              <a:rPr lang="en-US" dirty="0"/>
              <a:t>    │</a:t>
            </a:r>
          </a:p>
          <a:p>
            <a:pPr marL="0" indent="0" algn="ctr">
              <a:buNone/>
            </a:pPr>
            <a:r>
              <a:rPr lang="en-US" dirty="0"/>
              <a:t>    ▼</a:t>
            </a:r>
          </a:p>
          <a:p>
            <a:pPr marL="0" indent="0" algn="ctr">
              <a:buNone/>
            </a:pPr>
            <a:r>
              <a:rPr lang="en-US" dirty="0"/>
              <a:t>System.in</a:t>
            </a:r>
          </a:p>
          <a:p>
            <a:pPr marL="0" indent="0" algn="ctr">
              <a:buNone/>
            </a:pPr>
            <a:r>
              <a:rPr lang="en-US" dirty="0"/>
              <a:t>    │</a:t>
            </a:r>
          </a:p>
          <a:p>
            <a:pPr marL="0" indent="0" algn="ctr">
              <a:buNone/>
            </a:pPr>
            <a:r>
              <a:rPr lang="en-US" dirty="0"/>
              <a:t>    ▼</a:t>
            </a:r>
          </a:p>
          <a:p>
            <a:pPr marL="0" indent="0" algn="ctr">
              <a:buNone/>
            </a:pPr>
            <a:r>
              <a:rPr lang="en-US" dirty="0"/>
              <a:t>Scanner Object (</a:t>
            </a:r>
            <a:r>
              <a:rPr lang="en-US" dirty="0" err="1"/>
              <a:t>sc</a:t>
            </a:r>
            <a:r>
              <a:rPr lang="en-US" dirty="0"/>
              <a:t>)</a:t>
            </a:r>
          </a:p>
          <a:p>
            <a:pPr marL="0" indent="0" algn="ctr">
              <a:buNone/>
            </a:pPr>
            <a:r>
              <a:rPr lang="en-US" dirty="0"/>
              <a:t>    │</a:t>
            </a:r>
          </a:p>
          <a:p>
            <a:pPr marL="0" indent="0" algn="ctr">
              <a:buNone/>
            </a:pPr>
            <a:r>
              <a:rPr lang="en-US" dirty="0"/>
              <a:t>    ▼</a:t>
            </a:r>
          </a:p>
          <a:p>
            <a:pPr marL="0" indent="0" algn="ctr">
              <a:buNone/>
            </a:pPr>
            <a:r>
              <a:rPr lang="en-US" dirty="0"/>
              <a:t>Reads user input</a:t>
            </a:r>
          </a:p>
        </p:txBody>
      </p:sp>
    </p:spTree>
    <p:extLst>
      <p:ext uri="{BB962C8B-B14F-4D97-AF65-F5344CB8AC3E}">
        <p14:creationId xmlns:p14="http://schemas.microsoft.com/office/powerpoint/2010/main" val="3523752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D06A12-6EFB-4982-B029-2580E2133B94}"/>
              </a:ext>
            </a:extLst>
          </p:cNvPr>
          <p:cNvSpPr>
            <a:spLocks noGrp="1"/>
          </p:cNvSpPr>
          <p:nvPr>
            <p:ph idx="1"/>
          </p:nvPr>
        </p:nvSpPr>
        <p:spPr>
          <a:xfrm>
            <a:off x="457200" y="152400"/>
            <a:ext cx="8229600" cy="5973763"/>
          </a:xfrm>
        </p:spPr>
        <p:txBody>
          <a:bodyPr>
            <a:normAutofit fontScale="92500" lnSpcReduction="10000"/>
          </a:bodyPr>
          <a:lstStyle/>
          <a:p>
            <a:pPr marL="0" indent="0">
              <a:buNone/>
            </a:pPr>
            <a:r>
              <a:rPr lang="en-US" sz="1600" b="1" dirty="0">
                <a:latin typeface="Times New Roman" panose="02020603050405020304" pitchFamily="18" charset="0"/>
                <a:cs typeface="Times New Roman" panose="02020603050405020304" pitchFamily="18" charset="0"/>
              </a:rPr>
              <a:t>//1 Import the Scanner class. </a:t>
            </a: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Addition {</a:t>
            </a: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//2 Read two numbers from the keyboard. </a:t>
            </a: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a:t>Creates a Scanner object to read keyboard input.</a:t>
            </a: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first number: ");</a:t>
            </a:r>
          </a:p>
          <a:p>
            <a:pPr marL="0" indent="0">
              <a:buNone/>
            </a:pPr>
            <a:r>
              <a:rPr lang="en-US" sz="1600" b="1" dirty="0">
                <a:latin typeface="Times New Roman" panose="02020603050405020304" pitchFamily="18" charset="0"/>
                <a:cs typeface="Times New Roman" panose="02020603050405020304" pitchFamily="18" charset="0"/>
              </a:rPr>
              <a:t>        int a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second number: ");</a:t>
            </a:r>
          </a:p>
          <a:p>
            <a:pPr marL="0" indent="0">
              <a:buNone/>
            </a:pPr>
            <a:r>
              <a:rPr lang="en-US" sz="1600" b="1" dirty="0">
                <a:latin typeface="Times New Roman" panose="02020603050405020304" pitchFamily="18" charset="0"/>
                <a:cs typeface="Times New Roman" panose="02020603050405020304" pitchFamily="18" charset="0"/>
              </a:rPr>
              <a:t>        int b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//3 Add the numbers. </a:t>
            </a:r>
          </a:p>
          <a:p>
            <a:pPr marL="0" indent="0">
              <a:buNone/>
            </a:pPr>
            <a:r>
              <a:rPr lang="en-US" sz="1600" b="1" dirty="0">
                <a:latin typeface="Times New Roman" panose="02020603050405020304" pitchFamily="18" charset="0"/>
                <a:cs typeface="Times New Roman" panose="02020603050405020304" pitchFamily="18" charset="0"/>
              </a:rPr>
              <a:t>        int sum = a + b;</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  4  Display the result.</a:t>
            </a: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System.out.println</a:t>
            </a:r>
            <a:r>
              <a:rPr lang="en-US" sz="1600" b="1" dirty="0">
                <a:latin typeface="Times New Roman" panose="02020603050405020304" pitchFamily="18" charset="0"/>
                <a:cs typeface="Times New Roman" panose="02020603050405020304" pitchFamily="18" charset="0"/>
              </a:rPr>
              <a:t>("Sum = " + sum);</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706482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A0AE70-D4B5-CE4F-83FB-C14BB1D5210C}"/>
              </a:ext>
            </a:extLst>
          </p:cNvPr>
          <p:cNvSpPr>
            <a:spLocks noGrp="1"/>
          </p:cNvSpPr>
          <p:nvPr>
            <p:ph idx="1"/>
          </p:nvPr>
        </p:nvSpPr>
        <p:spPr>
          <a:xfrm>
            <a:off x="457200" y="381000"/>
            <a:ext cx="8229600" cy="6248400"/>
          </a:xfrm>
        </p:spPr>
        <p:txBody>
          <a:bodyPr>
            <a:normAutofit fontScale="32500" lnSpcReduction="20000"/>
          </a:bodyPr>
          <a:lstStyle/>
          <a:p>
            <a:pPr marL="0" indent="0">
              <a:buNone/>
            </a:pPr>
            <a:r>
              <a:rPr lang="en-US" sz="3300" b="1" dirty="0">
                <a:solidFill>
                  <a:srgbClr val="FF0000"/>
                </a:solidFill>
                <a:latin typeface="Times New Roman" panose="02020603050405020304" pitchFamily="18" charset="0"/>
                <a:cs typeface="Times New Roman" panose="02020603050405020304" pitchFamily="18" charset="0"/>
              </a:rPr>
              <a:t>Program 3:- To swap two numbers using a temporary variable.</a:t>
            </a:r>
          </a:p>
          <a:p>
            <a:pPr marL="0" indent="0">
              <a:buNone/>
            </a:pPr>
            <a:endParaRPr lang="en-US"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public class Swap {</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public static void main(String[] </a:t>
            </a:r>
            <a:r>
              <a:rPr lang="en-US" sz="4900" b="1" dirty="0" err="1">
                <a:latin typeface="Times New Roman" panose="02020603050405020304" pitchFamily="18" charset="0"/>
                <a:cs typeface="Times New Roman" panose="02020603050405020304" pitchFamily="18" charset="0"/>
              </a:rPr>
              <a:t>args</a:t>
            </a:r>
            <a:r>
              <a:rPr lang="en-US" sz="4900" b="1" dirty="0">
                <a:latin typeface="Times New Roman" panose="02020603050405020304" pitchFamily="18" charset="0"/>
                <a:cs typeface="Times New Roman" panose="02020603050405020304" pitchFamily="18" charset="0"/>
              </a:rPr>
              <a:t>) {</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int a = 10;</a:t>
            </a:r>
          </a:p>
          <a:p>
            <a:pPr marL="0" indent="0">
              <a:buNone/>
            </a:pPr>
            <a:r>
              <a:rPr lang="en-US" sz="4900" b="1" dirty="0">
                <a:latin typeface="Times New Roman" panose="02020603050405020304" pitchFamily="18" charset="0"/>
                <a:cs typeface="Times New Roman" panose="02020603050405020304" pitchFamily="18" charset="0"/>
              </a:rPr>
              <a:t>        int b = 20;</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int temp;</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temp = a;</a:t>
            </a:r>
          </a:p>
          <a:p>
            <a:pPr marL="0" indent="0">
              <a:buNone/>
            </a:pPr>
            <a:r>
              <a:rPr lang="en-US" sz="4900" b="1" dirty="0">
                <a:latin typeface="Times New Roman" panose="02020603050405020304" pitchFamily="18" charset="0"/>
                <a:cs typeface="Times New Roman" panose="02020603050405020304" pitchFamily="18" charset="0"/>
              </a:rPr>
              <a:t>        a = b;</a:t>
            </a:r>
          </a:p>
          <a:p>
            <a:pPr marL="0" indent="0">
              <a:buNone/>
            </a:pPr>
            <a:r>
              <a:rPr lang="en-US" sz="4900" b="1" dirty="0">
                <a:latin typeface="Times New Roman" panose="02020603050405020304" pitchFamily="18" charset="0"/>
                <a:cs typeface="Times New Roman" panose="02020603050405020304" pitchFamily="18" charset="0"/>
              </a:rPr>
              <a:t>        b = temp;</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dirty="0">
                <a:latin typeface="Times New Roman" panose="02020603050405020304" pitchFamily="18" charset="0"/>
                <a:cs typeface="Times New Roman" panose="02020603050405020304" pitchFamily="18" charset="0"/>
              </a:rPr>
              <a:t>// "a = “ This is a String literal. It prints the text exactly as written. </a:t>
            </a:r>
          </a:p>
          <a:p>
            <a:pPr marL="0" indent="0">
              <a:buNone/>
            </a:pPr>
            <a:r>
              <a:rPr lang="en-US" sz="4900" dirty="0">
                <a:latin typeface="Times New Roman" panose="02020603050405020304" pitchFamily="18" charset="0"/>
                <a:cs typeface="Times New Roman" panose="02020603050405020304" pitchFamily="18" charset="0"/>
              </a:rPr>
              <a:t>// “ +” -- The + operator is used for string concatenation when one operand is a string. </a:t>
            </a:r>
          </a:p>
          <a:p>
            <a:pPr marL="0" indent="0">
              <a:buNone/>
            </a:pPr>
            <a:r>
              <a:rPr lang="en-US" sz="4900" dirty="0">
                <a:latin typeface="Times New Roman" panose="02020603050405020304" pitchFamily="18" charset="0"/>
                <a:cs typeface="Times New Roman" panose="02020603050405020304" pitchFamily="18" charset="0"/>
              </a:rPr>
              <a:t>It joins the string "a = " with the value stored in the variable a. </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a:t>
            </a:r>
            <a:r>
              <a:rPr lang="en-US" sz="4900" b="1" dirty="0" err="1">
                <a:latin typeface="Times New Roman" panose="02020603050405020304" pitchFamily="18" charset="0"/>
                <a:cs typeface="Times New Roman" panose="02020603050405020304" pitchFamily="18" charset="0"/>
              </a:rPr>
              <a:t>System.out.println</a:t>
            </a:r>
            <a:r>
              <a:rPr lang="en-US" sz="4900" b="1" dirty="0">
                <a:latin typeface="Times New Roman" panose="02020603050405020304" pitchFamily="18" charset="0"/>
                <a:cs typeface="Times New Roman" panose="02020603050405020304" pitchFamily="18" charset="0"/>
              </a:rPr>
              <a:t>("a = " + a);</a:t>
            </a:r>
          </a:p>
          <a:p>
            <a:pPr marL="0" indent="0">
              <a:buNone/>
            </a:pPr>
            <a:r>
              <a:rPr lang="en-US" sz="4900" b="1" dirty="0">
                <a:latin typeface="Times New Roman" panose="02020603050405020304" pitchFamily="18" charset="0"/>
                <a:cs typeface="Times New Roman" panose="02020603050405020304" pitchFamily="18" charset="0"/>
              </a:rPr>
              <a:t>        </a:t>
            </a:r>
            <a:r>
              <a:rPr lang="en-US" sz="4900" b="1" dirty="0" err="1">
                <a:latin typeface="Times New Roman" panose="02020603050405020304" pitchFamily="18" charset="0"/>
                <a:cs typeface="Times New Roman" panose="02020603050405020304" pitchFamily="18" charset="0"/>
              </a:rPr>
              <a:t>System.out.println</a:t>
            </a:r>
            <a:r>
              <a:rPr lang="en-US" sz="4900" b="1" dirty="0">
                <a:latin typeface="Times New Roman" panose="02020603050405020304" pitchFamily="18" charset="0"/>
                <a:cs typeface="Times New Roman" panose="02020603050405020304" pitchFamily="18" charset="0"/>
              </a:rPr>
              <a:t>("b = " + b);</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a:t>
            </a:r>
          </a:p>
          <a:p>
            <a:pPr marL="0" indent="0">
              <a:buNone/>
            </a:pPr>
            <a:r>
              <a:rPr lang="en-US" sz="4900" b="1" dirty="0">
                <a:latin typeface="Times New Roman" panose="02020603050405020304" pitchFamily="18" charset="0"/>
                <a:cs typeface="Times New Roman" panose="02020603050405020304" pitchFamily="18" charset="0"/>
              </a:rPr>
              <a:t>}</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24435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507EBE-7D0D-6838-14EF-A8521F805625}"/>
              </a:ext>
            </a:extLst>
          </p:cNvPr>
          <p:cNvSpPr>
            <a:spLocks noGrp="1"/>
          </p:cNvSpPr>
          <p:nvPr>
            <p:ph idx="1"/>
          </p:nvPr>
        </p:nvSpPr>
        <p:spPr>
          <a:xfrm>
            <a:off x="457200" y="152400"/>
            <a:ext cx="8229600" cy="5973763"/>
          </a:xfrm>
        </p:spPr>
        <p:txBody>
          <a:bodyPr>
            <a:normAutofit fontScale="92500" lnSpcReduction="20000"/>
          </a:bodyPr>
          <a:lstStyle/>
          <a:p>
            <a:pPr marL="0" indent="0">
              <a:buNone/>
            </a:pPr>
            <a:r>
              <a:rPr lang="en-US" sz="2000" b="1" dirty="0">
                <a:solidFill>
                  <a:srgbClr val="FF0000"/>
                </a:solidFill>
                <a:latin typeface="Times New Roman" panose="02020603050405020304" pitchFamily="18" charset="0"/>
                <a:cs typeface="Times New Roman" panose="02020603050405020304" pitchFamily="18" charset="0"/>
              </a:rPr>
              <a:t>Program : To determine whether a number is even or odd.</a:t>
            </a:r>
          </a:p>
          <a:p>
            <a:pPr marL="0" indent="0">
              <a:buNone/>
            </a:pPr>
            <a:endParaRPr lang="en-US" sz="2000" b="1" dirty="0">
              <a:solidFill>
                <a:srgbClr val="FF0000"/>
              </a:solidFill>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import </a:t>
            </a:r>
            <a:r>
              <a:rPr lang="en-US" sz="2000" b="1" dirty="0" err="1">
                <a:latin typeface="Times New Roman" panose="02020603050405020304" pitchFamily="18" charset="0"/>
                <a:cs typeface="Times New Roman" panose="02020603050405020304" pitchFamily="18" charset="0"/>
              </a:rPr>
              <a:t>java.util.Scanner</a:t>
            </a:r>
            <a:r>
              <a:rPr lang="en-US" sz="2000" b="1" dirty="0">
                <a:latin typeface="Times New Roman" panose="02020603050405020304" pitchFamily="18" charset="0"/>
                <a:cs typeface="Times New Roman" panose="02020603050405020304" pitchFamily="18" charset="0"/>
              </a:rPr>
              <a:t>;</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public class </a:t>
            </a:r>
            <a:r>
              <a:rPr lang="en-US" sz="2000" b="1" dirty="0" err="1">
                <a:latin typeface="Times New Roman" panose="02020603050405020304" pitchFamily="18" charset="0"/>
                <a:cs typeface="Times New Roman" panose="02020603050405020304" pitchFamily="18" charset="0"/>
              </a:rPr>
              <a:t>EvenOdd</a:t>
            </a:r>
            <a:r>
              <a:rPr lang="en-US" sz="2000" b="1" dirty="0">
                <a:latin typeface="Times New Roman" panose="02020603050405020304" pitchFamily="18" charset="0"/>
                <a:cs typeface="Times New Roman" panose="02020603050405020304" pitchFamily="18" charset="0"/>
              </a:rPr>
              <a:t> {</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public static void main(String[] </a:t>
            </a:r>
            <a:r>
              <a:rPr lang="en-US" sz="2000" b="1" dirty="0" err="1">
                <a:latin typeface="Times New Roman" panose="02020603050405020304" pitchFamily="18" charset="0"/>
                <a:cs typeface="Times New Roman" panose="02020603050405020304" pitchFamily="18" charset="0"/>
              </a:rPr>
              <a:t>args</a:t>
            </a:r>
            <a:r>
              <a:rPr lang="en-US" sz="2000" b="1" dirty="0">
                <a:latin typeface="Times New Roman" panose="02020603050405020304" pitchFamily="18" charset="0"/>
                <a:cs typeface="Times New Roman" panose="02020603050405020304" pitchFamily="18" charset="0"/>
              </a:rPr>
              <a:t>) {</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Scanner </a:t>
            </a:r>
            <a:r>
              <a:rPr lang="en-US" sz="2000" b="1" dirty="0" err="1">
                <a:latin typeface="Times New Roman" panose="02020603050405020304" pitchFamily="18" charset="0"/>
                <a:cs typeface="Times New Roman" panose="02020603050405020304" pitchFamily="18" charset="0"/>
              </a:rPr>
              <a:t>sc</a:t>
            </a:r>
            <a:r>
              <a:rPr lang="en-US" sz="2000" b="1" dirty="0">
                <a:latin typeface="Times New Roman" panose="02020603050405020304" pitchFamily="18" charset="0"/>
                <a:cs typeface="Times New Roman" panose="02020603050405020304" pitchFamily="18" charset="0"/>
              </a:rPr>
              <a:t> = new Scanner(System.in);</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System.out.print</a:t>
            </a:r>
            <a:r>
              <a:rPr lang="en-US" sz="2000" b="1" dirty="0">
                <a:latin typeface="Times New Roman" panose="02020603050405020304" pitchFamily="18" charset="0"/>
                <a:cs typeface="Times New Roman" panose="02020603050405020304" pitchFamily="18" charset="0"/>
              </a:rPr>
              <a:t>("Enter a number: ");</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int n = </a:t>
            </a:r>
            <a:r>
              <a:rPr lang="en-US" sz="2000" b="1" dirty="0" err="1">
                <a:latin typeface="Times New Roman" panose="02020603050405020304" pitchFamily="18" charset="0"/>
                <a:cs typeface="Times New Roman" panose="02020603050405020304" pitchFamily="18" charset="0"/>
              </a:rPr>
              <a:t>sc.nextInt</a:t>
            </a:r>
            <a:r>
              <a:rPr lang="en-US" sz="2000" b="1" dirty="0">
                <a:latin typeface="Times New Roman" panose="02020603050405020304" pitchFamily="18" charset="0"/>
                <a:cs typeface="Times New Roman" panose="02020603050405020304" pitchFamily="18" charset="0"/>
              </a:rPr>
              <a:t>();</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if (n % 2 == 0)</a:t>
            </a:r>
          </a:p>
          <a:p>
            <a:pPr marL="0" indent="0">
              <a:buNone/>
            </a:pP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System.out.println</a:t>
            </a:r>
            <a:r>
              <a:rPr lang="en-US" sz="2000" b="1" dirty="0">
                <a:latin typeface="Times New Roman" panose="02020603050405020304" pitchFamily="18" charset="0"/>
                <a:cs typeface="Times New Roman" panose="02020603050405020304" pitchFamily="18" charset="0"/>
              </a:rPr>
              <a:t>("Even Number");</a:t>
            </a:r>
          </a:p>
          <a:p>
            <a:pPr marL="0" indent="0">
              <a:buNone/>
            </a:pPr>
            <a:r>
              <a:rPr lang="en-US" sz="2000" b="1" dirty="0">
                <a:latin typeface="Times New Roman" panose="02020603050405020304" pitchFamily="18" charset="0"/>
                <a:cs typeface="Times New Roman" panose="02020603050405020304" pitchFamily="18" charset="0"/>
              </a:rPr>
              <a:t>        else</a:t>
            </a:r>
          </a:p>
          <a:p>
            <a:pPr marL="0" indent="0">
              <a:buNone/>
            </a:pP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System.out.println</a:t>
            </a:r>
            <a:r>
              <a:rPr lang="en-US" sz="2000" b="1" dirty="0">
                <a:latin typeface="Times New Roman" panose="02020603050405020304" pitchFamily="18" charset="0"/>
                <a:cs typeface="Times New Roman" panose="02020603050405020304" pitchFamily="18" charset="0"/>
              </a:rPr>
              <a:t>("Odd Number");</a:t>
            </a:r>
          </a:p>
          <a:p>
            <a:pPr marL="0" indent="0">
              <a:buNone/>
            </a:pPr>
            <a:r>
              <a:rPr lang="en-US" sz="2000" b="1" dirty="0">
                <a:latin typeface="Times New Roman" panose="02020603050405020304" pitchFamily="18" charset="0"/>
                <a:cs typeface="Times New Roman" panose="02020603050405020304" pitchFamily="18" charset="0"/>
              </a:rPr>
              <a:t>    }</a:t>
            </a:r>
          </a:p>
          <a:p>
            <a:pPr marL="0" indent="0">
              <a:buNone/>
            </a:pPr>
            <a:r>
              <a:rPr lang="en-US" sz="20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8769554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162B8A-F243-D62C-5141-4493D1CA5291}"/>
              </a:ext>
            </a:extLst>
          </p:cNvPr>
          <p:cNvSpPr>
            <a:spLocks noGrp="1"/>
          </p:cNvSpPr>
          <p:nvPr>
            <p:ph idx="1"/>
          </p:nvPr>
        </p:nvSpPr>
        <p:spPr>
          <a:xfrm>
            <a:off x="457200" y="152400"/>
            <a:ext cx="8229600" cy="5973763"/>
          </a:xfrm>
        </p:spPr>
        <p:txBody>
          <a:bodyPr>
            <a:normAutofit fontScale="92500" lnSpcReduction="10000"/>
          </a:bodyPr>
          <a:lstStyle/>
          <a:p>
            <a:pPr marL="0" indent="0">
              <a:buNone/>
            </a:pPr>
            <a:r>
              <a:rPr lang="en-US" sz="1600" b="1" dirty="0">
                <a:solidFill>
                  <a:srgbClr val="FF0000"/>
                </a:solidFill>
                <a:latin typeface="Times New Roman" panose="02020603050405020304" pitchFamily="18" charset="0"/>
                <a:cs typeface="Times New Roman" panose="02020603050405020304" pitchFamily="18" charset="0"/>
              </a:rPr>
              <a:t>Program: To calculate the factorial of a given number. </a:t>
            </a:r>
            <a:r>
              <a:rPr lang="pt-BR" sz="1600" b="1" dirty="0">
                <a:latin typeface="Times New Roman" panose="02020603050405020304" pitchFamily="18" charset="0"/>
                <a:cs typeface="Times New Roman" panose="02020603050405020304" pitchFamily="18" charset="0"/>
              </a:rPr>
              <a:t>n! = n × (n−1) × (n−2) × ... × 1</a:t>
            </a:r>
          </a:p>
          <a:p>
            <a:pPr marL="0" indent="0">
              <a:buNone/>
            </a:pPr>
            <a:endParaRPr lang="pt-BR"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Factorial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a number: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n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fact = 1;</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for (int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 1;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&lt;= n;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            fact = fact *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System.out.println</a:t>
            </a:r>
            <a:r>
              <a:rPr lang="en-US" sz="1600" b="1" dirty="0">
                <a:latin typeface="Times New Roman" panose="02020603050405020304" pitchFamily="18" charset="0"/>
                <a:cs typeface="Times New Roman" panose="02020603050405020304" pitchFamily="18" charset="0"/>
              </a:rPr>
              <a:t>("Factorial = " + fact);</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28932510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3AFD5E-E059-1099-97B4-87ECC6D63697}"/>
              </a:ext>
            </a:extLst>
          </p:cNvPr>
          <p:cNvSpPr>
            <a:spLocks noGrp="1"/>
          </p:cNvSpPr>
          <p:nvPr>
            <p:ph idx="1"/>
          </p:nvPr>
        </p:nvSpPr>
        <p:spPr>
          <a:xfrm>
            <a:off x="457200" y="228600"/>
            <a:ext cx="8229600" cy="6629400"/>
          </a:xfrm>
        </p:spPr>
        <p:txBody>
          <a:bodyPr>
            <a:normAutofit fontScale="92500" lnSpcReduction="20000"/>
          </a:bodyPr>
          <a:lstStyle/>
          <a:p>
            <a:pPr marL="0" indent="0">
              <a:buNone/>
            </a:pPr>
            <a:r>
              <a:rPr lang="en-US" sz="1600" b="1" dirty="0">
                <a:solidFill>
                  <a:srgbClr val="FF0000"/>
                </a:solidFill>
                <a:latin typeface="Times New Roman" panose="02020603050405020304" pitchFamily="18" charset="0"/>
                <a:cs typeface="Times New Roman" panose="02020603050405020304" pitchFamily="18" charset="0"/>
              </a:rPr>
              <a:t>Program:- To print the Fibonacci series.</a:t>
            </a: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Fibonacci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number of terms: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n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a = 0;</a:t>
            </a:r>
          </a:p>
          <a:p>
            <a:pPr marL="0" indent="0">
              <a:buNone/>
            </a:pPr>
            <a:r>
              <a:rPr lang="en-US" sz="1600" b="1" dirty="0">
                <a:latin typeface="Times New Roman" panose="02020603050405020304" pitchFamily="18" charset="0"/>
                <a:cs typeface="Times New Roman" panose="02020603050405020304" pitchFamily="18" charset="0"/>
              </a:rPr>
              <a:t>        int b = 1;</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for (int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 1;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&lt;= n;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(a + "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c = a + b;</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 = b;</a:t>
            </a:r>
          </a:p>
          <a:p>
            <a:pPr marL="0" indent="0">
              <a:buNone/>
            </a:pPr>
            <a:r>
              <a:rPr lang="en-US" sz="1600" b="1" dirty="0">
                <a:latin typeface="Times New Roman" panose="02020603050405020304" pitchFamily="18" charset="0"/>
                <a:cs typeface="Times New Roman" panose="02020603050405020304" pitchFamily="18" charset="0"/>
              </a:rPr>
              <a:t>            b = c;</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380051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9F146E-619E-23B8-E643-72B100737F5A}"/>
              </a:ext>
            </a:extLst>
          </p:cNvPr>
          <p:cNvSpPr>
            <a:spLocks noGrp="1"/>
          </p:cNvSpPr>
          <p:nvPr>
            <p:ph idx="1"/>
          </p:nvPr>
        </p:nvSpPr>
        <p:spPr>
          <a:xfrm>
            <a:off x="457200" y="0"/>
            <a:ext cx="8229600" cy="6629400"/>
          </a:xfrm>
        </p:spPr>
        <p:txBody>
          <a:bodyPr>
            <a:normAutofit fontScale="85000" lnSpcReduction="20000"/>
          </a:bodyPr>
          <a:lstStyle/>
          <a:p>
            <a:pPr marL="0" indent="0">
              <a:buNone/>
            </a:pPr>
            <a:r>
              <a:rPr lang="en-US" sz="1900" b="1" dirty="0">
                <a:solidFill>
                  <a:srgbClr val="FF0000"/>
                </a:solidFill>
                <a:latin typeface="Times New Roman" panose="02020603050405020304" pitchFamily="18" charset="0"/>
                <a:cs typeface="Times New Roman" panose="02020603050405020304" pitchFamily="18" charset="0"/>
              </a:rPr>
              <a:t>Program: To check whether a number is prime.</a:t>
            </a:r>
          </a:p>
          <a:p>
            <a:pPr marL="0" indent="0">
              <a:buNone/>
            </a:pPr>
            <a:r>
              <a:rPr lang="en-US" sz="1500" b="1" dirty="0">
                <a:latin typeface="Times New Roman" panose="02020603050405020304" pitchFamily="18" charset="0"/>
                <a:cs typeface="Times New Roman" panose="02020603050405020304" pitchFamily="18" charset="0"/>
              </a:rPr>
              <a:t>import </a:t>
            </a:r>
            <a:r>
              <a:rPr lang="en-US" sz="1500" b="1" dirty="0" err="1">
                <a:latin typeface="Times New Roman" panose="02020603050405020304" pitchFamily="18" charset="0"/>
                <a:cs typeface="Times New Roman" panose="02020603050405020304" pitchFamily="18" charset="0"/>
              </a:rPr>
              <a:t>java.util.Scanner</a:t>
            </a:r>
            <a:r>
              <a:rPr lang="en-US" sz="1500" b="1" dirty="0">
                <a:latin typeface="Times New Roman" panose="02020603050405020304" pitchFamily="18" charset="0"/>
                <a:cs typeface="Times New Roman" panose="02020603050405020304" pitchFamily="18" charset="0"/>
              </a:rPr>
              <a:t>;</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public class Prime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public static void main(String[] </a:t>
            </a:r>
            <a:r>
              <a:rPr lang="en-US" sz="1500" b="1" dirty="0" err="1">
                <a:latin typeface="Times New Roman" panose="02020603050405020304" pitchFamily="18" charset="0"/>
                <a:cs typeface="Times New Roman" panose="02020603050405020304" pitchFamily="18" charset="0"/>
              </a:rPr>
              <a:t>args</a:t>
            </a:r>
            <a:r>
              <a:rPr lang="en-US" sz="1500" b="1" dirty="0">
                <a:latin typeface="Times New Roman" panose="02020603050405020304" pitchFamily="18" charset="0"/>
                <a:cs typeface="Times New Roman" panose="02020603050405020304" pitchFamily="18" charset="0"/>
              </a:rPr>
              <a:t>)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Scanner </a:t>
            </a:r>
            <a:r>
              <a:rPr lang="en-US" sz="1500" b="1" dirty="0" err="1">
                <a:latin typeface="Times New Roman" panose="02020603050405020304" pitchFamily="18" charset="0"/>
                <a:cs typeface="Times New Roman" panose="02020603050405020304" pitchFamily="18" charset="0"/>
              </a:rPr>
              <a:t>sc</a:t>
            </a:r>
            <a:r>
              <a:rPr lang="en-US" sz="1500" b="1" dirty="0">
                <a:latin typeface="Times New Roman" panose="02020603050405020304" pitchFamily="18" charset="0"/>
                <a:cs typeface="Times New Roman" panose="02020603050405020304" pitchFamily="18" charset="0"/>
              </a:rPr>
              <a:t> = new Scanner(System.in);</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System.out.print</a:t>
            </a:r>
            <a:r>
              <a:rPr lang="en-US" sz="1500" b="1" dirty="0">
                <a:latin typeface="Times New Roman" panose="02020603050405020304" pitchFamily="18" charset="0"/>
                <a:cs typeface="Times New Roman" panose="02020603050405020304" pitchFamily="18" charset="0"/>
              </a:rPr>
              <a:t>("Enter a number: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int n = </a:t>
            </a:r>
            <a:r>
              <a:rPr lang="en-US" sz="1500" b="1" dirty="0" err="1">
                <a:latin typeface="Times New Roman" panose="02020603050405020304" pitchFamily="18" charset="0"/>
                <a:cs typeface="Times New Roman" panose="02020603050405020304" pitchFamily="18" charset="0"/>
              </a:rPr>
              <a:t>sc.nextInt</a:t>
            </a:r>
            <a:r>
              <a:rPr lang="en-US" sz="1500" b="1" dirty="0">
                <a:latin typeface="Times New Roman" panose="02020603050405020304" pitchFamily="18" charset="0"/>
                <a:cs typeface="Times New Roman" panose="02020603050405020304" pitchFamily="18" charset="0"/>
              </a:rPr>
              <a:t>();</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boolean</a:t>
            </a:r>
            <a:r>
              <a:rPr lang="en-US" sz="1500" b="1" dirty="0">
                <a:latin typeface="Times New Roman" panose="02020603050405020304" pitchFamily="18" charset="0"/>
                <a:cs typeface="Times New Roman" panose="02020603050405020304" pitchFamily="18" charset="0"/>
              </a:rPr>
              <a:t> prime = true;</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if (n &lt;= 1)</a:t>
            </a:r>
          </a:p>
          <a:p>
            <a:pPr marL="0" indent="0">
              <a:buNone/>
            </a:pPr>
            <a:r>
              <a:rPr lang="en-US" sz="1500" b="1" dirty="0">
                <a:latin typeface="Times New Roman" panose="02020603050405020304" pitchFamily="18" charset="0"/>
                <a:cs typeface="Times New Roman" panose="02020603050405020304" pitchFamily="18" charset="0"/>
              </a:rPr>
              <a:t>            prime = false;</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for (int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 2;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&lt;= </a:t>
            </a:r>
            <a:r>
              <a:rPr lang="en-US" sz="1500" b="1" dirty="0" err="1">
                <a:latin typeface="Times New Roman" panose="02020603050405020304" pitchFamily="18" charset="0"/>
                <a:cs typeface="Times New Roman" panose="02020603050405020304" pitchFamily="18" charset="0"/>
              </a:rPr>
              <a:t>Math.sqrt</a:t>
            </a:r>
            <a:r>
              <a:rPr lang="en-US" sz="1500" b="1" dirty="0">
                <a:latin typeface="Times New Roman" panose="02020603050405020304" pitchFamily="18" charset="0"/>
                <a:cs typeface="Times New Roman" panose="02020603050405020304" pitchFamily="18" charset="0"/>
              </a:rPr>
              <a:t>(n);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if (n %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 0) {</a:t>
            </a:r>
          </a:p>
          <a:p>
            <a:pPr marL="0" indent="0">
              <a:buNone/>
            </a:pPr>
            <a:r>
              <a:rPr lang="en-US" sz="1500" b="1" dirty="0">
                <a:latin typeface="Times New Roman" panose="02020603050405020304" pitchFamily="18" charset="0"/>
                <a:cs typeface="Times New Roman" panose="02020603050405020304" pitchFamily="18" charset="0"/>
              </a:rPr>
              <a:t>                prime = false;</a:t>
            </a:r>
          </a:p>
          <a:p>
            <a:pPr marL="0" indent="0">
              <a:buNone/>
            </a:pPr>
            <a:r>
              <a:rPr lang="en-US" sz="1500" b="1" dirty="0">
                <a:latin typeface="Times New Roman" panose="02020603050405020304" pitchFamily="18" charset="0"/>
                <a:cs typeface="Times New Roman" panose="02020603050405020304" pitchFamily="18" charset="0"/>
              </a:rPr>
              <a:t>                break;</a:t>
            </a:r>
          </a:p>
          <a:p>
            <a:pPr marL="0" indent="0">
              <a:buNone/>
            </a:pPr>
            <a:r>
              <a:rPr lang="en-US" sz="1500" b="1" dirty="0">
                <a:latin typeface="Times New Roman" panose="02020603050405020304" pitchFamily="18" charset="0"/>
                <a:cs typeface="Times New Roman" panose="02020603050405020304" pitchFamily="18" charset="0"/>
              </a:rPr>
              <a:t>            }</a:t>
            </a:r>
          </a:p>
          <a:p>
            <a:pPr marL="0" indent="0">
              <a:buNone/>
            </a:pPr>
            <a:r>
              <a:rPr lang="en-US" sz="1500" b="1" dirty="0">
                <a:latin typeface="Times New Roman" panose="02020603050405020304" pitchFamily="18" charset="0"/>
                <a:cs typeface="Times New Roman" panose="02020603050405020304" pitchFamily="18" charset="0"/>
              </a:rPr>
              <a:t>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if (prime)</a:t>
            </a: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System.out.println</a:t>
            </a:r>
            <a:r>
              <a:rPr lang="en-US" sz="1500" b="1" dirty="0">
                <a:latin typeface="Times New Roman" panose="02020603050405020304" pitchFamily="18" charset="0"/>
                <a:cs typeface="Times New Roman" panose="02020603050405020304" pitchFamily="18" charset="0"/>
              </a:rPr>
              <a:t>("Prime Number");</a:t>
            </a:r>
          </a:p>
          <a:p>
            <a:pPr marL="0" indent="0">
              <a:buNone/>
            </a:pPr>
            <a:r>
              <a:rPr lang="en-US" sz="1500" b="1" dirty="0">
                <a:latin typeface="Times New Roman" panose="02020603050405020304" pitchFamily="18" charset="0"/>
                <a:cs typeface="Times New Roman" panose="02020603050405020304" pitchFamily="18" charset="0"/>
              </a:rPr>
              <a:t>        else</a:t>
            </a: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System.out.println</a:t>
            </a:r>
            <a:r>
              <a:rPr lang="en-US" sz="1500" b="1" dirty="0">
                <a:latin typeface="Times New Roman" panose="02020603050405020304" pitchFamily="18" charset="0"/>
                <a:cs typeface="Times New Roman" panose="02020603050405020304" pitchFamily="18" charset="0"/>
              </a:rPr>
              <a:t>("Not Prime");</a:t>
            </a:r>
          </a:p>
          <a:p>
            <a:pPr marL="0" indent="0">
              <a:buNone/>
            </a:pPr>
            <a:r>
              <a:rPr lang="en-US" sz="1500" b="1" dirty="0">
                <a:latin typeface="Times New Roman" panose="02020603050405020304" pitchFamily="18" charset="0"/>
                <a:cs typeface="Times New Roman" panose="02020603050405020304" pitchFamily="18" charset="0"/>
              </a:rPr>
              <a:t>    }</a:t>
            </a:r>
          </a:p>
          <a:p>
            <a:pPr marL="0" indent="0">
              <a:buNone/>
            </a:pPr>
            <a:r>
              <a:rPr lang="en-US" sz="15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4189579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724360-8688-1131-CD50-F5F7A7FAA3AA}"/>
              </a:ext>
            </a:extLst>
          </p:cNvPr>
          <p:cNvSpPr>
            <a:spLocks noGrp="1"/>
          </p:cNvSpPr>
          <p:nvPr>
            <p:ph idx="1"/>
          </p:nvPr>
        </p:nvSpPr>
        <p:spPr>
          <a:xfrm>
            <a:off x="457200" y="228600"/>
            <a:ext cx="8229600" cy="6126163"/>
          </a:xfrm>
        </p:spPr>
        <p:txBody>
          <a:bodyPr>
            <a:normAutofit fontScale="92500" lnSpcReduction="10000"/>
          </a:bodyPr>
          <a:lstStyle/>
          <a:p>
            <a:pPr marL="0" indent="0">
              <a:buNone/>
            </a:pPr>
            <a:r>
              <a:rPr lang="en-US" sz="1900" b="1" dirty="0">
                <a:solidFill>
                  <a:srgbClr val="FF0000"/>
                </a:solidFill>
                <a:latin typeface="Times New Roman" panose="02020603050405020304" pitchFamily="18" charset="0"/>
                <a:cs typeface="Times New Roman" panose="02020603050405020304" pitchFamily="18" charset="0"/>
              </a:rPr>
              <a:t>Program : To reverse the digits of a number.</a:t>
            </a: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a:t>
            </a:r>
            <a:r>
              <a:rPr lang="en-US" sz="1600" b="1" dirty="0" err="1">
                <a:latin typeface="Times New Roman" panose="02020603050405020304" pitchFamily="18" charset="0"/>
                <a:cs typeface="Times New Roman" panose="02020603050405020304" pitchFamily="18" charset="0"/>
              </a:rPr>
              <a:t>ReverseNumber</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a:t>
            </a:r>
            <a:r>
              <a:rPr lang="en-US" sz="1600" b="1" i="1" dirty="0" err="1">
                <a:latin typeface="Times New Roman" panose="02020603050405020304" pitchFamily="18" charset="0"/>
                <a:cs typeface="Times New Roman" panose="02020603050405020304" pitchFamily="18" charset="0"/>
              </a:rPr>
              <a:t>out</a:t>
            </a:r>
            <a:r>
              <a:rPr lang="en-US" sz="1600" b="1" dirty="0" err="1">
                <a:latin typeface="Times New Roman" panose="02020603050405020304" pitchFamily="18" charset="0"/>
                <a:cs typeface="Times New Roman" panose="02020603050405020304" pitchFamily="18" charset="0"/>
              </a:rPr>
              <a:t>.println</a:t>
            </a:r>
            <a:r>
              <a:rPr lang="en-US" sz="1600" b="1" dirty="0">
                <a:latin typeface="Times New Roman" panose="02020603050405020304" pitchFamily="18" charset="0"/>
                <a:cs typeface="Times New Roman" panose="02020603050405020304" pitchFamily="18" charset="0"/>
              </a:rPr>
              <a:t>("Enter Number:");</a:t>
            </a:r>
          </a:p>
          <a:p>
            <a:pPr marL="0" indent="0">
              <a:buNone/>
            </a:pPr>
            <a:r>
              <a:rPr lang="en-US" sz="1600" b="1" dirty="0">
                <a:latin typeface="Times New Roman" panose="02020603050405020304" pitchFamily="18" charset="0"/>
                <a:cs typeface="Times New Roman" panose="02020603050405020304" pitchFamily="18" charset="0"/>
              </a:rPr>
              <a:t>        int n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reverse = 0;</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while (n != 0)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reverse = reverse * 10 + n % 10;</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n = n / 10;</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System.out.println</a:t>
            </a:r>
            <a:r>
              <a:rPr lang="en-US" sz="1600" b="1" dirty="0">
                <a:latin typeface="Times New Roman" panose="02020603050405020304" pitchFamily="18" charset="0"/>
                <a:cs typeface="Times New Roman" panose="02020603050405020304" pitchFamily="18" charset="0"/>
              </a:rPr>
              <a:t>(reverse);</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3303127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4D283-A3FE-7A5D-5F33-15B20136B20A}"/>
              </a:ext>
            </a:extLst>
          </p:cNvPr>
          <p:cNvSpPr>
            <a:spLocks noGrp="1"/>
          </p:cNvSpPr>
          <p:nvPr>
            <p:ph type="title"/>
          </p:nvPr>
        </p:nvSpPr>
        <p:spPr>
          <a:xfrm>
            <a:off x="457200" y="274638"/>
            <a:ext cx="8229600" cy="457199"/>
          </a:xfrm>
        </p:spPr>
        <p:txBody>
          <a:bodyPr>
            <a:normAutofit fontScale="90000"/>
          </a:bodyPr>
          <a:lstStyle/>
          <a:p>
            <a:r>
              <a:rPr lang="en-US" sz="3200" b="1" dirty="0">
                <a:latin typeface="Times New Roman" panose="02020603050405020304" pitchFamily="18" charset="0"/>
                <a:cs typeface="Times New Roman" panose="02020603050405020304" pitchFamily="18" charset="0"/>
              </a:rPr>
              <a:t>ARRAYS</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4394B9-FA9B-46F3-29E2-BA845C395F88}"/>
              </a:ext>
            </a:extLst>
          </p:cNvPr>
          <p:cNvSpPr>
            <a:spLocks noGrp="1"/>
          </p:cNvSpPr>
          <p:nvPr>
            <p:ph idx="1"/>
          </p:nvPr>
        </p:nvSpPr>
        <p:spPr>
          <a:xfrm>
            <a:off x="457200" y="838200"/>
            <a:ext cx="8229600" cy="5287963"/>
          </a:xfrm>
        </p:spPr>
        <p:txBody>
          <a:bodyPr>
            <a:normAutofit fontScale="70000" lnSpcReduction="20000"/>
          </a:bodyPr>
          <a:lstStyle/>
          <a:p>
            <a:pPr algn="just"/>
            <a:r>
              <a:rPr lang="en-US" dirty="0">
                <a:latin typeface="Times New Roman" panose="02020603050405020304" pitchFamily="18" charset="0"/>
                <a:cs typeface="Times New Roman" panose="02020603050405020304" pitchFamily="18" charset="0"/>
              </a:rPr>
              <a:t>An array is a </a:t>
            </a:r>
            <a:r>
              <a:rPr lang="en-US" b="1" i="1" dirty="0">
                <a:solidFill>
                  <a:srgbClr val="FF0000"/>
                </a:solidFill>
                <a:latin typeface="Times New Roman" panose="02020603050405020304" pitchFamily="18" charset="0"/>
                <a:cs typeface="Times New Roman" panose="02020603050405020304" pitchFamily="18" charset="0"/>
              </a:rPr>
              <a:t>collection of similar data values with a single name</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 An array can also be defined as, a </a:t>
            </a:r>
            <a:r>
              <a:rPr lang="en-US" b="1" i="1" dirty="0">
                <a:latin typeface="Times New Roman" panose="02020603050405020304" pitchFamily="18" charset="0"/>
                <a:cs typeface="Times New Roman" panose="02020603050405020304" pitchFamily="18" charset="0"/>
              </a:rPr>
              <a:t>special type of variable that holds multiple values of the same data type at a time. </a:t>
            </a:r>
          </a:p>
          <a:p>
            <a:pPr algn="just"/>
            <a:r>
              <a:rPr lang="en-US" dirty="0">
                <a:latin typeface="Times New Roman" panose="02020603050405020304" pitchFamily="18" charset="0"/>
                <a:cs typeface="Times New Roman" panose="02020603050405020304" pitchFamily="18" charset="0"/>
              </a:rPr>
              <a:t>In java, </a:t>
            </a:r>
            <a:r>
              <a:rPr lang="en-US" b="1" i="1" dirty="0">
                <a:solidFill>
                  <a:srgbClr val="FF0000"/>
                </a:solidFill>
                <a:latin typeface="Times New Roman" panose="02020603050405020304" pitchFamily="18" charset="0"/>
                <a:cs typeface="Times New Roman" panose="02020603050405020304" pitchFamily="18" charset="0"/>
              </a:rPr>
              <a:t>arrays are objects and they are created dynamically using </a:t>
            </a:r>
            <a:r>
              <a:rPr lang="en-US" b="1" i="1" dirty="0">
                <a:latin typeface="Times New Roman" panose="02020603050405020304" pitchFamily="18" charset="0"/>
                <a:cs typeface="Times New Roman" panose="02020603050405020304" pitchFamily="18" charset="0"/>
              </a:rPr>
              <a:t>new</a:t>
            </a:r>
            <a:r>
              <a:rPr lang="en-US" b="1" i="1" dirty="0">
                <a:solidFill>
                  <a:srgbClr val="FF0000"/>
                </a:solidFill>
                <a:latin typeface="Times New Roman" panose="02020603050405020304" pitchFamily="18" charset="0"/>
                <a:cs typeface="Times New Roman" panose="02020603050405020304" pitchFamily="18" charset="0"/>
              </a:rPr>
              <a:t> operator</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Every array in java is organized using </a:t>
            </a:r>
            <a:r>
              <a:rPr lang="en-US" b="1" i="1" dirty="0">
                <a:latin typeface="Times New Roman" panose="02020603050405020304" pitchFamily="18" charset="0"/>
                <a:cs typeface="Times New Roman" panose="02020603050405020304" pitchFamily="18" charset="0"/>
              </a:rPr>
              <a:t>index values</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The index value of an array starts with </a:t>
            </a:r>
            <a:r>
              <a:rPr lang="en-US" b="1" i="1" dirty="0">
                <a:latin typeface="Times New Roman" panose="02020603050405020304" pitchFamily="18" charset="0"/>
                <a:cs typeface="Times New Roman" panose="02020603050405020304" pitchFamily="18" charset="0"/>
              </a:rPr>
              <a:t>'0' and ends with ‘size -1</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We use the index value to access individual elements of an array. </a:t>
            </a:r>
          </a:p>
          <a:p>
            <a:pPr marL="0" indent="0" algn="just">
              <a:buNone/>
            </a:pPr>
            <a:endParaRPr lang="en-US" b="1" dirty="0">
              <a:latin typeface="Times New Roman" panose="02020603050405020304" pitchFamily="18" charset="0"/>
              <a:cs typeface="Times New Roman" panose="02020603050405020304" pitchFamily="18" charset="0"/>
            </a:endParaRPr>
          </a:p>
          <a:p>
            <a:pPr marL="0" indent="0" algn="just">
              <a:buNone/>
            </a:pPr>
            <a:r>
              <a:rPr lang="en-US" b="1" dirty="0">
                <a:latin typeface="Times New Roman" panose="02020603050405020304" pitchFamily="18" charset="0"/>
                <a:cs typeface="Times New Roman" panose="02020603050405020304" pitchFamily="18" charset="0"/>
              </a:rPr>
              <a:t>In java, there are two types of arrays and they are as follows.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One Dimensional Array </a:t>
            </a:r>
          </a:p>
          <a:p>
            <a:pPr algn="just"/>
            <a:r>
              <a:rPr lang="en-US" dirty="0">
                <a:latin typeface="Times New Roman" panose="02020603050405020304" pitchFamily="18" charset="0"/>
                <a:cs typeface="Times New Roman" panose="02020603050405020304" pitchFamily="18" charset="0"/>
              </a:rPr>
              <a:t>Multi Dimensional Array </a:t>
            </a:r>
          </a:p>
        </p:txBody>
      </p:sp>
    </p:spTree>
    <p:extLst>
      <p:ext uri="{BB962C8B-B14F-4D97-AF65-F5344CB8AC3E}">
        <p14:creationId xmlns:p14="http://schemas.microsoft.com/office/powerpoint/2010/main" val="23270670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218C1B-EDCD-C3AD-F993-D0E3A13861A3}"/>
              </a:ext>
            </a:extLst>
          </p:cNvPr>
          <p:cNvSpPr>
            <a:spLocks noGrp="1"/>
          </p:cNvSpPr>
          <p:nvPr>
            <p:ph idx="1"/>
          </p:nvPr>
        </p:nvSpPr>
        <p:spPr>
          <a:xfrm>
            <a:off x="457200" y="304800"/>
            <a:ext cx="8229600" cy="5821363"/>
          </a:xfrm>
        </p:spPr>
        <p:txBody>
          <a:bodyPr>
            <a:normAutofit fontScale="92500"/>
          </a:bodyPr>
          <a:lstStyle/>
          <a:p>
            <a:pPr marL="0" indent="0" algn="just">
              <a:buNone/>
            </a:pPr>
            <a:r>
              <a:rPr lang="en-US" b="1" dirty="0"/>
              <a:t>One Dimensional Array </a:t>
            </a:r>
            <a:endParaRPr lang="en-US" dirty="0"/>
          </a:p>
          <a:p>
            <a:pPr algn="just"/>
            <a:r>
              <a:rPr lang="en-US" dirty="0"/>
              <a:t>In the java programming language, an </a:t>
            </a:r>
            <a:r>
              <a:rPr lang="en-US" b="1" i="1" dirty="0">
                <a:solidFill>
                  <a:srgbClr val="FF0000"/>
                </a:solidFill>
              </a:rPr>
              <a:t>array must be created using new operator</a:t>
            </a:r>
            <a:r>
              <a:rPr lang="en-US" dirty="0"/>
              <a:t> and with a specific size.</a:t>
            </a:r>
          </a:p>
          <a:p>
            <a:pPr algn="just"/>
            <a:r>
              <a:rPr lang="en-US" dirty="0"/>
              <a:t> The size </a:t>
            </a:r>
            <a:r>
              <a:rPr lang="en-US" i="1" dirty="0">
                <a:solidFill>
                  <a:srgbClr val="FF0000"/>
                </a:solidFill>
              </a:rPr>
              <a:t>must be an integer value </a:t>
            </a:r>
            <a:r>
              <a:rPr lang="en-US" dirty="0"/>
              <a:t>but not a byte, short, or long. We use the following syntax to create an array. </a:t>
            </a:r>
          </a:p>
          <a:p>
            <a:pPr marL="0" indent="0" algn="just">
              <a:buNone/>
            </a:pPr>
            <a:r>
              <a:rPr lang="en-US" b="1" dirty="0">
                <a:solidFill>
                  <a:srgbClr val="FF0000"/>
                </a:solidFill>
              </a:rPr>
              <a:t>Syntax </a:t>
            </a:r>
            <a:endParaRPr lang="en-US" dirty="0">
              <a:solidFill>
                <a:srgbClr val="FF0000"/>
              </a:solidFill>
            </a:endParaRPr>
          </a:p>
          <a:p>
            <a:pPr algn="just"/>
            <a:r>
              <a:rPr lang="en-US" dirty="0" err="1"/>
              <a:t>data_type</a:t>
            </a:r>
            <a:r>
              <a:rPr lang="en-US" dirty="0"/>
              <a:t> </a:t>
            </a:r>
            <a:r>
              <a:rPr lang="en-US" dirty="0" err="1"/>
              <a:t>array_name</a:t>
            </a:r>
            <a:r>
              <a:rPr lang="en-US" dirty="0"/>
              <a:t>[ ] = new </a:t>
            </a:r>
            <a:r>
              <a:rPr lang="en-US" dirty="0" err="1"/>
              <a:t>data_type</a:t>
            </a:r>
            <a:r>
              <a:rPr lang="en-US" dirty="0"/>
              <a:t>[size]; </a:t>
            </a:r>
          </a:p>
          <a:p>
            <a:pPr marL="0" indent="0" algn="ctr">
              <a:buNone/>
            </a:pPr>
            <a:r>
              <a:rPr lang="en-US" b="1" dirty="0"/>
              <a:t>(or)</a:t>
            </a:r>
            <a:r>
              <a:rPr lang="en-US" dirty="0"/>
              <a:t> </a:t>
            </a:r>
          </a:p>
          <a:p>
            <a:pPr algn="just"/>
            <a:r>
              <a:rPr lang="en-US" dirty="0" err="1"/>
              <a:t>data_type</a:t>
            </a:r>
            <a:r>
              <a:rPr lang="en-US" dirty="0"/>
              <a:t>[ ] </a:t>
            </a:r>
            <a:r>
              <a:rPr lang="en-US" dirty="0" err="1"/>
              <a:t>array_name</a:t>
            </a:r>
            <a:r>
              <a:rPr lang="en-US" dirty="0"/>
              <a:t> = new </a:t>
            </a:r>
            <a:r>
              <a:rPr lang="en-US" dirty="0" err="1"/>
              <a:t>data_type</a:t>
            </a:r>
            <a:r>
              <a:rPr lang="en-US" dirty="0"/>
              <a:t>[size];</a:t>
            </a:r>
          </a:p>
        </p:txBody>
      </p:sp>
    </p:spTree>
    <p:extLst>
      <p:ext uri="{BB962C8B-B14F-4D97-AF65-F5344CB8AC3E}">
        <p14:creationId xmlns:p14="http://schemas.microsoft.com/office/powerpoint/2010/main" val="173212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2EDF7C-61EE-D7E1-E9C5-C8C7D085937A}"/>
              </a:ext>
            </a:extLst>
          </p:cNvPr>
          <p:cNvSpPr>
            <a:spLocks noGrp="1"/>
          </p:cNvSpPr>
          <p:nvPr>
            <p:ph idx="1"/>
          </p:nvPr>
        </p:nvSpPr>
        <p:spPr>
          <a:xfrm>
            <a:off x="457200" y="228600"/>
            <a:ext cx="8534400" cy="5897563"/>
          </a:xfrm>
        </p:spPr>
        <p:txBody>
          <a:bodyPr>
            <a:normAutofit/>
          </a:bodyPr>
          <a:lstStyle/>
          <a:p>
            <a:pPr algn="just"/>
            <a:r>
              <a:rPr lang="en-US" dirty="0">
                <a:latin typeface="Times New Roman" panose="02020603050405020304" pitchFamily="18" charset="0"/>
                <a:cs typeface="Times New Roman" panose="02020603050405020304" pitchFamily="18" charset="0"/>
              </a:rPr>
              <a:t>In java, </a:t>
            </a:r>
            <a:r>
              <a:rPr lang="en-US" b="1" i="1" dirty="0">
                <a:latin typeface="Times New Roman" panose="02020603050405020304" pitchFamily="18" charset="0"/>
                <a:cs typeface="Times New Roman" panose="02020603050405020304" pitchFamily="18" charset="0"/>
              </a:rPr>
              <a:t>an array can also be initialized at the time of its declaration. </a:t>
            </a:r>
          </a:p>
          <a:p>
            <a:pPr algn="just"/>
            <a:r>
              <a:rPr lang="en-US" i="1" dirty="0">
                <a:latin typeface="Times New Roman" panose="02020603050405020304" pitchFamily="18" charset="0"/>
                <a:cs typeface="Times New Roman" panose="02020603050405020304" pitchFamily="18" charset="0"/>
              </a:rPr>
              <a:t>When an array is initialized at the time of its declaration, </a:t>
            </a:r>
            <a:r>
              <a:rPr lang="en-US" sz="2800" b="1" i="1" dirty="0">
                <a:solidFill>
                  <a:srgbClr val="FF0000"/>
                </a:solidFill>
                <a:latin typeface="Times New Roman" panose="02020603050405020304" pitchFamily="18" charset="0"/>
                <a:cs typeface="Times New Roman" panose="02020603050405020304" pitchFamily="18" charset="0"/>
              </a:rPr>
              <a:t>it need not specify the size of the array and use of the new operator. </a:t>
            </a:r>
          </a:p>
          <a:p>
            <a:pPr algn="just"/>
            <a:r>
              <a:rPr lang="en-US" i="1" dirty="0">
                <a:latin typeface="Times New Roman" panose="02020603050405020304" pitchFamily="18" charset="0"/>
                <a:cs typeface="Times New Roman" panose="02020603050405020304" pitchFamily="18" charset="0"/>
              </a:rPr>
              <a:t>Here.., </a:t>
            </a:r>
            <a:r>
              <a:rPr lang="en-US" sz="2800" b="1" i="1" dirty="0">
                <a:latin typeface="Times New Roman" panose="02020603050405020304" pitchFamily="18" charset="0"/>
                <a:cs typeface="Times New Roman" panose="02020603050405020304" pitchFamily="18" charset="0"/>
              </a:rPr>
              <a:t>the size is automatically decided based on the number of values that are initialized. </a:t>
            </a:r>
          </a:p>
          <a:p>
            <a:pPr marL="0" indent="0" algn="just">
              <a:buNone/>
            </a:pPr>
            <a:r>
              <a:rPr lang="en-US" b="1" dirty="0">
                <a:latin typeface="Times New Roman" panose="02020603050405020304" pitchFamily="18" charset="0"/>
                <a:cs typeface="Times New Roman" panose="02020603050405020304" pitchFamily="18" charset="0"/>
              </a:rPr>
              <a:t>Example </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int list[ ] = {10, 20, 30, 40, 50}; </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54360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6509D3-4F32-24D2-9B56-58FFCBA39BAF}"/>
              </a:ext>
            </a:extLst>
          </p:cNvPr>
          <p:cNvSpPr>
            <a:spLocks noGrp="1"/>
          </p:cNvSpPr>
          <p:nvPr>
            <p:ph idx="1"/>
          </p:nvPr>
        </p:nvSpPr>
        <p:spPr>
          <a:xfrm>
            <a:off x="457200" y="152400"/>
            <a:ext cx="8229600" cy="5973763"/>
          </a:xfrm>
        </p:spPr>
        <p:txBody>
          <a:bodyPr>
            <a:normAutofit fontScale="77500" lnSpcReduction="20000"/>
          </a:bodyPr>
          <a:lstStyle/>
          <a:p>
            <a:pPr marL="0" indent="0">
              <a:buNone/>
            </a:pPr>
            <a:r>
              <a:rPr lang="en-US" b="1" dirty="0"/>
              <a:t>Example </a:t>
            </a:r>
            <a:endParaRPr lang="en-US" dirty="0"/>
          </a:p>
          <a:p>
            <a:pPr marL="0" indent="0">
              <a:buNone/>
            </a:pPr>
            <a:r>
              <a:rPr lang="en-US" dirty="0"/>
              <a:t>class </a:t>
            </a:r>
            <a:r>
              <a:rPr lang="en-US" dirty="0" err="1"/>
              <a:t>Onedarray</a:t>
            </a:r>
            <a:r>
              <a:rPr lang="en-US" dirty="0"/>
              <a:t> </a:t>
            </a:r>
          </a:p>
          <a:p>
            <a:pPr marL="0" indent="0">
              <a:buNone/>
            </a:pPr>
            <a:r>
              <a:rPr lang="en-US" dirty="0"/>
              <a:t>{ </a:t>
            </a:r>
          </a:p>
          <a:p>
            <a:pPr marL="0" indent="0">
              <a:buNone/>
            </a:pPr>
            <a:r>
              <a:rPr lang="en-US" dirty="0"/>
              <a:t>public static void main(String </a:t>
            </a:r>
            <a:r>
              <a:rPr lang="en-US" dirty="0" err="1"/>
              <a:t>args</a:t>
            </a:r>
            <a:r>
              <a:rPr lang="en-US" dirty="0"/>
              <a:t>[]) </a:t>
            </a:r>
          </a:p>
          <a:p>
            <a:pPr marL="0" indent="0">
              <a:buNone/>
            </a:pPr>
            <a:r>
              <a:rPr lang="en-US" dirty="0"/>
              <a:t>{ </a:t>
            </a:r>
          </a:p>
          <a:p>
            <a:pPr marL="0" indent="0">
              <a:buNone/>
            </a:pPr>
            <a:r>
              <a:rPr lang="en-US" dirty="0"/>
              <a:t>Int a[]= new int [5]; </a:t>
            </a:r>
          </a:p>
          <a:p>
            <a:pPr marL="0" indent="0">
              <a:buNone/>
            </a:pPr>
            <a:r>
              <a:rPr lang="en-US" dirty="0"/>
              <a:t>a[0]=10; </a:t>
            </a:r>
          </a:p>
          <a:p>
            <a:pPr marL="0" indent="0">
              <a:buNone/>
            </a:pPr>
            <a:r>
              <a:rPr lang="en-US" dirty="0"/>
              <a:t>a[1]=20; </a:t>
            </a:r>
          </a:p>
          <a:p>
            <a:pPr marL="0" indent="0">
              <a:buNone/>
            </a:pPr>
            <a:r>
              <a:rPr lang="en-US" dirty="0"/>
              <a:t>a[2]=70; </a:t>
            </a:r>
          </a:p>
          <a:p>
            <a:pPr marL="0" indent="0">
              <a:buNone/>
            </a:pPr>
            <a:r>
              <a:rPr lang="en-US" dirty="0"/>
              <a:t>a[3]=40; </a:t>
            </a:r>
          </a:p>
          <a:p>
            <a:pPr marL="0" indent="0">
              <a:buNone/>
            </a:pPr>
            <a:r>
              <a:rPr lang="en-US" dirty="0"/>
              <a:t>a[4]=50; </a:t>
            </a:r>
          </a:p>
          <a:p>
            <a:pPr marL="0" indent="0">
              <a:buNone/>
            </a:pPr>
            <a:r>
              <a:rPr lang="en-US" dirty="0"/>
              <a:t>for(int </a:t>
            </a:r>
            <a:r>
              <a:rPr lang="en-US" dirty="0" err="1"/>
              <a:t>i</a:t>
            </a:r>
            <a:r>
              <a:rPr lang="en-US" dirty="0"/>
              <a:t>=0;i&lt;5;i++) </a:t>
            </a:r>
          </a:p>
          <a:p>
            <a:pPr marL="0" indent="0">
              <a:buNone/>
            </a:pPr>
            <a:r>
              <a:rPr lang="en-US" dirty="0" err="1"/>
              <a:t>System.out.println</a:t>
            </a:r>
            <a:r>
              <a:rPr lang="en-US" dirty="0"/>
              <a:t>(a[</a:t>
            </a:r>
            <a:r>
              <a:rPr lang="en-US" dirty="0" err="1"/>
              <a:t>i</a:t>
            </a:r>
            <a:r>
              <a:rPr lang="en-US" dirty="0"/>
              <a:t>]); </a:t>
            </a:r>
          </a:p>
          <a:p>
            <a:pPr marL="0" indent="0">
              <a:buNone/>
            </a:pPr>
            <a:r>
              <a:rPr lang="en-US" dirty="0"/>
              <a:t>} </a:t>
            </a:r>
          </a:p>
          <a:p>
            <a:pPr marL="0" indent="0">
              <a:buNone/>
            </a:pPr>
            <a:r>
              <a:rPr lang="en-US" dirty="0"/>
              <a:t>} </a:t>
            </a:r>
          </a:p>
        </p:txBody>
      </p:sp>
    </p:spTree>
    <p:extLst>
      <p:ext uri="{BB962C8B-B14F-4D97-AF65-F5344CB8AC3E}">
        <p14:creationId xmlns:p14="http://schemas.microsoft.com/office/powerpoint/2010/main" val="36956593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678F9-598C-EBE1-5DE9-FC42516F3479}"/>
              </a:ext>
            </a:extLst>
          </p:cNvPr>
          <p:cNvSpPr>
            <a:spLocks noGrp="1"/>
          </p:cNvSpPr>
          <p:nvPr>
            <p:ph type="title"/>
          </p:nvPr>
        </p:nvSpPr>
        <p:spPr>
          <a:xfrm>
            <a:off x="457200" y="274638"/>
            <a:ext cx="8229600" cy="715962"/>
          </a:xfrm>
        </p:spPr>
        <p:txBody>
          <a:bodyPr>
            <a:noAutofit/>
          </a:bodyPr>
          <a:lstStyle/>
          <a:p>
            <a:r>
              <a:rPr lang="en-US" sz="2800" b="1" dirty="0">
                <a:latin typeface="Times New Roman" panose="02020603050405020304" pitchFamily="18" charset="0"/>
                <a:cs typeface="Times New Roman" panose="02020603050405020304" pitchFamily="18" charset="0"/>
              </a:rPr>
              <a:t>Multidimensional Array </a:t>
            </a:r>
            <a:endParaRPr lang="en-US" sz="28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8BB5A36-B5F5-4337-08DE-D1C0E8EEFE98}"/>
              </a:ext>
            </a:extLst>
          </p:cNvPr>
          <p:cNvSpPr>
            <a:spLocks noGrp="1"/>
          </p:cNvSpPr>
          <p:nvPr>
            <p:ph idx="1"/>
          </p:nvPr>
        </p:nvSpPr>
        <p:spPr>
          <a:xfrm>
            <a:off x="457200" y="838200"/>
            <a:ext cx="8229600" cy="5287963"/>
          </a:xfrm>
        </p:spPr>
        <p:txBody>
          <a:bodyPr>
            <a:normAutofit fontScale="70000" lnSpcReduction="20000"/>
          </a:bodyPr>
          <a:lstStyle/>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java, </a:t>
            </a:r>
            <a:r>
              <a:rPr lang="en-US" b="1" i="1" dirty="0">
                <a:latin typeface="Times New Roman" panose="02020603050405020304" pitchFamily="18" charset="0"/>
                <a:cs typeface="Times New Roman" panose="02020603050405020304" pitchFamily="18" charset="0"/>
              </a:rPr>
              <a:t>we can create an array with multiple dimensions</a:t>
            </a:r>
            <a:r>
              <a:rPr lang="en-US" dirty="0">
                <a:latin typeface="Times New Roman" panose="02020603050405020304" pitchFamily="18" charset="0"/>
                <a:cs typeface="Times New Roman" panose="02020603050405020304" pitchFamily="18" charset="0"/>
              </a:rPr>
              <a:t>. We can create 2-dimensional, 3-dimensional, or any dimensional array. </a:t>
            </a:r>
          </a:p>
          <a:p>
            <a:pPr algn="just"/>
            <a:r>
              <a:rPr lang="en-US" dirty="0">
                <a:latin typeface="Times New Roman" panose="02020603050405020304" pitchFamily="18" charset="0"/>
                <a:cs typeface="Times New Roman" panose="02020603050405020304" pitchFamily="18" charset="0"/>
              </a:rPr>
              <a:t>In Java</a:t>
            </a:r>
            <a:r>
              <a:rPr lang="en-US" b="1" i="1" dirty="0">
                <a:solidFill>
                  <a:srgbClr val="FF0000"/>
                </a:solidFill>
                <a:latin typeface="Times New Roman" panose="02020603050405020304" pitchFamily="18" charset="0"/>
                <a:cs typeface="Times New Roman" panose="02020603050405020304" pitchFamily="18" charset="0"/>
              </a:rPr>
              <a:t>, multidimensional arrays are arrays of arrays</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To create a multidimensional array variable, </a:t>
            </a:r>
            <a:r>
              <a:rPr lang="en-US" b="1" i="1" dirty="0">
                <a:latin typeface="Times New Roman" panose="02020603050405020304" pitchFamily="18" charset="0"/>
                <a:cs typeface="Times New Roman" panose="02020603050405020304" pitchFamily="18" charset="0"/>
              </a:rPr>
              <a:t>specify each additional index using another set of square brackets. </a:t>
            </a:r>
          </a:p>
          <a:p>
            <a:pPr marL="0" indent="0" algn="just">
              <a:buNone/>
            </a:pPr>
            <a:r>
              <a:rPr lang="en-US" b="1" dirty="0">
                <a:latin typeface="Times New Roman" panose="02020603050405020304" pitchFamily="18" charset="0"/>
                <a:cs typeface="Times New Roman" panose="02020603050405020304" pitchFamily="18" charset="0"/>
              </a:rPr>
              <a:t>Syntax </a:t>
            </a:r>
            <a:endParaRPr lang="en-US" dirty="0">
              <a:latin typeface="Times New Roman" panose="02020603050405020304" pitchFamily="18" charset="0"/>
              <a:cs typeface="Times New Roman" panose="02020603050405020304" pitchFamily="18" charset="0"/>
            </a:endParaRPr>
          </a:p>
          <a:p>
            <a:pPr marL="0" indent="0" algn="ctr">
              <a:buNone/>
            </a:pP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array_name</a:t>
            </a:r>
            <a:r>
              <a:rPr lang="en-US" dirty="0">
                <a:solidFill>
                  <a:srgbClr val="FF0000"/>
                </a:solidFill>
                <a:latin typeface="Times New Roman" panose="02020603050405020304" pitchFamily="18" charset="0"/>
                <a:cs typeface="Times New Roman" panose="02020603050405020304" pitchFamily="18" charset="0"/>
              </a:rPr>
              <a:t>[ ][ ] = new </a:t>
            </a: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[rows][columns]; </a:t>
            </a:r>
          </a:p>
          <a:p>
            <a:pPr marL="0" indent="0" algn="ctr">
              <a:buNone/>
            </a:pPr>
            <a:r>
              <a:rPr lang="en-US" b="1" dirty="0">
                <a:latin typeface="Times New Roman" panose="02020603050405020304" pitchFamily="18" charset="0"/>
                <a:cs typeface="Times New Roman" panose="02020603050405020304" pitchFamily="18" charset="0"/>
              </a:rPr>
              <a:t>(or) </a:t>
            </a:r>
          </a:p>
          <a:p>
            <a:pPr marL="0" indent="0" algn="ctr">
              <a:buNone/>
            </a:pP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 [ ][ ]</a:t>
            </a:r>
            <a:r>
              <a:rPr lang="en-US" dirty="0" err="1">
                <a:solidFill>
                  <a:srgbClr val="FF0000"/>
                </a:solidFill>
                <a:latin typeface="Times New Roman" panose="02020603050405020304" pitchFamily="18" charset="0"/>
                <a:cs typeface="Times New Roman" panose="02020603050405020304" pitchFamily="18" charset="0"/>
              </a:rPr>
              <a:t>array_name</a:t>
            </a:r>
            <a:r>
              <a:rPr lang="en-US" dirty="0">
                <a:solidFill>
                  <a:srgbClr val="FF0000"/>
                </a:solidFill>
                <a:latin typeface="Times New Roman" panose="02020603050405020304" pitchFamily="18" charset="0"/>
                <a:cs typeface="Times New Roman" panose="02020603050405020304" pitchFamily="18" charset="0"/>
              </a:rPr>
              <a:t> = new </a:t>
            </a: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[rows][columns]; </a:t>
            </a:r>
          </a:p>
          <a:p>
            <a:pPr marL="0" indent="0" algn="ctr">
              <a:buNone/>
            </a:pPr>
            <a:endParaRPr lang="en-US" dirty="0">
              <a:solidFill>
                <a:srgbClr val="FF0000"/>
              </a:solidFill>
              <a:latin typeface="Times New Roman" panose="02020603050405020304" pitchFamily="18" charset="0"/>
              <a:cs typeface="Times New Roman" panose="02020603050405020304" pitchFamily="18" charset="0"/>
            </a:endParaRPr>
          </a:p>
          <a:p>
            <a:pPr algn="just"/>
            <a:r>
              <a:rPr lang="en-US" i="1" dirty="0">
                <a:latin typeface="Times New Roman" panose="02020603050405020304" pitchFamily="18" charset="0"/>
                <a:cs typeface="Times New Roman" panose="02020603050405020304" pitchFamily="18" charset="0"/>
              </a:rPr>
              <a:t>When an array is initialized at the time of declaration, </a:t>
            </a:r>
            <a:r>
              <a:rPr lang="en-US" b="1" i="1" dirty="0">
                <a:solidFill>
                  <a:srgbClr val="FF0000"/>
                </a:solidFill>
                <a:latin typeface="Times New Roman" panose="02020603050405020304" pitchFamily="18" charset="0"/>
                <a:cs typeface="Times New Roman" panose="02020603050405020304" pitchFamily="18" charset="0"/>
              </a:rPr>
              <a:t>it need not specify the size of the array and use of the new operator. </a:t>
            </a:r>
          </a:p>
          <a:p>
            <a:pPr algn="just"/>
            <a:r>
              <a:rPr lang="en-US" i="1" dirty="0">
                <a:latin typeface="Times New Roman" panose="02020603050405020304" pitchFamily="18" charset="0"/>
                <a:cs typeface="Times New Roman" panose="02020603050405020304" pitchFamily="18" charset="0"/>
              </a:rPr>
              <a:t>Here, </a:t>
            </a:r>
            <a:r>
              <a:rPr lang="en-US" b="1" i="1" dirty="0">
                <a:latin typeface="Times New Roman" panose="02020603050405020304" pitchFamily="18" charset="0"/>
                <a:cs typeface="Times New Roman" panose="02020603050405020304" pitchFamily="18" charset="0"/>
              </a:rPr>
              <a:t>the size is automatically decided based on the number of values that are initialized</a:t>
            </a:r>
            <a:r>
              <a:rPr lang="en-US" i="1"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82008302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425E23-FC27-8642-57FF-6659DC3869FA}"/>
              </a:ext>
            </a:extLst>
          </p:cNvPr>
          <p:cNvSpPr>
            <a:spLocks noGrp="1"/>
          </p:cNvSpPr>
          <p:nvPr>
            <p:ph idx="1"/>
          </p:nvPr>
        </p:nvSpPr>
        <p:spPr>
          <a:xfrm>
            <a:off x="457200" y="228600"/>
            <a:ext cx="8229600" cy="5897563"/>
          </a:xfrm>
        </p:spPr>
        <p:txBody>
          <a:bodyPr>
            <a:normAutofit fontScale="70000" lnSpcReduction="20000"/>
          </a:bodyPr>
          <a:lstStyle/>
          <a:p>
            <a:pPr marL="0" indent="0" algn="ctr">
              <a:buNone/>
            </a:pPr>
            <a:r>
              <a:rPr lang="en-US" b="1" dirty="0">
                <a:latin typeface="Times New Roman" panose="02020603050405020304" pitchFamily="18" charset="0"/>
                <a:cs typeface="Times New Roman" panose="02020603050405020304" pitchFamily="18" charset="0"/>
              </a:rPr>
              <a:t>Example </a:t>
            </a:r>
          </a:p>
          <a:p>
            <a:pPr marL="0" indent="0">
              <a:lnSpc>
                <a:spcPct val="120000"/>
              </a:lnSpc>
              <a:spcBef>
                <a:spcPts val="0"/>
              </a:spcBef>
              <a:buNone/>
            </a:pPr>
            <a:br>
              <a:rPr lang="en-US"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class</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Twodarray</a:t>
            </a: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arr</a:t>
            </a:r>
            <a:r>
              <a:rPr lang="en-US" dirty="0">
                <a:latin typeface="Times New Roman" panose="02020603050405020304" pitchFamily="18" charset="0"/>
                <a:cs typeface="Times New Roman" panose="02020603050405020304" pitchFamily="18" charset="0"/>
              </a:rPr>
              <a:t>[][] = {{1,2,3},{4,5,6},{7,8,9}};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for</a:t>
            </a:r>
            <a:r>
              <a:rPr lang="en-US" dirty="0">
                <a:latin typeface="Times New Roman" panose="02020603050405020304" pitchFamily="18" charset="0"/>
                <a:cs typeface="Times New Roman" panose="02020603050405020304" pitchFamily="18" charset="0"/>
              </a:rPr>
              <a:t>(</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=0;i&lt;3;i++)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for</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j=0;j&lt;3;j++)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arr</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][j]+" ");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2451744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4E49F-98D7-E160-4A54-6853E6C93D6C}"/>
              </a:ext>
            </a:extLst>
          </p:cNvPr>
          <p:cNvSpPr>
            <a:spLocks noGrp="1"/>
          </p:cNvSpPr>
          <p:nvPr>
            <p:ph type="title"/>
          </p:nvPr>
        </p:nvSpPr>
        <p:spPr>
          <a:xfrm>
            <a:off x="457200" y="274638"/>
            <a:ext cx="8229600" cy="457199"/>
          </a:xfrm>
        </p:spPr>
        <p:txBody>
          <a:bodyPr>
            <a:normAutofit fontScale="90000"/>
          </a:bodyPr>
          <a:lstStyle/>
          <a:p>
            <a:r>
              <a:rPr lang="en-US" sz="2800" b="1" dirty="0">
                <a:solidFill>
                  <a:srgbClr val="FF0000"/>
                </a:solidFill>
                <a:latin typeface="Times New Roman" panose="02020603050405020304" pitchFamily="18" charset="0"/>
                <a:cs typeface="Times New Roman" panose="02020603050405020304" pitchFamily="18" charset="0"/>
              </a:rPr>
              <a:t>OPERATORS </a:t>
            </a:r>
            <a:endParaRPr lang="en-US" sz="2800"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68C896B-D81A-EE49-17B9-8CD2E0B56BCE}"/>
              </a:ext>
            </a:extLst>
          </p:cNvPr>
          <p:cNvSpPr>
            <a:spLocks noGrp="1"/>
          </p:cNvSpPr>
          <p:nvPr>
            <p:ph idx="1"/>
          </p:nvPr>
        </p:nvSpPr>
        <p:spPr>
          <a:xfrm>
            <a:off x="457200" y="731838"/>
            <a:ext cx="8229600" cy="5394326"/>
          </a:xfrm>
        </p:spPr>
        <p:txBody>
          <a:bodyPr>
            <a:normAutofit fontScale="85000" lnSpcReduction="20000"/>
          </a:bodyPr>
          <a:lstStyle/>
          <a:p>
            <a:pPr algn="just"/>
            <a:r>
              <a:rPr lang="en-US" dirty="0">
                <a:latin typeface="Times New Roman" panose="02020603050405020304" pitchFamily="18" charset="0"/>
                <a:cs typeface="Times New Roman" panose="02020603050405020304" pitchFamily="18" charset="0"/>
              </a:rPr>
              <a:t>An </a:t>
            </a:r>
            <a:r>
              <a:rPr lang="en-US" b="1" dirty="0">
                <a:solidFill>
                  <a:srgbClr val="FF0000"/>
                </a:solidFill>
                <a:latin typeface="Times New Roman" panose="02020603050405020304" pitchFamily="18" charset="0"/>
                <a:cs typeface="Times New Roman" panose="02020603050405020304" pitchFamily="18" charset="0"/>
              </a:rPr>
              <a:t>operator is a symbol </a:t>
            </a:r>
            <a:r>
              <a:rPr lang="en-US" dirty="0">
                <a:latin typeface="Times New Roman" panose="02020603050405020304" pitchFamily="18" charset="0"/>
                <a:cs typeface="Times New Roman" panose="02020603050405020304" pitchFamily="18" charset="0"/>
              </a:rPr>
              <a:t>that performs an </a:t>
            </a:r>
            <a:r>
              <a:rPr lang="en-US" i="1" dirty="0">
                <a:solidFill>
                  <a:srgbClr val="FF0000"/>
                </a:solidFill>
                <a:latin typeface="Times New Roman" panose="02020603050405020304" pitchFamily="18" charset="0"/>
                <a:cs typeface="Times New Roman" panose="02020603050405020304" pitchFamily="18" charset="0"/>
              </a:rPr>
              <a:t>operation</a:t>
            </a:r>
            <a:r>
              <a:rPr lang="en-US" dirty="0">
                <a:latin typeface="Times New Roman" panose="02020603050405020304" pitchFamily="18" charset="0"/>
                <a:cs typeface="Times New Roman" panose="02020603050405020304" pitchFamily="18" charset="0"/>
              </a:rPr>
              <a:t>. An operator acts on some variables called operands to get the desired result. </a:t>
            </a:r>
          </a:p>
          <a:p>
            <a:pPr marL="0" indent="0" algn="just">
              <a:buNone/>
            </a:pPr>
            <a:r>
              <a:rPr lang="en-US" b="1" dirty="0">
                <a:latin typeface="Times New Roman" panose="02020603050405020304" pitchFamily="18" charset="0"/>
                <a:cs typeface="Times New Roman" panose="02020603050405020304" pitchFamily="18" charset="0"/>
              </a:rPr>
              <a:t>Example: </a:t>
            </a:r>
            <a:r>
              <a:rPr lang="en-US" dirty="0">
                <a:latin typeface="Times New Roman" panose="02020603050405020304" pitchFamily="18" charset="0"/>
                <a:cs typeface="Times New Roman" panose="02020603050405020304" pitchFamily="18" charset="0"/>
              </a:rPr>
              <a:t>a + b </a:t>
            </a:r>
          </a:p>
          <a:p>
            <a:pPr marL="0" indent="0" algn="just">
              <a:buNone/>
            </a:pPr>
            <a:r>
              <a:rPr lang="en-US" dirty="0">
                <a:latin typeface="Times New Roman" panose="02020603050405020304" pitchFamily="18" charset="0"/>
                <a:cs typeface="Times New Roman" panose="02020603050405020304" pitchFamily="18" charset="0"/>
              </a:rPr>
              <a:t>	Here a, b are operands and + is operator. </a:t>
            </a:r>
          </a:p>
          <a:p>
            <a:pPr marL="0" indent="0" algn="just">
              <a:buNone/>
            </a:pPr>
            <a:r>
              <a:rPr lang="en-US" b="1" dirty="0">
                <a:latin typeface="Times New Roman" panose="02020603050405020304" pitchFamily="18" charset="0"/>
                <a:cs typeface="Times New Roman" panose="02020603050405020304" pitchFamily="18" charset="0"/>
              </a:rPr>
              <a:t>Types of Operators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1. Arithmetic operators </a:t>
            </a:r>
          </a:p>
          <a:p>
            <a:pPr algn="just"/>
            <a:r>
              <a:rPr lang="en-US" dirty="0">
                <a:latin typeface="Times New Roman" panose="02020603050405020304" pitchFamily="18" charset="0"/>
                <a:cs typeface="Times New Roman" panose="02020603050405020304" pitchFamily="18" charset="0"/>
              </a:rPr>
              <a:t>2. Relational operators </a:t>
            </a:r>
          </a:p>
          <a:p>
            <a:pPr algn="just"/>
            <a:r>
              <a:rPr lang="en-US" dirty="0">
                <a:latin typeface="Times New Roman" panose="02020603050405020304" pitchFamily="18" charset="0"/>
                <a:cs typeface="Times New Roman" panose="02020603050405020304" pitchFamily="18" charset="0"/>
              </a:rPr>
              <a:t>3. Logical operators </a:t>
            </a:r>
          </a:p>
          <a:p>
            <a:pPr algn="just"/>
            <a:r>
              <a:rPr lang="en-US" dirty="0">
                <a:latin typeface="Times New Roman" panose="02020603050405020304" pitchFamily="18" charset="0"/>
                <a:cs typeface="Times New Roman" panose="02020603050405020304" pitchFamily="18" charset="0"/>
              </a:rPr>
              <a:t>4. Assignment operators </a:t>
            </a:r>
          </a:p>
          <a:p>
            <a:pPr algn="just"/>
            <a:r>
              <a:rPr lang="en-US" dirty="0">
                <a:latin typeface="Times New Roman" panose="02020603050405020304" pitchFamily="18" charset="0"/>
                <a:cs typeface="Times New Roman" panose="02020603050405020304" pitchFamily="18" charset="0"/>
              </a:rPr>
              <a:t>5. Increment or Decrement operators </a:t>
            </a:r>
          </a:p>
          <a:p>
            <a:pPr algn="just"/>
            <a:r>
              <a:rPr lang="en-US" dirty="0">
                <a:latin typeface="Times New Roman" panose="02020603050405020304" pitchFamily="18" charset="0"/>
                <a:cs typeface="Times New Roman" panose="02020603050405020304" pitchFamily="18" charset="0"/>
              </a:rPr>
              <a:t>6. Conditional operator </a:t>
            </a:r>
          </a:p>
          <a:p>
            <a:pPr algn="just"/>
            <a:r>
              <a:rPr lang="en-US" dirty="0">
                <a:latin typeface="Times New Roman" panose="02020603050405020304" pitchFamily="18" charset="0"/>
                <a:cs typeface="Times New Roman" panose="02020603050405020304" pitchFamily="18" charset="0"/>
              </a:rPr>
              <a:t>7. Bit wise operators </a:t>
            </a:r>
          </a:p>
        </p:txBody>
      </p:sp>
    </p:spTree>
    <p:extLst>
      <p:ext uri="{BB962C8B-B14F-4D97-AF65-F5344CB8AC3E}">
        <p14:creationId xmlns:p14="http://schemas.microsoft.com/office/powerpoint/2010/main" val="19047899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BE66472-6326-6B4E-9919-2D6917851909}"/>
              </a:ext>
            </a:extLst>
          </p:cNvPr>
          <p:cNvPicPr>
            <a:picLocks noGrp="1" noChangeAspect="1"/>
          </p:cNvPicPr>
          <p:nvPr>
            <p:ph idx="1"/>
          </p:nvPr>
        </p:nvPicPr>
        <p:blipFill>
          <a:blip r:embed="rId2"/>
          <a:stretch>
            <a:fillRect/>
          </a:stretch>
        </p:blipFill>
        <p:spPr>
          <a:xfrm>
            <a:off x="228600" y="152400"/>
            <a:ext cx="8458200" cy="2594769"/>
          </a:xfrm>
          <a:prstGeom prst="rect">
            <a:avLst/>
          </a:prstGeom>
        </p:spPr>
      </p:pic>
      <p:sp>
        <p:nvSpPr>
          <p:cNvPr id="7" name="TextBox 6">
            <a:extLst>
              <a:ext uri="{FF2B5EF4-FFF2-40B4-BE49-F238E27FC236}">
                <a16:creationId xmlns:a16="http://schemas.microsoft.com/office/drawing/2014/main" id="{1A6E8BB9-DBEB-5F21-D5F8-FB1F1AF2E247}"/>
              </a:ext>
            </a:extLst>
          </p:cNvPr>
          <p:cNvSpPr txBox="1"/>
          <p:nvPr/>
        </p:nvSpPr>
        <p:spPr>
          <a:xfrm>
            <a:off x="228600" y="2971800"/>
            <a:ext cx="8686800" cy="3877985"/>
          </a:xfrm>
          <a:prstGeom prst="rect">
            <a:avLst/>
          </a:prstGeom>
          <a:noFill/>
        </p:spPr>
        <p:txBody>
          <a:bodyPr wrap="square">
            <a:spAutoFit/>
          </a:bodyPr>
          <a:lstStyle/>
          <a:p>
            <a:endParaRPr lang="en-US" sz="1200" b="0" i="0" u="none" strike="noStrike" baseline="0" dirty="0">
              <a:solidFill>
                <a:srgbClr val="000000"/>
              </a:solidFill>
              <a:latin typeface="Cambria" panose="02040503050406030204" pitchFamily="18" charset="0"/>
            </a:endParaRPr>
          </a:p>
          <a:p>
            <a:r>
              <a:rPr lang="en-US" b="1" i="0" u="none" strike="noStrike" baseline="0" dirty="0">
                <a:solidFill>
                  <a:srgbClr val="FF0000"/>
                </a:solidFill>
                <a:latin typeface="Cambria" panose="02040503050406030204" pitchFamily="18" charset="0"/>
              </a:rPr>
              <a:t>Program: Java Program to implement Arithmetic Operators</a:t>
            </a:r>
            <a:endParaRPr lang="en-US" b="0" i="0" u="none" strike="noStrike" baseline="0" dirty="0">
              <a:solidFill>
                <a:srgbClr val="FF0000"/>
              </a:solidFill>
              <a:latin typeface="Cambria" panose="02040503050406030204" pitchFamily="18" charset="0"/>
            </a:endParaRPr>
          </a:p>
          <a:p>
            <a:r>
              <a:rPr lang="en-US" b="0" i="0" u="none" strike="noStrike" baseline="0" dirty="0">
                <a:solidFill>
                  <a:srgbClr val="000000"/>
                </a:solidFill>
                <a:latin typeface="Cambria" panose="02040503050406030204" pitchFamily="18" charset="0"/>
              </a:rPr>
              <a:t>class </a:t>
            </a:r>
            <a:r>
              <a:rPr lang="en-US" b="0" i="0" u="none" strike="noStrike" baseline="0" dirty="0" err="1">
                <a:solidFill>
                  <a:srgbClr val="000000"/>
                </a:solidFill>
                <a:latin typeface="Cambria" panose="02040503050406030204" pitchFamily="18" charset="0"/>
              </a:rPr>
              <a:t>ArithmeticOperators</a:t>
            </a:r>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public static void main(String[] </a:t>
            </a:r>
            <a:r>
              <a:rPr lang="en-US" b="0" i="0" u="none" strike="noStrike" baseline="0" dirty="0" err="1">
                <a:solidFill>
                  <a:srgbClr val="000000"/>
                </a:solidFill>
                <a:latin typeface="Cambria" panose="02040503050406030204" pitchFamily="18" charset="0"/>
              </a:rPr>
              <a:t>args</a:t>
            </a:r>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int a = 12, b = 5;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 </a:t>
            </a:r>
            <a:endParaRPr lang="en-US" sz="4800" dirty="0"/>
          </a:p>
        </p:txBody>
      </p:sp>
    </p:spTree>
    <p:extLst>
      <p:ext uri="{BB962C8B-B14F-4D97-AF65-F5344CB8AC3E}">
        <p14:creationId xmlns:p14="http://schemas.microsoft.com/office/powerpoint/2010/main" val="15298920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AA651D6-9D2E-2ACC-5579-B2F8F1DDF8F9}"/>
              </a:ext>
            </a:extLst>
          </p:cNvPr>
          <p:cNvPicPr>
            <a:picLocks noGrp="1" noChangeAspect="1"/>
          </p:cNvPicPr>
          <p:nvPr>
            <p:ph idx="1"/>
          </p:nvPr>
        </p:nvPicPr>
        <p:blipFill>
          <a:blip r:embed="rId2"/>
          <a:stretch>
            <a:fillRect/>
          </a:stretch>
        </p:blipFill>
        <p:spPr>
          <a:xfrm>
            <a:off x="533400" y="2458"/>
            <a:ext cx="7391400" cy="2463800"/>
          </a:xfrm>
          <a:prstGeom prst="rect">
            <a:avLst/>
          </a:prstGeom>
        </p:spPr>
      </p:pic>
      <p:sp>
        <p:nvSpPr>
          <p:cNvPr id="7" name="TextBox 6">
            <a:extLst>
              <a:ext uri="{FF2B5EF4-FFF2-40B4-BE49-F238E27FC236}">
                <a16:creationId xmlns:a16="http://schemas.microsoft.com/office/drawing/2014/main" id="{2CB03A37-E077-034D-49D4-AEB6DC11B1D1}"/>
              </a:ext>
            </a:extLst>
          </p:cNvPr>
          <p:cNvSpPr txBox="1"/>
          <p:nvPr/>
        </p:nvSpPr>
        <p:spPr>
          <a:xfrm>
            <a:off x="38100" y="2466258"/>
            <a:ext cx="9067800" cy="4401205"/>
          </a:xfrm>
          <a:prstGeom prst="rect">
            <a:avLst/>
          </a:prstGeom>
          <a:noFill/>
        </p:spPr>
        <p:txBody>
          <a:bodyPr wrap="square">
            <a:spAutoFit/>
          </a:bodyPr>
          <a:lstStyle/>
          <a:p>
            <a:r>
              <a:rPr lang="en-US" sz="2000" b="1" i="0" u="none" strike="noStrike" baseline="0" dirty="0">
                <a:solidFill>
                  <a:srgbClr val="FF0000"/>
                </a:solidFill>
                <a:latin typeface="Cambria" panose="02040503050406030204" pitchFamily="18" charset="0"/>
              </a:rPr>
              <a:t>Program: Java Program to implement Relational Operators</a:t>
            </a:r>
            <a:endParaRPr lang="en-US" sz="2000" b="0" i="0" u="none" strike="noStrike" baseline="0" dirty="0">
              <a:solidFill>
                <a:srgbClr val="FF0000"/>
              </a:solidFill>
              <a:latin typeface="Cambria" panose="02040503050406030204" pitchFamily="18" charset="0"/>
            </a:endParaRPr>
          </a:p>
          <a:p>
            <a:r>
              <a:rPr lang="en-US" sz="2000" b="0" i="0" u="none" strike="noStrike" baseline="0" dirty="0">
                <a:solidFill>
                  <a:srgbClr val="000000"/>
                </a:solidFill>
                <a:latin typeface="Cambria" panose="02040503050406030204" pitchFamily="18" charset="0"/>
              </a:rPr>
              <a:t>class </a:t>
            </a:r>
            <a:r>
              <a:rPr lang="en-US" sz="2000" b="0" i="0" u="none" strike="noStrike" baseline="0" dirty="0" err="1">
                <a:solidFill>
                  <a:srgbClr val="000000"/>
                </a:solidFill>
                <a:latin typeface="Cambria" panose="02040503050406030204" pitchFamily="18" charset="0"/>
              </a:rPr>
              <a:t>RelationalOperator</a:t>
            </a:r>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public static void main(String[] </a:t>
            </a:r>
            <a:r>
              <a:rPr lang="en-US" sz="2000" b="0" i="0" u="none" strike="noStrike" baseline="0" dirty="0" err="1">
                <a:solidFill>
                  <a:srgbClr val="000000"/>
                </a:solidFill>
                <a:latin typeface="Cambria" panose="02040503050406030204" pitchFamily="18" charset="0"/>
              </a:rPr>
              <a:t>args</a:t>
            </a:r>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int a = 10;  int b = 3;  int c = 5;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&gt; b: " + (a &gt;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&lt; b: " + (a &lt;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&gt;= b: " + (a &gt;=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&lt;= b: " + (a &lt;=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 c: " + (a == c));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 c: " + (a != c)); </a:t>
            </a:r>
          </a:p>
          <a:p>
            <a:r>
              <a:rPr lang="en-US" sz="2000" b="0" i="0" u="none" strike="noStrike" baseline="0" dirty="0">
                <a:solidFill>
                  <a:srgbClr val="000000"/>
                </a:solidFill>
                <a:latin typeface="Cambria" panose="02040503050406030204" pitchFamily="18" charset="0"/>
              </a:rPr>
              <a:t>} </a:t>
            </a:r>
          </a:p>
          <a:p>
            <a:r>
              <a:rPr lang="en-US" sz="2000" dirty="0">
                <a:solidFill>
                  <a:srgbClr val="000000"/>
                </a:solidFill>
                <a:latin typeface="Cambria" panose="02040503050406030204" pitchFamily="18" charset="0"/>
              </a:rPr>
              <a:t>}</a:t>
            </a:r>
            <a:endParaRPr lang="en-US" sz="5400" dirty="0"/>
          </a:p>
        </p:txBody>
      </p:sp>
    </p:spTree>
    <p:extLst>
      <p:ext uri="{BB962C8B-B14F-4D97-AF65-F5344CB8AC3E}">
        <p14:creationId xmlns:p14="http://schemas.microsoft.com/office/powerpoint/2010/main" val="3940486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4B6EE768-0A63-1EBE-706B-C18E88F1D8F1}"/>
              </a:ext>
            </a:extLst>
          </p:cNvPr>
          <p:cNvPicPr>
            <a:picLocks noGrp="1" noChangeAspect="1"/>
          </p:cNvPicPr>
          <p:nvPr>
            <p:ph idx="1"/>
          </p:nvPr>
        </p:nvPicPr>
        <p:blipFill>
          <a:blip r:embed="rId2"/>
          <a:stretch>
            <a:fillRect/>
          </a:stretch>
        </p:blipFill>
        <p:spPr>
          <a:xfrm>
            <a:off x="365773" y="3048000"/>
            <a:ext cx="8412453" cy="3392130"/>
          </a:xfrm>
          <a:prstGeom prst="rect">
            <a:avLst/>
          </a:prstGeom>
        </p:spPr>
      </p:pic>
      <p:pic>
        <p:nvPicPr>
          <p:cNvPr id="5" name="Picture 4">
            <a:extLst>
              <a:ext uri="{FF2B5EF4-FFF2-40B4-BE49-F238E27FC236}">
                <a16:creationId xmlns:a16="http://schemas.microsoft.com/office/drawing/2014/main" id="{AD95C808-DF46-77FF-E8DA-043C3525C2DE}"/>
              </a:ext>
            </a:extLst>
          </p:cNvPr>
          <p:cNvPicPr>
            <a:picLocks noChangeAspect="1"/>
          </p:cNvPicPr>
          <p:nvPr/>
        </p:nvPicPr>
        <p:blipFill>
          <a:blip r:embed="rId3"/>
          <a:stretch>
            <a:fillRect/>
          </a:stretch>
        </p:blipFill>
        <p:spPr>
          <a:xfrm>
            <a:off x="266700" y="24580"/>
            <a:ext cx="8610600" cy="3023420"/>
          </a:xfrm>
          <a:prstGeom prst="rect">
            <a:avLst/>
          </a:prstGeom>
        </p:spPr>
      </p:pic>
    </p:spTree>
    <p:extLst>
      <p:ext uri="{BB962C8B-B14F-4D97-AF65-F5344CB8AC3E}">
        <p14:creationId xmlns:p14="http://schemas.microsoft.com/office/powerpoint/2010/main" val="28658907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4A4A551-D9DA-A023-EAB8-38D958EA28E5}"/>
              </a:ext>
            </a:extLst>
          </p:cNvPr>
          <p:cNvPicPr>
            <a:picLocks noGrp="1" noChangeAspect="1"/>
          </p:cNvPicPr>
          <p:nvPr>
            <p:ph idx="1"/>
          </p:nvPr>
        </p:nvPicPr>
        <p:blipFill>
          <a:blip r:embed="rId2"/>
          <a:stretch>
            <a:fillRect/>
          </a:stretch>
        </p:blipFill>
        <p:spPr>
          <a:xfrm>
            <a:off x="228600" y="228600"/>
            <a:ext cx="8686800" cy="6477000"/>
          </a:xfrm>
          <a:prstGeom prst="rect">
            <a:avLst/>
          </a:prstGeom>
        </p:spPr>
      </p:pic>
    </p:spTree>
    <p:extLst>
      <p:ext uri="{BB962C8B-B14F-4D97-AF65-F5344CB8AC3E}">
        <p14:creationId xmlns:p14="http://schemas.microsoft.com/office/powerpoint/2010/main" val="16053191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FCB3C9-0486-F9AE-B51A-8A2A09BAC942}"/>
              </a:ext>
            </a:extLst>
          </p:cNvPr>
          <p:cNvSpPr>
            <a:spLocks noGrp="1"/>
          </p:cNvSpPr>
          <p:nvPr>
            <p:ph idx="1"/>
          </p:nvPr>
        </p:nvSpPr>
        <p:spPr>
          <a:xfrm>
            <a:off x="457200" y="152400"/>
            <a:ext cx="8229600" cy="5973763"/>
          </a:xfrm>
        </p:spPr>
        <p:txBody>
          <a:bodyPr>
            <a:normAutofit fontScale="92500" lnSpcReduction="10000"/>
          </a:bodyPr>
          <a:lstStyle/>
          <a:p>
            <a:pPr marL="0" indent="0" algn="ctr">
              <a:buNone/>
            </a:pPr>
            <a:r>
              <a:rPr lang="en-US" b="1" dirty="0">
                <a:solidFill>
                  <a:srgbClr val="FF0000"/>
                </a:solidFill>
                <a:latin typeface="Times New Roman" panose="02020603050405020304" pitchFamily="18" charset="0"/>
                <a:cs typeface="Times New Roman" panose="02020603050405020304" pitchFamily="18" charset="0"/>
              </a:rPr>
              <a:t>Example of Logical Operators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LogicalOp</a:t>
            </a: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int x=10;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(x==10 &amp;&amp; x&gt;=5);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(x==10 || x&gt;=5);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 ( ! ( x==10 )); </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57158176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29D4549F-E47D-33C3-A6D0-A702670D5254}"/>
              </a:ext>
            </a:extLst>
          </p:cNvPr>
          <p:cNvSpPr>
            <a:spLocks noGrp="1"/>
          </p:cNvSpPr>
          <p:nvPr>
            <p:ph idx="1"/>
          </p:nvPr>
        </p:nvSpPr>
        <p:spPr>
          <a:xfrm>
            <a:off x="76200" y="228600"/>
            <a:ext cx="8610600" cy="5897563"/>
          </a:xfrm>
        </p:spPr>
        <p:txBody>
          <a:bodyPr/>
          <a:lstStyle/>
          <a:p>
            <a:r>
              <a:rPr lang="en-US" b="1" dirty="0">
                <a:solidFill>
                  <a:srgbClr val="FF0000"/>
                </a:solidFill>
                <a:latin typeface="Cambria" panose="02040503050406030204" pitchFamily="18" charset="0"/>
              </a:rPr>
              <a:t>4. Assignment Operator: </a:t>
            </a:r>
            <a:r>
              <a:rPr lang="en-US" dirty="0">
                <a:solidFill>
                  <a:srgbClr val="000000"/>
                </a:solidFill>
                <a:latin typeface="Cambria" panose="02040503050406030204" pitchFamily="18" charset="0"/>
              </a:rPr>
              <a:t>Assignment operators are used to assign a value (or) an expression (or) a </a:t>
            </a:r>
          </a:p>
          <a:p>
            <a:r>
              <a:rPr lang="en-US" dirty="0">
                <a:solidFill>
                  <a:srgbClr val="000000"/>
                </a:solidFill>
                <a:latin typeface="Cambria" panose="02040503050406030204" pitchFamily="18" charset="0"/>
              </a:rPr>
              <a:t>value of a variable to another variable. </a:t>
            </a:r>
          </a:p>
          <a:p>
            <a:pPr marL="0" indent="0">
              <a:buNone/>
            </a:pPr>
            <a:endParaRPr lang="en-US" b="1" dirty="0">
              <a:solidFill>
                <a:srgbClr val="FF0000"/>
              </a:solidFill>
              <a:latin typeface="Cambria" panose="02040503050406030204" pitchFamily="18" charset="0"/>
            </a:endParaRPr>
          </a:p>
          <a:p>
            <a:pPr marL="0" indent="0">
              <a:buNone/>
            </a:pPr>
            <a:r>
              <a:rPr lang="en-US" b="1" dirty="0">
                <a:solidFill>
                  <a:srgbClr val="FF0000"/>
                </a:solidFill>
                <a:latin typeface="Cambria" panose="02040503050406030204" pitchFamily="18" charset="0"/>
              </a:rPr>
              <a:t>Syntax : </a:t>
            </a:r>
            <a:r>
              <a:rPr lang="en-US" dirty="0">
                <a:solidFill>
                  <a:srgbClr val="000000"/>
                </a:solidFill>
                <a:latin typeface="Cambria" panose="02040503050406030204" pitchFamily="18" charset="0"/>
              </a:rPr>
              <a:t>variable name=expression (or) value </a:t>
            </a:r>
          </a:p>
          <a:p>
            <a:r>
              <a:rPr lang="en-US" b="1" dirty="0">
                <a:solidFill>
                  <a:srgbClr val="000000"/>
                </a:solidFill>
                <a:latin typeface="Cambria" panose="02040503050406030204" pitchFamily="18" charset="0"/>
              </a:rPr>
              <a:t>Example : </a:t>
            </a:r>
            <a:r>
              <a:rPr lang="en-US" dirty="0">
                <a:solidFill>
                  <a:srgbClr val="000000"/>
                </a:solidFill>
                <a:latin typeface="Cambria" panose="02040503050406030204" pitchFamily="18" charset="0"/>
              </a:rPr>
              <a:t>x=10; </a:t>
            </a:r>
          </a:p>
          <a:p>
            <a:r>
              <a:rPr lang="en-US" dirty="0">
                <a:solidFill>
                  <a:srgbClr val="000000"/>
                </a:solidFill>
                <a:latin typeface="Cambria" panose="02040503050406030204" pitchFamily="18" charset="0"/>
              </a:rPr>
              <a:t>y=20; </a:t>
            </a:r>
            <a:endParaRPr lang="en-US" dirty="0"/>
          </a:p>
          <a:p>
            <a:endParaRPr lang="en-US" dirty="0"/>
          </a:p>
        </p:txBody>
      </p:sp>
    </p:spTree>
    <p:extLst>
      <p:ext uri="{BB962C8B-B14F-4D97-AF65-F5344CB8AC3E}">
        <p14:creationId xmlns:p14="http://schemas.microsoft.com/office/powerpoint/2010/main" val="32029125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D902F913-C6FC-3E52-D48A-F6A38DA34A29}"/>
              </a:ext>
            </a:extLst>
          </p:cNvPr>
          <p:cNvGraphicFramePr>
            <a:graphicFrameLocks noGrp="1"/>
          </p:cNvGraphicFramePr>
          <p:nvPr>
            <p:ph idx="1"/>
            <p:extLst>
              <p:ext uri="{D42A27DB-BD31-4B8C-83A1-F6EECF244321}">
                <p14:modId xmlns:p14="http://schemas.microsoft.com/office/powerpoint/2010/main" val="1876114289"/>
              </p:ext>
            </p:extLst>
          </p:nvPr>
        </p:nvGraphicFramePr>
        <p:xfrm>
          <a:off x="152400" y="0"/>
          <a:ext cx="8991600" cy="6858001"/>
        </p:xfrm>
        <a:graphic>
          <a:graphicData uri="http://schemas.openxmlformats.org/drawingml/2006/table">
            <a:tbl>
              <a:tblPr/>
              <a:tblGrid>
                <a:gridCol w="2247900">
                  <a:extLst>
                    <a:ext uri="{9D8B030D-6E8A-4147-A177-3AD203B41FA5}">
                      <a16:colId xmlns:a16="http://schemas.microsoft.com/office/drawing/2014/main" val="3469726394"/>
                    </a:ext>
                  </a:extLst>
                </a:gridCol>
                <a:gridCol w="2247900">
                  <a:extLst>
                    <a:ext uri="{9D8B030D-6E8A-4147-A177-3AD203B41FA5}">
                      <a16:colId xmlns:a16="http://schemas.microsoft.com/office/drawing/2014/main" val="339515416"/>
                    </a:ext>
                  </a:extLst>
                </a:gridCol>
                <a:gridCol w="2247900">
                  <a:extLst>
                    <a:ext uri="{9D8B030D-6E8A-4147-A177-3AD203B41FA5}">
                      <a16:colId xmlns:a16="http://schemas.microsoft.com/office/drawing/2014/main" val="4078771160"/>
                    </a:ext>
                  </a:extLst>
                </a:gridCol>
                <a:gridCol w="2247900">
                  <a:extLst>
                    <a:ext uri="{9D8B030D-6E8A-4147-A177-3AD203B41FA5}">
                      <a16:colId xmlns:a16="http://schemas.microsoft.com/office/drawing/2014/main" val="1656055295"/>
                    </a:ext>
                  </a:extLst>
                </a:gridCol>
              </a:tblGrid>
              <a:tr h="680187">
                <a:tc>
                  <a:txBody>
                    <a:bodyPr/>
                    <a:lstStyle/>
                    <a:p>
                      <a:pPr>
                        <a:buNone/>
                      </a:pPr>
                      <a:r>
                        <a:rPr lang="en-US" sz="1300"/>
                        <a:t>Operator</a:t>
                      </a:r>
                    </a:p>
                  </a:txBody>
                  <a:tcPr marL="64657" marR="64657" marT="32328" marB="32328" anchor="ctr">
                    <a:lnL>
                      <a:noFill/>
                    </a:lnL>
                    <a:lnR>
                      <a:noFill/>
                    </a:lnR>
                    <a:lnT>
                      <a:noFill/>
                    </a:lnT>
                    <a:lnB>
                      <a:noFill/>
                    </a:lnB>
                    <a:noFill/>
                  </a:tcPr>
                </a:tc>
                <a:tc>
                  <a:txBody>
                    <a:bodyPr/>
                    <a:lstStyle/>
                    <a:p>
                      <a:pPr>
                        <a:buNone/>
                      </a:pPr>
                      <a:r>
                        <a:rPr lang="en-US" sz="1300" dirty="0"/>
                        <a:t>Meaning</a:t>
                      </a:r>
                    </a:p>
                  </a:txBody>
                  <a:tcPr marL="64657" marR="64657" marT="32328" marB="32328" anchor="ctr">
                    <a:lnL>
                      <a:noFill/>
                    </a:lnL>
                    <a:lnR>
                      <a:noFill/>
                    </a:lnR>
                    <a:lnT>
                      <a:noFill/>
                    </a:lnT>
                    <a:lnB>
                      <a:noFill/>
                    </a:lnB>
                    <a:noFill/>
                  </a:tcPr>
                </a:tc>
                <a:tc>
                  <a:txBody>
                    <a:bodyPr/>
                    <a:lstStyle/>
                    <a:p>
                      <a:pPr>
                        <a:buNone/>
                      </a:pPr>
                      <a:r>
                        <a:rPr lang="en-US" sz="1300"/>
                        <a:t>Example</a:t>
                      </a:r>
                    </a:p>
                  </a:txBody>
                  <a:tcPr marL="64657" marR="64657" marT="32328" marB="32328" anchor="ctr">
                    <a:lnL>
                      <a:noFill/>
                    </a:lnL>
                    <a:lnR>
                      <a:noFill/>
                    </a:lnR>
                    <a:lnT>
                      <a:noFill/>
                    </a:lnT>
                    <a:lnB>
                      <a:noFill/>
                    </a:lnB>
                    <a:noFill/>
                  </a:tcPr>
                </a:tc>
                <a:tc>
                  <a:txBody>
                    <a:bodyPr/>
                    <a:lstStyle/>
                    <a:p>
                      <a:pPr>
                        <a:buNone/>
                      </a:pPr>
                      <a:r>
                        <a:rPr lang="en-US" sz="1300"/>
                        <a:t>Equivalent Expression</a:t>
                      </a:r>
                    </a:p>
                  </a:txBody>
                  <a:tcPr marL="64657" marR="64657" marT="32328" marB="32328" anchor="ctr">
                    <a:lnL>
                      <a:noFill/>
                    </a:lnL>
                    <a:lnR>
                      <a:noFill/>
                    </a:lnR>
                    <a:lnT>
                      <a:noFill/>
                    </a:lnT>
                    <a:lnB>
                      <a:noFill/>
                    </a:lnB>
                    <a:noFill/>
                  </a:tcPr>
                </a:tc>
                <a:extLst>
                  <a:ext uri="{0D108BD9-81ED-4DB2-BD59-A6C34878D82A}">
                    <a16:rowId xmlns:a16="http://schemas.microsoft.com/office/drawing/2014/main" val="529721463"/>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dirty="0"/>
                        <a:t>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10</a:t>
                      </a:r>
                      <a:endParaRPr lang="en-US" sz="1300"/>
                    </a:p>
                  </a:txBody>
                  <a:tcPr marL="64657" marR="64657" marT="32328" marB="32328" anchor="ctr">
                    <a:lnL>
                      <a:noFill/>
                    </a:lnL>
                    <a:lnR>
                      <a:noFill/>
                    </a:lnR>
                    <a:lnT>
                      <a:noFill/>
                    </a:lnT>
                    <a:lnB>
                      <a:noFill/>
                    </a:lnB>
                    <a:noFill/>
                  </a:tcPr>
                </a:tc>
                <a:tc>
                  <a:txBody>
                    <a:bodyPr/>
                    <a:lstStyle/>
                    <a:p>
                      <a:pPr>
                        <a:buNone/>
                      </a:pPr>
                      <a:r>
                        <a:rPr lang="en-US" sz="1300"/>
                        <a:t>Assigns </a:t>
                      </a:r>
                      <a:r>
                        <a:rPr lang="en-US" sz="1300">
                          <a:latin typeface="Courier New" panose="02070309020205020404" pitchFamily="49" charset="0"/>
                        </a:rPr>
                        <a:t>10</a:t>
                      </a:r>
                      <a:r>
                        <a:rPr lang="en-US" sz="1300"/>
                        <a:t> to </a:t>
                      </a:r>
                      <a:r>
                        <a:rPr lang="en-US" sz="1300">
                          <a:latin typeface="Courier New" panose="02070309020205020404" pitchFamily="49" charset="0"/>
                        </a:rPr>
                        <a:t>a</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394480558"/>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Add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1025435601"/>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Subtract and assign</a:t>
                      </a:r>
                    </a:p>
                  </a:txBody>
                  <a:tcPr marL="64657" marR="64657" marT="32328" marB="32328" anchor="ctr">
                    <a:lnL>
                      <a:noFill/>
                    </a:lnL>
                    <a:lnR>
                      <a:noFill/>
                    </a:lnR>
                    <a:lnT>
                      <a:noFill/>
                    </a:lnT>
                    <a:lnB>
                      <a:noFill/>
                    </a:lnB>
                    <a:noFill/>
                  </a:tcPr>
                </a:tc>
                <a:tc>
                  <a:txBody>
                    <a:bodyPr/>
                    <a:lstStyle/>
                    <a:p>
                      <a:pPr>
                        <a:buNone/>
                      </a:pPr>
                      <a:r>
                        <a:rPr lang="en-US" sz="1300" dirty="0">
                          <a:latin typeface="Courier New" panose="02070309020205020404" pitchFamily="49" charset="0"/>
                        </a:rPr>
                        <a:t>a -= 5</a:t>
                      </a:r>
                      <a:endParaRPr lang="en-US" sz="1300" dirty="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1455170371"/>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Multiply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514205654"/>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Divide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1636789844"/>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Modulus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688468709"/>
                  </a:ext>
                </a:extLst>
              </a:tr>
              <a:tr h="394915">
                <a:tc>
                  <a:txBody>
                    <a:bodyPr/>
                    <a:lstStyle/>
                    <a:p>
                      <a:pPr>
                        <a:buNone/>
                      </a:pPr>
                      <a:r>
                        <a:rPr lang="en-US" sz="1300">
                          <a:latin typeface="Courier New" panose="02070309020205020404" pitchFamily="49" charset="0"/>
                        </a:rPr>
                        <a:t>&lt;&lt;=</a:t>
                      </a:r>
                      <a:endParaRPr lang="en-US" sz="1300"/>
                    </a:p>
                  </a:txBody>
                  <a:tcPr marL="64657" marR="64657" marT="32328" marB="32328" anchor="ctr">
                    <a:lnL>
                      <a:noFill/>
                    </a:lnL>
                    <a:lnR>
                      <a:noFill/>
                    </a:lnR>
                    <a:lnT>
                      <a:noFill/>
                    </a:lnT>
                    <a:lnB>
                      <a:noFill/>
                    </a:lnB>
                    <a:noFill/>
                  </a:tcPr>
                </a:tc>
                <a:tc>
                  <a:txBody>
                    <a:bodyPr/>
                    <a:lstStyle/>
                    <a:p>
                      <a:pPr>
                        <a:buNone/>
                      </a:pPr>
                      <a:r>
                        <a:rPr lang="en-US" sz="1300"/>
                        <a:t>Left shift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&lt;&lt;= 1</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&lt;&lt; 1</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337493570"/>
                  </a:ext>
                </a:extLst>
              </a:tr>
              <a:tr h="680187">
                <a:tc>
                  <a:txBody>
                    <a:bodyPr/>
                    <a:lstStyle/>
                    <a:p>
                      <a:pPr>
                        <a:buNone/>
                      </a:pPr>
                      <a:r>
                        <a:rPr lang="en-US" sz="1300">
                          <a:latin typeface="Courier New" panose="02070309020205020404" pitchFamily="49" charset="0"/>
                        </a:rPr>
                        <a:t>&gt;&gt;=</a:t>
                      </a:r>
                      <a:endParaRPr lang="en-US" sz="1300"/>
                    </a:p>
                  </a:txBody>
                  <a:tcPr marL="64657" marR="64657" marT="32328" marB="32328" anchor="ctr">
                    <a:lnL>
                      <a:noFill/>
                    </a:lnL>
                    <a:lnR>
                      <a:noFill/>
                    </a:lnR>
                    <a:lnT>
                      <a:noFill/>
                    </a:lnT>
                    <a:lnB>
                      <a:noFill/>
                    </a:lnB>
                    <a:noFill/>
                  </a:tcPr>
                </a:tc>
                <a:tc>
                  <a:txBody>
                    <a:bodyPr/>
                    <a:lstStyle/>
                    <a:p>
                      <a:pPr>
                        <a:buNone/>
                      </a:pPr>
                      <a:r>
                        <a:rPr lang="en-US" sz="1300"/>
                        <a:t>Right shift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&gt;&gt;= 1</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&gt;&gt; 1</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4019187402"/>
                  </a:ext>
                </a:extLst>
              </a:tr>
              <a:tr h="692661">
                <a:tc>
                  <a:txBody>
                    <a:bodyPr/>
                    <a:lstStyle/>
                    <a:p>
                      <a:pPr>
                        <a:buNone/>
                      </a:pPr>
                      <a:r>
                        <a:rPr lang="en-US" sz="1300">
                          <a:latin typeface="Courier New" panose="02070309020205020404" pitchFamily="49" charset="0"/>
                        </a:rPr>
                        <a:t>&gt;&gt;&gt;=</a:t>
                      </a:r>
                      <a:endParaRPr lang="en-US" sz="1300"/>
                    </a:p>
                  </a:txBody>
                  <a:tcPr marL="64657" marR="64657" marT="32328" marB="32328" anchor="ctr">
                    <a:lnL>
                      <a:noFill/>
                    </a:lnL>
                    <a:lnR>
                      <a:noFill/>
                    </a:lnR>
                    <a:lnT>
                      <a:noFill/>
                    </a:lnT>
                    <a:lnB>
                      <a:noFill/>
                    </a:lnB>
                    <a:noFill/>
                  </a:tcPr>
                </a:tc>
                <a:tc>
                  <a:txBody>
                    <a:bodyPr/>
                    <a:lstStyle/>
                    <a:p>
                      <a:pPr>
                        <a:buNone/>
                      </a:pPr>
                      <a:r>
                        <a:rPr lang="en-US" sz="1300"/>
                        <a:t>Unsigned right shift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&gt;&gt;&gt;= 1</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&gt;&gt;&gt; 1</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952245423"/>
                  </a:ext>
                </a:extLst>
              </a:tr>
              <a:tr h="680187">
                <a:tc>
                  <a:txBody>
                    <a:bodyPr/>
                    <a:lstStyle/>
                    <a:p>
                      <a:pPr>
                        <a:buNone/>
                      </a:pPr>
                      <a:r>
                        <a:rPr lang="en-US" sz="1300">
                          <a:latin typeface="Courier New" panose="02070309020205020404" pitchFamily="49" charset="0"/>
                        </a:rPr>
                        <a:t>&amp;=</a:t>
                      </a:r>
                      <a:endParaRPr lang="en-US" sz="1300"/>
                    </a:p>
                  </a:txBody>
                  <a:tcPr marL="64657" marR="64657" marT="32328" marB="32328" anchor="ctr">
                    <a:lnL>
                      <a:noFill/>
                    </a:lnL>
                    <a:lnR>
                      <a:noFill/>
                    </a:lnR>
                    <a:lnT>
                      <a:noFill/>
                    </a:lnT>
                    <a:lnB>
                      <a:noFill/>
                    </a:lnB>
                    <a:noFill/>
                  </a:tcPr>
                </a:tc>
                <a:tc>
                  <a:txBody>
                    <a:bodyPr/>
                    <a:lstStyle/>
                    <a:p>
                      <a:pPr>
                        <a:buNone/>
                      </a:pPr>
                      <a:r>
                        <a:rPr lang="en-US" sz="1300"/>
                        <a:t>Bitwise AND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&amp;= b</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&amp; b</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432746746"/>
                  </a:ext>
                </a:extLst>
              </a:tr>
              <a:tr h="680187">
                <a:tc>
                  <a:txBody>
                    <a:bodyPr/>
                    <a:lstStyle/>
                    <a:p>
                      <a:pPr>
                        <a:buNone/>
                      </a:pPr>
                      <a:r>
                        <a:rPr lang="en-US" sz="1300"/>
                        <a:t>`</a:t>
                      </a:r>
                    </a:p>
                  </a:txBody>
                  <a:tcPr marL="64657" marR="64657" marT="32328" marB="32328" anchor="ctr">
                    <a:lnL>
                      <a:noFill/>
                    </a:lnL>
                    <a:lnR>
                      <a:noFill/>
                    </a:lnR>
                    <a:lnT>
                      <a:noFill/>
                    </a:lnT>
                    <a:lnB>
                      <a:noFill/>
                    </a:lnB>
                    <a:noFill/>
                  </a:tcPr>
                </a:tc>
                <a:tc>
                  <a:txBody>
                    <a:bodyPr/>
                    <a:lstStyle/>
                    <a:p>
                      <a:pPr>
                        <a:buNone/>
                      </a:pPr>
                      <a:r>
                        <a:rPr lang="en-US" sz="1300"/>
                        <a:t>=`</a:t>
                      </a:r>
                    </a:p>
                  </a:txBody>
                  <a:tcPr marL="64657" marR="64657" marT="32328" marB="32328" anchor="ctr">
                    <a:lnL>
                      <a:noFill/>
                    </a:lnL>
                    <a:lnR>
                      <a:noFill/>
                    </a:lnR>
                    <a:lnT>
                      <a:noFill/>
                    </a:lnT>
                    <a:lnB>
                      <a:noFill/>
                    </a:lnB>
                    <a:noFill/>
                  </a:tcPr>
                </a:tc>
                <a:tc>
                  <a:txBody>
                    <a:bodyPr/>
                    <a:lstStyle/>
                    <a:p>
                      <a:pPr>
                        <a:buNone/>
                      </a:pPr>
                      <a:r>
                        <a:rPr lang="en-US" sz="1300"/>
                        <a:t>Bitwise OR and assign</a:t>
                      </a:r>
                    </a:p>
                  </a:txBody>
                  <a:tcPr marL="64657" marR="64657" marT="32328" marB="32328" anchor="ctr">
                    <a:lnL>
                      <a:noFill/>
                    </a:lnL>
                    <a:lnR>
                      <a:noFill/>
                    </a:lnR>
                    <a:lnT>
                      <a:noFill/>
                    </a:lnT>
                    <a:lnB>
                      <a:noFill/>
                    </a:lnB>
                    <a:noFill/>
                  </a:tcPr>
                </a:tc>
                <a:tc>
                  <a:txBody>
                    <a:bodyPr/>
                    <a:lstStyle/>
                    <a:p>
                      <a:pPr>
                        <a:buNone/>
                      </a:pPr>
                      <a:r>
                        <a:rPr lang="en-US" sz="1300"/>
                        <a:t>`a</a:t>
                      </a:r>
                    </a:p>
                  </a:txBody>
                  <a:tcPr marL="64657" marR="64657" marT="32328" marB="32328" anchor="ctr">
                    <a:lnL>
                      <a:noFill/>
                    </a:lnL>
                    <a:lnR>
                      <a:noFill/>
                    </a:lnR>
                    <a:lnT>
                      <a:noFill/>
                    </a:lnT>
                    <a:lnB>
                      <a:noFill/>
                    </a:lnB>
                    <a:noFill/>
                  </a:tcPr>
                </a:tc>
                <a:extLst>
                  <a:ext uri="{0D108BD9-81ED-4DB2-BD59-A6C34878D82A}">
                    <a16:rowId xmlns:a16="http://schemas.microsoft.com/office/drawing/2014/main" val="1440320976"/>
                  </a:ext>
                </a:extLst>
              </a:tr>
              <a:tr h="680187">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dirty="0"/>
                        <a:t>Bitwise XOR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b</a:t>
                      </a:r>
                      <a:endParaRPr lang="en-US" sz="1300"/>
                    </a:p>
                  </a:txBody>
                  <a:tcPr marL="64657" marR="64657" marT="32328" marB="32328" anchor="ctr">
                    <a:lnL>
                      <a:noFill/>
                    </a:lnL>
                    <a:lnR>
                      <a:noFill/>
                    </a:lnR>
                    <a:lnT>
                      <a:noFill/>
                    </a:lnT>
                    <a:lnB>
                      <a:noFill/>
                    </a:lnB>
                    <a:noFill/>
                  </a:tcPr>
                </a:tc>
                <a:tc>
                  <a:txBody>
                    <a:bodyPr/>
                    <a:lstStyle/>
                    <a:p>
                      <a:pPr>
                        <a:buNone/>
                      </a:pPr>
                      <a:r>
                        <a:rPr lang="en-US" sz="1300" dirty="0">
                          <a:latin typeface="Courier New" panose="02070309020205020404" pitchFamily="49" charset="0"/>
                        </a:rPr>
                        <a:t>a = a ^ b</a:t>
                      </a:r>
                      <a:endParaRPr lang="en-US" sz="1300" dirty="0"/>
                    </a:p>
                  </a:txBody>
                  <a:tcPr marL="64657" marR="64657" marT="32328" marB="32328" anchor="ctr">
                    <a:lnL>
                      <a:noFill/>
                    </a:lnL>
                    <a:lnR>
                      <a:noFill/>
                    </a:lnR>
                    <a:lnT>
                      <a:noFill/>
                    </a:lnT>
                    <a:lnB>
                      <a:noFill/>
                    </a:lnB>
                    <a:noFill/>
                  </a:tcPr>
                </a:tc>
                <a:extLst>
                  <a:ext uri="{0D108BD9-81ED-4DB2-BD59-A6C34878D82A}">
                    <a16:rowId xmlns:a16="http://schemas.microsoft.com/office/drawing/2014/main" val="2862912102"/>
                  </a:ext>
                </a:extLst>
              </a:tr>
            </a:tbl>
          </a:graphicData>
        </a:graphic>
      </p:graphicFrame>
    </p:spTree>
    <p:extLst>
      <p:ext uri="{BB962C8B-B14F-4D97-AF65-F5344CB8AC3E}">
        <p14:creationId xmlns:p14="http://schemas.microsoft.com/office/powerpoint/2010/main" val="20277504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BDA699-6677-4E38-8D8A-FEDC1ED6CE3C}"/>
              </a:ext>
            </a:extLst>
          </p:cNvPr>
          <p:cNvSpPr>
            <a:spLocks noGrp="1"/>
          </p:cNvSpPr>
          <p:nvPr>
            <p:ph idx="1"/>
          </p:nvPr>
        </p:nvSpPr>
        <p:spPr>
          <a:xfrm>
            <a:off x="457200" y="152400"/>
            <a:ext cx="8229600" cy="5973763"/>
          </a:xfrm>
        </p:spPr>
        <p:txBody>
          <a:bodyPr>
            <a:normAutofit fontScale="55000" lnSpcReduction="20000"/>
          </a:bodyPr>
          <a:lstStyle/>
          <a:p>
            <a:pPr marL="0" indent="0" algn="ctr">
              <a:buNone/>
            </a:pPr>
            <a:r>
              <a:rPr lang="en-US" b="1" dirty="0">
                <a:solidFill>
                  <a:srgbClr val="FF0000"/>
                </a:solidFill>
              </a:rPr>
              <a:t>Example of Assignment Operators</a:t>
            </a:r>
          </a:p>
          <a:p>
            <a:pPr marL="0" indent="0">
              <a:buNone/>
            </a:pPr>
            <a:r>
              <a:rPr lang="en-US" sz="3300" dirty="0">
                <a:latin typeface="Times New Roman" panose="02020603050405020304" pitchFamily="18" charset="0"/>
                <a:cs typeface="Times New Roman" panose="02020603050405020304" pitchFamily="18" charset="0"/>
              </a:rPr>
              <a:t>class </a:t>
            </a:r>
            <a:r>
              <a:rPr lang="en-US" sz="3300" dirty="0" err="1">
                <a:latin typeface="Times New Roman" panose="02020603050405020304" pitchFamily="18" charset="0"/>
                <a:cs typeface="Times New Roman" panose="02020603050405020304" pitchFamily="18" charset="0"/>
              </a:rPr>
              <a:t>AssignmentOperator</a:t>
            </a:r>
            <a:endParaRPr lang="en-US" sz="3300" dirty="0">
              <a:latin typeface="Times New Roman" panose="02020603050405020304" pitchFamily="18" charset="0"/>
              <a:cs typeface="Times New Roman" panose="02020603050405020304" pitchFamily="18" charset="0"/>
            </a:endParaRP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public static void main(String[] </a:t>
            </a:r>
            <a:r>
              <a:rPr lang="en-US" sz="3300" dirty="0" err="1">
                <a:latin typeface="Times New Roman" panose="02020603050405020304" pitchFamily="18" charset="0"/>
                <a:cs typeface="Times New Roman" panose="02020603050405020304" pitchFamily="18" charset="0"/>
              </a:rPr>
              <a:t>args</a:t>
            </a: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a:t>
            </a:r>
            <a:r>
              <a:rPr lang="en-US" sz="3300" dirty="0" err="1">
                <a:latin typeface="Times New Roman" panose="02020603050405020304" pitchFamily="18" charset="0"/>
                <a:cs typeface="Times New Roman" panose="02020603050405020304" pitchFamily="18" charset="0"/>
              </a:rPr>
              <a:t>nAssignment</a:t>
            </a:r>
            <a:r>
              <a:rPr lang="en-US" sz="3300" dirty="0">
                <a:latin typeface="Times New Roman" panose="02020603050405020304" pitchFamily="18" charset="0"/>
                <a:cs typeface="Times New Roman" panose="02020603050405020304" pitchFamily="18" charset="0"/>
              </a:rPr>
              <a:t> Operators");</a:t>
            </a:r>
          </a:p>
          <a:p>
            <a:pPr marL="0" indent="0">
              <a:buNone/>
            </a:pPr>
            <a:r>
              <a:rPr lang="en-US" sz="3300" dirty="0">
                <a:latin typeface="Times New Roman" panose="02020603050405020304" pitchFamily="18" charset="0"/>
                <a:cs typeface="Times New Roman" panose="02020603050405020304" pitchFamily="18" charset="0"/>
              </a:rPr>
              <a:t>        int x = 10;</a:t>
            </a:r>
          </a:p>
          <a:p>
            <a:pPr marL="0" indent="0">
              <a:buNone/>
            </a:pPr>
            <a:r>
              <a:rPr lang="en-US" sz="3300" dirty="0">
                <a:latin typeface="Times New Roman" panose="02020603050405020304" pitchFamily="18" charset="0"/>
                <a:cs typeface="Times New Roman" panose="02020603050405020304" pitchFamily="18" charset="0"/>
              </a:rPr>
              <a:t>        x += 5;</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5 : " + x);</a:t>
            </a:r>
          </a:p>
          <a:p>
            <a:pPr marL="0" indent="0">
              <a:buNone/>
            </a:pPr>
            <a:r>
              <a:rPr lang="en-US" sz="3300" dirty="0">
                <a:latin typeface="Times New Roman" panose="02020603050405020304" pitchFamily="18" charset="0"/>
                <a:cs typeface="Times New Roman" panose="02020603050405020304" pitchFamily="18" charset="0"/>
              </a:rPr>
              <a:t>        x -= 3;</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3 : " + x);</a:t>
            </a:r>
          </a:p>
          <a:p>
            <a:pPr marL="0" indent="0">
              <a:buNone/>
            </a:pPr>
            <a:r>
              <a:rPr lang="en-US" sz="3300" dirty="0">
                <a:latin typeface="Times New Roman" panose="02020603050405020304" pitchFamily="18" charset="0"/>
                <a:cs typeface="Times New Roman" panose="02020603050405020304" pitchFamily="18" charset="0"/>
              </a:rPr>
              <a:t>        x *= 2;</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2 : " + x);</a:t>
            </a:r>
          </a:p>
          <a:p>
            <a:pPr marL="0" indent="0">
              <a:buNone/>
            </a:pPr>
            <a:r>
              <a:rPr lang="en-US" sz="3300" dirty="0">
                <a:latin typeface="Times New Roman" panose="02020603050405020304" pitchFamily="18" charset="0"/>
                <a:cs typeface="Times New Roman" panose="02020603050405020304" pitchFamily="18" charset="0"/>
              </a:rPr>
              <a:t>        x /= 4;</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4 : " + x);</a:t>
            </a:r>
          </a:p>
          <a:p>
            <a:pPr marL="0" indent="0">
              <a:buNone/>
            </a:pPr>
            <a:r>
              <a:rPr lang="en-US" sz="3300" dirty="0">
                <a:latin typeface="Times New Roman" panose="02020603050405020304" pitchFamily="18" charset="0"/>
                <a:cs typeface="Times New Roman" panose="02020603050405020304" pitchFamily="18" charset="0"/>
              </a:rPr>
              <a:t>       x %= 3;</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3 : " + x);</a:t>
            </a: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br>
              <a:rPr lang="en-US" dirty="0"/>
            </a:br>
            <a:endParaRPr lang="en-US" dirty="0"/>
          </a:p>
        </p:txBody>
      </p:sp>
    </p:spTree>
    <p:extLst>
      <p:ext uri="{BB962C8B-B14F-4D97-AF65-F5344CB8AC3E}">
        <p14:creationId xmlns:p14="http://schemas.microsoft.com/office/powerpoint/2010/main" val="25913038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353698-69EA-229C-B38B-8A4F4D29C0FD}"/>
              </a:ext>
            </a:extLst>
          </p:cNvPr>
          <p:cNvSpPr>
            <a:spLocks noGrp="1"/>
          </p:cNvSpPr>
          <p:nvPr>
            <p:ph idx="1"/>
          </p:nvPr>
        </p:nvSpPr>
        <p:spPr>
          <a:xfrm>
            <a:off x="457200" y="304800"/>
            <a:ext cx="8229600" cy="5821363"/>
          </a:xfrm>
        </p:spPr>
        <p:txBody>
          <a:bodyPr>
            <a:normAutofit/>
          </a:bodyPr>
          <a:lstStyle/>
          <a:p>
            <a:pPr marL="0" indent="0" algn="just">
              <a:buNone/>
            </a:pPr>
            <a:r>
              <a:rPr lang="en-US" sz="2000" b="1" dirty="0">
                <a:latin typeface="Times New Roman" panose="02020603050405020304" pitchFamily="18" charset="0"/>
                <a:cs typeface="Times New Roman" panose="02020603050405020304" pitchFamily="18" charset="0"/>
              </a:rPr>
              <a:t>5: </a:t>
            </a:r>
            <a:r>
              <a:rPr lang="en-US" sz="2000" b="1" dirty="0">
                <a:solidFill>
                  <a:srgbClr val="FF0000"/>
                </a:solidFill>
                <a:latin typeface="Times New Roman" panose="02020603050405020304" pitchFamily="18" charset="0"/>
                <a:cs typeface="Times New Roman" panose="02020603050405020304" pitchFamily="18" charset="0"/>
              </a:rPr>
              <a:t>Increment And Decrement Operators</a:t>
            </a:r>
            <a:r>
              <a:rPr lang="en-US" sz="2000" dirty="0">
                <a:latin typeface="Times New Roman" panose="02020603050405020304" pitchFamily="18" charset="0"/>
                <a:cs typeface="Times New Roman" panose="02020603050405020304" pitchFamily="18" charset="0"/>
              </a:rPr>
              <a:t>: The increment and decrement operators are very useful. ++ and == are called increment and decrement operators used to add or subtract. Both are unary operators. </a:t>
            </a:r>
          </a:p>
          <a:p>
            <a:pPr marL="0" indent="0" algn="just">
              <a:buNone/>
            </a:pPr>
            <a:r>
              <a:rPr lang="en-US" sz="2000" b="1" dirty="0">
                <a:latin typeface="Times New Roman" panose="02020603050405020304" pitchFamily="18" charset="0"/>
                <a:cs typeface="Times New Roman" panose="02020603050405020304" pitchFamily="18" charset="0"/>
              </a:rPr>
              <a:t>The syntax of the operators is given below. </a:t>
            </a:r>
            <a:endParaRPr lang="en-US" sz="2000" dirty="0">
              <a:latin typeface="Times New Roman" panose="02020603050405020304" pitchFamily="18" charset="0"/>
              <a:cs typeface="Times New Roman" panose="02020603050405020304" pitchFamily="18" charset="0"/>
            </a:endParaRPr>
          </a:p>
          <a:p>
            <a:pPr marL="0" indent="0" algn="just">
              <a:buNone/>
            </a:pPr>
            <a:r>
              <a:rPr lang="en-US" sz="2000" b="1" dirty="0">
                <a:latin typeface="Times New Roman" panose="02020603050405020304" pitchFamily="18" charset="0"/>
                <a:cs typeface="Times New Roman" panose="02020603050405020304" pitchFamily="18" charset="0"/>
              </a:rPr>
              <a:t>These operators in two forms </a:t>
            </a:r>
            <a:r>
              <a:rPr lang="en-US" sz="2000" b="1" dirty="0">
                <a:solidFill>
                  <a:srgbClr val="FF0000"/>
                </a:solidFill>
                <a:latin typeface="Times New Roman" panose="02020603050405020304" pitchFamily="18" charset="0"/>
                <a:cs typeface="Times New Roman" panose="02020603050405020304" pitchFamily="18" charset="0"/>
              </a:rPr>
              <a:t>: prefix (++x) </a:t>
            </a:r>
            <a:r>
              <a:rPr lang="en-US" sz="2000" dirty="0">
                <a:latin typeface="Times New Roman" panose="02020603050405020304" pitchFamily="18" charset="0"/>
                <a:cs typeface="Times New Roman" panose="02020603050405020304" pitchFamily="18" charset="0"/>
              </a:rPr>
              <a:t>and </a:t>
            </a:r>
            <a:r>
              <a:rPr lang="en-US" sz="2000" b="1" dirty="0">
                <a:solidFill>
                  <a:srgbClr val="FF0000"/>
                </a:solidFill>
                <a:latin typeface="Times New Roman" panose="02020603050405020304" pitchFamily="18" charset="0"/>
                <a:cs typeface="Times New Roman" panose="02020603050405020304" pitchFamily="18" charset="0"/>
              </a:rPr>
              <a:t>postfix(x++). </a:t>
            </a:r>
          </a:p>
          <a:p>
            <a:pPr algn="just"/>
            <a:r>
              <a:rPr lang="en-US" sz="2000" dirty="0">
                <a:latin typeface="Times New Roman" panose="02020603050405020304" pitchFamily="18" charset="0"/>
                <a:cs typeface="Times New Roman" panose="02020603050405020304" pitchFamily="18" charset="0"/>
              </a:rPr>
              <a:t>++&lt;variable name&gt;    --&lt;variable name&gt; </a:t>
            </a:r>
          </a:p>
          <a:p>
            <a:pPr algn="just"/>
            <a:r>
              <a:rPr lang="en-US" sz="2000" dirty="0">
                <a:latin typeface="Times New Roman" panose="02020603050405020304" pitchFamily="18" charset="0"/>
                <a:cs typeface="Times New Roman" panose="02020603050405020304" pitchFamily="18" charset="0"/>
              </a:rPr>
              <a:t>&lt;variable name&gt;++     &lt;variable name&gt; --</a:t>
            </a:r>
          </a:p>
          <a:p>
            <a:pPr algn="just"/>
            <a:endParaRPr lang="en-US" sz="24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C9CC72A9-7111-7282-B23D-585845EBFC30}"/>
              </a:ext>
            </a:extLst>
          </p:cNvPr>
          <p:cNvPicPr>
            <a:picLocks noChangeAspect="1"/>
          </p:cNvPicPr>
          <p:nvPr/>
        </p:nvPicPr>
        <p:blipFill>
          <a:blip r:embed="rId2"/>
          <a:stretch>
            <a:fillRect/>
          </a:stretch>
        </p:blipFill>
        <p:spPr>
          <a:xfrm>
            <a:off x="0" y="3215481"/>
            <a:ext cx="5181600" cy="2282803"/>
          </a:xfrm>
          <a:prstGeom prst="rect">
            <a:avLst/>
          </a:prstGeom>
        </p:spPr>
      </p:pic>
      <p:sp>
        <p:nvSpPr>
          <p:cNvPr id="8" name="TextBox 7">
            <a:extLst>
              <a:ext uri="{FF2B5EF4-FFF2-40B4-BE49-F238E27FC236}">
                <a16:creationId xmlns:a16="http://schemas.microsoft.com/office/drawing/2014/main" id="{EB0A80F9-7569-4C47-C5C5-CF12008DDF43}"/>
              </a:ext>
            </a:extLst>
          </p:cNvPr>
          <p:cNvSpPr txBox="1"/>
          <p:nvPr/>
        </p:nvSpPr>
        <p:spPr>
          <a:xfrm>
            <a:off x="4522225" y="3183526"/>
            <a:ext cx="4572000" cy="3477875"/>
          </a:xfrm>
          <a:prstGeom prst="rect">
            <a:avLst/>
          </a:prstGeom>
          <a:noFill/>
        </p:spPr>
        <p:txBody>
          <a:bodyPr wrap="square">
            <a:spAutoFit/>
          </a:bodyPr>
          <a:lstStyle/>
          <a:p>
            <a:r>
              <a:rPr lang="en-US" sz="2000" b="1" dirty="0">
                <a:solidFill>
                  <a:srgbClr val="000000"/>
                </a:solidFill>
                <a:latin typeface="Cambria" panose="02040503050406030204" pitchFamily="18" charset="0"/>
              </a:rPr>
              <a:t>Where </a:t>
            </a:r>
            <a:endParaRPr lang="en-US" sz="2000" dirty="0">
              <a:solidFill>
                <a:srgbClr val="000000"/>
              </a:solidFill>
              <a:latin typeface="Cambria" panose="02040503050406030204" pitchFamily="18" charset="0"/>
            </a:endParaRPr>
          </a:p>
          <a:p>
            <a:r>
              <a:rPr lang="en-US" sz="2000" dirty="0">
                <a:solidFill>
                  <a:srgbClr val="000000"/>
                </a:solidFill>
                <a:latin typeface="Cambria" panose="02040503050406030204" pitchFamily="18" charset="0"/>
              </a:rPr>
              <a:t>1 : </a:t>
            </a:r>
            <a:r>
              <a:rPr lang="en-US" sz="2000" b="1" dirty="0">
                <a:solidFill>
                  <a:srgbClr val="000000"/>
                </a:solidFill>
                <a:latin typeface="Cambria" panose="02040503050406030204" pitchFamily="18" charset="0"/>
              </a:rPr>
              <a:t>++x : </a:t>
            </a:r>
            <a:r>
              <a:rPr lang="en-US" sz="2000" dirty="0">
                <a:solidFill>
                  <a:srgbClr val="000000"/>
                </a:solidFill>
                <a:latin typeface="Cambria" panose="02040503050406030204" pitchFamily="18" charset="0"/>
              </a:rPr>
              <a:t>Pre increment, first increment and then do the operation. </a:t>
            </a:r>
          </a:p>
          <a:p>
            <a:endParaRPr lang="en-US" sz="2000" dirty="0">
              <a:solidFill>
                <a:srgbClr val="000000"/>
              </a:solidFill>
              <a:latin typeface="Cambria" panose="02040503050406030204" pitchFamily="18" charset="0"/>
            </a:endParaRPr>
          </a:p>
          <a:p>
            <a:r>
              <a:rPr lang="en-US" sz="2000" dirty="0">
                <a:solidFill>
                  <a:srgbClr val="000000"/>
                </a:solidFill>
                <a:latin typeface="Cambria" panose="02040503050406030204" pitchFamily="18" charset="0"/>
              </a:rPr>
              <a:t>2 : </a:t>
            </a:r>
            <a:r>
              <a:rPr lang="en-US" sz="2000" b="1" dirty="0">
                <a:solidFill>
                  <a:srgbClr val="000000"/>
                </a:solidFill>
                <a:latin typeface="Cambria" panose="02040503050406030204" pitchFamily="18" charset="0"/>
              </a:rPr>
              <a:t>- -x : </a:t>
            </a:r>
            <a:r>
              <a:rPr lang="en-US" sz="2000" dirty="0">
                <a:solidFill>
                  <a:srgbClr val="000000"/>
                </a:solidFill>
                <a:latin typeface="Cambria" panose="02040503050406030204" pitchFamily="18" charset="0"/>
              </a:rPr>
              <a:t>Pre decrement, first decrements and then do the operation. </a:t>
            </a:r>
          </a:p>
          <a:p>
            <a:endParaRPr lang="en-US" sz="2000" b="0" i="0" u="none" strike="noStrike" baseline="0" dirty="0">
              <a:solidFill>
                <a:srgbClr val="000000"/>
              </a:solidFill>
              <a:latin typeface="Cambria" panose="02040503050406030204" pitchFamily="18" charset="0"/>
            </a:endParaRPr>
          </a:p>
          <a:p>
            <a:r>
              <a:rPr lang="en-US" sz="2000" b="0" i="0" u="none" strike="noStrike" baseline="0" dirty="0">
                <a:solidFill>
                  <a:srgbClr val="000000"/>
                </a:solidFill>
                <a:latin typeface="Cambria" panose="02040503050406030204" pitchFamily="18" charset="0"/>
              </a:rPr>
              <a:t>3 : </a:t>
            </a:r>
            <a:r>
              <a:rPr lang="en-US" sz="2000" b="1" i="0" u="none" strike="noStrike" baseline="0" dirty="0">
                <a:solidFill>
                  <a:srgbClr val="000000"/>
                </a:solidFill>
                <a:latin typeface="Cambria" panose="02040503050406030204" pitchFamily="18" charset="0"/>
              </a:rPr>
              <a:t>x++ : </a:t>
            </a:r>
            <a:r>
              <a:rPr lang="en-US" sz="2000" b="0" i="0" u="none" strike="noStrike" baseline="0" dirty="0">
                <a:solidFill>
                  <a:srgbClr val="000000"/>
                </a:solidFill>
                <a:latin typeface="Cambria" panose="02040503050406030204" pitchFamily="18" charset="0"/>
              </a:rPr>
              <a:t>Post increment, first do the operation and then increment. </a:t>
            </a:r>
          </a:p>
          <a:p>
            <a:r>
              <a:rPr lang="en-US" sz="2000" b="0" i="0" u="none" strike="noStrike" baseline="0" dirty="0">
                <a:solidFill>
                  <a:srgbClr val="000000"/>
                </a:solidFill>
                <a:latin typeface="Cambria" panose="02040503050406030204" pitchFamily="18" charset="0"/>
              </a:rPr>
              <a:t>4 : </a:t>
            </a:r>
            <a:r>
              <a:rPr lang="en-US" sz="2000" b="1" i="0" u="none" strike="noStrike" baseline="0" dirty="0">
                <a:solidFill>
                  <a:srgbClr val="000000"/>
                </a:solidFill>
                <a:latin typeface="Cambria" panose="02040503050406030204" pitchFamily="18" charset="0"/>
              </a:rPr>
              <a:t>x- - </a:t>
            </a:r>
            <a:r>
              <a:rPr lang="en-US" sz="2000" b="0" i="0" u="none" strike="noStrike" baseline="0" dirty="0">
                <a:solidFill>
                  <a:srgbClr val="000000"/>
                </a:solidFill>
                <a:latin typeface="Cambria" panose="02040503050406030204" pitchFamily="18" charset="0"/>
              </a:rPr>
              <a:t>: Post decrement, first do the operation and then decrement. </a:t>
            </a:r>
            <a:endParaRPr lang="en-US" sz="5400" dirty="0"/>
          </a:p>
        </p:txBody>
      </p:sp>
    </p:spTree>
    <p:extLst>
      <p:ext uri="{BB962C8B-B14F-4D97-AF65-F5344CB8AC3E}">
        <p14:creationId xmlns:p14="http://schemas.microsoft.com/office/powerpoint/2010/main" val="299895190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85C0D8A-1291-42F6-3B85-72416F8DA505}"/>
              </a:ext>
            </a:extLst>
          </p:cNvPr>
          <p:cNvSpPr>
            <a:spLocks noGrp="1"/>
          </p:cNvSpPr>
          <p:nvPr>
            <p:ph idx="1"/>
          </p:nvPr>
        </p:nvSpPr>
        <p:spPr>
          <a:xfrm>
            <a:off x="0" y="0"/>
            <a:ext cx="8686800" cy="6126163"/>
          </a:xfrm>
        </p:spPr>
        <p:txBody>
          <a:bodyPr>
            <a:normAutofit fontScale="85000" lnSpcReduction="20000"/>
          </a:bodyPr>
          <a:lstStyle/>
          <a:p>
            <a:pPr marL="0" indent="0">
              <a:buNone/>
            </a:pPr>
            <a:r>
              <a:rPr lang="en-US" b="1" dirty="0"/>
              <a:t>public</a:t>
            </a:r>
            <a:r>
              <a:rPr lang="en-US" dirty="0"/>
              <a:t> </a:t>
            </a:r>
            <a:r>
              <a:rPr lang="en-US" b="1" dirty="0"/>
              <a:t>class</a:t>
            </a:r>
            <a:r>
              <a:rPr lang="en-US" dirty="0"/>
              <a:t> Increment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a:t>{ </a:t>
            </a:r>
          </a:p>
          <a:p>
            <a:pPr marL="0" indent="0">
              <a:buNone/>
            </a:pPr>
            <a:r>
              <a:rPr lang="en-US" b="1" dirty="0"/>
              <a:t>int</a:t>
            </a:r>
            <a:r>
              <a:rPr lang="en-US" dirty="0"/>
              <a:t> a = 20;</a:t>
            </a:r>
          </a:p>
          <a:p>
            <a:pPr marL="0" indent="0">
              <a:buNone/>
            </a:pPr>
            <a:r>
              <a:rPr lang="en-US" b="1" dirty="0"/>
              <a:t>int</a:t>
            </a:r>
            <a:r>
              <a:rPr lang="en-US" dirty="0"/>
              <a:t> b = 10;</a:t>
            </a:r>
          </a:p>
          <a:p>
            <a:pPr marL="0" indent="0">
              <a:buNone/>
            </a:pPr>
            <a:r>
              <a:rPr lang="en-US" dirty="0" err="1"/>
              <a:t>System.</a:t>
            </a:r>
            <a:r>
              <a:rPr lang="en-US" b="1" i="1" dirty="0" err="1"/>
              <a:t>out</a:t>
            </a:r>
            <a:r>
              <a:rPr lang="en-US" dirty="0" err="1"/>
              <a:t>.println</a:t>
            </a:r>
            <a:r>
              <a:rPr lang="en-US" dirty="0"/>
              <a:t>("Unary Operators");</a:t>
            </a:r>
          </a:p>
          <a:p>
            <a:pPr marL="0" indent="0">
              <a:buNone/>
            </a:pPr>
            <a:r>
              <a:rPr lang="en-US" dirty="0" err="1"/>
              <a:t>System.</a:t>
            </a:r>
            <a:r>
              <a:rPr lang="en-US" b="1" i="1" dirty="0" err="1"/>
              <a:t>out</a:t>
            </a:r>
            <a:r>
              <a:rPr lang="en-US" dirty="0" err="1"/>
              <a:t>.println</a:t>
            </a:r>
            <a:r>
              <a:rPr lang="en-US" dirty="0"/>
              <a:t>("++a = " + (++a));</a:t>
            </a:r>
          </a:p>
          <a:p>
            <a:pPr marL="0" indent="0">
              <a:buNone/>
            </a:pPr>
            <a:r>
              <a:rPr lang="en-US" dirty="0" err="1"/>
              <a:t>System.</a:t>
            </a:r>
            <a:r>
              <a:rPr lang="en-US" b="1" i="1" dirty="0" err="1"/>
              <a:t>out</a:t>
            </a:r>
            <a:r>
              <a:rPr lang="en-US" dirty="0" err="1"/>
              <a:t>.println</a:t>
            </a:r>
            <a:r>
              <a:rPr lang="en-US" dirty="0"/>
              <a:t>("a++ = " + (a++));</a:t>
            </a:r>
          </a:p>
          <a:p>
            <a:pPr marL="0" indent="0">
              <a:buNone/>
            </a:pPr>
            <a:r>
              <a:rPr lang="en-US" dirty="0" err="1"/>
              <a:t>System.</a:t>
            </a:r>
            <a:r>
              <a:rPr lang="en-US" b="1" i="1" dirty="0" err="1"/>
              <a:t>out</a:t>
            </a:r>
            <a:r>
              <a:rPr lang="en-US" dirty="0" err="1"/>
              <a:t>.println</a:t>
            </a:r>
            <a:r>
              <a:rPr lang="en-US" dirty="0"/>
              <a:t>("After a++ = " + a);</a:t>
            </a:r>
          </a:p>
          <a:p>
            <a:pPr marL="0" indent="0">
              <a:buNone/>
            </a:pPr>
            <a:r>
              <a:rPr lang="en-US" dirty="0" err="1"/>
              <a:t>System.</a:t>
            </a:r>
            <a:r>
              <a:rPr lang="en-US" b="1" i="1" dirty="0" err="1"/>
              <a:t>out</a:t>
            </a:r>
            <a:r>
              <a:rPr lang="en-US" dirty="0" err="1"/>
              <a:t>.println</a:t>
            </a:r>
            <a:r>
              <a:rPr lang="en-US" dirty="0"/>
              <a:t>("--b = " + (--b));</a:t>
            </a:r>
          </a:p>
          <a:p>
            <a:pPr marL="0" indent="0">
              <a:buNone/>
            </a:pPr>
            <a:r>
              <a:rPr lang="en-US" dirty="0" err="1"/>
              <a:t>System.</a:t>
            </a:r>
            <a:r>
              <a:rPr lang="en-US" b="1" i="1" dirty="0" err="1"/>
              <a:t>out</a:t>
            </a:r>
            <a:r>
              <a:rPr lang="en-US" dirty="0" err="1"/>
              <a:t>.println</a:t>
            </a:r>
            <a:r>
              <a:rPr lang="en-US" dirty="0"/>
              <a:t>("b-- = " + (b--));</a:t>
            </a:r>
          </a:p>
          <a:p>
            <a:pPr marL="0" indent="0">
              <a:buNone/>
            </a:pPr>
            <a:r>
              <a:rPr lang="en-US" dirty="0" err="1"/>
              <a:t>System.</a:t>
            </a:r>
            <a:r>
              <a:rPr lang="en-US" b="1" i="1" dirty="0" err="1"/>
              <a:t>out</a:t>
            </a:r>
            <a:r>
              <a:rPr lang="en-US" dirty="0" err="1"/>
              <a:t>.println</a:t>
            </a:r>
            <a:r>
              <a:rPr lang="en-US" dirty="0"/>
              <a:t>("After b-- = " + b);</a:t>
            </a:r>
          </a:p>
          <a:p>
            <a:pPr marL="0" indent="0">
              <a:buNone/>
            </a:pPr>
            <a:r>
              <a:rPr lang="en-US" dirty="0"/>
              <a:t>}</a:t>
            </a:r>
          </a:p>
          <a:p>
            <a:pPr marL="0" indent="0">
              <a:buNone/>
            </a:pPr>
            <a:r>
              <a:rPr lang="en-US" dirty="0"/>
              <a:t>}</a:t>
            </a:r>
          </a:p>
        </p:txBody>
      </p:sp>
    </p:spTree>
    <p:extLst>
      <p:ext uri="{BB962C8B-B14F-4D97-AF65-F5344CB8AC3E}">
        <p14:creationId xmlns:p14="http://schemas.microsoft.com/office/powerpoint/2010/main" val="27632443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2F3604-6930-CB9E-D39D-8E97C0ED0D36}"/>
              </a:ext>
            </a:extLst>
          </p:cNvPr>
          <p:cNvSpPr>
            <a:spLocks noGrp="1"/>
          </p:cNvSpPr>
          <p:nvPr>
            <p:ph idx="1"/>
          </p:nvPr>
        </p:nvSpPr>
        <p:spPr>
          <a:xfrm>
            <a:off x="457200" y="0"/>
            <a:ext cx="8229600" cy="6126163"/>
          </a:xfrm>
        </p:spPr>
        <p:txBody>
          <a:bodyPr>
            <a:normAutofit fontScale="62500" lnSpcReduction="20000"/>
          </a:bodyPr>
          <a:lstStyle/>
          <a:p>
            <a:pPr marL="0" indent="0" algn="just">
              <a:buNone/>
            </a:pPr>
            <a:r>
              <a:rPr lang="en-US" b="1" dirty="0">
                <a:solidFill>
                  <a:srgbClr val="FF0000"/>
                </a:solidFill>
                <a:latin typeface="Times New Roman" panose="02020603050405020304" pitchFamily="18" charset="0"/>
                <a:cs typeface="Times New Roman" panose="02020603050405020304" pitchFamily="18" charset="0"/>
              </a:rPr>
              <a:t>6 : Conditional Operator</a:t>
            </a:r>
            <a:r>
              <a:rPr lang="en-US" dirty="0">
                <a:latin typeface="Times New Roman" panose="02020603050405020304" pitchFamily="18" charset="0"/>
                <a:cs typeface="Times New Roman" panose="02020603050405020304" pitchFamily="18" charset="0"/>
              </a:rPr>
              <a:t>: A conditional operator checks the condition and executes the statement depending on the condition. Conditional operator consists of two symbols.</a:t>
            </a:r>
          </a:p>
          <a:p>
            <a:pPr marL="514350" lvl="0" indent="-514350" algn="just">
              <a:buFont typeface="+mj-lt"/>
              <a:buAutoNum type="arabicPeriod"/>
            </a:pPr>
            <a:r>
              <a:rPr lang="en-US" b="1" dirty="0">
                <a:latin typeface="Times New Roman" panose="02020603050405020304" pitchFamily="18" charset="0"/>
                <a:cs typeface="Times New Roman" panose="02020603050405020304" pitchFamily="18" charset="0"/>
              </a:rPr>
              <a:t>: question mark (?).</a:t>
            </a:r>
          </a:p>
          <a:p>
            <a:pPr marL="514350" lvl="0" indent="-514350" algn="just">
              <a:buFont typeface="+mj-lt"/>
              <a:buAutoNum type="arabicPeriod"/>
            </a:pPr>
            <a:r>
              <a:rPr lang="en-US" b="1" dirty="0">
                <a:latin typeface="Times New Roman" panose="02020603050405020304" pitchFamily="18" charset="0"/>
                <a:cs typeface="Times New Roman" panose="02020603050405020304" pitchFamily="18" charset="0"/>
              </a:rPr>
              <a:t>: colon ( : ).</a:t>
            </a:r>
          </a:p>
          <a:p>
            <a:pPr marL="0" indent="0" algn="ctr">
              <a:buNone/>
            </a:pPr>
            <a:r>
              <a:rPr lang="en-US" b="1" dirty="0">
                <a:solidFill>
                  <a:srgbClr val="FF0000"/>
                </a:solidFill>
                <a:latin typeface="Times New Roman" panose="02020603050405020304" pitchFamily="18" charset="0"/>
                <a:cs typeface="Times New Roman" panose="02020603050405020304" pitchFamily="18" charset="0"/>
              </a:rPr>
              <a:t>Syntax: </a:t>
            </a:r>
            <a:r>
              <a:rPr lang="en-US" b="1" dirty="0">
                <a:latin typeface="Times New Roman" panose="02020603050405020304" pitchFamily="18" charset="0"/>
                <a:cs typeface="Times New Roman" panose="02020603050405020304" pitchFamily="18" charset="0"/>
              </a:rPr>
              <a:t>condition ? exp1 : exp2;</a:t>
            </a:r>
          </a:p>
          <a:p>
            <a:pPr algn="just"/>
            <a:r>
              <a:rPr lang="en-US" dirty="0">
                <a:latin typeface="Times New Roman" panose="02020603050405020304" pitchFamily="18" charset="0"/>
                <a:cs typeface="Times New Roman" panose="02020603050405020304" pitchFamily="18" charset="0"/>
              </a:rPr>
              <a:t>It first evaluate the condition, </a:t>
            </a:r>
            <a:r>
              <a:rPr lang="en-US" i="1" dirty="0">
                <a:solidFill>
                  <a:srgbClr val="FF0000"/>
                </a:solidFill>
                <a:latin typeface="Times New Roman" panose="02020603050405020304" pitchFamily="18" charset="0"/>
                <a:cs typeface="Times New Roman" panose="02020603050405020304" pitchFamily="18" charset="0"/>
              </a:rPr>
              <a:t>if it is true (non-zero) then the “exp1” is evaluated, if the condition is false (zero) then the “exp2” is evaluated.</a:t>
            </a:r>
          </a:p>
          <a:p>
            <a:pPr marL="0" indent="0" algn="just">
              <a:buNone/>
            </a:pPr>
            <a:r>
              <a:rPr lang="en-US" b="1" dirty="0">
                <a:solidFill>
                  <a:srgbClr val="FF0000"/>
                </a:solidFill>
                <a:latin typeface="Times New Roman" panose="02020603050405020304" pitchFamily="18" charset="0"/>
                <a:cs typeface="Times New Roman" panose="02020603050405020304" pitchFamily="18" charset="0"/>
              </a:rPr>
              <a:t>Example </a:t>
            </a:r>
            <a:r>
              <a:rPr lang="en-US" b="1" dirty="0">
                <a:latin typeface="Times New Roman" panose="02020603050405020304" pitchFamily="18" charset="0"/>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ConditionalOperator</a:t>
            </a: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int </a:t>
            </a:r>
            <a:r>
              <a:rPr lang="en-US" dirty="0" err="1">
                <a:latin typeface="Times New Roman" panose="02020603050405020304" pitchFamily="18" charset="0"/>
                <a:cs typeface="Times New Roman" panose="02020603050405020304" pitchFamily="18" charset="0"/>
              </a:rPr>
              <a:t>februaryDays</a:t>
            </a:r>
            <a:r>
              <a:rPr lang="en-US" dirty="0">
                <a:latin typeface="Times New Roman" panose="02020603050405020304" pitchFamily="18" charset="0"/>
                <a:cs typeface="Times New Roman" panose="02020603050405020304" pitchFamily="18" charset="0"/>
              </a:rPr>
              <a:t> = 29; </a:t>
            </a:r>
          </a:p>
          <a:p>
            <a:pPr marL="0" indent="0" algn="just">
              <a:buNone/>
            </a:pPr>
            <a:r>
              <a:rPr lang="en-US" dirty="0">
                <a:latin typeface="Times New Roman" panose="02020603050405020304" pitchFamily="18" charset="0"/>
                <a:cs typeface="Times New Roman" panose="02020603050405020304" pitchFamily="18" charset="0"/>
              </a:rPr>
              <a:t>String result; </a:t>
            </a:r>
          </a:p>
          <a:p>
            <a:pPr marL="0" indent="0" algn="just">
              <a:buNone/>
            </a:pPr>
            <a:r>
              <a:rPr lang="en-US" dirty="0">
                <a:latin typeface="Times New Roman" panose="02020603050405020304" pitchFamily="18" charset="0"/>
                <a:cs typeface="Times New Roman" panose="02020603050405020304" pitchFamily="18" charset="0"/>
              </a:rPr>
              <a:t>result = (</a:t>
            </a:r>
            <a:r>
              <a:rPr lang="en-US" dirty="0" err="1">
                <a:latin typeface="Times New Roman" panose="02020603050405020304" pitchFamily="18" charset="0"/>
                <a:cs typeface="Times New Roman" panose="02020603050405020304" pitchFamily="18" charset="0"/>
              </a:rPr>
              <a:t>februaryDays</a:t>
            </a:r>
            <a:r>
              <a:rPr lang="en-US" dirty="0">
                <a:latin typeface="Times New Roman" panose="02020603050405020304" pitchFamily="18" charset="0"/>
                <a:cs typeface="Times New Roman" panose="02020603050405020304" pitchFamily="18" charset="0"/>
              </a:rPr>
              <a:t> == 28) ? "Not a leap year" : "Leap year"; </a:t>
            </a:r>
          </a:p>
          <a:p>
            <a:pPr marL="0" indent="0" algn="just">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(result);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6759164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B30E4A-7C88-919A-9EC5-1685B5BB1F3A}"/>
              </a:ext>
            </a:extLst>
          </p:cNvPr>
          <p:cNvSpPr>
            <a:spLocks noGrp="1"/>
          </p:cNvSpPr>
          <p:nvPr>
            <p:ph idx="1"/>
          </p:nvPr>
        </p:nvSpPr>
        <p:spPr>
          <a:xfrm>
            <a:off x="457200" y="304800"/>
            <a:ext cx="8229600" cy="5821363"/>
          </a:xfrm>
        </p:spPr>
        <p:txBody>
          <a:bodyPr>
            <a:normAutofit fontScale="47500" lnSpcReduction="20000"/>
          </a:bodyPr>
          <a:lstStyle/>
          <a:p>
            <a:pPr marL="0" indent="0">
              <a:buNone/>
            </a:pPr>
            <a:r>
              <a:rPr lang="en-US" sz="3500" dirty="0">
                <a:latin typeface="Times New Roman" panose="02020603050405020304" pitchFamily="18" charset="0"/>
                <a:cs typeface="Times New Roman" panose="02020603050405020304" pitchFamily="18" charset="0"/>
              </a:rPr>
              <a:t>import </a:t>
            </a:r>
            <a:r>
              <a:rPr lang="en-US" sz="3500" dirty="0" err="1">
                <a:latin typeface="Times New Roman" panose="02020603050405020304" pitchFamily="18" charset="0"/>
                <a:cs typeface="Times New Roman" panose="02020603050405020304" pitchFamily="18" charset="0"/>
              </a:rPr>
              <a:t>java.util.Scanner</a:t>
            </a:r>
            <a:r>
              <a:rPr lang="en-US" sz="3500" dirty="0">
                <a:latin typeface="Times New Roman" panose="02020603050405020304" pitchFamily="18" charset="0"/>
                <a:cs typeface="Times New Roman" panose="02020603050405020304" pitchFamily="18" charset="0"/>
              </a:rPr>
              <a:t>;</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public class </a:t>
            </a:r>
            <a:r>
              <a:rPr lang="en-US" sz="3500" dirty="0" err="1">
                <a:latin typeface="Times New Roman" panose="02020603050405020304" pitchFamily="18" charset="0"/>
                <a:cs typeface="Times New Roman" panose="02020603050405020304" pitchFamily="18" charset="0"/>
              </a:rPr>
              <a:t>LeapYear</a:t>
            </a:r>
            <a:r>
              <a:rPr lang="en-US" sz="3500" dirty="0">
                <a:latin typeface="Times New Roman" panose="02020603050405020304" pitchFamily="18" charset="0"/>
                <a:cs typeface="Times New Roman" panose="02020603050405020304" pitchFamily="18" charset="0"/>
              </a:rPr>
              <a:t> {</a:t>
            </a:r>
          </a:p>
          <a:p>
            <a:pPr marL="0" indent="0">
              <a:buNone/>
            </a:pPr>
            <a:r>
              <a:rPr lang="en-US" sz="3500" dirty="0">
                <a:latin typeface="Times New Roman" panose="02020603050405020304" pitchFamily="18" charset="0"/>
                <a:cs typeface="Times New Roman" panose="02020603050405020304" pitchFamily="18" charset="0"/>
              </a:rPr>
              <a:t>    public static void main(String[] </a:t>
            </a:r>
            <a:r>
              <a:rPr lang="en-US" sz="3500" dirty="0" err="1">
                <a:latin typeface="Times New Roman" panose="02020603050405020304" pitchFamily="18" charset="0"/>
                <a:cs typeface="Times New Roman" panose="02020603050405020304" pitchFamily="18" charset="0"/>
              </a:rPr>
              <a:t>args</a:t>
            </a:r>
            <a:r>
              <a:rPr lang="en-US" sz="3500" dirty="0">
                <a:latin typeface="Times New Roman" panose="02020603050405020304" pitchFamily="18" charset="0"/>
                <a:cs typeface="Times New Roman" panose="02020603050405020304" pitchFamily="18" charset="0"/>
              </a:rPr>
              <a:t>) {</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Scanner </a:t>
            </a:r>
            <a:r>
              <a:rPr lang="en-US" sz="3500" dirty="0" err="1">
                <a:latin typeface="Times New Roman" panose="02020603050405020304" pitchFamily="18" charset="0"/>
                <a:cs typeface="Times New Roman" panose="02020603050405020304" pitchFamily="18" charset="0"/>
              </a:rPr>
              <a:t>sc</a:t>
            </a:r>
            <a:r>
              <a:rPr lang="en-US" sz="3500" dirty="0">
                <a:latin typeface="Times New Roman" panose="02020603050405020304" pitchFamily="18" charset="0"/>
                <a:cs typeface="Times New Roman" panose="02020603050405020304" pitchFamily="18" charset="0"/>
              </a:rPr>
              <a:t> = new Scanner(System.in);</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System.out.print</a:t>
            </a:r>
            <a:r>
              <a:rPr lang="en-US" sz="3500" dirty="0">
                <a:latin typeface="Times New Roman" panose="02020603050405020304" pitchFamily="18" charset="0"/>
                <a:cs typeface="Times New Roman" panose="02020603050405020304" pitchFamily="18" charset="0"/>
              </a:rPr>
              <a:t>("Enter a year: ");</a:t>
            </a:r>
          </a:p>
          <a:p>
            <a:pPr marL="0" indent="0">
              <a:buNone/>
            </a:pPr>
            <a:r>
              <a:rPr lang="en-US" sz="3500" dirty="0">
                <a:latin typeface="Times New Roman" panose="02020603050405020304" pitchFamily="18" charset="0"/>
                <a:cs typeface="Times New Roman" panose="02020603050405020304" pitchFamily="18" charset="0"/>
              </a:rPr>
              <a:t>        int year = </a:t>
            </a:r>
            <a:r>
              <a:rPr lang="en-US" sz="3500" dirty="0" err="1">
                <a:latin typeface="Times New Roman" panose="02020603050405020304" pitchFamily="18" charset="0"/>
                <a:cs typeface="Times New Roman" panose="02020603050405020304" pitchFamily="18" charset="0"/>
              </a:rPr>
              <a:t>sc.nextInt</a:t>
            </a:r>
            <a:r>
              <a:rPr lang="en-US" sz="3500" dirty="0">
                <a:latin typeface="Times New Roman" panose="02020603050405020304" pitchFamily="18" charset="0"/>
                <a:cs typeface="Times New Roman" panose="02020603050405020304" pitchFamily="18" charset="0"/>
              </a:rPr>
              <a:t>();</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if ((year % 400 == 0) || (year % 4 == 0 &amp;&amp; year % 100 != 0)) {</a:t>
            </a: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System.out.println</a:t>
            </a:r>
            <a:r>
              <a:rPr lang="en-US" sz="3500" dirty="0">
                <a:latin typeface="Times New Roman" panose="02020603050405020304" pitchFamily="18" charset="0"/>
                <a:cs typeface="Times New Roman" panose="02020603050405020304" pitchFamily="18" charset="0"/>
              </a:rPr>
              <a:t>(year + " is a Leap Year.");</a:t>
            </a:r>
          </a:p>
          <a:p>
            <a:pPr marL="0" indent="0">
              <a:buNone/>
            </a:pPr>
            <a:r>
              <a:rPr lang="en-US" sz="3500" dirty="0">
                <a:latin typeface="Times New Roman" panose="02020603050405020304" pitchFamily="18" charset="0"/>
                <a:cs typeface="Times New Roman" panose="02020603050405020304" pitchFamily="18" charset="0"/>
              </a:rPr>
              <a:t>        } else {</a:t>
            </a: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System.out.println</a:t>
            </a:r>
            <a:r>
              <a:rPr lang="en-US" sz="3500" dirty="0">
                <a:latin typeface="Times New Roman" panose="02020603050405020304" pitchFamily="18" charset="0"/>
                <a:cs typeface="Times New Roman" panose="02020603050405020304" pitchFamily="18" charset="0"/>
              </a:rPr>
              <a:t>(year + " is Not a Leap Year.");</a:t>
            </a:r>
          </a:p>
          <a:p>
            <a:pPr marL="0" indent="0">
              <a:buNone/>
            </a:pPr>
            <a:r>
              <a:rPr lang="en-US" sz="3500" dirty="0">
                <a:latin typeface="Times New Roman" panose="02020603050405020304" pitchFamily="18" charset="0"/>
                <a:cs typeface="Times New Roman" panose="02020603050405020304" pitchFamily="18" charset="0"/>
              </a:rPr>
              <a:t>        }</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sc.close</a:t>
            </a:r>
            <a:r>
              <a:rPr lang="en-US" sz="3500" dirty="0">
                <a:latin typeface="Times New Roman" panose="02020603050405020304" pitchFamily="18" charset="0"/>
                <a:cs typeface="Times New Roman" panose="02020603050405020304" pitchFamily="18" charset="0"/>
              </a:rPr>
              <a:t>();</a:t>
            </a:r>
          </a:p>
          <a:p>
            <a:pPr marL="0" indent="0">
              <a:buNone/>
            </a:pPr>
            <a:r>
              <a:rPr lang="en-US" sz="3500" dirty="0">
                <a:latin typeface="Times New Roman" panose="02020603050405020304" pitchFamily="18" charset="0"/>
                <a:cs typeface="Times New Roman" panose="02020603050405020304" pitchFamily="18" charset="0"/>
              </a:rPr>
              <a:t>    }</a:t>
            </a:r>
          </a:p>
          <a:p>
            <a:pPr marL="0" indent="0">
              <a:buNone/>
            </a:pPr>
            <a:r>
              <a:rPr lang="en-US" sz="3500" dirty="0">
                <a:latin typeface="Times New Roman" panose="02020603050405020304" pitchFamily="18" charset="0"/>
                <a:cs typeface="Times New Roman" panose="02020603050405020304" pitchFamily="18" charset="0"/>
              </a:rPr>
              <a:t>}</a:t>
            </a:r>
          </a:p>
          <a:p>
            <a:pPr marL="0" indent="0">
              <a:buNone/>
            </a:pPr>
            <a:endParaRPr lang="en-US" dirty="0"/>
          </a:p>
          <a:p>
            <a:pPr marL="0" indent="0">
              <a:buNone/>
            </a:pPr>
            <a:r>
              <a:rPr lang="en-US" dirty="0"/>
              <a:t>// If the year is divisible by </a:t>
            </a:r>
            <a:r>
              <a:rPr lang="en-US" b="1" dirty="0"/>
              <a:t>400</a:t>
            </a:r>
            <a:r>
              <a:rPr lang="en-US" dirty="0"/>
              <a:t>, </a:t>
            </a:r>
            <a:r>
              <a:rPr lang="en-US" b="1" dirty="0"/>
              <a:t>or</a:t>
            </a:r>
            <a:r>
              <a:rPr lang="en-US" dirty="0"/>
              <a:t> It is divisible by </a:t>
            </a:r>
            <a:r>
              <a:rPr lang="en-US" b="1" dirty="0"/>
              <a:t>4</a:t>
            </a:r>
            <a:r>
              <a:rPr lang="en-US" dirty="0"/>
              <a:t> and </a:t>
            </a:r>
            <a:r>
              <a:rPr lang="en-US" b="1" dirty="0"/>
              <a:t>not divisible by 100</a:t>
            </a:r>
            <a:r>
              <a:rPr lang="en-US" dirty="0"/>
              <a:t>, then it is a </a:t>
            </a:r>
            <a:r>
              <a:rPr lang="en-US" b="1" dirty="0"/>
              <a:t>Leap Year</a:t>
            </a:r>
            <a:r>
              <a:rPr lang="en-US" dirty="0"/>
              <a:t>; otherwise, it is </a:t>
            </a:r>
            <a:r>
              <a:rPr lang="en-US" b="1" dirty="0"/>
              <a:t>Not a Leap Year</a:t>
            </a:r>
            <a:r>
              <a:rPr lang="en-US" dirty="0"/>
              <a:t>.</a:t>
            </a:r>
          </a:p>
        </p:txBody>
      </p:sp>
    </p:spTree>
    <p:extLst>
      <p:ext uri="{BB962C8B-B14F-4D97-AF65-F5344CB8AC3E}">
        <p14:creationId xmlns:p14="http://schemas.microsoft.com/office/powerpoint/2010/main" val="41129626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ED83A3-D35C-2268-D181-DE1BD335E82D}"/>
              </a:ext>
            </a:extLst>
          </p:cNvPr>
          <p:cNvSpPr>
            <a:spLocks noGrp="1"/>
          </p:cNvSpPr>
          <p:nvPr>
            <p:ph idx="1"/>
          </p:nvPr>
        </p:nvSpPr>
        <p:spPr>
          <a:xfrm>
            <a:off x="457200" y="228600"/>
            <a:ext cx="8229600" cy="5897563"/>
          </a:xfrm>
        </p:spPr>
        <p:txBody>
          <a:bodyPr>
            <a:normAutofit fontScale="92500" lnSpcReduction="10000"/>
          </a:bodyPr>
          <a:lstStyle/>
          <a:p>
            <a:pPr marL="0" indent="0" algn="just">
              <a:buNone/>
            </a:pPr>
            <a:r>
              <a:rPr lang="en-US" b="1" dirty="0">
                <a:solidFill>
                  <a:srgbClr val="FF0000"/>
                </a:solidFill>
              </a:rPr>
              <a:t>7. Bitwise Operators: </a:t>
            </a:r>
            <a:endParaRPr lang="en-US" dirty="0">
              <a:solidFill>
                <a:srgbClr val="FF0000"/>
              </a:solidFill>
            </a:endParaRPr>
          </a:p>
          <a:p>
            <a:pPr algn="just"/>
            <a:r>
              <a:rPr lang="en-US" dirty="0"/>
              <a:t>Bitwise operators are used for manipulating a data at the bit level, also called as bit level programming. Bit-level programming mainly consists of 0 and 1. </a:t>
            </a:r>
          </a:p>
          <a:p>
            <a:pPr algn="just"/>
            <a:r>
              <a:rPr lang="en-US" dirty="0"/>
              <a:t>They are used in numerical Computations to make the calculation process faster. </a:t>
            </a:r>
          </a:p>
          <a:p>
            <a:pPr algn="just"/>
            <a:r>
              <a:rPr lang="en-US" dirty="0"/>
              <a:t>The bitwise logical operators work on the data bit by bit. </a:t>
            </a:r>
          </a:p>
          <a:p>
            <a:pPr algn="just"/>
            <a:r>
              <a:rPr lang="en-US" dirty="0"/>
              <a:t>Starting from the least significant bit, i.e. LSB bit which is the rightmost bit, working towards the MSB (Most Significant Bit) which is the leftmost bit. </a:t>
            </a:r>
          </a:p>
        </p:txBody>
      </p:sp>
    </p:spTree>
    <p:extLst>
      <p:ext uri="{BB962C8B-B14F-4D97-AF65-F5344CB8AC3E}">
        <p14:creationId xmlns:p14="http://schemas.microsoft.com/office/powerpoint/2010/main" val="8397736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311B673-7109-04FD-41E2-A0AF58C363F4}"/>
              </a:ext>
            </a:extLst>
          </p:cNvPr>
          <p:cNvPicPr>
            <a:picLocks noGrp="1" noChangeAspect="1"/>
          </p:cNvPicPr>
          <p:nvPr>
            <p:ph idx="1"/>
          </p:nvPr>
        </p:nvPicPr>
        <p:blipFill>
          <a:blip r:embed="rId2"/>
          <a:stretch>
            <a:fillRect/>
          </a:stretch>
        </p:blipFill>
        <p:spPr>
          <a:xfrm>
            <a:off x="2209800" y="228600"/>
            <a:ext cx="4572000" cy="2498454"/>
          </a:xfrm>
          <a:prstGeom prst="rect">
            <a:avLst/>
          </a:prstGeom>
        </p:spPr>
      </p:pic>
      <p:sp>
        <p:nvSpPr>
          <p:cNvPr id="7" name="TextBox 6">
            <a:extLst>
              <a:ext uri="{FF2B5EF4-FFF2-40B4-BE49-F238E27FC236}">
                <a16:creationId xmlns:a16="http://schemas.microsoft.com/office/drawing/2014/main" id="{BDDB57F4-58EB-71C6-7525-218D1D9864B8}"/>
              </a:ext>
            </a:extLst>
          </p:cNvPr>
          <p:cNvSpPr txBox="1"/>
          <p:nvPr/>
        </p:nvSpPr>
        <p:spPr>
          <a:xfrm>
            <a:off x="152400" y="2582615"/>
            <a:ext cx="8991600" cy="1938992"/>
          </a:xfrm>
          <a:prstGeom prst="rect">
            <a:avLst/>
          </a:prstGeom>
          <a:noFill/>
        </p:spPr>
        <p:txBody>
          <a:bodyPr wrap="square">
            <a:spAutoFit/>
          </a:bodyPr>
          <a:lstStyle/>
          <a:p>
            <a:r>
              <a:rPr lang="en-US" b="1" i="0" u="none" strike="noStrike" baseline="0" dirty="0">
                <a:solidFill>
                  <a:srgbClr val="FF0000"/>
                </a:solidFill>
                <a:latin typeface="Times New Roman" panose="02020603050405020304" pitchFamily="18" charset="0"/>
                <a:cs typeface="Times New Roman" panose="02020603050405020304" pitchFamily="18" charset="0"/>
              </a:rPr>
              <a:t>1. Bitwise AND (&amp;): </a:t>
            </a:r>
            <a:endParaRPr lang="en-US" b="0" i="0" u="none" strike="noStrike" baseline="0" dirty="0">
              <a:solidFill>
                <a:srgbClr val="FF0000"/>
              </a:solidFill>
              <a:latin typeface="Times New Roman" panose="02020603050405020304" pitchFamily="18" charset="0"/>
              <a:cs typeface="Times New Roman" panose="02020603050405020304" pitchFamily="18" charset="0"/>
            </a:endParaRPr>
          </a:p>
          <a:p>
            <a:r>
              <a:rPr lang="en-US" b="0" i="0" u="none" strike="noStrike" baseline="0" dirty="0">
                <a:solidFill>
                  <a:srgbClr val="000000"/>
                </a:solidFill>
                <a:latin typeface="Times New Roman" panose="02020603050405020304" pitchFamily="18" charset="0"/>
                <a:cs typeface="Times New Roman" panose="02020603050405020304" pitchFamily="18" charset="0"/>
              </a:rPr>
              <a:t>Bitwise AND operator is represented by a single ampersand sign (&amp;).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Two integer expressions are written on each side of the (&amp;) operator.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if any one condition false ( 0 ) the complete condition becomes false ( 0 ). </a:t>
            </a:r>
          </a:p>
          <a:p>
            <a:endParaRPr lang="en-US" sz="4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DE36EB2F-ACD7-086A-3865-287A6517FB9D}"/>
              </a:ext>
            </a:extLst>
          </p:cNvPr>
          <p:cNvPicPr>
            <a:picLocks noChangeAspect="1"/>
          </p:cNvPicPr>
          <p:nvPr/>
        </p:nvPicPr>
        <p:blipFill>
          <a:blip r:embed="rId3"/>
          <a:stretch>
            <a:fillRect/>
          </a:stretch>
        </p:blipFill>
        <p:spPr>
          <a:xfrm>
            <a:off x="3505200" y="3747569"/>
            <a:ext cx="4723478" cy="2667000"/>
          </a:xfrm>
          <a:prstGeom prst="rect">
            <a:avLst/>
          </a:prstGeom>
        </p:spPr>
      </p:pic>
      <p:sp>
        <p:nvSpPr>
          <p:cNvPr id="11" name="TextBox 10">
            <a:extLst>
              <a:ext uri="{FF2B5EF4-FFF2-40B4-BE49-F238E27FC236}">
                <a16:creationId xmlns:a16="http://schemas.microsoft.com/office/drawing/2014/main" id="{9F0D7917-AFE9-4E02-1578-0B20F75756F4}"/>
              </a:ext>
            </a:extLst>
          </p:cNvPr>
          <p:cNvSpPr txBox="1"/>
          <p:nvPr/>
        </p:nvSpPr>
        <p:spPr>
          <a:xfrm>
            <a:off x="304800" y="4254046"/>
            <a:ext cx="4572000" cy="1754326"/>
          </a:xfrm>
          <a:prstGeom prst="rect">
            <a:avLst/>
          </a:prstGeom>
          <a:noFill/>
        </p:spPr>
        <p:txBody>
          <a:bodyPr wrap="square">
            <a:spAutoFit/>
          </a:bodyPr>
          <a:lstStyle/>
          <a:p>
            <a:r>
              <a:rPr lang="en-US" b="1" i="0" u="none" strike="noStrike" baseline="0" dirty="0">
                <a:solidFill>
                  <a:srgbClr val="FF0000"/>
                </a:solidFill>
                <a:latin typeface="Times New Roman" panose="02020603050405020304" pitchFamily="18" charset="0"/>
                <a:cs typeface="Times New Roman" panose="02020603050405020304" pitchFamily="18" charset="0"/>
              </a:rPr>
              <a:t>Example : </a:t>
            </a:r>
            <a:r>
              <a:rPr lang="en-US" b="0" i="0" u="none" strike="noStrike" baseline="0" dirty="0">
                <a:solidFill>
                  <a:srgbClr val="000000"/>
                </a:solidFill>
                <a:latin typeface="Times New Roman" panose="02020603050405020304" pitchFamily="18" charset="0"/>
                <a:cs typeface="Times New Roman" panose="02020603050405020304" pitchFamily="18" charset="0"/>
              </a:rPr>
              <a:t>int x = 10;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int y = 20;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x &amp; y = ?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x = 0000 1010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y = 0000 1011 </a:t>
            </a:r>
          </a:p>
          <a:p>
            <a:r>
              <a:rPr lang="es-ES" b="0" i="0" u="none" strike="noStrike" baseline="0" dirty="0">
                <a:solidFill>
                  <a:srgbClr val="000000"/>
                </a:solidFill>
                <a:latin typeface="Times New Roman" panose="02020603050405020304" pitchFamily="18" charset="0"/>
                <a:cs typeface="Times New Roman" panose="02020603050405020304" pitchFamily="18" charset="0"/>
              </a:rPr>
              <a:t>x &amp; y = 0000 1010 = 10 </a:t>
            </a:r>
            <a:endParaRPr lang="en-US" sz="4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160860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AABCD0-7931-FA0D-95D3-E0AE904D19FD}"/>
              </a:ext>
            </a:extLst>
          </p:cNvPr>
          <p:cNvSpPr>
            <a:spLocks noGrp="1"/>
          </p:cNvSpPr>
          <p:nvPr>
            <p:ph idx="1"/>
          </p:nvPr>
        </p:nvSpPr>
        <p:spPr>
          <a:xfrm>
            <a:off x="457200" y="152400"/>
            <a:ext cx="8229600" cy="5973763"/>
          </a:xfrm>
        </p:spPr>
        <p:txBody>
          <a:bodyPr>
            <a:normAutofit/>
          </a:bodyPr>
          <a:lstStyle/>
          <a:p>
            <a:pPr marL="0" indent="0" algn="just">
              <a:buNone/>
            </a:pPr>
            <a:r>
              <a:rPr lang="en-US" sz="2400" b="1" dirty="0"/>
              <a:t>2. Bitwise OR: </a:t>
            </a:r>
            <a:endParaRPr lang="en-US" sz="2400" dirty="0"/>
          </a:p>
          <a:p>
            <a:pPr algn="just"/>
            <a:r>
              <a:rPr lang="en-US" sz="2400" dirty="0"/>
              <a:t>Bitwise OR operator is represented by a single vertical bar sign (|). </a:t>
            </a:r>
          </a:p>
          <a:p>
            <a:pPr algn="just"/>
            <a:r>
              <a:rPr lang="en-US" sz="2400" dirty="0"/>
              <a:t>Two integer expressions are written on each side of the (|) operator. </a:t>
            </a:r>
          </a:p>
          <a:p>
            <a:pPr algn="just"/>
            <a:r>
              <a:rPr lang="en-US" sz="2400" dirty="0"/>
              <a:t>if any one condition true ( 1 ) the complete condition becomes true ( 1 ) </a:t>
            </a:r>
          </a:p>
          <a:p>
            <a:pPr algn="just"/>
            <a:endParaRPr lang="en-US" sz="2400" dirty="0"/>
          </a:p>
        </p:txBody>
      </p:sp>
      <p:pic>
        <p:nvPicPr>
          <p:cNvPr id="5" name="Picture 4">
            <a:extLst>
              <a:ext uri="{FF2B5EF4-FFF2-40B4-BE49-F238E27FC236}">
                <a16:creationId xmlns:a16="http://schemas.microsoft.com/office/drawing/2014/main" id="{4471BBCB-6351-C824-9E26-887CD6A14500}"/>
              </a:ext>
            </a:extLst>
          </p:cNvPr>
          <p:cNvPicPr>
            <a:picLocks noChangeAspect="1"/>
          </p:cNvPicPr>
          <p:nvPr/>
        </p:nvPicPr>
        <p:blipFill>
          <a:blip r:embed="rId2"/>
          <a:stretch>
            <a:fillRect/>
          </a:stretch>
        </p:blipFill>
        <p:spPr>
          <a:xfrm>
            <a:off x="3505200" y="3163862"/>
            <a:ext cx="5191432" cy="2577066"/>
          </a:xfrm>
          <a:prstGeom prst="rect">
            <a:avLst/>
          </a:prstGeom>
        </p:spPr>
      </p:pic>
      <p:sp>
        <p:nvSpPr>
          <p:cNvPr id="7" name="TextBox 6">
            <a:extLst>
              <a:ext uri="{FF2B5EF4-FFF2-40B4-BE49-F238E27FC236}">
                <a16:creationId xmlns:a16="http://schemas.microsoft.com/office/drawing/2014/main" id="{56C3FC27-294C-04FA-C7B7-0B8D1BCCDED8}"/>
              </a:ext>
            </a:extLst>
          </p:cNvPr>
          <p:cNvSpPr txBox="1"/>
          <p:nvPr/>
        </p:nvSpPr>
        <p:spPr>
          <a:xfrm>
            <a:off x="467032" y="3432604"/>
            <a:ext cx="4572000" cy="2308324"/>
          </a:xfrm>
          <a:prstGeom prst="rect">
            <a:avLst/>
          </a:prstGeom>
          <a:noFill/>
        </p:spPr>
        <p:txBody>
          <a:bodyPr wrap="square">
            <a:spAutoFit/>
          </a:bodyPr>
          <a:lstStyle/>
          <a:p>
            <a:r>
              <a:rPr lang="en-US" sz="2400" b="1" i="0" u="none" strike="noStrike" baseline="0" dirty="0">
                <a:solidFill>
                  <a:srgbClr val="FF0000"/>
                </a:solidFill>
                <a:latin typeface="Cambria" panose="02040503050406030204" pitchFamily="18" charset="0"/>
              </a:rPr>
              <a:t>Example : </a:t>
            </a:r>
            <a:r>
              <a:rPr lang="en-US" sz="2400" b="0" i="0" u="none" strike="noStrike" baseline="0" dirty="0">
                <a:solidFill>
                  <a:srgbClr val="000000"/>
                </a:solidFill>
                <a:latin typeface="Cambria" panose="02040503050406030204" pitchFamily="18" charset="0"/>
              </a:rPr>
              <a:t>int x = 10; </a:t>
            </a:r>
          </a:p>
          <a:p>
            <a:r>
              <a:rPr lang="en-US" sz="2400" b="0" i="0" u="none" strike="noStrike" baseline="0" dirty="0">
                <a:solidFill>
                  <a:srgbClr val="000000"/>
                </a:solidFill>
                <a:latin typeface="Cambria" panose="02040503050406030204" pitchFamily="18" charset="0"/>
              </a:rPr>
              <a:t>int y = 20; </a:t>
            </a:r>
          </a:p>
          <a:p>
            <a:r>
              <a:rPr lang="en-US" sz="2400" b="0" i="0" u="none" strike="noStrike" baseline="0" dirty="0">
                <a:solidFill>
                  <a:srgbClr val="000000"/>
                </a:solidFill>
                <a:latin typeface="Cambria" panose="02040503050406030204" pitchFamily="18" charset="0"/>
              </a:rPr>
              <a:t>x | y = ? </a:t>
            </a:r>
          </a:p>
          <a:p>
            <a:r>
              <a:rPr lang="en-US" sz="2400" b="0" i="0" u="none" strike="noStrike" baseline="0" dirty="0">
                <a:solidFill>
                  <a:srgbClr val="000000"/>
                </a:solidFill>
                <a:latin typeface="Cambria" panose="02040503050406030204" pitchFamily="18" charset="0"/>
              </a:rPr>
              <a:t>x = 0000 1010 </a:t>
            </a:r>
          </a:p>
          <a:p>
            <a:r>
              <a:rPr lang="en-US" sz="2400" b="0" i="0" u="none" strike="noStrike" baseline="0" dirty="0">
                <a:solidFill>
                  <a:srgbClr val="000000"/>
                </a:solidFill>
                <a:latin typeface="Cambria" panose="02040503050406030204" pitchFamily="18" charset="0"/>
              </a:rPr>
              <a:t>y = 0000 1011 </a:t>
            </a:r>
          </a:p>
          <a:p>
            <a:r>
              <a:rPr lang="es-ES" sz="2400" b="0" i="0" u="none" strike="noStrike" baseline="0" dirty="0">
                <a:solidFill>
                  <a:srgbClr val="000000"/>
                </a:solidFill>
                <a:latin typeface="Cambria" panose="02040503050406030204" pitchFamily="18" charset="0"/>
              </a:rPr>
              <a:t>x | y = 0000 1011 = 11 </a:t>
            </a:r>
            <a:endParaRPr lang="en-US" sz="6000" dirty="0"/>
          </a:p>
        </p:txBody>
      </p:sp>
    </p:spTree>
    <p:extLst>
      <p:ext uri="{BB962C8B-B14F-4D97-AF65-F5344CB8AC3E}">
        <p14:creationId xmlns:p14="http://schemas.microsoft.com/office/powerpoint/2010/main" val="4951429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CEE9D7F-60E4-F759-3927-1B1A1318B7C8}"/>
              </a:ext>
            </a:extLst>
          </p:cNvPr>
          <p:cNvSpPr>
            <a:spLocks noGrp="1"/>
          </p:cNvSpPr>
          <p:nvPr>
            <p:ph idx="1"/>
          </p:nvPr>
        </p:nvSpPr>
        <p:spPr>
          <a:xfrm>
            <a:off x="457200" y="228600"/>
            <a:ext cx="8229600" cy="5897563"/>
          </a:xfrm>
        </p:spPr>
        <p:txBody>
          <a:bodyPr>
            <a:normAutofit/>
          </a:bodyPr>
          <a:lstStyle/>
          <a:p>
            <a:pPr marL="0" indent="0" algn="just">
              <a:buNone/>
            </a:pPr>
            <a:endParaRPr lang="en-US" sz="1800" dirty="0">
              <a:latin typeface="Times New Roman" panose="02020603050405020304" pitchFamily="18" charset="0"/>
              <a:cs typeface="Times New Roman" panose="02020603050405020304" pitchFamily="18" charset="0"/>
            </a:endParaRPr>
          </a:p>
          <a:p>
            <a:pPr marL="0" indent="0" algn="just">
              <a:buNone/>
            </a:pPr>
            <a:r>
              <a:rPr lang="en-US" sz="1800" b="1" dirty="0">
                <a:latin typeface="Times New Roman" panose="02020603050405020304" pitchFamily="18" charset="0"/>
                <a:cs typeface="Times New Roman" panose="02020603050405020304" pitchFamily="18" charset="0"/>
              </a:rPr>
              <a:t>3. Bitwise Exclusive OR : </a:t>
            </a:r>
            <a:endParaRPr lang="en-US" sz="1800" dirty="0">
              <a:latin typeface="Times New Roman" panose="02020603050405020304" pitchFamily="18" charset="0"/>
              <a:cs typeface="Times New Roman" panose="02020603050405020304" pitchFamily="18" charset="0"/>
            </a:endParaRPr>
          </a:p>
          <a:p>
            <a:pPr algn="just"/>
            <a:r>
              <a:rPr lang="en-US" sz="1800" dirty="0">
                <a:latin typeface="Times New Roman" panose="02020603050405020304" pitchFamily="18" charset="0"/>
                <a:cs typeface="Times New Roman" panose="02020603050405020304" pitchFamily="18" charset="0"/>
              </a:rPr>
              <a:t> The XOR operator is denoted by a carrot (^) symbol. </a:t>
            </a:r>
          </a:p>
          <a:p>
            <a:pPr algn="just"/>
            <a:r>
              <a:rPr lang="en-US" sz="1800" dirty="0">
                <a:latin typeface="Times New Roman" panose="02020603050405020304" pitchFamily="18" charset="0"/>
                <a:cs typeface="Times New Roman" panose="02020603050405020304" pitchFamily="18" charset="0"/>
              </a:rPr>
              <a:t>It takes two values and returns true if they are different; otherwise returns false. </a:t>
            </a:r>
          </a:p>
          <a:p>
            <a:pPr algn="just"/>
            <a:r>
              <a:rPr lang="en-US" sz="1800" dirty="0">
                <a:latin typeface="Times New Roman" panose="02020603050405020304" pitchFamily="18" charset="0"/>
                <a:cs typeface="Times New Roman" panose="02020603050405020304" pitchFamily="18" charset="0"/>
              </a:rPr>
              <a:t>In binary, the true is represented by 1 and false is represented by 0. </a:t>
            </a:r>
          </a:p>
          <a:p>
            <a:pPr algn="just"/>
            <a:endParaRPr lang="en-US" sz="1800" dirty="0">
              <a:latin typeface="Times New Roman" panose="02020603050405020304" pitchFamily="18" charset="0"/>
              <a:cs typeface="Times New Roman" panose="02020603050405020304" pitchFamily="18" charset="0"/>
            </a:endParaRPr>
          </a:p>
          <a:p>
            <a:pPr algn="just"/>
            <a:endParaRPr lang="en-US" sz="1800" dirty="0">
              <a:latin typeface="Times New Roman" panose="02020603050405020304" pitchFamily="18" charset="0"/>
              <a:cs typeface="Times New Roman" panose="02020603050405020304" pitchFamily="18" charset="0"/>
            </a:endParaRPr>
          </a:p>
          <a:p>
            <a:pPr marL="0" indent="0" algn="just">
              <a:buNone/>
            </a:pPr>
            <a:r>
              <a:rPr lang="en-US" sz="1800" b="1" dirty="0">
                <a:solidFill>
                  <a:srgbClr val="FF0000"/>
                </a:solidFill>
                <a:latin typeface="Times New Roman" panose="02020603050405020304" pitchFamily="18" charset="0"/>
                <a:cs typeface="Times New Roman" panose="02020603050405020304" pitchFamily="18" charset="0"/>
              </a:rPr>
              <a:t>Example </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int x = 10; </a:t>
            </a:r>
          </a:p>
          <a:p>
            <a:pPr marL="0" indent="0" algn="just">
              <a:buNone/>
            </a:pPr>
            <a:r>
              <a:rPr lang="en-US" sz="2000" dirty="0">
                <a:latin typeface="Times New Roman" panose="02020603050405020304" pitchFamily="18" charset="0"/>
                <a:cs typeface="Times New Roman" panose="02020603050405020304" pitchFamily="18" charset="0"/>
              </a:rPr>
              <a:t>int y = 20; </a:t>
            </a:r>
          </a:p>
          <a:p>
            <a:pPr marL="0" indent="0" algn="just">
              <a:buNone/>
            </a:pPr>
            <a:r>
              <a:rPr lang="en-US" sz="2000" dirty="0">
                <a:latin typeface="Times New Roman" panose="02020603050405020304" pitchFamily="18" charset="0"/>
                <a:cs typeface="Times New Roman" panose="02020603050405020304" pitchFamily="18" charset="0"/>
              </a:rPr>
              <a:t>x ^ y = ? </a:t>
            </a:r>
          </a:p>
          <a:p>
            <a:pPr marL="0" indent="0" algn="just">
              <a:buNone/>
            </a:pPr>
            <a:r>
              <a:rPr lang="en-US" sz="2000" dirty="0">
                <a:latin typeface="Times New Roman" panose="02020603050405020304" pitchFamily="18" charset="0"/>
                <a:cs typeface="Times New Roman" panose="02020603050405020304" pitchFamily="18" charset="0"/>
              </a:rPr>
              <a:t>x = 0000 1010 </a:t>
            </a:r>
          </a:p>
          <a:p>
            <a:pPr marL="0" indent="0" algn="just">
              <a:buNone/>
            </a:pPr>
            <a:r>
              <a:rPr lang="en-US" sz="2000" dirty="0">
                <a:latin typeface="Times New Roman" panose="02020603050405020304" pitchFamily="18" charset="0"/>
                <a:cs typeface="Times New Roman" panose="02020603050405020304" pitchFamily="18" charset="0"/>
              </a:rPr>
              <a:t>y = 0000 1011 </a:t>
            </a:r>
          </a:p>
          <a:p>
            <a:pPr marL="0" indent="0" algn="just">
              <a:buNone/>
            </a:pPr>
            <a:r>
              <a:rPr lang="es-ES" sz="2000" dirty="0">
                <a:latin typeface="Times New Roman" panose="02020603050405020304" pitchFamily="18" charset="0"/>
                <a:cs typeface="Times New Roman" panose="02020603050405020304" pitchFamily="18" charset="0"/>
              </a:rPr>
              <a:t>x ^ y = 0000 0001 = 1 </a:t>
            </a:r>
            <a:endParaRPr lang="en-US"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6AAE0F3-B417-1E9B-94F6-7754FE238CE3}"/>
              </a:ext>
            </a:extLst>
          </p:cNvPr>
          <p:cNvPicPr>
            <a:picLocks noChangeAspect="1"/>
          </p:cNvPicPr>
          <p:nvPr/>
        </p:nvPicPr>
        <p:blipFill>
          <a:blip r:embed="rId2"/>
          <a:stretch>
            <a:fillRect/>
          </a:stretch>
        </p:blipFill>
        <p:spPr>
          <a:xfrm>
            <a:off x="3581400" y="2209800"/>
            <a:ext cx="4800600" cy="3048000"/>
          </a:xfrm>
          <a:prstGeom prst="rect">
            <a:avLst/>
          </a:prstGeom>
        </p:spPr>
      </p:pic>
    </p:spTree>
    <p:extLst>
      <p:ext uri="{BB962C8B-B14F-4D97-AF65-F5344CB8AC3E}">
        <p14:creationId xmlns:p14="http://schemas.microsoft.com/office/powerpoint/2010/main" val="36124918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B17769-236E-BBB1-6B43-D158794737E7}"/>
              </a:ext>
            </a:extLst>
          </p:cNvPr>
          <p:cNvSpPr>
            <a:spLocks noGrp="1"/>
          </p:cNvSpPr>
          <p:nvPr>
            <p:ph idx="1"/>
          </p:nvPr>
        </p:nvSpPr>
        <p:spPr>
          <a:xfrm>
            <a:off x="457200" y="228600"/>
            <a:ext cx="8229600" cy="5897563"/>
          </a:xfrm>
        </p:spPr>
        <p:txBody>
          <a:bodyPr>
            <a:normAutofit fontScale="92500" lnSpcReduction="20000"/>
          </a:bodyPr>
          <a:lstStyle/>
          <a:p>
            <a:pPr marL="0" indent="0" algn="just">
              <a:buNone/>
            </a:pPr>
            <a:r>
              <a:rPr lang="en-US" b="1" dirty="0"/>
              <a:t>4. Bitwise Complement (~): </a:t>
            </a:r>
            <a:endParaRPr lang="en-US" dirty="0"/>
          </a:p>
          <a:p>
            <a:pPr algn="just"/>
            <a:r>
              <a:rPr lang="en-US" dirty="0"/>
              <a:t>The bitwise complement operator is a </a:t>
            </a:r>
            <a:r>
              <a:rPr lang="en-US" i="1" dirty="0">
                <a:solidFill>
                  <a:srgbClr val="FF0000"/>
                </a:solidFill>
              </a:rPr>
              <a:t>unary operator. </a:t>
            </a:r>
          </a:p>
          <a:p>
            <a:pPr algn="just"/>
            <a:r>
              <a:rPr lang="en-US" dirty="0"/>
              <a:t>It is denoted by </a:t>
            </a:r>
            <a:r>
              <a:rPr lang="en-US" b="1" dirty="0">
                <a:solidFill>
                  <a:srgbClr val="FF0000"/>
                </a:solidFill>
              </a:rPr>
              <a:t>~</a:t>
            </a:r>
            <a:r>
              <a:rPr lang="en-US" dirty="0"/>
              <a:t>, which is pronounced as tilde. </a:t>
            </a:r>
          </a:p>
          <a:p>
            <a:pPr algn="just"/>
            <a:r>
              <a:rPr lang="en-US" dirty="0"/>
              <a:t>It changes binary digits 1 to 0 and 0 to 1.</a:t>
            </a:r>
          </a:p>
          <a:p>
            <a:pPr algn="just"/>
            <a:r>
              <a:rPr lang="en-US" dirty="0"/>
              <a:t>bitwise complement of any integer </a:t>
            </a:r>
          </a:p>
          <a:p>
            <a:pPr marL="0" indent="0" algn="ctr">
              <a:buNone/>
            </a:pPr>
            <a:r>
              <a:rPr lang="en-US" dirty="0">
                <a:solidFill>
                  <a:srgbClr val="FF0000"/>
                </a:solidFill>
              </a:rPr>
              <a:t>N is equal to - (N + 1). </a:t>
            </a:r>
          </a:p>
          <a:p>
            <a:pPr algn="just"/>
            <a:r>
              <a:rPr lang="en-US" dirty="0"/>
              <a:t>Consider an integer 35. As per the rule, the bitwise complement of 35 should be </a:t>
            </a:r>
          </a:p>
          <a:p>
            <a:pPr marL="0" indent="0" algn="ctr">
              <a:buNone/>
            </a:pPr>
            <a:r>
              <a:rPr lang="en-US" dirty="0"/>
              <a:t>	</a:t>
            </a:r>
            <a:r>
              <a:rPr lang="en-US" dirty="0">
                <a:solidFill>
                  <a:srgbClr val="FF0000"/>
                </a:solidFill>
              </a:rPr>
              <a:t>-(35 + 1) = -36. </a:t>
            </a:r>
          </a:p>
          <a:p>
            <a:pPr algn="just"/>
            <a:r>
              <a:rPr lang="en-US" b="1" dirty="0"/>
              <a:t>Example : </a:t>
            </a:r>
            <a:r>
              <a:rPr lang="en-US" dirty="0"/>
              <a:t>int x = 10; find the ~x value. </a:t>
            </a:r>
          </a:p>
          <a:p>
            <a:pPr marL="0" indent="0" algn="ctr">
              <a:buNone/>
            </a:pPr>
            <a:r>
              <a:rPr lang="en-US" dirty="0">
                <a:solidFill>
                  <a:srgbClr val="FF0000"/>
                </a:solidFill>
              </a:rPr>
              <a:t>x = 0000 1010 </a:t>
            </a:r>
          </a:p>
          <a:p>
            <a:pPr marL="0" indent="0" algn="ctr">
              <a:buNone/>
            </a:pPr>
            <a:r>
              <a:rPr lang="en-US" dirty="0">
                <a:solidFill>
                  <a:srgbClr val="FF0000"/>
                </a:solidFill>
              </a:rPr>
              <a:t>~x= 1111 0101 </a:t>
            </a:r>
          </a:p>
        </p:txBody>
      </p:sp>
    </p:spTree>
    <p:extLst>
      <p:ext uri="{BB962C8B-B14F-4D97-AF65-F5344CB8AC3E}">
        <p14:creationId xmlns:p14="http://schemas.microsoft.com/office/powerpoint/2010/main" val="413706200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804CF3-FE15-2BE2-F2D9-35B1055FEFC0}"/>
              </a:ext>
            </a:extLst>
          </p:cNvPr>
          <p:cNvSpPr>
            <a:spLocks noGrp="1"/>
          </p:cNvSpPr>
          <p:nvPr>
            <p:ph idx="1"/>
          </p:nvPr>
        </p:nvSpPr>
        <p:spPr>
          <a:xfrm>
            <a:off x="457200" y="0"/>
            <a:ext cx="8229600" cy="6126163"/>
          </a:xfrm>
        </p:spPr>
        <p:txBody>
          <a:bodyPr>
            <a:normAutofit/>
          </a:bodyPr>
          <a:lstStyle/>
          <a:p>
            <a:pPr marL="0" indent="0" algn="just">
              <a:buNone/>
            </a:pPr>
            <a:r>
              <a:rPr lang="en-US" sz="2400" b="1" dirty="0">
                <a:latin typeface="Times New Roman" panose="02020603050405020304" pitchFamily="18" charset="0"/>
                <a:cs typeface="Times New Roman" panose="02020603050405020304" pitchFamily="18" charset="0"/>
              </a:rPr>
              <a:t>5. Bitwise Left Shift Operator ( &lt;&lt; ) : </a:t>
            </a: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This Bitwise Left shift operator (&lt;&lt;) is a binary operator. </a:t>
            </a:r>
          </a:p>
          <a:p>
            <a:pPr algn="just"/>
            <a:r>
              <a:rPr lang="en-US" sz="2400" dirty="0">
                <a:latin typeface="Times New Roman" panose="02020603050405020304" pitchFamily="18" charset="0"/>
                <a:cs typeface="Times New Roman" panose="02020603050405020304" pitchFamily="18" charset="0"/>
              </a:rPr>
              <a:t>It shifts the bits of a number towards left a specified no. of times.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int x = 10; </a:t>
            </a:r>
          </a:p>
          <a:p>
            <a:pPr algn="just"/>
            <a:r>
              <a:rPr lang="en-US" sz="2400" dirty="0">
                <a:latin typeface="Times New Roman" panose="02020603050405020304" pitchFamily="18" charset="0"/>
                <a:cs typeface="Times New Roman" panose="02020603050405020304" pitchFamily="18" charset="0"/>
              </a:rPr>
              <a:t>x &lt;&lt; 2 = ? </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11FB25E3-EC57-7256-7679-C859387F3BCE}"/>
              </a:ext>
            </a:extLst>
          </p:cNvPr>
          <p:cNvPicPr>
            <a:picLocks noChangeAspect="1"/>
          </p:cNvPicPr>
          <p:nvPr/>
        </p:nvPicPr>
        <p:blipFill>
          <a:blip r:embed="rId2"/>
          <a:stretch>
            <a:fillRect/>
          </a:stretch>
        </p:blipFill>
        <p:spPr>
          <a:xfrm>
            <a:off x="677598" y="3063081"/>
            <a:ext cx="7788804" cy="2343150"/>
          </a:xfrm>
          <a:prstGeom prst="rect">
            <a:avLst/>
          </a:prstGeom>
        </p:spPr>
      </p:pic>
    </p:spTree>
    <p:extLst>
      <p:ext uri="{BB962C8B-B14F-4D97-AF65-F5344CB8AC3E}">
        <p14:creationId xmlns:p14="http://schemas.microsoft.com/office/powerpoint/2010/main" val="398716361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F68382-1C14-C9A4-192C-8682C1DF0633}"/>
              </a:ext>
            </a:extLst>
          </p:cNvPr>
          <p:cNvSpPr>
            <a:spLocks noGrp="1"/>
          </p:cNvSpPr>
          <p:nvPr>
            <p:ph idx="1"/>
          </p:nvPr>
        </p:nvSpPr>
        <p:spPr>
          <a:xfrm>
            <a:off x="457200" y="152400"/>
            <a:ext cx="8229600" cy="5973763"/>
          </a:xfrm>
        </p:spPr>
        <p:txBody>
          <a:bodyPr>
            <a:normAutofit/>
          </a:bodyPr>
          <a:lstStyle/>
          <a:p>
            <a:pPr marL="0" indent="0" algn="just">
              <a:buNone/>
            </a:pPr>
            <a:r>
              <a:rPr lang="en-US" sz="2400" b="1" dirty="0">
                <a:latin typeface="Times New Roman" panose="02020603050405020304" pitchFamily="18" charset="0"/>
                <a:cs typeface="Times New Roman" panose="02020603050405020304" pitchFamily="18" charset="0"/>
              </a:rPr>
              <a:t>6. Bitwise Right Shift Operator ( &gt;&gt; ) : </a:t>
            </a: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This Bitwise Right shift operator (&gt;&gt;) is a binary operator. </a:t>
            </a:r>
          </a:p>
          <a:p>
            <a:pPr algn="just"/>
            <a:r>
              <a:rPr lang="en-US" sz="2400" dirty="0">
                <a:latin typeface="Times New Roman" panose="02020603050405020304" pitchFamily="18" charset="0"/>
                <a:cs typeface="Times New Roman" panose="02020603050405020304" pitchFamily="18" charset="0"/>
              </a:rPr>
              <a:t>It shifts the bits of a number towards right a specified </a:t>
            </a:r>
            <a:r>
              <a:rPr lang="en-US" sz="2400" dirty="0" err="1">
                <a:latin typeface="Times New Roman" panose="02020603050405020304" pitchFamily="18" charset="0"/>
                <a:cs typeface="Times New Roman" panose="02020603050405020304" pitchFamily="18" charset="0"/>
              </a:rPr>
              <a:t>no.of</a:t>
            </a:r>
            <a:r>
              <a:rPr lang="en-US" sz="2400" dirty="0">
                <a:latin typeface="Times New Roman" panose="02020603050405020304" pitchFamily="18" charset="0"/>
                <a:cs typeface="Times New Roman" panose="02020603050405020304" pitchFamily="18" charset="0"/>
              </a:rPr>
              <a:t> times. </a:t>
            </a:r>
          </a:p>
          <a:p>
            <a:pPr marL="0" indent="0" algn="just">
              <a:buNone/>
            </a:pPr>
            <a:r>
              <a:rPr lang="en-US" sz="2400" b="1" dirty="0">
                <a:latin typeface="Times New Roman" panose="02020603050405020304" pitchFamily="18" charset="0"/>
                <a:cs typeface="Times New Roman" panose="02020603050405020304" pitchFamily="18" charset="0"/>
              </a:rPr>
              <a:t>Example: </a:t>
            </a:r>
          </a:p>
          <a:p>
            <a:pPr marL="0" indent="0" algn="just">
              <a:buNone/>
            </a:pP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int x = 10; </a:t>
            </a:r>
          </a:p>
          <a:p>
            <a:pPr algn="just"/>
            <a:r>
              <a:rPr lang="en-US" sz="2400" dirty="0">
                <a:latin typeface="Times New Roman" panose="02020603050405020304" pitchFamily="18" charset="0"/>
                <a:cs typeface="Times New Roman" panose="02020603050405020304" pitchFamily="18" charset="0"/>
              </a:rPr>
              <a:t>x &gt;&gt; 2 = ? </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245B75DB-DEF6-E204-D976-5519C19CCF98}"/>
              </a:ext>
            </a:extLst>
          </p:cNvPr>
          <p:cNvPicPr>
            <a:picLocks noChangeAspect="1"/>
          </p:cNvPicPr>
          <p:nvPr/>
        </p:nvPicPr>
        <p:blipFill>
          <a:blip r:embed="rId2"/>
          <a:stretch>
            <a:fillRect/>
          </a:stretch>
        </p:blipFill>
        <p:spPr>
          <a:xfrm>
            <a:off x="800100" y="3429000"/>
            <a:ext cx="7543800" cy="2831826"/>
          </a:xfrm>
          <a:prstGeom prst="rect">
            <a:avLst/>
          </a:prstGeom>
        </p:spPr>
      </p:pic>
    </p:spTree>
    <p:extLst>
      <p:ext uri="{BB962C8B-B14F-4D97-AF65-F5344CB8AC3E}">
        <p14:creationId xmlns:p14="http://schemas.microsoft.com/office/powerpoint/2010/main" val="4711659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C720F3-CDE5-68CF-D75B-7C57DCB5FB43}"/>
              </a:ext>
            </a:extLst>
          </p:cNvPr>
          <p:cNvSpPr>
            <a:spLocks noGrp="1"/>
          </p:cNvSpPr>
          <p:nvPr>
            <p:ph idx="1"/>
          </p:nvPr>
        </p:nvSpPr>
        <p:spPr>
          <a:xfrm>
            <a:off x="457200" y="228600"/>
            <a:ext cx="8229600" cy="5897563"/>
          </a:xfrm>
        </p:spPr>
        <p:txBody>
          <a:bodyPr>
            <a:normAutofit fontScale="70000" lnSpcReduction="20000"/>
          </a:bodyPr>
          <a:lstStyle/>
          <a:p>
            <a:pPr marL="0" indent="0" algn="ctr">
              <a:buNone/>
            </a:pPr>
            <a:r>
              <a:rPr lang="en-US" b="1" dirty="0">
                <a:solidFill>
                  <a:srgbClr val="FF0000"/>
                </a:solidFill>
                <a:latin typeface="Times New Roman" panose="02020603050405020304" pitchFamily="18" charset="0"/>
                <a:cs typeface="Times New Roman" panose="02020603050405020304" pitchFamily="18" charset="0"/>
              </a:rPr>
              <a:t>EXPRESSIONS </a:t>
            </a:r>
            <a:endParaRPr lang="en-US" dirty="0">
              <a:solidFill>
                <a:srgbClr val="FF0000"/>
              </a:solidFill>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any programming language, if we want to perform any calculation or to frame any condition etc., we use a set of symbols to perform the task. These set of symbols makes an expression. </a:t>
            </a:r>
          </a:p>
          <a:p>
            <a:pPr algn="just"/>
            <a:r>
              <a:rPr lang="en-US" b="1" dirty="0">
                <a:latin typeface="Times New Roman" panose="02020603050405020304" pitchFamily="18" charset="0"/>
                <a:cs typeface="Times New Roman" panose="02020603050405020304" pitchFamily="18" charset="0"/>
              </a:rPr>
              <a:t>In the java programming language, an expression is de</a:t>
            </a:r>
            <a:r>
              <a:rPr lang="en-US" dirty="0">
                <a:latin typeface="Times New Roman" panose="02020603050405020304" pitchFamily="18" charset="0"/>
                <a:cs typeface="Times New Roman" panose="02020603050405020304" pitchFamily="18" charset="0"/>
              </a:rPr>
              <a:t>f</a:t>
            </a:r>
            <a:r>
              <a:rPr lang="en-US" b="1" dirty="0">
                <a:latin typeface="Times New Roman" panose="02020603050405020304" pitchFamily="18" charset="0"/>
                <a:cs typeface="Times New Roman" panose="02020603050405020304" pitchFamily="18" charset="0"/>
              </a:rPr>
              <a:t>ined as follows..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An expression is a collection of operators and operands that represents a specific value. </a:t>
            </a:r>
          </a:p>
          <a:p>
            <a:pPr algn="just"/>
            <a:r>
              <a:rPr lang="en-US" dirty="0">
                <a:latin typeface="Times New Roman" panose="02020603050405020304" pitchFamily="18" charset="0"/>
                <a:cs typeface="Times New Roman" panose="02020603050405020304" pitchFamily="18" charset="0"/>
              </a:rPr>
              <a:t>In the above definition, an operator is a symbol that performs tasks like arithmetic operations, logical operations, and conditional operations, etc. </a:t>
            </a:r>
          </a:p>
          <a:p>
            <a:pPr marL="0" indent="0" algn="just">
              <a:buNone/>
            </a:pPr>
            <a:r>
              <a:rPr lang="en-US" b="1" dirty="0">
                <a:latin typeface="Times New Roman" panose="02020603050405020304" pitchFamily="18" charset="0"/>
                <a:cs typeface="Times New Roman" panose="02020603050405020304" pitchFamily="18" charset="0"/>
              </a:rPr>
              <a:t>Expression Types </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In the java programming language, expressions are divided into THREE types. They are as follows. </a:t>
            </a:r>
          </a:p>
          <a:p>
            <a:pPr algn="just"/>
            <a:r>
              <a:rPr lang="en-US" b="1" dirty="0">
                <a:latin typeface="Times New Roman" panose="02020603050405020304" pitchFamily="18" charset="0"/>
                <a:cs typeface="Times New Roman" panose="02020603050405020304" pitchFamily="18" charset="0"/>
              </a:rPr>
              <a:t>Infix Expression </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Postfix Expression </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Prefix Expression </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The above classification is based on the operator position in the expression </a:t>
            </a:r>
          </a:p>
        </p:txBody>
      </p:sp>
    </p:spTree>
    <p:extLst>
      <p:ext uri="{BB962C8B-B14F-4D97-AF65-F5344CB8AC3E}">
        <p14:creationId xmlns:p14="http://schemas.microsoft.com/office/powerpoint/2010/main" val="239488056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DCB38E-20AC-87B6-9099-8BAC808BA79A}"/>
              </a:ext>
            </a:extLst>
          </p:cNvPr>
          <p:cNvSpPr>
            <a:spLocks noGrp="1"/>
          </p:cNvSpPr>
          <p:nvPr>
            <p:ph idx="1"/>
          </p:nvPr>
        </p:nvSpPr>
        <p:spPr>
          <a:xfrm>
            <a:off x="457200" y="76200"/>
            <a:ext cx="8229600" cy="6049963"/>
          </a:xfrm>
        </p:spPr>
        <p:txBody>
          <a:bodyPr>
            <a:normAutofit fontScale="85000" lnSpcReduction="10000"/>
          </a:bodyPr>
          <a:lstStyle/>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Infix Expression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The expression in which the operator is used between operands is called infix expression. The infix expression has the following general structure.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err="1">
                <a:latin typeface="Times New Roman" panose="02020603050405020304" pitchFamily="18" charset="0"/>
                <a:cs typeface="Times New Roman" panose="02020603050405020304" pitchFamily="18" charset="0"/>
              </a:rPr>
              <a:t>a+b</a:t>
            </a:r>
            <a:r>
              <a:rPr lang="en-US" sz="2400" dirty="0">
                <a:latin typeface="Times New Roman" panose="02020603050405020304" pitchFamily="18" charset="0"/>
                <a:cs typeface="Times New Roman" panose="02020603050405020304" pitchFamily="18" charset="0"/>
              </a:rPr>
              <a:t> </a:t>
            </a:r>
          </a:p>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Postfix Expression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The expression in which the operator is used after operands is called postfix expression. The postfix expression has the following general structure.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ab+ </a:t>
            </a:r>
          </a:p>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Prefix Expression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The expression in which the operator is used before operands is called a prefix expression. The prefix expression has the following general structure.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+ab </a:t>
            </a:r>
          </a:p>
        </p:txBody>
      </p:sp>
    </p:spTree>
    <p:extLst>
      <p:ext uri="{BB962C8B-B14F-4D97-AF65-F5344CB8AC3E}">
        <p14:creationId xmlns:p14="http://schemas.microsoft.com/office/powerpoint/2010/main" val="24144694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84DB5-08BA-AA8E-2B68-EE325D03FD91}"/>
              </a:ext>
            </a:extLst>
          </p:cNvPr>
          <p:cNvSpPr>
            <a:spLocks noGrp="1"/>
          </p:cNvSpPr>
          <p:nvPr>
            <p:ph idx="1"/>
          </p:nvPr>
        </p:nvSpPr>
        <p:spPr>
          <a:xfrm>
            <a:off x="457200" y="152400"/>
            <a:ext cx="8229600" cy="5973763"/>
          </a:xfrm>
        </p:spPr>
        <p:txBody>
          <a:bodyPr>
            <a:normAutofit/>
          </a:bodyPr>
          <a:lstStyle/>
          <a:p>
            <a:pPr marL="0" indent="0" algn="ctr">
              <a:buNone/>
            </a:pPr>
            <a:r>
              <a:rPr lang="en-US" b="1" dirty="0">
                <a:solidFill>
                  <a:srgbClr val="FF0000"/>
                </a:solidFill>
              </a:rPr>
              <a:t>CONTROL STATEMENTS </a:t>
            </a:r>
          </a:p>
          <a:p>
            <a:pPr algn="just"/>
            <a:r>
              <a:rPr lang="en-US" sz="2400" dirty="0"/>
              <a:t>In java, the default execution flow of a program is a sequential order, But the sequential order of execution flow may not be suitable for all situations. </a:t>
            </a:r>
          </a:p>
          <a:p>
            <a:pPr algn="just"/>
            <a:r>
              <a:rPr lang="en-US" sz="2400" dirty="0"/>
              <a:t>Sometimes, we may want to jump from line to another line, we may want to skip a part of the program, or sometimes we may want to execute a part of the program again and again. </a:t>
            </a:r>
          </a:p>
          <a:p>
            <a:pPr algn="just"/>
            <a:r>
              <a:rPr lang="en-US" sz="2400" dirty="0"/>
              <a:t>To solve this problem, java provides control statements. </a:t>
            </a:r>
          </a:p>
          <a:p>
            <a:pPr algn="just"/>
            <a:endParaRPr lang="en-US" sz="2400" dirty="0"/>
          </a:p>
        </p:txBody>
      </p:sp>
      <p:pic>
        <p:nvPicPr>
          <p:cNvPr id="5" name="Picture 4">
            <a:extLst>
              <a:ext uri="{FF2B5EF4-FFF2-40B4-BE49-F238E27FC236}">
                <a16:creationId xmlns:a16="http://schemas.microsoft.com/office/drawing/2014/main" id="{03280930-1D22-39E5-6A63-97478D2449E6}"/>
              </a:ext>
            </a:extLst>
          </p:cNvPr>
          <p:cNvPicPr>
            <a:picLocks noChangeAspect="1"/>
          </p:cNvPicPr>
          <p:nvPr/>
        </p:nvPicPr>
        <p:blipFill>
          <a:blip r:embed="rId2"/>
          <a:stretch>
            <a:fillRect/>
          </a:stretch>
        </p:blipFill>
        <p:spPr>
          <a:xfrm>
            <a:off x="1342131" y="3532904"/>
            <a:ext cx="6459737" cy="3143199"/>
          </a:xfrm>
          <a:prstGeom prst="rect">
            <a:avLst/>
          </a:prstGeom>
        </p:spPr>
      </p:pic>
    </p:spTree>
    <p:extLst>
      <p:ext uri="{BB962C8B-B14F-4D97-AF65-F5344CB8AC3E}">
        <p14:creationId xmlns:p14="http://schemas.microsoft.com/office/powerpoint/2010/main" val="1704890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E87B14-B9F3-99DC-32C3-D9E09C808FB2}"/>
              </a:ext>
            </a:extLst>
          </p:cNvPr>
          <p:cNvSpPr>
            <a:spLocks noGrp="1"/>
          </p:cNvSpPr>
          <p:nvPr>
            <p:ph idx="1"/>
          </p:nvPr>
        </p:nvSpPr>
        <p:spPr>
          <a:xfrm>
            <a:off x="457200" y="152400"/>
            <a:ext cx="8229600" cy="5973763"/>
          </a:xfrm>
        </p:spPr>
        <p:txBody>
          <a:bodyPr>
            <a:normAutofit fontScale="92500"/>
          </a:bodyPr>
          <a:lstStyle/>
          <a:p>
            <a:pPr marL="285115" indent="-272415" algn="just">
              <a:lnSpc>
                <a:spcPct val="100000"/>
              </a:lnSpc>
              <a:spcBef>
                <a:spcPts val="1775"/>
              </a:spcBef>
              <a:buClr>
                <a:srgbClr val="D24717"/>
              </a:buClr>
              <a:buSzPct val="83928"/>
              <a:buFont typeface="Segoe UI Symbol"/>
              <a:buChar char="⚫"/>
              <a:tabLst>
                <a:tab pos="285115" algn="l"/>
              </a:tabLst>
            </a:pPr>
            <a:r>
              <a:rPr lang="en-US" sz="2800" dirty="0">
                <a:latin typeface="Arial MT"/>
                <a:cs typeface="Arial MT"/>
              </a:rPr>
              <a:t>The</a:t>
            </a:r>
            <a:r>
              <a:rPr lang="en-US" sz="2800" spc="-50" dirty="0">
                <a:latin typeface="Arial MT"/>
                <a:cs typeface="Arial MT"/>
              </a:rPr>
              <a:t> </a:t>
            </a:r>
            <a:r>
              <a:rPr lang="en-US" sz="2800" dirty="0">
                <a:latin typeface="Arial MT"/>
                <a:cs typeface="Arial MT"/>
              </a:rPr>
              <a:t>control</a:t>
            </a:r>
            <a:r>
              <a:rPr lang="en-US" sz="2800" spc="-65" dirty="0">
                <a:latin typeface="Arial MT"/>
                <a:cs typeface="Arial MT"/>
              </a:rPr>
              <a:t> </a:t>
            </a:r>
            <a:r>
              <a:rPr lang="en-US" sz="2800" dirty="0">
                <a:latin typeface="Arial MT"/>
                <a:cs typeface="Arial MT"/>
              </a:rPr>
              <a:t>statements</a:t>
            </a:r>
            <a:r>
              <a:rPr lang="en-US" sz="2800" spc="-60" dirty="0">
                <a:latin typeface="Arial MT"/>
                <a:cs typeface="Arial MT"/>
              </a:rPr>
              <a:t> </a:t>
            </a:r>
            <a:r>
              <a:rPr lang="en-US" sz="2800" dirty="0">
                <a:latin typeface="Arial MT"/>
                <a:cs typeface="Arial MT"/>
              </a:rPr>
              <a:t>are</a:t>
            </a:r>
            <a:r>
              <a:rPr lang="en-US" sz="2800" spc="-65" dirty="0">
                <a:latin typeface="Arial MT"/>
                <a:cs typeface="Arial MT"/>
              </a:rPr>
              <a:t> </a:t>
            </a:r>
            <a:r>
              <a:rPr lang="en-US" sz="2800" dirty="0">
                <a:latin typeface="Arial MT"/>
                <a:cs typeface="Arial MT"/>
              </a:rPr>
              <a:t>used</a:t>
            </a:r>
            <a:r>
              <a:rPr lang="en-US" sz="2800" spc="-65" dirty="0">
                <a:latin typeface="Arial MT"/>
                <a:cs typeface="Arial MT"/>
              </a:rPr>
              <a:t> </a:t>
            </a:r>
            <a:r>
              <a:rPr lang="en-US" sz="2800" dirty="0">
                <a:latin typeface="Arial MT"/>
                <a:cs typeface="Arial MT"/>
              </a:rPr>
              <a:t>to</a:t>
            </a:r>
            <a:r>
              <a:rPr lang="en-US" sz="2800" spc="-65" dirty="0">
                <a:latin typeface="Arial MT"/>
                <a:cs typeface="Arial MT"/>
              </a:rPr>
              <a:t> </a:t>
            </a:r>
            <a:r>
              <a:rPr lang="en-US" sz="2800" dirty="0">
                <a:latin typeface="Arial MT"/>
                <a:cs typeface="Arial MT"/>
              </a:rPr>
              <a:t>control</a:t>
            </a:r>
            <a:r>
              <a:rPr lang="en-US" sz="2800" spc="-65" dirty="0">
                <a:latin typeface="Arial MT"/>
                <a:cs typeface="Arial MT"/>
              </a:rPr>
              <a:t> </a:t>
            </a:r>
            <a:r>
              <a:rPr lang="en-US" sz="2800" dirty="0">
                <a:latin typeface="Arial MT"/>
                <a:cs typeface="Arial MT"/>
              </a:rPr>
              <a:t>over</a:t>
            </a:r>
            <a:r>
              <a:rPr lang="en-US" sz="2800" spc="-65" dirty="0">
                <a:latin typeface="Arial MT"/>
                <a:cs typeface="Arial MT"/>
              </a:rPr>
              <a:t> </a:t>
            </a:r>
            <a:r>
              <a:rPr lang="en-US" sz="2800" spc="-25" dirty="0">
                <a:latin typeface="Arial MT"/>
                <a:cs typeface="Arial MT"/>
              </a:rPr>
              <a:t>the</a:t>
            </a:r>
            <a:endParaRPr lang="en-US" sz="2800" dirty="0">
              <a:latin typeface="Arial MT"/>
              <a:cs typeface="Arial MT"/>
            </a:endParaRPr>
          </a:p>
          <a:p>
            <a:pPr marL="0" indent="0" algn="just">
              <a:lnSpc>
                <a:spcPct val="100000"/>
              </a:lnSpc>
              <a:spcBef>
                <a:spcPts val="1680"/>
              </a:spcBef>
              <a:buNone/>
            </a:pPr>
            <a:r>
              <a:rPr lang="en-US" sz="2800" b="1" dirty="0">
                <a:latin typeface="Arial"/>
                <a:cs typeface="Arial"/>
              </a:rPr>
              <a:t>order</a:t>
            </a:r>
            <a:r>
              <a:rPr lang="en-US" sz="2800" b="1" spc="-75" dirty="0">
                <a:latin typeface="Arial"/>
                <a:cs typeface="Arial"/>
              </a:rPr>
              <a:t> </a:t>
            </a:r>
            <a:r>
              <a:rPr lang="en-US" sz="2800" b="1" dirty="0">
                <a:latin typeface="Arial"/>
                <a:cs typeface="Arial"/>
              </a:rPr>
              <a:t>of</a:t>
            </a:r>
            <a:r>
              <a:rPr lang="en-US" sz="2800" b="1" spc="-55" dirty="0">
                <a:latin typeface="Arial"/>
                <a:cs typeface="Arial"/>
              </a:rPr>
              <a:t> </a:t>
            </a:r>
            <a:r>
              <a:rPr lang="en-US" sz="2800" b="1" dirty="0">
                <a:latin typeface="Arial"/>
                <a:cs typeface="Arial"/>
              </a:rPr>
              <a:t>execution</a:t>
            </a:r>
            <a:r>
              <a:rPr lang="en-US" sz="2800" b="1" spc="-55" dirty="0">
                <a:latin typeface="Arial"/>
                <a:cs typeface="Arial"/>
              </a:rPr>
              <a:t> </a:t>
            </a:r>
            <a:r>
              <a:rPr lang="en-US" sz="2800" b="1" dirty="0">
                <a:latin typeface="Arial"/>
                <a:cs typeface="Arial"/>
              </a:rPr>
              <a:t>of</a:t>
            </a:r>
            <a:r>
              <a:rPr lang="en-US" sz="2800" b="1" spc="-60" dirty="0">
                <a:latin typeface="Arial"/>
                <a:cs typeface="Arial"/>
              </a:rPr>
              <a:t> </a:t>
            </a:r>
            <a:r>
              <a:rPr lang="en-US" sz="2800" b="1" dirty="0">
                <a:latin typeface="Arial"/>
                <a:cs typeface="Arial"/>
              </a:rPr>
              <a:t>the</a:t>
            </a:r>
            <a:r>
              <a:rPr lang="en-US" sz="2800" b="1" spc="-70" dirty="0">
                <a:latin typeface="Arial"/>
                <a:cs typeface="Arial"/>
              </a:rPr>
              <a:t> </a:t>
            </a:r>
            <a:r>
              <a:rPr lang="en-US" sz="2800" b="1" spc="-10" dirty="0">
                <a:latin typeface="Arial"/>
                <a:cs typeface="Arial"/>
              </a:rPr>
              <a:t>statements.</a:t>
            </a:r>
            <a:endParaRPr lang="en-US" sz="2800" dirty="0">
              <a:latin typeface="Arial"/>
              <a:cs typeface="Arial"/>
            </a:endParaRPr>
          </a:p>
          <a:p>
            <a:pPr marL="284480" marR="1125855" indent="-272415" algn="just">
              <a:lnSpc>
                <a:spcPct val="150000"/>
              </a:lnSpc>
              <a:spcBef>
                <a:spcPts val="605"/>
              </a:spcBef>
              <a:buClr>
                <a:srgbClr val="D24717"/>
              </a:buClr>
              <a:buSzPct val="83928"/>
              <a:buFont typeface="Segoe UI Symbol"/>
              <a:buChar char="⚫"/>
              <a:tabLst>
                <a:tab pos="286385" algn="l"/>
              </a:tabLst>
            </a:pPr>
            <a:r>
              <a:rPr lang="en-US" sz="2800" dirty="0">
                <a:latin typeface="Arial MT"/>
                <a:cs typeface="Arial MT"/>
              </a:rPr>
              <a:t>The</a:t>
            </a:r>
            <a:r>
              <a:rPr lang="en-US" sz="2800" spc="-45" dirty="0">
                <a:latin typeface="Arial MT"/>
                <a:cs typeface="Arial MT"/>
              </a:rPr>
              <a:t> </a:t>
            </a:r>
            <a:r>
              <a:rPr lang="en-US" sz="2800" dirty="0">
                <a:latin typeface="Arial MT"/>
                <a:cs typeface="Arial MT"/>
              </a:rPr>
              <a:t>two</a:t>
            </a:r>
            <a:r>
              <a:rPr lang="en-US" sz="2800" spc="-60" dirty="0">
                <a:latin typeface="Arial MT"/>
                <a:cs typeface="Arial MT"/>
              </a:rPr>
              <a:t> </a:t>
            </a:r>
            <a:r>
              <a:rPr lang="en-US" sz="2800" dirty="0">
                <a:latin typeface="Arial MT"/>
                <a:cs typeface="Arial MT"/>
              </a:rPr>
              <a:t>major</a:t>
            </a:r>
            <a:r>
              <a:rPr lang="en-US" sz="2800" spc="-40" dirty="0">
                <a:latin typeface="Arial MT"/>
                <a:cs typeface="Arial MT"/>
              </a:rPr>
              <a:t> </a:t>
            </a:r>
            <a:r>
              <a:rPr lang="en-US" sz="2800" dirty="0">
                <a:latin typeface="Arial MT"/>
                <a:cs typeface="Arial MT"/>
              </a:rPr>
              <a:t>types</a:t>
            </a:r>
            <a:r>
              <a:rPr lang="en-US" sz="2800" spc="-60" dirty="0">
                <a:latin typeface="Arial MT"/>
                <a:cs typeface="Arial MT"/>
              </a:rPr>
              <a:t> </a:t>
            </a:r>
            <a:r>
              <a:rPr lang="en-US" sz="2800" dirty="0">
                <a:latin typeface="Arial MT"/>
                <a:cs typeface="Arial MT"/>
              </a:rPr>
              <a:t>of</a:t>
            </a:r>
            <a:r>
              <a:rPr lang="en-US" sz="2800" spc="-60" dirty="0">
                <a:latin typeface="Arial MT"/>
                <a:cs typeface="Arial MT"/>
              </a:rPr>
              <a:t> </a:t>
            </a:r>
            <a:r>
              <a:rPr lang="en-US" sz="2800" dirty="0">
                <a:latin typeface="Arial MT"/>
                <a:cs typeface="Arial MT"/>
              </a:rPr>
              <a:t>control</a:t>
            </a:r>
            <a:r>
              <a:rPr lang="en-US" sz="2800" spc="-65" dirty="0">
                <a:latin typeface="Arial MT"/>
                <a:cs typeface="Arial MT"/>
              </a:rPr>
              <a:t> </a:t>
            </a:r>
            <a:r>
              <a:rPr lang="en-US" sz="2800" spc="-10" dirty="0">
                <a:latin typeface="Arial MT"/>
                <a:cs typeface="Arial MT"/>
              </a:rPr>
              <a:t>statements 	</a:t>
            </a:r>
            <a:r>
              <a:rPr lang="en-US" sz="2800" dirty="0">
                <a:latin typeface="Arial MT"/>
                <a:cs typeface="Arial MT"/>
              </a:rPr>
              <a:t>available</a:t>
            </a:r>
            <a:r>
              <a:rPr lang="en-US" sz="2800" spc="-25" dirty="0">
                <a:latin typeface="Arial MT"/>
                <a:cs typeface="Arial MT"/>
              </a:rPr>
              <a:t> </a:t>
            </a:r>
            <a:r>
              <a:rPr lang="en-US" sz="2800" dirty="0">
                <a:latin typeface="Arial MT"/>
                <a:cs typeface="Arial MT"/>
              </a:rPr>
              <a:t>in</a:t>
            </a:r>
            <a:r>
              <a:rPr lang="en-US" sz="2800" spc="-45" dirty="0">
                <a:latin typeface="Arial MT"/>
                <a:cs typeface="Arial MT"/>
              </a:rPr>
              <a:t> </a:t>
            </a:r>
            <a:r>
              <a:rPr lang="en-US" sz="2800" dirty="0">
                <a:latin typeface="Arial MT"/>
                <a:cs typeface="Arial MT"/>
              </a:rPr>
              <a:t>Java</a:t>
            </a:r>
            <a:r>
              <a:rPr lang="en-US" sz="2800" spc="-35" dirty="0">
                <a:latin typeface="Arial MT"/>
                <a:cs typeface="Arial MT"/>
              </a:rPr>
              <a:t> </a:t>
            </a:r>
            <a:r>
              <a:rPr lang="en-US" sz="2800" dirty="0">
                <a:latin typeface="Arial MT"/>
                <a:cs typeface="Arial MT"/>
              </a:rPr>
              <a:t>are</a:t>
            </a:r>
            <a:r>
              <a:rPr lang="en-US" sz="2800" spc="-45" dirty="0">
                <a:latin typeface="Arial MT"/>
                <a:cs typeface="Arial MT"/>
              </a:rPr>
              <a:t> </a:t>
            </a:r>
            <a:r>
              <a:rPr lang="en-US" sz="2800" dirty="0">
                <a:latin typeface="Arial MT"/>
                <a:cs typeface="Arial MT"/>
              </a:rPr>
              <a:t>the</a:t>
            </a:r>
            <a:r>
              <a:rPr lang="en-US" sz="2800" spc="-10" dirty="0">
                <a:latin typeface="Arial MT"/>
                <a:cs typeface="Arial MT"/>
              </a:rPr>
              <a:t> </a:t>
            </a:r>
            <a:r>
              <a:rPr lang="en-US" sz="2800" b="1" spc="-20" dirty="0">
                <a:latin typeface="Arial"/>
                <a:cs typeface="Arial"/>
              </a:rPr>
              <a:t>decision-</a:t>
            </a:r>
            <a:r>
              <a:rPr lang="en-US" sz="2800" b="1" spc="-10" dirty="0">
                <a:latin typeface="Arial"/>
                <a:cs typeface="Arial"/>
              </a:rPr>
              <a:t>making 	</a:t>
            </a:r>
            <a:r>
              <a:rPr lang="en-US" sz="2800" b="1" dirty="0">
                <a:latin typeface="Arial"/>
                <a:cs typeface="Arial"/>
              </a:rPr>
              <a:t>statements</a:t>
            </a:r>
            <a:r>
              <a:rPr lang="en-US" sz="2800" b="1" spc="-55" dirty="0">
                <a:latin typeface="Arial"/>
                <a:cs typeface="Arial"/>
              </a:rPr>
              <a:t> </a:t>
            </a:r>
            <a:r>
              <a:rPr lang="en-US" sz="2800" dirty="0">
                <a:latin typeface="Arial MT"/>
                <a:cs typeface="Arial MT"/>
              </a:rPr>
              <a:t>and</a:t>
            </a:r>
            <a:r>
              <a:rPr lang="en-US" sz="2800" spc="-90" dirty="0">
                <a:latin typeface="Arial MT"/>
                <a:cs typeface="Arial MT"/>
              </a:rPr>
              <a:t> </a:t>
            </a:r>
            <a:r>
              <a:rPr lang="en-US" sz="2800" dirty="0">
                <a:latin typeface="Arial MT"/>
                <a:cs typeface="Arial MT"/>
              </a:rPr>
              <a:t>the</a:t>
            </a:r>
            <a:r>
              <a:rPr lang="en-US" sz="2800" spc="-70" dirty="0">
                <a:latin typeface="Arial MT"/>
                <a:cs typeface="Arial MT"/>
              </a:rPr>
              <a:t> </a:t>
            </a:r>
            <a:r>
              <a:rPr lang="en-US" sz="2800" b="1" dirty="0">
                <a:latin typeface="Arial"/>
                <a:cs typeface="Arial"/>
              </a:rPr>
              <a:t>repetitive</a:t>
            </a:r>
            <a:r>
              <a:rPr lang="en-US" sz="2800" b="1" spc="-90" dirty="0">
                <a:latin typeface="Arial"/>
                <a:cs typeface="Arial"/>
              </a:rPr>
              <a:t> </a:t>
            </a:r>
            <a:r>
              <a:rPr lang="en-US" sz="2800" b="1" spc="-10" dirty="0">
                <a:latin typeface="Arial"/>
                <a:cs typeface="Arial"/>
              </a:rPr>
              <a:t>statements</a:t>
            </a:r>
            <a:r>
              <a:rPr lang="en-US" sz="2800" spc="-10" dirty="0">
                <a:latin typeface="Arial MT"/>
                <a:cs typeface="Arial MT"/>
              </a:rPr>
              <a:t>.</a:t>
            </a:r>
            <a:endParaRPr lang="en-US" sz="2800" dirty="0">
              <a:latin typeface="Arial MT"/>
              <a:cs typeface="Arial MT"/>
            </a:endParaRPr>
          </a:p>
          <a:p>
            <a:pPr marL="561340" marR="156210" lvl="1" indent="-302260" algn="just">
              <a:lnSpc>
                <a:spcPct val="150100"/>
              </a:lnSpc>
              <a:spcBef>
                <a:spcPts val="290"/>
              </a:spcBef>
              <a:buClr>
                <a:srgbClr val="9B2C1F"/>
              </a:buClr>
              <a:buSzPct val="84375"/>
              <a:buFont typeface="Segoe UI Symbol"/>
              <a:buChar char="⚫"/>
              <a:tabLst>
                <a:tab pos="561340" algn="l"/>
              </a:tabLst>
            </a:pPr>
            <a:r>
              <a:rPr lang="en-US" sz="3200" b="1" spc="-10" dirty="0">
                <a:latin typeface="Arial"/>
                <a:cs typeface="Arial"/>
              </a:rPr>
              <a:t>Decision-</a:t>
            </a:r>
            <a:r>
              <a:rPr lang="en-US" sz="3200" b="1" dirty="0">
                <a:latin typeface="Arial"/>
                <a:cs typeface="Arial"/>
              </a:rPr>
              <a:t>making</a:t>
            </a:r>
            <a:r>
              <a:rPr lang="en-US" sz="3200" b="1" spc="-55" dirty="0">
                <a:latin typeface="Arial"/>
                <a:cs typeface="Arial"/>
              </a:rPr>
              <a:t> </a:t>
            </a:r>
            <a:r>
              <a:rPr lang="en-US" sz="3200" b="1" dirty="0">
                <a:latin typeface="Arial"/>
                <a:cs typeface="Arial"/>
              </a:rPr>
              <a:t>Statements</a:t>
            </a:r>
            <a:r>
              <a:rPr lang="en-US" sz="3200" b="1" spc="-20" dirty="0">
                <a:latin typeface="Arial"/>
                <a:cs typeface="Arial"/>
              </a:rPr>
              <a:t> </a:t>
            </a:r>
            <a:r>
              <a:rPr lang="en-US" sz="3200" dirty="0">
                <a:latin typeface="Arial MT"/>
                <a:cs typeface="Arial MT"/>
              </a:rPr>
              <a:t>–</a:t>
            </a:r>
            <a:r>
              <a:rPr lang="en-US" sz="3200" spc="-20" dirty="0">
                <a:latin typeface="Arial MT"/>
                <a:cs typeface="Arial MT"/>
              </a:rPr>
              <a:t> </a:t>
            </a:r>
            <a:r>
              <a:rPr lang="en-US" sz="3200" dirty="0">
                <a:latin typeface="Arial MT"/>
                <a:cs typeface="Arial MT"/>
              </a:rPr>
              <a:t>if,</a:t>
            </a:r>
            <a:r>
              <a:rPr lang="en-US" sz="3200" spc="5" dirty="0">
                <a:latin typeface="Arial MT"/>
                <a:cs typeface="Arial MT"/>
              </a:rPr>
              <a:t> </a:t>
            </a:r>
            <a:r>
              <a:rPr lang="en-US" sz="3200" spc="-10" dirty="0">
                <a:latin typeface="Arial MT"/>
                <a:cs typeface="Arial MT"/>
              </a:rPr>
              <a:t>if-else, switch</a:t>
            </a:r>
            <a:endParaRPr lang="en-US" sz="3200" dirty="0">
              <a:latin typeface="Arial MT"/>
              <a:cs typeface="Arial MT"/>
            </a:endParaRPr>
          </a:p>
          <a:p>
            <a:pPr marL="560705" lvl="1" indent="-301625" algn="just">
              <a:lnSpc>
                <a:spcPct val="100000"/>
              </a:lnSpc>
              <a:spcBef>
                <a:spcPts val="2330"/>
              </a:spcBef>
              <a:buClr>
                <a:srgbClr val="9B2C1F"/>
              </a:buClr>
              <a:buSzPct val="84375"/>
              <a:buFont typeface="Segoe UI Symbol"/>
              <a:buChar char="⚫"/>
              <a:tabLst>
                <a:tab pos="560705" algn="l"/>
              </a:tabLst>
            </a:pPr>
            <a:r>
              <a:rPr lang="en-US" sz="3200" b="1" dirty="0">
                <a:latin typeface="Arial"/>
                <a:cs typeface="Arial"/>
              </a:rPr>
              <a:t>Repetitive</a:t>
            </a:r>
            <a:r>
              <a:rPr lang="en-US" sz="3200" b="1" spc="-100" dirty="0">
                <a:latin typeface="Arial"/>
                <a:cs typeface="Arial"/>
              </a:rPr>
              <a:t> </a:t>
            </a:r>
            <a:r>
              <a:rPr lang="en-US" sz="3200" b="1" dirty="0">
                <a:latin typeface="Arial"/>
                <a:cs typeface="Arial"/>
              </a:rPr>
              <a:t>statements</a:t>
            </a:r>
            <a:r>
              <a:rPr lang="en-US" sz="3200" b="1" spc="-120" dirty="0">
                <a:latin typeface="Arial"/>
                <a:cs typeface="Arial"/>
              </a:rPr>
              <a:t> </a:t>
            </a:r>
            <a:r>
              <a:rPr lang="en-US" sz="3200" dirty="0">
                <a:latin typeface="Arial MT"/>
                <a:cs typeface="Arial MT"/>
              </a:rPr>
              <a:t>–</a:t>
            </a:r>
            <a:r>
              <a:rPr lang="en-US" sz="3200" spc="-75" dirty="0">
                <a:latin typeface="Arial MT"/>
                <a:cs typeface="Arial MT"/>
              </a:rPr>
              <a:t> </a:t>
            </a:r>
            <a:r>
              <a:rPr lang="en-US" sz="3200" dirty="0">
                <a:latin typeface="Arial MT"/>
                <a:cs typeface="Arial MT"/>
              </a:rPr>
              <a:t>for,</a:t>
            </a:r>
            <a:r>
              <a:rPr lang="en-US" sz="3200" spc="-60" dirty="0">
                <a:latin typeface="Arial MT"/>
                <a:cs typeface="Arial MT"/>
              </a:rPr>
              <a:t> </a:t>
            </a:r>
            <a:r>
              <a:rPr lang="en-US" sz="3200" dirty="0">
                <a:latin typeface="Arial MT"/>
                <a:cs typeface="Arial MT"/>
              </a:rPr>
              <a:t>while,</a:t>
            </a:r>
            <a:r>
              <a:rPr lang="en-US" sz="3200" spc="-75" dirty="0">
                <a:latin typeface="Arial MT"/>
                <a:cs typeface="Arial MT"/>
              </a:rPr>
              <a:t> </a:t>
            </a:r>
            <a:r>
              <a:rPr lang="en-US" sz="3200" spc="-25" dirty="0">
                <a:latin typeface="Arial MT"/>
                <a:cs typeface="Arial MT"/>
              </a:rPr>
              <a:t>do-</a:t>
            </a:r>
            <a:endParaRPr lang="en-US" sz="3200" dirty="0">
              <a:latin typeface="Arial MT"/>
              <a:cs typeface="Arial MT"/>
            </a:endParaRPr>
          </a:p>
          <a:p>
            <a:pPr algn="just"/>
            <a:endParaRPr lang="en-US" dirty="0"/>
          </a:p>
        </p:txBody>
      </p:sp>
    </p:spTree>
    <p:extLst>
      <p:ext uri="{BB962C8B-B14F-4D97-AF65-F5344CB8AC3E}">
        <p14:creationId xmlns:p14="http://schemas.microsoft.com/office/powerpoint/2010/main" val="367840719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B52DA2-2716-BFF2-FFB0-6C814409BC07}"/>
              </a:ext>
            </a:extLst>
          </p:cNvPr>
          <p:cNvSpPr>
            <a:spLocks noGrp="1"/>
          </p:cNvSpPr>
          <p:nvPr>
            <p:ph idx="1"/>
          </p:nvPr>
        </p:nvSpPr>
        <p:spPr>
          <a:xfrm>
            <a:off x="457200" y="304800"/>
            <a:ext cx="8229600" cy="5821363"/>
          </a:xfrm>
        </p:spPr>
        <p:txBody>
          <a:bodyPr>
            <a:normAutofit fontScale="85000" lnSpcReduction="10000"/>
          </a:bodyPr>
          <a:lstStyle/>
          <a:p>
            <a:pPr marL="0" indent="0" algn="just">
              <a:buNone/>
            </a:pPr>
            <a:r>
              <a:rPr lang="en-US" b="1" dirty="0">
                <a:solidFill>
                  <a:srgbClr val="FF0000"/>
                </a:solidFill>
                <a:latin typeface="Times New Roman" panose="02020603050405020304" pitchFamily="18" charset="0"/>
                <a:cs typeface="Times New Roman" panose="02020603050405020304" pitchFamily="18" charset="0"/>
              </a:rPr>
              <a:t>1. Selection Control Statements </a:t>
            </a:r>
            <a:endParaRPr lang="en-US" dirty="0">
              <a:solidFill>
                <a:srgbClr val="FF0000"/>
              </a:solidFill>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java, the selection statements are also known as decision making statements or branching </a:t>
            </a:r>
          </a:p>
          <a:p>
            <a:pPr algn="just"/>
            <a:r>
              <a:rPr lang="en-US" dirty="0">
                <a:latin typeface="Times New Roman" panose="02020603050405020304" pitchFamily="18" charset="0"/>
                <a:cs typeface="Times New Roman" panose="02020603050405020304" pitchFamily="18" charset="0"/>
              </a:rPr>
              <a:t>statements. The selection statements are used to select a part of the program to be executed based on a </a:t>
            </a:r>
          </a:p>
          <a:p>
            <a:pPr algn="just"/>
            <a:r>
              <a:rPr lang="en-US" dirty="0">
                <a:latin typeface="Times New Roman" panose="02020603050405020304" pitchFamily="18" charset="0"/>
                <a:cs typeface="Times New Roman" panose="02020603050405020304" pitchFamily="18" charset="0"/>
              </a:rPr>
              <a:t>condition. </a:t>
            </a:r>
          </a:p>
          <a:p>
            <a:pPr algn="just"/>
            <a:r>
              <a:rPr lang="en-US" b="1" dirty="0">
                <a:latin typeface="Times New Roman" panose="02020603050405020304" pitchFamily="18" charset="0"/>
                <a:cs typeface="Times New Roman" panose="02020603050405020304" pitchFamily="18" charset="0"/>
              </a:rPr>
              <a:t>Java provides the following selection statements.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if statement </a:t>
            </a:r>
          </a:p>
          <a:p>
            <a:pPr algn="just"/>
            <a:r>
              <a:rPr lang="en-US" dirty="0">
                <a:latin typeface="Times New Roman" panose="02020603050405020304" pitchFamily="18" charset="0"/>
                <a:cs typeface="Times New Roman" panose="02020603050405020304" pitchFamily="18" charset="0"/>
              </a:rPr>
              <a:t>if-else statement </a:t>
            </a:r>
          </a:p>
          <a:p>
            <a:pPr algn="just"/>
            <a:r>
              <a:rPr lang="en-US" spc="-10" dirty="0">
                <a:latin typeface="Times New Roman" panose="02020603050405020304" pitchFamily="18" charset="0"/>
                <a:cs typeface="Times New Roman" panose="02020603050405020304" pitchFamily="18" charset="0"/>
              </a:rPr>
              <a:t>if-else-</a:t>
            </a:r>
            <a:r>
              <a:rPr lang="en-US" dirty="0">
                <a:latin typeface="Times New Roman" panose="02020603050405020304" pitchFamily="18" charset="0"/>
                <a:cs typeface="Times New Roman" panose="02020603050405020304" pitchFamily="18" charset="0"/>
              </a:rPr>
              <a:t>if statement </a:t>
            </a:r>
          </a:p>
          <a:p>
            <a:pPr algn="just"/>
            <a:r>
              <a:rPr lang="en-US" dirty="0">
                <a:latin typeface="Times New Roman" panose="02020603050405020304" pitchFamily="18" charset="0"/>
                <a:cs typeface="Times New Roman" panose="02020603050405020304" pitchFamily="18" charset="0"/>
              </a:rPr>
              <a:t>nested if statement </a:t>
            </a:r>
          </a:p>
          <a:p>
            <a:pPr algn="just"/>
            <a:r>
              <a:rPr lang="en-US" dirty="0">
                <a:latin typeface="Times New Roman" panose="02020603050405020304" pitchFamily="18" charset="0"/>
                <a:cs typeface="Times New Roman" panose="02020603050405020304" pitchFamily="18" charset="0"/>
              </a:rPr>
              <a:t>switch statement </a:t>
            </a:r>
          </a:p>
        </p:txBody>
      </p:sp>
    </p:spTree>
    <p:extLst>
      <p:ext uri="{BB962C8B-B14F-4D97-AF65-F5344CB8AC3E}">
        <p14:creationId xmlns:p14="http://schemas.microsoft.com/office/powerpoint/2010/main" val="4228146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57200" y="285600"/>
            <a:ext cx="8229600" cy="1121076"/>
          </a:xfrm>
          <a:prstGeom prst="rect">
            <a:avLst/>
          </a:prstGeom>
        </p:spPr>
        <p:txBody>
          <a:bodyPr vert="horz" wrap="square" lIns="0" tIns="500634" rIns="0" bIns="0" rtlCol="0">
            <a:spAutoFit/>
          </a:bodyPr>
          <a:lstStyle/>
          <a:p>
            <a:pPr marL="12700">
              <a:lnSpc>
                <a:spcPct val="100000"/>
              </a:lnSpc>
              <a:spcBef>
                <a:spcPts val="100"/>
              </a:spcBef>
            </a:pPr>
            <a:r>
              <a:rPr sz="4000" dirty="0">
                <a:solidFill>
                  <a:srgbClr val="696363"/>
                </a:solidFill>
                <a:latin typeface="Times New Roman" panose="02020603050405020304" pitchFamily="18" charset="0"/>
                <a:cs typeface="Times New Roman" panose="02020603050405020304" pitchFamily="18" charset="0"/>
              </a:rPr>
              <a:t>Control</a:t>
            </a:r>
            <a:r>
              <a:rPr sz="4000" spc="-5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Statements</a:t>
            </a:r>
            <a:r>
              <a:rPr sz="4000" spc="-5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a:t>
            </a:r>
            <a:r>
              <a:rPr sz="4000" spc="-50" dirty="0">
                <a:solidFill>
                  <a:srgbClr val="696363"/>
                </a:solidFill>
                <a:latin typeface="Times New Roman" panose="02020603050405020304" pitchFamily="18" charset="0"/>
                <a:cs typeface="Times New Roman" panose="02020603050405020304" pitchFamily="18" charset="0"/>
              </a:rPr>
              <a:t> </a:t>
            </a:r>
            <a:r>
              <a:rPr sz="4000" dirty="0">
                <a:latin typeface="Times New Roman" panose="02020603050405020304" pitchFamily="18" charset="0"/>
                <a:cs typeface="Times New Roman" panose="02020603050405020304" pitchFamily="18" charset="0"/>
              </a:rPr>
              <a:t>if</a:t>
            </a:r>
            <a:r>
              <a:rPr sz="4000" spc="-45" dirty="0">
                <a:latin typeface="Times New Roman" panose="02020603050405020304" pitchFamily="18" charset="0"/>
                <a:cs typeface="Times New Roman" panose="02020603050405020304" pitchFamily="18" charset="0"/>
              </a:rPr>
              <a:t> </a:t>
            </a:r>
            <a:r>
              <a:rPr sz="4000" spc="-10" dirty="0">
                <a:latin typeface="Times New Roman" panose="02020603050405020304" pitchFamily="18" charset="0"/>
                <a:cs typeface="Times New Roman" panose="02020603050405020304" pitchFamily="18" charset="0"/>
              </a:rPr>
              <a:t>statement</a:t>
            </a:r>
          </a:p>
        </p:txBody>
      </p:sp>
      <p:sp>
        <p:nvSpPr>
          <p:cNvPr id="3" name="object 3"/>
          <p:cNvSpPr txBox="1"/>
          <p:nvPr/>
        </p:nvSpPr>
        <p:spPr>
          <a:xfrm>
            <a:off x="494071" y="1920876"/>
            <a:ext cx="8013700" cy="4251960"/>
          </a:xfrm>
          <a:prstGeom prst="rect">
            <a:avLst/>
          </a:prstGeom>
        </p:spPr>
        <p:txBody>
          <a:bodyPr vert="horz" wrap="square" lIns="0" tIns="12065" rIns="0" bIns="0" rtlCol="0">
            <a:spAutoFit/>
          </a:bodyPr>
          <a:lstStyle/>
          <a:p>
            <a:pPr marL="286385" marR="5080" indent="-286385" algn="just">
              <a:lnSpc>
                <a:spcPct val="150100"/>
              </a:lnSpc>
              <a:spcBef>
                <a:spcPts val="95"/>
              </a:spcBef>
              <a:buClr>
                <a:srgbClr val="D24717"/>
              </a:buClr>
              <a:buSzPct val="79687"/>
              <a:buFont typeface="Segoe UI Symbol"/>
              <a:buChar char="⚫"/>
              <a:tabLst>
                <a:tab pos="286385" algn="l"/>
              </a:tabLst>
            </a:pPr>
            <a:r>
              <a:rPr sz="3200" dirty="0">
                <a:latin typeface="Times New Roman" panose="02020603050405020304" pitchFamily="18" charset="0"/>
                <a:cs typeface="Times New Roman" panose="02020603050405020304" pitchFamily="18" charset="0"/>
              </a:rPr>
              <a:t>The</a:t>
            </a:r>
            <a:r>
              <a:rPr sz="3200" spc="-65"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Java</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if</a:t>
            </a:r>
            <a:r>
              <a:rPr sz="3200" spc="-2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statement</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tests</a:t>
            </a:r>
            <a:r>
              <a:rPr sz="3200" spc="-45"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the</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condition.</a:t>
            </a:r>
            <a:r>
              <a:rPr sz="3200" spc="-30" dirty="0">
                <a:latin typeface="Times New Roman" panose="02020603050405020304" pitchFamily="18" charset="0"/>
                <a:cs typeface="Times New Roman" panose="02020603050405020304" pitchFamily="18" charset="0"/>
              </a:rPr>
              <a:t> </a:t>
            </a:r>
            <a:r>
              <a:rPr sz="3200" spc="-25" dirty="0">
                <a:latin typeface="Times New Roman" panose="02020603050405020304" pitchFamily="18" charset="0"/>
                <a:cs typeface="Times New Roman" panose="02020603050405020304" pitchFamily="18" charset="0"/>
              </a:rPr>
              <a:t>It </a:t>
            </a:r>
            <a:r>
              <a:rPr sz="3200" dirty="0">
                <a:latin typeface="Times New Roman" panose="02020603050405020304" pitchFamily="18" charset="0"/>
                <a:cs typeface="Times New Roman" panose="02020603050405020304" pitchFamily="18" charset="0"/>
              </a:rPr>
              <a:t>executes</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the</a:t>
            </a:r>
            <a:r>
              <a:rPr sz="3200" spc="-45" dirty="0">
                <a:latin typeface="Times New Roman" panose="02020603050405020304" pitchFamily="18" charset="0"/>
                <a:cs typeface="Times New Roman" panose="02020603050405020304" pitchFamily="18" charset="0"/>
              </a:rPr>
              <a:t> </a:t>
            </a:r>
            <a:r>
              <a:rPr sz="3200" i="1" dirty="0">
                <a:latin typeface="Times New Roman" panose="02020603050405020304" pitchFamily="18" charset="0"/>
                <a:cs typeface="Times New Roman" panose="02020603050405020304" pitchFamily="18" charset="0"/>
              </a:rPr>
              <a:t>if</a:t>
            </a:r>
            <a:r>
              <a:rPr sz="3200" i="1" spc="-20" dirty="0">
                <a:latin typeface="Times New Roman" panose="02020603050405020304" pitchFamily="18" charset="0"/>
                <a:cs typeface="Times New Roman" panose="02020603050405020304" pitchFamily="18" charset="0"/>
              </a:rPr>
              <a:t> </a:t>
            </a:r>
            <a:r>
              <a:rPr sz="3200" i="1" dirty="0">
                <a:latin typeface="Times New Roman" panose="02020603050405020304" pitchFamily="18" charset="0"/>
                <a:cs typeface="Times New Roman" panose="02020603050405020304" pitchFamily="18" charset="0"/>
              </a:rPr>
              <a:t>block</a:t>
            </a:r>
            <a:r>
              <a:rPr sz="3200" i="1"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if</a:t>
            </a:r>
            <a:r>
              <a:rPr sz="3200" spc="-2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condition</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is</a:t>
            </a:r>
            <a:r>
              <a:rPr sz="3200" spc="-20" dirty="0">
                <a:latin typeface="Times New Roman" panose="02020603050405020304" pitchFamily="18" charset="0"/>
                <a:cs typeface="Times New Roman" panose="02020603050405020304" pitchFamily="18" charset="0"/>
              </a:rPr>
              <a:t> </a:t>
            </a:r>
            <a:r>
              <a:rPr sz="3200" spc="-10" dirty="0">
                <a:latin typeface="Times New Roman" panose="02020603050405020304" pitchFamily="18" charset="0"/>
                <a:cs typeface="Times New Roman" panose="02020603050405020304" pitchFamily="18" charset="0"/>
              </a:rPr>
              <a:t>true.</a:t>
            </a:r>
            <a:endParaRPr sz="3200" dirty="0">
              <a:latin typeface="Times New Roman" panose="02020603050405020304" pitchFamily="18" charset="0"/>
              <a:cs typeface="Times New Roman" panose="02020603050405020304" pitchFamily="18" charset="0"/>
            </a:endParaRPr>
          </a:p>
          <a:p>
            <a:pPr marL="286385" indent="-285750" algn="just">
              <a:lnSpc>
                <a:spcPct val="100000"/>
              </a:lnSpc>
              <a:spcBef>
                <a:spcPts val="2520"/>
              </a:spcBef>
              <a:buClr>
                <a:srgbClr val="D24717"/>
              </a:buClr>
              <a:buSzPct val="79687"/>
              <a:buFont typeface="Segoe UI Symbol"/>
              <a:buChar char="⚫"/>
              <a:tabLst>
                <a:tab pos="286385" algn="l"/>
              </a:tabLst>
            </a:pPr>
            <a:r>
              <a:rPr sz="3200" dirty="0">
                <a:latin typeface="Times New Roman" panose="02020603050405020304" pitchFamily="18" charset="0"/>
                <a:cs typeface="Times New Roman" panose="02020603050405020304" pitchFamily="18" charset="0"/>
              </a:rPr>
              <a:t>The</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syntax</a:t>
            </a:r>
            <a:r>
              <a:rPr sz="3200" spc="-3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as</a:t>
            </a:r>
            <a:r>
              <a:rPr sz="3200" spc="-25" dirty="0">
                <a:latin typeface="Times New Roman" panose="02020603050405020304" pitchFamily="18" charset="0"/>
                <a:cs typeface="Times New Roman" panose="02020603050405020304" pitchFamily="18" charset="0"/>
              </a:rPr>
              <a:t> </a:t>
            </a:r>
            <a:r>
              <a:rPr sz="3200" spc="-10" dirty="0">
                <a:latin typeface="Times New Roman" panose="02020603050405020304" pitchFamily="18" charset="0"/>
                <a:cs typeface="Times New Roman" panose="02020603050405020304" pitchFamily="18" charset="0"/>
              </a:rPr>
              <a:t>follows</a:t>
            </a:r>
            <a:endParaRPr sz="3200" dirty="0">
              <a:latin typeface="Times New Roman" panose="02020603050405020304" pitchFamily="18" charset="0"/>
              <a:cs typeface="Times New Roman" panose="02020603050405020304" pitchFamily="18" charset="0"/>
            </a:endParaRPr>
          </a:p>
          <a:p>
            <a:pPr marL="927100" algn="just">
              <a:lnSpc>
                <a:spcPct val="100000"/>
              </a:lnSpc>
              <a:spcBef>
                <a:spcPts val="2085"/>
              </a:spcBef>
            </a:pPr>
            <a:r>
              <a:rPr sz="2400" b="1" i="1" spc="-10" dirty="0">
                <a:latin typeface="Times New Roman" panose="02020603050405020304" pitchFamily="18" charset="0"/>
                <a:cs typeface="Times New Roman" panose="02020603050405020304" pitchFamily="18" charset="0"/>
              </a:rPr>
              <a:t>if(condition)</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590"/>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841500" algn="just">
              <a:lnSpc>
                <a:spcPct val="100000"/>
              </a:lnSpc>
              <a:spcBef>
                <a:spcPts val="600"/>
              </a:spcBef>
            </a:pPr>
            <a:r>
              <a:rPr sz="2400" b="1" i="1" dirty="0">
                <a:latin typeface="Times New Roman" panose="02020603050405020304" pitchFamily="18" charset="0"/>
                <a:cs typeface="Times New Roman" panose="02020603050405020304" pitchFamily="18" charset="0"/>
              </a:rPr>
              <a:t>//code</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to</a:t>
            </a:r>
            <a:r>
              <a:rPr sz="2400" b="1" i="1" spc="-2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be</a:t>
            </a:r>
            <a:r>
              <a:rPr sz="2400" b="1" i="1" spc="-20" dirty="0">
                <a:latin typeface="Times New Roman" panose="02020603050405020304" pitchFamily="18" charset="0"/>
                <a:cs typeface="Times New Roman" panose="02020603050405020304" pitchFamily="18" charset="0"/>
              </a:rPr>
              <a:t> </a:t>
            </a:r>
            <a:r>
              <a:rPr sz="2400" b="1" i="1" spc="-10" dirty="0">
                <a:latin typeface="Times New Roman" panose="02020603050405020304" pitchFamily="18" charset="0"/>
                <a:cs typeface="Times New Roman" panose="02020603050405020304" pitchFamily="18" charset="0"/>
              </a:rPr>
              <a:t>executed</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77678" y="0"/>
            <a:ext cx="7596505" cy="574040"/>
          </a:xfrm>
          <a:prstGeom prst="rect">
            <a:avLst/>
          </a:prstGeom>
        </p:spPr>
        <p:txBody>
          <a:bodyPr vert="horz" wrap="square" lIns="0" tIns="12700" rIns="0" bIns="0" rtlCol="0">
            <a:normAutofit fontScale="90000"/>
          </a:bodyPr>
          <a:lstStyle/>
          <a:p>
            <a:pPr marL="12700">
              <a:lnSpc>
                <a:spcPct val="100000"/>
              </a:lnSpc>
              <a:spcBef>
                <a:spcPts val="100"/>
              </a:spcBef>
            </a:pPr>
            <a:r>
              <a:rPr dirty="0">
                <a:solidFill>
                  <a:srgbClr val="696363"/>
                </a:solidFill>
              </a:rPr>
              <a:t>Control</a:t>
            </a:r>
            <a:r>
              <a:rPr spc="-45" dirty="0">
                <a:solidFill>
                  <a:srgbClr val="696363"/>
                </a:solidFill>
              </a:rPr>
              <a:t> </a:t>
            </a:r>
            <a:r>
              <a:rPr dirty="0">
                <a:solidFill>
                  <a:srgbClr val="696363"/>
                </a:solidFill>
              </a:rPr>
              <a:t>Statements</a:t>
            </a:r>
            <a:r>
              <a:rPr spc="-50" dirty="0">
                <a:solidFill>
                  <a:srgbClr val="696363"/>
                </a:solidFill>
              </a:rPr>
              <a:t> </a:t>
            </a:r>
            <a:r>
              <a:rPr dirty="0">
                <a:solidFill>
                  <a:srgbClr val="696363"/>
                </a:solidFill>
              </a:rPr>
              <a:t>–</a:t>
            </a:r>
            <a:r>
              <a:rPr spc="-50" dirty="0">
                <a:solidFill>
                  <a:srgbClr val="696363"/>
                </a:solidFill>
              </a:rPr>
              <a:t> </a:t>
            </a:r>
            <a:r>
              <a:rPr dirty="0"/>
              <a:t>if</a:t>
            </a:r>
            <a:r>
              <a:rPr spc="-45" dirty="0"/>
              <a:t> </a:t>
            </a:r>
            <a:r>
              <a:rPr dirty="0"/>
              <a:t>statement</a:t>
            </a:r>
            <a:r>
              <a:rPr spc="-60" dirty="0"/>
              <a:t> </a:t>
            </a:r>
            <a:r>
              <a:rPr spc="-50" dirty="0"/>
              <a:t>-</a:t>
            </a:r>
          </a:p>
        </p:txBody>
      </p:sp>
      <p:sp>
        <p:nvSpPr>
          <p:cNvPr id="3" name="object 3"/>
          <p:cNvSpPr txBox="1"/>
          <p:nvPr/>
        </p:nvSpPr>
        <p:spPr>
          <a:xfrm>
            <a:off x="198290" y="679366"/>
            <a:ext cx="7955280" cy="4492255"/>
          </a:xfrm>
          <a:prstGeom prst="rect">
            <a:avLst/>
          </a:prstGeom>
        </p:spPr>
        <p:txBody>
          <a:bodyPr vert="horz" wrap="square" lIns="0" tIns="181610" rIns="0" bIns="0" rtlCol="0">
            <a:spAutoFit/>
          </a:bodyPr>
          <a:lstStyle/>
          <a:p>
            <a:pPr marL="88900">
              <a:lnSpc>
                <a:spcPct val="100000"/>
              </a:lnSpc>
              <a:spcBef>
                <a:spcPts val="890"/>
              </a:spcBef>
            </a:pPr>
            <a:r>
              <a:rPr sz="2400" b="1" dirty="0">
                <a:latin typeface="Courier New"/>
                <a:cs typeface="Courier New"/>
              </a:rPr>
              <a:t>public</a:t>
            </a:r>
            <a:r>
              <a:rPr sz="2400" b="1" spc="-45" dirty="0">
                <a:latin typeface="Courier New"/>
                <a:cs typeface="Courier New"/>
              </a:rPr>
              <a:t> </a:t>
            </a:r>
            <a:r>
              <a:rPr sz="2400" b="1" dirty="0">
                <a:latin typeface="Courier New"/>
                <a:cs typeface="Courier New"/>
              </a:rPr>
              <a:t>class</a:t>
            </a:r>
            <a:r>
              <a:rPr sz="2400" b="1" spc="-25" dirty="0">
                <a:latin typeface="Courier New"/>
                <a:cs typeface="Courier New"/>
              </a:rPr>
              <a:t> </a:t>
            </a:r>
            <a:r>
              <a:rPr sz="2400" spc="-10" dirty="0">
                <a:latin typeface="Courier New"/>
                <a:cs typeface="Courier New"/>
              </a:rPr>
              <a:t>IfExample</a:t>
            </a:r>
            <a:endParaRPr sz="2400" dirty="0">
              <a:latin typeface="Courier New"/>
              <a:cs typeface="Courier New"/>
            </a:endParaRPr>
          </a:p>
          <a:p>
            <a:pPr marL="88900">
              <a:lnSpc>
                <a:spcPct val="100000"/>
              </a:lnSpc>
              <a:spcBef>
                <a:spcPts val="600"/>
              </a:spcBef>
            </a:pPr>
            <a:r>
              <a:rPr sz="2400" spc="-50" dirty="0">
                <a:latin typeface="Courier New"/>
                <a:cs typeface="Courier New"/>
              </a:rPr>
              <a:t>{</a:t>
            </a:r>
            <a:endParaRPr sz="2400" dirty="0">
              <a:latin typeface="Courier New"/>
              <a:cs typeface="Courier New"/>
            </a:endParaRPr>
          </a:p>
          <a:p>
            <a:pPr marL="1003300">
              <a:lnSpc>
                <a:spcPct val="100000"/>
              </a:lnSpc>
              <a:spcBef>
                <a:spcPts val="600"/>
              </a:spcBef>
            </a:pPr>
            <a:r>
              <a:rPr sz="2400" b="1" dirty="0">
                <a:latin typeface="Courier New"/>
                <a:cs typeface="Courier New"/>
              </a:rPr>
              <a:t>public</a:t>
            </a:r>
            <a:r>
              <a:rPr sz="2400" b="1" spc="-65" dirty="0">
                <a:latin typeface="Courier New"/>
                <a:cs typeface="Courier New"/>
              </a:rPr>
              <a:t> </a:t>
            </a:r>
            <a:r>
              <a:rPr sz="2400" b="1" dirty="0">
                <a:latin typeface="Courier New"/>
                <a:cs typeface="Courier New"/>
              </a:rPr>
              <a:t>static</a:t>
            </a:r>
            <a:r>
              <a:rPr sz="2400" b="1" spc="-60" dirty="0">
                <a:latin typeface="Courier New"/>
                <a:cs typeface="Courier New"/>
              </a:rPr>
              <a:t> </a:t>
            </a:r>
            <a:r>
              <a:rPr sz="2400" b="1" dirty="0">
                <a:latin typeface="Courier New"/>
                <a:cs typeface="Courier New"/>
              </a:rPr>
              <a:t>void</a:t>
            </a:r>
            <a:r>
              <a:rPr sz="2400" b="1" spc="-50" dirty="0">
                <a:latin typeface="Courier New"/>
                <a:cs typeface="Courier New"/>
              </a:rPr>
              <a:t> </a:t>
            </a:r>
            <a:r>
              <a:rPr sz="2400" dirty="0">
                <a:latin typeface="Courier New"/>
                <a:cs typeface="Courier New"/>
              </a:rPr>
              <a:t>main(String[]</a:t>
            </a:r>
            <a:r>
              <a:rPr sz="2400" spc="-55" dirty="0">
                <a:latin typeface="Courier New"/>
                <a:cs typeface="Courier New"/>
              </a:rPr>
              <a:t> </a:t>
            </a:r>
            <a:r>
              <a:rPr sz="2400" spc="-20" dirty="0">
                <a:latin typeface="Courier New"/>
                <a:cs typeface="Courier New"/>
              </a:rPr>
              <a:t>args)</a:t>
            </a:r>
            <a:endParaRPr sz="2400" dirty="0">
              <a:latin typeface="Courier New"/>
              <a:cs typeface="Courier New"/>
            </a:endParaRPr>
          </a:p>
          <a:p>
            <a:pPr marL="1003300">
              <a:lnSpc>
                <a:spcPct val="100000"/>
              </a:lnSpc>
              <a:spcBef>
                <a:spcPts val="600"/>
              </a:spcBef>
            </a:pPr>
            <a:r>
              <a:rPr sz="2400" spc="-50" dirty="0">
                <a:latin typeface="Courier New"/>
                <a:cs typeface="Courier New"/>
              </a:rPr>
              <a:t>{</a:t>
            </a:r>
            <a:endParaRPr sz="2400" dirty="0">
              <a:latin typeface="Courier New"/>
              <a:cs typeface="Courier New"/>
            </a:endParaRPr>
          </a:p>
          <a:p>
            <a:pPr marL="1917700">
              <a:lnSpc>
                <a:spcPct val="100000"/>
              </a:lnSpc>
              <a:spcBef>
                <a:spcPts val="600"/>
              </a:spcBef>
            </a:pPr>
            <a:r>
              <a:rPr sz="2400" b="1" dirty="0">
                <a:latin typeface="Courier New"/>
                <a:cs typeface="Courier New"/>
              </a:rPr>
              <a:t>int</a:t>
            </a:r>
            <a:r>
              <a:rPr sz="2400" b="1" spc="-15" dirty="0">
                <a:latin typeface="Courier New"/>
                <a:cs typeface="Courier New"/>
              </a:rPr>
              <a:t> </a:t>
            </a:r>
            <a:r>
              <a:rPr sz="2400" spc="-10" dirty="0">
                <a:latin typeface="Courier New"/>
                <a:cs typeface="Courier New"/>
              </a:rPr>
              <a:t>age=20;</a:t>
            </a:r>
            <a:endParaRPr sz="2400" dirty="0">
              <a:latin typeface="Courier New"/>
              <a:cs typeface="Courier New"/>
            </a:endParaRPr>
          </a:p>
          <a:p>
            <a:pPr marL="1917700">
              <a:lnSpc>
                <a:spcPct val="100000"/>
              </a:lnSpc>
              <a:spcBef>
                <a:spcPts val="600"/>
              </a:spcBef>
            </a:pPr>
            <a:r>
              <a:rPr sz="2400" b="1" spc="-10" dirty="0">
                <a:latin typeface="Courier New"/>
                <a:cs typeface="Courier New"/>
              </a:rPr>
              <a:t>if</a:t>
            </a:r>
            <a:r>
              <a:rPr sz="2400" spc="-10" dirty="0">
                <a:latin typeface="Courier New"/>
                <a:cs typeface="Courier New"/>
              </a:rPr>
              <a:t>(age&gt;18)</a:t>
            </a:r>
            <a:endParaRPr sz="2400" dirty="0">
              <a:latin typeface="Courier New"/>
              <a:cs typeface="Courier New"/>
            </a:endParaRPr>
          </a:p>
          <a:p>
            <a:pPr marL="1917700">
              <a:lnSpc>
                <a:spcPct val="100000"/>
              </a:lnSpc>
              <a:spcBef>
                <a:spcPts val="605"/>
              </a:spcBef>
            </a:pPr>
            <a:r>
              <a:rPr sz="2400" spc="-50" dirty="0">
                <a:latin typeface="Courier New"/>
                <a:cs typeface="Courier New"/>
              </a:rPr>
              <a:t>{</a:t>
            </a:r>
            <a:endParaRPr sz="2400" dirty="0">
              <a:latin typeface="Courier New"/>
              <a:cs typeface="Courier New"/>
            </a:endParaRPr>
          </a:p>
          <a:p>
            <a:pPr marL="88900" marR="732155" indent="2743835">
              <a:lnSpc>
                <a:spcPct val="100000"/>
              </a:lnSpc>
              <a:spcBef>
                <a:spcPts val="600"/>
              </a:spcBef>
            </a:pPr>
            <a:r>
              <a:rPr sz="2400" dirty="0">
                <a:latin typeface="Courier New"/>
                <a:cs typeface="Courier New"/>
              </a:rPr>
              <a:t>System.out.print("Age</a:t>
            </a:r>
            <a:r>
              <a:rPr sz="2400" spc="-145" dirty="0">
                <a:latin typeface="Courier New"/>
                <a:cs typeface="Courier New"/>
              </a:rPr>
              <a:t> </a:t>
            </a:r>
            <a:r>
              <a:rPr sz="2400" spc="-25" dirty="0">
                <a:latin typeface="Courier New"/>
                <a:cs typeface="Courier New"/>
              </a:rPr>
              <a:t>is </a:t>
            </a:r>
            <a:r>
              <a:rPr sz="2400" dirty="0">
                <a:latin typeface="Courier New"/>
                <a:cs typeface="Courier New"/>
              </a:rPr>
              <a:t>greater</a:t>
            </a:r>
            <a:r>
              <a:rPr sz="2400" spc="-50" dirty="0">
                <a:latin typeface="Courier New"/>
                <a:cs typeface="Courier New"/>
              </a:rPr>
              <a:t> </a:t>
            </a:r>
            <a:r>
              <a:rPr sz="2400" dirty="0">
                <a:latin typeface="Courier New"/>
                <a:cs typeface="Courier New"/>
              </a:rPr>
              <a:t>than</a:t>
            </a:r>
            <a:r>
              <a:rPr sz="2400" spc="-25" dirty="0">
                <a:latin typeface="Courier New"/>
                <a:cs typeface="Courier New"/>
              </a:rPr>
              <a:t> </a:t>
            </a:r>
            <a:r>
              <a:rPr sz="2400" spc="-10" dirty="0">
                <a:latin typeface="Courier New"/>
                <a:cs typeface="Courier New"/>
              </a:rPr>
              <a:t>18");</a:t>
            </a:r>
            <a:endParaRPr sz="2400" dirty="0">
              <a:latin typeface="Courier New"/>
              <a:cs typeface="Courier New"/>
            </a:endParaRPr>
          </a:p>
          <a:p>
            <a:pPr marL="1917700">
              <a:lnSpc>
                <a:spcPct val="100000"/>
              </a:lnSpc>
              <a:spcBef>
                <a:spcPts val="600"/>
              </a:spcBef>
            </a:pPr>
            <a:r>
              <a:rPr sz="2400" spc="-50" dirty="0">
                <a:latin typeface="Courier New"/>
                <a:cs typeface="Courier New"/>
              </a:rPr>
              <a:t>}</a:t>
            </a:r>
            <a:endParaRPr sz="2400" dirty="0">
              <a:latin typeface="Courier New"/>
              <a:cs typeface="Courier New"/>
            </a:endParaRPr>
          </a:p>
        </p:txBody>
      </p:sp>
      <p:sp>
        <p:nvSpPr>
          <p:cNvPr id="4" name="object 4"/>
          <p:cNvSpPr txBox="1"/>
          <p:nvPr/>
        </p:nvSpPr>
        <p:spPr>
          <a:xfrm>
            <a:off x="1298194" y="533166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dirty="0">
              <a:latin typeface="Courier New"/>
              <a:cs typeface="Courier New"/>
            </a:endParaRPr>
          </a:p>
        </p:txBody>
      </p:sp>
      <p:sp>
        <p:nvSpPr>
          <p:cNvPr id="5" name="object 5"/>
          <p:cNvSpPr txBox="1"/>
          <p:nvPr/>
        </p:nvSpPr>
        <p:spPr>
          <a:xfrm>
            <a:off x="383540" y="577362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6" name="object 6"/>
          <p:cNvSpPr txBox="1"/>
          <p:nvPr/>
        </p:nvSpPr>
        <p:spPr>
          <a:xfrm>
            <a:off x="3965575" y="5366715"/>
            <a:ext cx="1221740" cy="391160"/>
          </a:xfrm>
          <a:prstGeom prst="rect">
            <a:avLst/>
          </a:prstGeom>
        </p:spPr>
        <p:txBody>
          <a:bodyPr vert="horz" wrap="square" lIns="0" tIns="12700" rIns="0" bIns="0" rtlCol="0">
            <a:spAutoFit/>
          </a:bodyPr>
          <a:lstStyle/>
          <a:p>
            <a:pPr marL="12700">
              <a:lnSpc>
                <a:spcPct val="100000"/>
              </a:lnSpc>
              <a:spcBef>
                <a:spcPts val="100"/>
              </a:spcBef>
            </a:pPr>
            <a:r>
              <a:rPr sz="2400" spc="-10" dirty="0">
                <a:solidFill>
                  <a:srgbClr val="FF0000"/>
                </a:solidFill>
                <a:latin typeface="Verdana"/>
                <a:cs typeface="Verdana"/>
              </a:rPr>
              <a:t>Output:</a:t>
            </a:r>
            <a:endParaRPr sz="2400">
              <a:latin typeface="Verdana"/>
              <a:cs typeface="Verdana"/>
            </a:endParaRPr>
          </a:p>
        </p:txBody>
      </p:sp>
      <p:sp>
        <p:nvSpPr>
          <p:cNvPr id="7" name="object 7"/>
          <p:cNvSpPr txBox="1"/>
          <p:nvPr/>
        </p:nvSpPr>
        <p:spPr>
          <a:xfrm>
            <a:off x="3965575" y="6063183"/>
            <a:ext cx="4043045"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FF0000"/>
                </a:solidFill>
                <a:latin typeface="Courier New"/>
                <a:cs typeface="Courier New"/>
              </a:rPr>
              <a:t>Age</a:t>
            </a:r>
            <a:r>
              <a:rPr sz="2400" spc="-40" dirty="0">
                <a:solidFill>
                  <a:srgbClr val="FF0000"/>
                </a:solidFill>
                <a:latin typeface="Courier New"/>
                <a:cs typeface="Courier New"/>
              </a:rPr>
              <a:t> </a:t>
            </a:r>
            <a:r>
              <a:rPr sz="2400" dirty="0">
                <a:solidFill>
                  <a:srgbClr val="FF0000"/>
                </a:solidFill>
                <a:latin typeface="Courier New"/>
                <a:cs typeface="Courier New"/>
              </a:rPr>
              <a:t>is</a:t>
            </a:r>
            <a:r>
              <a:rPr sz="2400" spc="-30" dirty="0">
                <a:solidFill>
                  <a:srgbClr val="FF0000"/>
                </a:solidFill>
                <a:latin typeface="Courier New"/>
                <a:cs typeface="Courier New"/>
              </a:rPr>
              <a:t> </a:t>
            </a:r>
            <a:r>
              <a:rPr sz="2400" dirty="0">
                <a:solidFill>
                  <a:srgbClr val="FF0000"/>
                </a:solidFill>
                <a:latin typeface="Courier New"/>
                <a:cs typeface="Courier New"/>
              </a:rPr>
              <a:t>greater</a:t>
            </a:r>
            <a:r>
              <a:rPr sz="2400" spc="-35" dirty="0">
                <a:solidFill>
                  <a:srgbClr val="FF0000"/>
                </a:solidFill>
                <a:latin typeface="Courier New"/>
                <a:cs typeface="Courier New"/>
              </a:rPr>
              <a:t> </a:t>
            </a:r>
            <a:r>
              <a:rPr sz="2400" dirty="0">
                <a:solidFill>
                  <a:srgbClr val="FF0000"/>
                </a:solidFill>
                <a:latin typeface="Courier New"/>
                <a:cs typeface="Courier New"/>
              </a:rPr>
              <a:t>than</a:t>
            </a:r>
            <a:r>
              <a:rPr sz="2400" spc="-25" dirty="0">
                <a:solidFill>
                  <a:srgbClr val="FF0000"/>
                </a:solidFill>
                <a:latin typeface="Courier New"/>
                <a:cs typeface="Courier New"/>
              </a:rPr>
              <a:t> 18</a:t>
            </a:r>
            <a:endParaRPr sz="2400">
              <a:latin typeface="Courier New"/>
              <a:cs typeface="Courier New"/>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6080" y="-61556"/>
            <a:ext cx="7614920"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Control</a:t>
            </a:r>
            <a:r>
              <a:rPr spc="-50" dirty="0">
                <a:solidFill>
                  <a:srgbClr val="696363"/>
                </a:solidFill>
              </a:rPr>
              <a:t> </a:t>
            </a:r>
            <a:r>
              <a:rPr dirty="0">
                <a:solidFill>
                  <a:srgbClr val="696363"/>
                </a:solidFill>
              </a:rPr>
              <a:t>Statements</a:t>
            </a:r>
            <a:r>
              <a:rPr spc="-50" dirty="0">
                <a:solidFill>
                  <a:srgbClr val="696363"/>
                </a:solidFill>
              </a:rPr>
              <a:t> </a:t>
            </a:r>
            <a:r>
              <a:rPr dirty="0">
                <a:solidFill>
                  <a:srgbClr val="696363"/>
                </a:solidFill>
              </a:rPr>
              <a:t>–</a:t>
            </a:r>
            <a:r>
              <a:rPr spc="-55" dirty="0">
                <a:solidFill>
                  <a:srgbClr val="696363"/>
                </a:solidFill>
              </a:rPr>
              <a:t> </a:t>
            </a:r>
            <a:r>
              <a:rPr spc="-20" dirty="0"/>
              <a:t>if-else</a:t>
            </a:r>
          </a:p>
        </p:txBody>
      </p:sp>
      <p:sp>
        <p:nvSpPr>
          <p:cNvPr id="3" name="object 3"/>
          <p:cNvSpPr txBox="1"/>
          <p:nvPr/>
        </p:nvSpPr>
        <p:spPr>
          <a:xfrm>
            <a:off x="307340" y="145357"/>
            <a:ext cx="8450580" cy="5983689"/>
          </a:xfrm>
          <a:prstGeom prst="rect">
            <a:avLst/>
          </a:prstGeom>
        </p:spPr>
        <p:txBody>
          <a:bodyPr vert="horz" wrap="square" lIns="0" tIns="193040" rIns="0" bIns="0" rtlCol="0">
            <a:spAutoFit/>
          </a:bodyPr>
          <a:lstStyle/>
          <a:p>
            <a:pPr marL="361315" indent="-272415" algn="ctr">
              <a:lnSpc>
                <a:spcPct val="100000"/>
              </a:lnSpc>
              <a:spcBef>
                <a:spcPts val="1100"/>
              </a:spcBef>
              <a:buClr>
                <a:srgbClr val="D24717"/>
              </a:buClr>
              <a:buSzPct val="83928"/>
              <a:buFont typeface="Segoe UI Symbol"/>
              <a:buChar char="⚫"/>
              <a:tabLst>
                <a:tab pos="361315" algn="l"/>
              </a:tabLst>
            </a:pPr>
            <a:endParaRPr lang="en-US" sz="2800" dirty="0">
              <a:latin typeface="Times New Roman" panose="02020603050405020304" pitchFamily="18" charset="0"/>
              <a:cs typeface="Times New Roman" panose="02020603050405020304" pitchFamily="18" charset="0"/>
            </a:endParaRPr>
          </a:p>
          <a:p>
            <a:pPr marL="361315" indent="-272415" algn="just">
              <a:lnSpc>
                <a:spcPct val="100000"/>
              </a:lnSpc>
              <a:spcBef>
                <a:spcPts val="1100"/>
              </a:spcBef>
              <a:buClr>
                <a:srgbClr val="D24717"/>
              </a:buClr>
              <a:buSzPct val="83928"/>
              <a:buFont typeface="Segoe UI Symbol"/>
              <a:buChar char="⚫"/>
              <a:tabLst>
                <a:tab pos="361315" algn="l"/>
              </a:tabLst>
            </a:pP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Java</a:t>
            </a:r>
            <a:r>
              <a:rPr sz="2800" spc="-6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if-</a:t>
            </a:r>
            <a:r>
              <a:rPr sz="2800" dirty="0">
                <a:latin typeface="Times New Roman" panose="02020603050405020304" pitchFamily="18" charset="0"/>
                <a:cs typeface="Times New Roman" panose="02020603050405020304" pitchFamily="18" charset="0"/>
              </a:rPr>
              <a:t>else</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statement</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also</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tests</a:t>
            </a:r>
            <a:r>
              <a:rPr sz="2800" spc="-7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condition.</a:t>
            </a:r>
            <a:endParaRPr sz="2800" dirty="0">
              <a:latin typeface="Times New Roman" panose="02020603050405020304" pitchFamily="18" charset="0"/>
              <a:cs typeface="Times New Roman" panose="02020603050405020304" pitchFamily="18" charset="0"/>
            </a:endParaRPr>
          </a:p>
          <a:p>
            <a:pPr marL="360680" marR="5080" indent="-272415" algn="just">
              <a:lnSpc>
                <a:spcPct val="100000"/>
              </a:lnSpc>
              <a:spcBef>
                <a:spcPts val="600"/>
              </a:spcBef>
              <a:buClr>
                <a:srgbClr val="D24717"/>
              </a:buClr>
              <a:buSzPct val="83928"/>
              <a:buFont typeface="Segoe UI Symbol"/>
              <a:buChar char="⚫"/>
              <a:tabLst>
                <a:tab pos="362585" algn="l"/>
              </a:tabLst>
            </a:pPr>
            <a:r>
              <a:rPr sz="2800" dirty="0">
                <a:latin typeface="Times New Roman" panose="02020603050405020304" pitchFamily="18" charset="0"/>
                <a:cs typeface="Times New Roman" panose="02020603050405020304" pitchFamily="18" charset="0"/>
              </a:rPr>
              <a:t>It</a:t>
            </a:r>
            <a:r>
              <a:rPr sz="2800" spc="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executes</a:t>
            </a:r>
            <a:r>
              <a:rPr sz="2800" spc="1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1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if</a:t>
            </a:r>
            <a:r>
              <a:rPr sz="2800" spc="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block</a:t>
            </a:r>
            <a:r>
              <a:rPr sz="2800" spc="1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if condition</a:t>
            </a:r>
            <a:r>
              <a:rPr sz="2800" spc="1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true</a:t>
            </a:r>
            <a:r>
              <a:rPr sz="2800" spc="1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otherwise 	</a:t>
            </a:r>
            <a:r>
              <a:rPr sz="2800" dirty="0">
                <a:latin typeface="Times New Roman" panose="02020603050405020304" pitchFamily="18" charset="0"/>
                <a:cs typeface="Times New Roman" panose="02020603050405020304" pitchFamily="18" charset="0"/>
              </a:rPr>
              <a:t>else</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block</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4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executed.</a:t>
            </a:r>
            <a:endParaRPr sz="2800" dirty="0">
              <a:latin typeface="Times New Roman" panose="02020603050405020304" pitchFamily="18" charset="0"/>
              <a:cs typeface="Times New Roman" panose="02020603050405020304" pitchFamily="18" charset="0"/>
            </a:endParaRPr>
          </a:p>
          <a:p>
            <a:pPr marL="361315" indent="-272415" algn="just">
              <a:lnSpc>
                <a:spcPct val="100000"/>
              </a:lnSpc>
              <a:spcBef>
                <a:spcPts val="605"/>
              </a:spcBef>
              <a:buClr>
                <a:srgbClr val="D24717"/>
              </a:buClr>
              <a:buSzPct val="83928"/>
              <a:buFont typeface="Segoe UI Symbol"/>
              <a:buChar char="⚫"/>
              <a:tabLst>
                <a:tab pos="361315" algn="l"/>
              </a:tabLst>
            </a:pPr>
            <a:r>
              <a:rPr sz="2800" dirty="0">
                <a:latin typeface="Times New Roman" panose="02020603050405020304" pitchFamily="18" charset="0"/>
                <a:cs typeface="Times New Roman" panose="02020603050405020304" pitchFamily="18" charset="0"/>
              </a:rPr>
              <a:t>Syntax</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5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follow:</a:t>
            </a:r>
            <a:endParaRPr sz="2800" dirty="0">
              <a:latin typeface="Times New Roman" panose="02020603050405020304" pitchFamily="18" charset="0"/>
              <a:cs typeface="Times New Roman" panose="02020603050405020304" pitchFamily="18" charset="0"/>
            </a:endParaRPr>
          </a:p>
          <a:p>
            <a:pPr marL="637540" algn="just">
              <a:lnSpc>
                <a:spcPct val="100000"/>
              </a:lnSpc>
              <a:spcBef>
                <a:spcPts val="195"/>
              </a:spcBef>
            </a:pPr>
            <a:r>
              <a:rPr sz="2400" b="1" i="1" spc="-10" dirty="0">
                <a:latin typeface="Times New Roman" panose="02020603050405020304" pitchFamily="18" charset="0"/>
                <a:cs typeface="Times New Roman" panose="02020603050405020304" pitchFamily="18" charset="0"/>
              </a:rPr>
              <a:t>if(condition)</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395"/>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917700" algn="just">
              <a:lnSpc>
                <a:spcPct val="100000"/>
              </a:lnSpc>
              <a:spcBef>
                <a:spcPts val="400"/>
              </a:spcBef>
            </a:pPr>
            <a:r>
              <a:rPr sz="2400" b="1" i="1" dirty="0">
                <a:latin typeface="Times New Roman" panose="02020603050405020304" pitchFamily="18" charset="0"/>
                <a:cs typeface="Times New Roman" panose="02020603050405020304" pitchFamily="18" charset="0"/>
              </a:rPr>
              <a:t>//code</a:t>
            </a:r>
            <a:r>
              <a:rPr sz="2400" b="1" i="1" spc="-55"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if</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condition</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is</a:t>
            </a:r>
            <a:r>
              <a:rPr sz="2400" b="1" i="1" spc="-40" dirty="0">
                <a:latin typeface="Times New Roman" panose="02020603050405020304" pitchFamily="18" charset="0"/>
                <a:cs typeface="Times New Roman" panose="02020603050405020304" pitchFamily="18" charset="0"/>
              </a:rPr>
              <a:t> </a:t>
            </a:r>
            <a:r>
              <a:rPr sz="2400" b="1" i="1" spc="-20" dirty="0">
                <a:latin typeface="Times New Roman" panose="02020603050405020304" pitchFamily="18" charset="0"/>
                <a:cs typeface="Times New Roman" panose="02020603050405020304" pitchFamily="18" charset="0"/>
              </a:rPr>
              <a:t>true</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405"/>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395"/>
              </a:spcBef>
            </a:pPr>
            <a:r>
              <a:rPr sz="2400" b="1" i="1" spc="-20" dirty="0">
                <a:latin typeface="Times New Roman" panose="02020603050405020304" pitchFamily="18" charset="0"/>
                <a:cs typeface="Times New Roman" panose="02020603050405020304" pitchFamily="18" charset="0"/>
              </a:rPr>
              <a:t>else</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400"/>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917700" algn="just">
              <a:lnSpc>
                <a:spcPct val="100000"/>
              </a:lnSpc>
              <a:spcBef>
                <a:spcPts val="409"/>
              </a:spcBef>
            </a:pPr>
            <a:r>
              <a:rPr sz="2400" b="1" i="1" dirty="0">
                <a:latin typeface="Times New Roman" panose="02020603050405020304" pitchFamily="18" charset="0"/>
                <a:cs typeface="Times New Roman" panose="02020603050405020304" pitchFamily="18" charset="0"/>
              </a:rPr>
              <a:t>//code</a:t>
            </a:r>
            <a:r>
              <a:rPr sz="2400" b="1" i="1" spc="-55"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if</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condition</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is</a:t>
            </a:r>
            <a:r>
              <a:rPr sz="2400" b="1" i="1" spc="-40" dirty="0">
                <a:latin typeface="Times New Roman" panose="02020603050405020304" pitchFamily="18" charset="0"/>
                <a:cs typeface="Times New Roman" panose="02020603050405020304" pitchFamily="18" charset="0"/>
              </a:rPr>
              <a:t> </a:t>
            </a:r>
            <a:r>
              <a:rPr sz="2400" b="1" i="1" spc="-10" dirty="0">
                <a:latin typeface="Times New Roman" panose="02020603050405020304" pitchFamily="18" charset="0"/>
                <a:cs typeface="Times New Roman" panose="02020603050405020304" pitchFamily="18" charset="0"/>
              </a:rPr>
              <a:t>false</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395"/>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4400" y="44245"/>
            <a:ext cx="6351270"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rPr>
              <a:t>Control</a:t>
            </a:r>
            <a:r>
              <a:rPr sz="4000" spc="-40" dirty="0">
                <a:solidFill>
                  <a:srgbClr val="696363"/>
                </a:solidFill>
              </a:rPr>
              <a:t> </a:t>
            </a:r>
            <a:r>
              <a:rPr sz="4000" dirty="0">
                <a:solidFill>
                  <a:srgbClr val="696363"/>
                </a:solidFill>
              </a:rPr>
              <a:t>Statements</a:t>
            </a:r>
            <a:r>
              <a:rPr sz="4000" spc="-45" dirty="0">
                <a:solidFill>
                  <a:srgbClr val="696363"/>
                </a:solidFill>
              </a:rPr>
              <a:t> </a:t>
            </a:r>
            <a:r>
              <a:rPr sz="4000" dirty="0">
                <a:solidFill>
                  <a:srgbClr val="696363"/>
                </a:solidFill>
              </a:rPr>
              <a:t>–</a:t>
            </a:r>
            <a:r>
              <a:rPr sz="4000" spc="-45" dirty="0">
                <a:solidFill>
                  <a:srgbClr val="696363"/>
                </a:solidFill>
              </a:rPr>
              <a:t> </a:t>
            </a:r>
            <a:r>
              <a:rPr sz="4000" spc="-20" dirty="0"/>
              <a:t>if-</a:t>
            </a:r>
            <a:r>
              <a:rPr sz="4000" dirty="0"/>
              <a:t>else</a:t>
            </a:r>
            <a:r>
              <a:rPr sz="4000" spc="-45" dirty="0"/>
              <a:t> </a:t>
            </a:r>
            <a:r>
              <a:rPr sz="4000" spc="-50" dirty="0"/>
              <a:t>-</a:t>
            </a:r>
          </a:p>
        </p:txBody>
      </p:sp>
      <p:sp>
        <p:nvSpPr>
          <p:cNvPr id="3" name="object 3"/>
          <p:cNvSpPr txBox="1"/>
          <p:nvPr/>
        </p:nvSpPr>
        <p:spPr>
          <a:xfrm>
            <a:off x="228600" y="603759"/>
            <a:ext cx="8396605" cy="4955844"/>
          </a:xfrm>
          <a:prstGeom prst="rect">
            <a:avLst/>
          </a:prstGeom>
        </p:spPr>
        <p:txBody>
          <a:bodyPr vert="horz" wrap="square" lIns="0" tIns="122555" rIns="0" bIns="0" rtlCol="0">
            <a:spAutoFit/>
          </a:bodyPr>
          <a:lstStyle/>
          <a:p>
            <a:pPr marL="88900">
              <a:lnSpc>
                <a:spcPct val="100000"/>
              </a:lnSpc>
              <a:spcBef>
                <a:spcPts val="525"/>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class</a:t>
            </a:r>
            <a:r>
              <a:rPr sz="2200" b="1" spc="-45" dirty="0">
                <a:latin typeface="Courier New"/>
                <a:cs typeface="Courier New"/>
              </a:rPr>
              <a:t> </a:t>
            </a:r>
            <a:r>
              <a:rPr sz="2200" spc="-10" dirty="0">
                <a:latin typeface="Courier New"/>
                <a:cs typeface="Courier New"/>
              </a:rPr>
              <a:t>IfElseExample</a:t>
            </a:r>
            <a:endParaRPr sz="2200" dirty="0">
              <a:latin typeface="Courier New"/>
              <a:cs typeface="Courier New"/>
            </a:endParaRPr>
          </a:p>
          <a:p>
            <a:pPr marL="88900">
              <a:lnSpc>
                <a:spcPct val="100000"/>
              </a:lnSpc>
              <a:spcBef>
                <a:spcPts val="70"/>
              </a:spcBef>
            </a:pPr>
            <a:r>
              <a:rPr sz="2200" spc="-50" dirty="0">
                <a:latin typeface="Courier New"/>
                <a:cs typeface="Courier New"/>
              </a:rPr>
              <a:t>{</a:t>
            </a:r>
            <a:endParaRPr sz="2200" dirty="0">
              <a:latin typeface="Courier New"/>
              <a:cs typeface="Courier New"/>
            </a:endParaRPr>
          </a:p>
          <a:p>
            <a:pPr marL="1003300">
              <a:lnSpc>
                <a:spcPct val="100000"/>
              </a:lnSpc>
              <a:spcBef>
                <a:spcPts val="70"/>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static</a:t>
            </a:r>
            <a:r>
              <a:rPr sz="2200" b="1" spc="-80" dirty="0">
                <a:latin typeface="Courier New"/>
                <a:cs typeface="Courier New"/>
              </a:rPr>
              <a:t> </a:t>
            </a:r>
            <a:r>
              <a:rPr sz="2200" b="1" dirty="0">
                <a:latin typeface="Courier New"/>
                <a:cs typeface="Courier New"/>
              </a:rPr>
              <a:t>void</a:t>
            </a:r>
            <a:r>
              <a:rPr sz="2200" b="1" spc="-55" dirty="0">
                <a:latin typeface="Courier New"/>
                <a:cs typeface="Courier New"/>
              </a:rPr>
              <a:t> </a:t>
            </a:r>
            <a:r>
              <a:rPr sz="2200" dirty="0">
                <a:latin typeface="Courier New"/>
                <a:cs typeface="Courier New"/>
              </a:rPr>
              <a:t>main(String[]</a:t>
            </a:r>
            <a:r>
              <a:rPr sz="2200" spc="-50" dirty="0">
                <a:latin typeface="Courier New"/>
                <a:cs typeface="Courier New"/>
              </a:rPr>
              <a:t> </a:t>
            </a:r>
            <a:r>
              <a:rPr sz="2200" spc="-10" dirty="0">
                <a:latin typeface="Courier New"/>
                <a:cs typeface="Courier New"/>
              </a:rPr>
              <a:t>args)</a:t>
            </a:r>
            <a:endParaRPr sz="2200" dirty="0">
              <a:latin typeface="Courier New"/>
              <a:cs typeface="Courier New"/>
            </a:endParaRPr>
          </a:p>
          <a:p>
            <a:pPr marL="1003300">
              <a:lnSpc>
                <a:spcPct val="100000"/>
              </a:lnSpc>
              <a:spcBef>
                <a:spcPts val="75"/>
              </a:spcBef>
            </a:pPr>
            <a:r>
              <a:rPr sz="2200" spc="-50" dirty="0">
                <a:latin typeface="Courier New"/>
                <a:cs typeface="Courier New"/>
              </a:rPr>
              <a:t>{</a:t>
            </a:r>
            <a:endParaRPr sz="2200" dirty="0">
              <a:latin typeface="Courier New"/>
              <a:cs typeface="Courier New"/>
            </a:endParaRPr>
          </a:p>
          <a:p>
            <a:pPr marL="1917700">
              <a:lnSpc>
                <a:spcPct val="100000"/>
              </a:lnSpc>
              <a:spcBef>
                <a:spcPts val="75"/>
              </a:spcBef>
            </a:pPr>
            <a:r>
              <a:rPr sz="2200" b="1" dirty="0">
                <a:latin typeface="Courier New"/>
                <a:cs typeface="Courier New"/>
              </a:rPr>
              <a:t>int</a:t>
            </a:r>
            <a:r>
              <a:rPr sz="2200" b="1" spc="-30" dirty="0">
                <a:latin typeface="Courier New"/>
                <a:cs typeface="Courier New"/>
              </a:rPr>
              <a:t> </a:t>
            </a:r>
            <a:r>
              <a:rPr sz="2200" spc="-10" dirty="0">
                <a:latin typeface="Courier New"/>
                <a:cs typeface="Courier New"/>
              </a:rPr>
              <a:t>number=13;</a:t>
            </a:r>
            <a:endParaRPr sz="2200" dirty="0">
              <a:latin typeface="Courier New"/>
              <a:cs typeface="Courier New"/>
            </a:endParaRPr>
          </a:p>
          <a:p>
            <a:pPr marL="1917700">
              <a:lnSpc>
                <a:spcPct val="100000"/>
              </a:lnSpc>
              <a:spcBef>
                <a:spcPts val="70"/>
              </a:spcBef>
            </a:pPr>
            <a:r>
              <a:rPr sz="2200" b="1" spc="-10" dirty="0">
                <a:latin typeface="Courier New"/>
                <a:cs typeface="Courier New"/>
              </a:rPr>
              <a:t>if</a:t>
            </a:r>
            <a:r>
              <a:rPr sz="2200" spc="-10" dirty="0">
                <a:latin typeface="Courier New"/>
                <a:cs typeface="Courier New"/>
              </a:rPr>
              <a:t>(number%2==0)</a:t>
            </a:r>
            <a:endParaRPr sz="2200" dirty="0">
              <a:latin typeface="Courier New"/>
              <a:cs typeface="Courier New"/>
            </a:endParaRPr>
          </a:p>
          <a:p>
            <a:pPr marL="1917700">
              <a:lnSpc>
                <a:spcPct val="100000"/>
              </a:lnSpc>
              <a:spcBef>
                <a:spcPts val="75"/>
              </a:spcBef>
            </a:pPr>
            <a:r>
              <a:rPr sz="2200" spc="-50" dirty="0">
                <a:latin typeface="Courier New"/>
                <a:cs typeface="Courier New"/>
              </a:rPr>
              <a:t>{</a:t>
            </a:r>
            <a:endParaRPr sz="2200" dirty="0">
              <a:latin typeface="Courier New"/>
              <a:cs typeface="Courier New"/>
            </a:endParaRPr>
          </a:p>
          <a:p>
            <a:pPr marL="2832735">
              <a:lnSpc>
                <a:spcPts val="2375"/>
              </a:lnSpc>
              <a:spcBef>
                <a:spcPts val="70"/>
              </a:spcBef>
            </a:pPr>
            <a:r>
              <a:rPr sz="2200" spc="-10" dirty="0">
                <a:latin typeface="Courier New"/>
                <a:cs typeface="Courier New"/>
              </a:rPr>
              <a:t>System.out.println("even</a:t>
            </a:r>
            <a:endParaRPr sz="2200" dirty="0">
              <a:latin typeface="Courier New"/>
              <a:cs typeface="Courier New"/>
            </a:endParaRPr>
          </a:p>
          <a:p>
            <a:pPr marL="88900">
              <a:lnSpc>
                <a:spcPts val="2375"/>
              </a:lnSpc>
            </a:pPr>
            <a:r>
              <a:rPr sz="2200" spc="-10" dirty="0">
                <a:latin typeface="Courier New"/>
                <a:cs typeface="Courier New"/>
              </a:rPr>
              <a:t>number");</a:t>
            </a:r>
            <a:endParaRPr sz="2200" dirty="0">
              <a:latin typeface="Courier New"/>
              <a:cs typeface="Courier New"/>
            </a:endParaRPr>
          </a:p>
          <a:p>
            <a:pPr marL="1917700">
              <a:lnSpc>
                <a:spcPct val="100000"/>
              </a:lnSpc>
              <a:spcBef>
                <a:spcPts val="70"/>
              </a:spcBef>
            </a:pPr>
            <a:r>
              <a:rPr sz="2200" spc="-50" dirty="0">
                <a:latin typeface="Courier New"/>
                <a:cs typeface="Courier New"/>
              </a:rPr>
              <a:t>}</a:t>
            </a:r>
            <a:endParaRPr sz="2200" dirty="0">
              <a:latin typeface="Courier New"/>
              <a:cs typeface="Courier New"/>
            </a:endParaRPr>
          </a:p>
          <a:p>
            <a:pPr marL="1917700">
              <a:lnSpc>
                <a:spcPct val="100000"/>
              </a:lnSpc>
              <a:spcBef>
                <a:spcPts val="75"/>
              </a:spcBef>
            </a:pPr>
            <a:r>
              <a:rPr sz="2200" b="1" spc="-20" dirty="0">
                <a:latin typeface="Courier New"/>
                <a:cs typeface="Courier New"/>
              </a:rPr>
              <a:t>else</a:t>
            </a:r>
            <a:endParaRPr sz="2200" dirty="0">
              <a:latin typeface="Courier New"/>
              <a:cs typeface="Courier New"/>
            </a:endParaRPr>
          </a:p>
          <a:p>
            <a:pPr marL="1917700">
              <a:lnSpc>
                <a:spcPct val="100000"/>
              </a:lnSpc>
              <a:spcBef>
                <a:spcPts val="70"/>
              </a:spcBef>
            </a:pPr>
            <a:r>
              <a:rPr sz="2200" spc="-50" dirty="0">
                <a:latin typeface="Courier New"/>
                <a:cs typeface="Courier New"/>
              </a:rPr>
              <a:t>{</a:t>
            </a:r>
            <a:endParaRPr sz="2200" dirty="0">
              <a:latin typeface="Courier New"/>
              <a:cs typeface="Courier New"/>
            </a:endParaRPr>
          </a:p>
          <a:p>
            <a:pPr marL="2832735">
              <a:lnSpc>
                <a:spcPct val="100000"/>
              </a:lnSpc>
              <a:spcBef>
                <a:spcPts val="75"/>
              </a:spcBef>
            </a:pPr>
            <a:r>
              <a:rPr sz="2200" dirty="0">
                <a:latin typeface="Courier New"/>
                <a:cs typeface="Courier New"/>
              </a:rPr>
              <a:t>System.out.println("odd</a:t>
            </a:r>
            <a:r>
              <a:rPr sz="2200" spc="-254" dirty="0">
                <a:latin typeface="Courier New"/>
                <a:cs typeface="Courier New"/>
              </a:rPr>
              <a:t> </a:t>
            </a:r>
            <a:r>
              <a:rPr sz="2200" spc="-10" dirty="0">
                <a:latin typeface="Courier New"/>
                <a:cs typeface="Courier New"/>
              </a:rPr>
              <a:t>number");</a:t>
            </a:r>
            <a:endParaRPr sz="2200" dirty="0">
              <a:latin typeface="Courier New"/>
              <a:cs typeface="Courier New"/>
            </a:endParaRPr>
          </a:p>
          <a:p>
            <a:pPr marL="1917700">
              <a:lnSpc>
                <a:spcPct val="100000"/>
              </a:lnSpc>
              <a:spcBef>
                <a:spcPts val="75"/>
              </a:spcBef>
            </a:pPr>
            <a:r>
              <a:rPr sz="2200" spc="-50" dirty="0">
                <a:latin typeface="Courier New"/>
                <a:cs typeface="Courier New"/>
              </a:rPr>
              <a:t>}</a:t>
            </a:r>
            <a:endParaRPr sz="2200" dirty="0">
              <a:latin typeface="Courier New"/>
              <a:cs typeface="Courier New"/>
            </a:endParaRPr>
          </a:p>
        </p:txBody>
      </p:sp>
      <p:sp>
        <p:nvSpPr>
          <p:cNvPr id="4" name="object 4"/>
          <p:cNvSpPr txBox="1"/>
          <p:nvPr/>
        </p:nvSpPr>
        <p:spPr>
          <a:xfrm>
            <a:off x="1298194" y="5688279"/>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
        <p:nvSpPr>
          <p:cNvPr id="5" name="object 5"/>
          <p:cNvSpPr txBox="1"/>
          <p:nvPr/>
        </p:nvSpPr>
        <p:spPr>
          <a:xfrm>
            <a:off x="383540" y="6032703"/>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047934" y="-32004"/>
            <a:ext cx="7543800" cy="997966"/>
          </a:xfrm>
          <a:prstGeom prst="rect">
            <a:avLst/>
          </a:prstGeom>
        </p:spPr>
        <p:txBody>
          <a:bodyPr vert="horz" wrap="square" lIns="0" tIns="500634" rIns="0" bIns="0" rtlCol="0">
            <a:spAutoFit/>
          </a:bodyPr>
          <a:lstStyle/>
          <a:p>
            <a:pPr marL="12700">
              <a:lnSpc>
                <a:spcPct val="100000"/>
              </a:lnSpc>
              <a:spcBef>
                <a:spcPts val="100"/>
              </a:spcBef>
            </a:pPr>
            <a:r>
              <a:rPr sz="3200" dirty="0">
                <a:solidFill>
                  <a:srgbClr val="696363"/>
                </a:solidFill>
              </a:rPr>
              <a:t>Control</a:t>
            </a:r>
            <a:r>
              <a:rPr sz="3200" spc="-40" dirty="0">
                <a:solidFill>
                  <a:srgbClr val="696363"/>
                </a:solidFill>
              </a:rPr>
              <a:t> </a:t>
            </a:r>
            <a:r>
              <a:rPr sz="3200" dirty="0">
                <a:solidFill>
                  <a:srgbClr val="696363"/>
                </a:solidFill>
              </a:rPr>
              <a:t>Statements</a:t>
            </a:r>
            <a:r>
              <a:rPr sz="3200" spc="-40" dirty="0">
                <a:solidFill>
                  <a:srgbClr val="696363"/>
                </a:solidFill>
              </a:rPr>
              <a:t> </a:t>
            </a:r>
            <a:r>
              <a:rPr sz="3200" dirty="0">
                <a:solidFill>
                  <a:srgbClr val="696363"/>
                </a:solidFill>
              </a:rPr>
              <a:t>–</a:t>
            </a:r>
            <a:r>
              <a:rPr sz="3200" spc="-40" dirty="0">
                <a:solidFill>
                  <a:srgbClr val="696363"/>
                </a:solidFill>
              </a:rPr>
              <a:t> </a:t>
            </a:r>
            <a:r>
              <a:rPr sz="3200" spc="-20" dirty="0"/>
              <a:t>if-</a:t>
            </a:r>
            <a:r>
              <a:rPr sz="3200" spc="-10" dirty="0"/>
              <a:t>else-</a:t>
            </a:r>
            <a:r>
              <a:rPr sz="3200" dirty="0"/>
              <a:t>if</a:t>
            </a:r>
            <a:r>
              <a:rPr sz="3200" spc="-35" dirty="0"/>
              <a:t> </a:t>
            </a:r>
            <a:endParaRPr sz="3200" spc="-10" dirty="0"/>
          </a:p>
        </p:txBody>
      </p:sp>
      <p:sp>
        <p:nvSpPr>
          <p:cNvPr id="3" name="object 3"/>
          <p:cNvSpPr txBox="1"/>
          <p:nvPr/>
        </p:nvSpPr>
        <p:spPr>
          <a:xfrm>
            <a:off x="383540" y="965962"/>
            <a:ext cx="8232775" cy="5577840"/>
          </a:xfrm>
          <a:prstGeom prst="rect">
            <a:avLst/>
          </a:prstGeom>
        </p:spPr>
        <p:txBody>
          <a:bodyPr vert="horz" wrap="square" lIns="0" tIns="27940" rIns="0" bIns="0" rtlCol="0">
            <a:spAutoFit/>
          </a:bodyPr>
          <a:lstStyle/>
          <a:p>
            <a:pPr marL="286385" marR="5080" indent="-274320">
              <a:lnSpc>
                <a:spcPct val="125699"/>
              </a:lnSpc>
              <a:spcBef>
                <a:spcPts val="220"/>
              </a:spcBef>
              <a:buClr>
                <a:srgbClr val="D24717"/>
              </a:buClr>
              <a:buSzPct val="85416"/>
              <a:buFont typeface="Segoe UI Symbol"/>
              <a:buChar char="⚫"/>
              <a:tabLst>
                <a:tab pos="286385" algn="l"/>
              </a:tabLst>
            </a:pPr>
            <a:r>
              <a:rPr sz="2400" dirty="0">
                <a:latin typeface="Arial MT"/>
                <a:cs typeface="Arial MT"/>
              </a:rPr>
              <a:t>The</a:t>
            </a:r>
            <a:r>
              <a:rPr sz="2400" spc="-75" dirty="0">
                <a:latin typeface="Arial MT"/>
                <a:cs typeface="Arial MT"/>
              </a:rPr>
              <a:t> </a:t>
            </a:r>
            <a:r>
              <a:rPr sz="2400" spc="-10" dirty="0">
                <a:latin typeface="Arial MT"/>
                <a:cs typeface="Arial MT"/>
              </a:rPr>
              <a:t>if-</a:t>
            </a:r>
            <a:r>
              <a:rPr sz="2400" spc="-25" dirty="0">
                <a:latin typeface="Arial MT"/>
                <a:cs typeface="Arial MT"/>
              </a:rPr>
              <a:t>else-</a:t>
            </a:r>
            <a:r>
              <a:rPr sz="2400" dirty="0">
                <a:latin typeface="Arial MT"/>
                <a:cs typeface="Arial MT"/>
              </a:rPr>
              <a:t>if</a:t>
            </a:r>
            <a:r>
              <a:rPr sz="2400" spc="-60" dirty="0">
                <a:latin typeface="Arial MT"/>
                <a:cs typeface="Arial MT"/>
              </a:rPr>
              <a:t> </a:t>
            </a:r>
            <a:r>
              <a:rPr sz="2400" spc="-40" dirty="0">
                <a:latin typeface="Arial MT"/>
                <a:cs typeface="Arial MT"/>
              </a:rPr>
              <a:t> </a:t>
            </a:r>
            <a:r>
              <a:rPr sz="2400" dirty="0">
                <a:latin typeface="Arial MT"/>
                <a:cs typeface="Arial MT"/>
              </a:rPr>
              <a:t>statement</a:t>
            </a:r>
            <a:r>
              <a:rPr sz="2400" spc="-80" dirty="0">
                <a:latin typeface="Arial MT"/>
                <a:cs typeface="Arial MT"/>
              </a:rPr>
              <a:t> </a:t>
            </a:r>
            <a:r>
              <a:rPr sz="2400" dirty="0">
                <a:latin typeface="Arial MT"/>
                <a:cs typeface="Arial MT"/>
              </a:rPr>
              <a:t>executes</a:t>
            </a:r>
            <a:r>
              <a:rPr sz="2400" spc="-55" dirty="0">
                <a:latin typeface="Arial MT"/>
                <a:cs typeface="Arial MT"/>
              </a:rPr>
              <a:t> </a:t>
            </a:r>
            <a:r>
              <a:rPr sz="2400" dirty="0">
                <a:latin typeface="Arial MT"/>
                <a:cs typeface="Arial MT"/>
              </a:rPr>
              <a:t>one</a:t>
            </a:r>
            <a:r>
              <a:rPr sz="2400" spc="-55" dirty="0">
                <a:latin typeface="Arial MT"/>
                <a:cs typeface="Arial MT"/>
              </a:rPr>
              <a:t> </a:t>
            </a:r>
            <a:r>
              <a:rPr sz="2400" dirty="0">
                <a:latin typeface="Arial MT"/>
                <a:cs typeface="Arial MT"/>
              </a:rPr>
              <a:t>condition</a:t>
            </a:r>
            <a:r>
              <a:rPr sz="2400" spc="-45" dirty="0">
                <a:latin typeface="Arial MT"/>
                <a:cs typeface="Arial MT"/>
              </a:rPr>
              <a:t> </a:t>
            </a:r>
            <a:r>
              <a:rPr sz="2400" spc="-20" dirty="0">
                <a:latin typeface="Arial MT"/>
                <a:cs typeface="Arial MT"/>
              </a:rPr>
              <a:t>from </a:t>
            </a:r>
            <a:r>
              <a:rPr sz="2400" dirty="0">
                <a:latin typeface="Arial MT"/>
                <a:cs typeface="Arial MT"/>
              </a:rPr>
              <a:t>multiple</a:t>
            </a:r>
            <a:r>
              <a:rPr sz="2400" spc="-25" dirty="0">
                <a:latin typeface="Arial MT"/>
                <a:cs typeface="Arial MT"/>
              </a:rPr>
              <a:t> </a:t>
            </a:r>
            <a:r>
              <a:rPr sz="2400" dirty="0">
                <a:latin typeface="Arial MT"/>
                <a:cs typeface="Arial MT"/>
              </a:rPr>
              <a:t>statements.</a:t>
            </a:r>
            <a:r>
              <a:rPr sz="2400" spc="-100" dirty="0">
                <a:latin typeface="Arial MT"/>
                <a:cs typeface="Arial MT"/>
              </a:rPr>
              <a:t> </a:t>
            </a:r>
            <a:r>
              <a:rPr sz="2400" dirty="0">
                <a:latin typeface="Arial MT"/>
                <a:cs typeface="Arial MT"/>
              </a:rPr>
              <a:t>The</a:t>
            </a:r>
            <a:r>
              <a:rPr sz="2400" spc="-50" dirty="0">
                <a:latin typeface="Arial MT"/>
                <a:cs typeface="Arial MT"/>
              </a:rPr>
              <a:t> </a:t>
            </a:r>
            <a:r>
              <a:rPr sz="2400" dirty="0">
                <a:latin typeface="Arial MT"/>
                <a:cs typeface="Arial MT"/>
              </a:rPr>
              <a:t>syntax</a:t>
            </a:r>
            <a:r>
              <a:rPr sz="2400" spc="-60" dirty="0">
                <a:latin typeface="Arial MT"/>
                <a:cs typeface="Arial MT"/>
              </a:rPr>
              <a:t> </a:t>
            </a:r>
            <a:r>
              <a:rPr sz="2400" dirty="0">
                <a:latin typeface="Arial MT"/>
                <a:cs typeface="Arial MT"/>
              </a:rPr>
              <a:t>as</a:t>
            </a:r>
            <a:r>
              <a:rPr sz="2400" spc="-35" dirty="0">
                <a:latin typeface="Arial MT"/>
                <a:cs typeface="Arial MT"/>
              </a:rPr>
              <a:t> </a:t>
            </a:r>
            <a:r>
              <a:rPr sz="2400" spc="-10" dirty="0">
                <a:latin typeface="Arial MT"/>
                <a:cs typeface="Arial MT"/>
              </a:rPr>
              <a:t>follows: </a:t>
            </a:r>
            <a:r>
              <a:rPr sz="2000" b="1" spc="-10" dirty="0">
                <a:latin typeface="Courier New"/>
                <a:cs typeface="Courier New"/>
              </a:rPr>
              <a:t>if</a:t>
            </a:r>
            <a:r>
              <a:rPr sz="2000" spc="-10" dirty="0">
                <a:latin typeface="Courier New"/>
                <a:cs typeface="Courier New"/>
              </a:rPr>
              <a:t>(condition1){</a:t>
            </a:r>
            <a:endParaRPr sz="2000" dirty="0">
              <a:latin typeface="Courier New"/>
              <a:cs typeface="Courier New"/>
            </a:endParaRPr>
          </a:p>
          <a:p>
            <a:pPr marL="927100">
              <a:lnSpc>
                <a:spcPct val="100000"/>
              </a:lnSpc>
              <a:spcBef>
                <a:spcPts val="414"/>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5" dirty="0">
                <a:latin typeface="Courier New"/>
                <a:cs typeface="Courier New"/>
              </a:rPr>
              <a:t> </a:t>
            </a:r>
            <a:r>
              <a:rPr sz="2000" dirty="0">
                <a:latin typeface="Courier New"/>
                <a:cs typeface="Courier New"/>
              </a:rPr>
              <a:t>be</a:t>
            </a:r>
            <a:r>
              <a:rPr sz="2000" spc="-20" dirty="0">
                <a:latin typeface="Courier New"/>
                <a:cs typeface="Courier New"/>
              </a:rPr>
              <a:t> </a:t>
            </a:r>
            <a:r>
              <a:rPr sz="2000" dirty="0">
                <a:latin typeface="Courier New"/>
                <a:cs typeface="Courier New"/>
              </a:rPr>
              <a:t>executed</a:t>
            </a:r>
            <a:r>
              <a:rPr sz="2000" spc="-25" dirty="0">
                <a:latin typeface="Courier New"/>
                <a:cs typeface="Courier New"/>
              </a:rPr>
              <a:t> </a:t>
            </a:r>
            <a:r>
              <a:rPr sz="2000" dirty="0">
                <a:latin typeface="Courier New"/>
                <a:cs typeface="Courier New"/>
              </a:rPr>
              <a:t>if</a:t>
            </a:r>
            <a:r>
              <a:rPr sz="2000" spc="-20" dirty="0">
                <a:latin typeface="Courier New"/>
                <a:cs typeface="Courier New"/>
              </a:rPr>
              <a:t> </a:t>
            </a:r>
            <a:r>
              <a:rPr sz="2000" dirty="0">
                <a:latin typeface="Courier New"/>
                <a:cs typeface="Courier New"/>
              </a:rPr>
              <a:t>condition1</a:t>
            </a:r>
            <a:r>
              <a:rPr sz="2000" spc="-25" dirty="0">
                <a:latin typeface="Courier New"/>
                <a:cs typeface="Courier New"/>
              </a:rPr>
              <a:t> </a:t>
            </a:r>
            <a:r>
              <a:rPr sz="2000" dirty="0">
                <a:latin typeface="Courier New"/>
                <a:cs typeface="Courier New"/>
              </a:rPr>
              <a:t>is</a:t>
            </a:r>
            <a:r>
              <a:rPr sz="2000" spc="-20" dirty="0">
                <a:latin typeface="Courier New"/>
                <a:cs typeface="Courier New"/>
              </a:rPr>
              <a:t> true</a:t>
            </a:r>
            <a:endParaRPr sz="2000" dirty="0">
              <a:latin typeface="Courier New"/>
              <a:cs typeface="Courier New"/>
            </a:endParaRPr>
          </a:p>
          <a:p>
            <a:pPr marL="286385">
              <a:lnSpc>
                <a:spcPct val="100000"/>
              </a:lnSpc>
              <a:spcBef>
                <a:spcPts val="395"/>
              </a:spcBef>
            </a:pPr>
            <a:r>
              <a:rPr sz="2000" dirty="0">
                <a:latin typeface="Courier New"/>
                <a:cs typeface="Courier New"/>
              </a:rPr>
              <a:t>}</a:t>
            </a:r>
            <a:r>
              <a:rPr sz="2000" b="1" dirty="0">
                <a:latin typeface="Courier New"/>
                <a:cs typeface="Courier New"/>
              </a:rPr>
              <a:t>else</a:t>
            </a:r>
            <a:r>
              <a:rPr sz="2000" b="1" spc="-25" dirty="0">
                <a:latin typeface="Courier New"/>
                <a:cs typeface="Courier New"/>
              </a:rPr>
              <a:t> </a:t>
            </a:r>
            <a:r>
              <a:rPr sz="2000" b="1" spc="-10" dirty="0">
                <a:latin typeface="Courier New"/>
                <a:cs typeface="Courier New"/>
              </a:rPr>
              <a:t>if</a:t>
            </a:r>
            <a:r>
              <a:rPr sz="2000" spc="-10" dirty="0">
                <a:latin typeface="Courier New"/>
                <a:cs typeface="Courier New"/>
              </a:rPr>
              <a:t>(condition2){</a:t>
            </a:r>
            <a:endParaRPr sz="2000" dirty="0">
              <a:latin typeface="Courier New"/>
              <a:cs typeface="Courier New"/>
            </a:endParaRPr>
          </a:p>
          <a:p>
            <a:pPr marL="927100">
              <a:lnSpc>
                <a:spcPct val="100000"/>
              </a:lnSpc>
              <a:spcBef>
                <a:spcPts val="395"/>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5" dirty="0">
                <a:latin typeface="Courier New"/>
                <a:cs typeface="Courier New"/>
              </a:rPr>
              <a:t> </a:t>
            </a:r>
            <a:r>
              <a:rPr sz="2000" dirty="0">
                <a:latin typeface="Courier New"/>
                <a:cs typeface="Courier New"/>
              </a:rPr>
              <a:t>be</a:t>
            </a:r>
            <a:r>
              <a:rPr sz="2000" spc="-20" dirty="0">
                <a:latin typeface="Courier New"/>
                <a:cs typeface="Courier New"/>
              </a:rPr>
              <a:t> </a:t>
            </a:r>
            <a:r>
              <a:rPr sz="2000" dirty="0">
                <a:latin typeface="Courier New"/>
                <a:cs typeface="Courier New"/>
              </a:rPr>
              <a:t>executed</a:t>
            </a:r>
            <a:r>
              <a:rPr sz="2000" spc="-25" dirty="0">
                <a:latin typeface="Courier New"/>
                <a:cs typeface="Courier New"/>
              </a:rPr>
              <a:t> </a:t>
            </a:r>
            <a:r>
              <a:rPr sz="2000" dirty="0">
                <a:latin typeface="Courier New"/>
                <a:cs typeface="Courier New"/>
              </a:rPr>
              <a:t>if</a:t>
            </a:r>
            <a:r>
              <a:rPr sz="2000" spc="-20" dirty="0">
                <a:latin typeface="Courier New"/>
                <a:cs typeface="Courier New"/>
              </a:rPr>
              <a:t> </a:t>
            </a:r>
            <a:r>
              <a:rPr sz="2000" dirty="0">
                <a:latin typeface="Courier New"/>
                <a:cs typeface="Courier New"/>
              </a:rPr>
              <a:t>condition2</a:t>
            </a:r>
            <a:r>
              <a:rPr sz="2000" spc="-25" dirty="0">
                <a:latin typeface="Courier New"/>
                <a:cs typeface="Courier New"/>
              </a:rPr>
              <a:t> </a:t>
            </a:r>
            <a:r>
              <a:rPr sz="2000" dirty="0">
                <a:latin typeface="Courier New"/>
                <a:cs typeface="Courier New"/>
              </a:rPr>
              <a:t>is</a:t>
            </a:r>
            <a:r>
              <a:rPr sz="2000" spc="-20" dirty="0">
                <a:latin typeface="Courier New"/>
                <a:cs typeface="Courier New"/>
              </a:rPr>
              <a:t> true</a:t>
            </a:r>
            <a:endParaRPr sz="2000" dirty="0">
              <a:latin typeface="Courier New"/>
              <a:cs typeface="Courier New"/>
            </a:endParaRPr>
          </a:p>
          <a:p>
            <a:pPr marL="286385">
              <a:lnSpc>
                <a:spcPct val="100000"/>
              </a:lnSpc>
              <a:spcBef>
                <a:spcPts val="409"/>
              </a:spcBef>
            </a:pPr>
            <a:r>
              <a:rPr sz="2000" spc="-50" dirty="0">
                <a:latin typeface="Courier New"/>
                <a:cs typeface="Courier New"/>
              </a:rPr>
              <a:t>}</a:t>
            </a:r>
            <a:endParaRPr sz="2000" dirty="0">
              <a:latin typeface="Courier New"/>
              <a:cs typeface="Courier New"/>
            </a:endParaRPr>
          </a:p>
          <a:p>
            <a:pPr marL="286385">
              <a:lnSpc>
                <a:spcPct val="100000"/>
              </a:lnSpc>
              <a:spcBef>
                <a:spcPts val="395"/>
              </a:spcBef>
            </a:pPr>
            <a:r>
              <a:rPr sz="2000" b="1" dirty="0">
                <a:latin typeface="Courier New"/>
                <a:cs typeface="Courier New"/>
              </a:rPr>
              <a:t>else</a:t>
            </a:r>
            <a:r>
              <a:rPr sz="2000" b="1" spc="-20" dirty="0">
                <a:latin typeface="Courier New"/>
                <a:cs typeface="Courier New"/>
              </a:rPr>
              <a:t> </a:t>
            </a:r>
            <a:r>
              <a:rPr sz="2000" b="1" spc="-10" dirty="0">
                <a:latin typeface="Courier New"/>
                <a:cs typeface="Courier New"/>
              </a:rPr>
              <a:t>if</a:t>
            </a:r>
            <a:r>
              <a:rPr sz="2000" spc="-10" dirty="0">
                <a:latin typeface="Courier New"/>
                <a:cs typeface="Courier New"/>
              </a:rPr>
              <a:t>(condition3){</a:t>
            </a:r>
            <a:endParaRPr sz="2000" dirty="0">
              <a:latin typeface="Courier New"/>
              <a:cs typeface="Courier New"/>
            </a:endParaRPr>
          </a:p>
          <a:p>
            <a:pPr marL="927100">
              <a:lnSpc>
                <a:spcPct val="100000"/>
              </a:lnSpc>
              <a:spcBef>
                <a:spcPts val="395"/>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5" dirty="0">
                <a:latin typeface="Courier New"/>
                <a:cs typeface="Courier New"/>
              </a:rPr>
              <a:t> </a:t>
            </a:r>
            <a:r>
              <a:rPr sz="2000" dirty="0">
                <a:latin typeface="Courier New"/>
                <a:cs typeface="Courier New"/>
              </a:rPr>
              <a:t>be</a:t>
            </a:r>
            <a:r>
              <a:rPr sz="2000" spc="-20" dirty="0">
                <a:latin typeface="Courier New"/>
                <a:cs typeface="Courier New"/>
              </a:rPr>
              <a:t> </a:t>
            </a:r>
            <a:r>
              <a:rPr sz="2000" dirty="0">
                <a:latin typeface="Courier New"/>
                <a:cs typeface="Courier New"/>
              </a:rPr>
              <a:t>executed</a:t>
            </a:r>
            <a:r>
              <a:rPr sz="2000" spc="-25" dirty="0">
                <a:latin typeface="Courier New"/>
                <a:cs typeface="Courier New"/>
              </a:rPr>
              <a:t> </a:t>
            </a:r>
            <a:r>
              <a:rPr sz="2000" dirty="0">
                <a:latin typeface="Courier New"/>
                <a:cs typeface="Courier New"/>
              </a:rPr>
              <a:t>if</a:t>
            </a:r>
            <a:r>
              <a:rPr sz="2000" spc="-20" dirty="0">
                <a:latin typeface="Courier New"/>
                <a:cs typeface="Courier New"/>
              </a:rPr>
              <a:t> </a:t>
            </a:r>
            <a:r>
              <a:rPr sz="2000" dirty="0">
                <a:latin typeface="Courier New"/>
                <a:cs typeface="Courier New"/>
              </a:rPr>
              <a:t>condition3</a:t>
            </a:r>
            <a:r>
              <a:rPr sz="2000" spc="-25" dirty="0">
                <a:latin typeface="Courier New"/>
                <a:cs typeface="Courier New"/>
              </a:rPr>
              <a:t> </a:t>
            </a:r>
            <a:r>
              <a:rPr sz="2000" dirty="0">
                <a:latin typeface="Courier New"/>
                <a:cs typeface="Courier New"/>
              </a:rPr>
              <a:t>is</a:t>
            </a:r>
            <a:r>
              <a:rPr sz="2000" spc="-20" dirty="0">
                <a:latin typeface="Courier New"/>
                <a:cs typeface="Courier New"/>
              </a:rPr>
              <a:t> true</a:t>
            </a:r>
            <a:endParaRPr sz="2000" dirty="0">
              <a:latin typeface="Courier New"/>
              <a:cs typeface="Courier New"/>
            </a:endParaRPr>
          </a:p>
          <a:p>
            <a:pPr marL="286385">
              <a:lnSpc>
                <a:spcPct val="100000"/>
              </a:lnSpc>
              <a:spcBef>
                <a:spcPts val="409"/>
              </a:spcBef>
            </a:pPr>
            <a:r>
              <a:rPr sz="2000" spc="-50" dirty="0">
                <a:latin typeface="Courier New"/>
                <a:cs typeface="Courier New"/>
              </a:rPr>
              <a:t>}</a:t>
            </a:r>
            <a:endParaRPr sz="2000" dirty="0">
              <a:latin typeface="Courier New"/>
              <a:cs typeface="Courier New"/>
            </a:endParaRPr>
          </a:p>
          <a:p>
            <a:pPr marL="286385">
              <a:lnSpc>
                <a:spcPct val="100000"/>
              </a:lnSpc>
              <a:spcBef>
                <a:spcPts val="395"/>
              </a:spcBef>
            </a:pPr>
            <a:r>
              <a:rPr sz="2000" spc="-25" dirty="0">
                <a:latin typeface="Courier New"/>
                <a:cs typeface="Courier New"/>
              </a:rPr>
              <a:t>...</a:t>
            </a:r>
            <a:endParaRPr sz="2000" dirty="0">
              <a:latin typeface="Courier New"/>
              <a:cs typeface="Courier New"/>
            </a:endParaRPr>
          </a:p>
          <a:p>
            <a:pPr marL="286385">
              <a:lnSpc>
                <a:spcPct val="100000"/>
              </a:lnSpc>
              <a:spcBef>
                <a:spcPts val="400"/>
              </a:spcBef>
            </a:pPr>
            <a:r>
              <a:rPr sz="2000" b="1" spc="-10" dirty="0">
                <a:latin typeface="Courier New"/>
                <a:cs typeface="Courier New"/>
              </a:rPr>
              <a:t>else</a:t>
            </a:r>
            <a:r>
              <a:rPr sz="2000" spc="-10" dirty="0">
                <a:latin typeface="Courier New"/>
                <a:cs typeface="Courier New"/>
              </a:rPr>
              <a:t>{</a:t>
            </a:r>
            <a:endParaRPr sz="2000" dirty="0">
              <a:latin typeface="Courier New"/>
              <a:cs typeface="Courier New"/>
            </a:endParaRPr>
          </a:p>
          <a:p>
            <a:pPr marL="286385" marR="134620" indent="640080">
              <a:lnSpc>
                <a:spcPct val="100000"/>
              </a:lnSpc>
              <a:spcBef>
                <a:spcPts val="409"/>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0" dirty="0">
                <a:latin typeface="Courier New"/>
                <a:cs typeface="Courier New"/>
              </a:rPr>
              <a:t> </a:t>
            </a:r>
            <a:r>
              <a:rPr sz="2000" dirty="0">
                <a:latin typeface="Courier New"/>
                <a:cs typeface="Courier New"/>
              </a:rPr>
              <a:t>be</a:t>
            </a:r>
            <a:r>
              <a:rPr sz="2000" spc="-25" dirty="0">
                <a:latin typeface="Courier New"/>
                <a:cs typeface="Courier New"/>
              </a:rPr>
              <a:t> </a:t>
            </a:r>
            <a:r>
              <a:rPr sz="2000" dirty="0">
                <a:latin typeface="Courier New"/>
                <a:cs typeface="Courier New"/>
              </a:rPr>
              <a:t>executed</a:t>
            </a:r>
            <a:r>
              <a:rPr sz="2000" spc="-20" dirty="0">
                <a:latin typeface="Courier New"/>
                <a:cs typeface="Courier New"/>
              </a:rPr>
              <a:t> </a:t>
            </a:r>
            <a:r>
              <a:rPr sz="2000" dirty="0">
                <a:latin typeface="Courier New"/>
                <a:cs typeface="Courier New"/>
              </a:rPr>
              <a:t>if</a:t>
            </a:r>
            <a:r>
              <a:rPr sz="2000" spc="-25" dirty="0">
                <a:latin typeface="Courier New"/>
                <a:cs typeface="Courier New"/>
              </a:rPr>
              <a:t> </a:t>
            </a:r>
            <a:r>
              <a:rPr sz="2000" dirty="0">
                <a:latin typeface="Courier New"/>
                <a:cs typeface="Courier New"/>
              </a:rPr>
              <a:t>all</a:t>
            </a:r>
            <a:r>
              <a:rPr sz="2000" spc="-20" dirty="0">
                <a:latin typeface="Courier New"/>
                <a:cs typeface="Courier New"/>
              </a:rPr>
              <a:t> </a:t>
            </a:r>
            <a:r>
              <a:rPr sz="2000" dirty="0">
                <a:latin typeface="Courier New"/>
                <a:cs typeface="Courier New"/>
              </a:rPr>
              <a:t>the</a:t>
            </a:r>
            <a:r>
              <a:rPr sz="2000" spc="-25" dirty="0">
                <a:latin typeface="Courier New"/>
                <a:cs typeface="Courier New"/>
              </a:rPr>
              <a:t> </a:t>
            </a:r>
            <a:r>
              <a:rPr sz="2000" dirty="0">
                <a:latin typeface="Courier New"/>
                <a:cs typeface="Courier New"/>
              </a:rPr>
              <a:t>conditions</a:t>
            </a:r>
            <a:r>
              <a:rPr sz="2000" spc="-20" dirty="0">
                <a:latin typeface="Courier New"/>
                <a:cs typeface="Courier New"/>
              </a:rPr>
              <a:t> </a:t>
            </a:r>
            <a:r>
              <a:rPr sz="2000" spc="-25" dirty="0">
                <a:latin typeface="Courier New"/>
                <a:cs typeface="Courier New"/>
              </a:rPr>
              <a:t>are </a:t>
            </a:r>
            <a:r>
              <a:rPr sz="2000" spc="-10" dirty="0">
                <a:latin typeface="Courier New"/>
                <a:cs typeface="Courier New"/>
              </a:rPr>
              <a:t>false</a:t>
            </a:r>
            <a:endParaRPr sz="2000" dirty="0">
              <a:latin typeface="Courier New"/>
              <a:cs typeface="Courier New"/>
            </a:endParaRPr>
          </a:p>
          <a:p>
            <a:pPr marL="286385">
              <a:lnSpc>
                <a:spcPct val="100000"/>
              </a:lnSpc>
              <a:spcBef>
                <a:spcPts val="395"/>
              </a:spcBef>
            </a:pPr>
            <a:r>
              <a:rPr sz="2000" spc="-50" dirty="0">
                <a:latin typeface="Courier New"/>
                <a:cs typeface="Courier New"/>
              </a:rPr>
              <a:t>}</a:t>
            </a:r>
            <a:endParaRPr sz="2000" dirty="0">
              <a:latin typeface="Courier New"/>
              <a:cs typeface="Courier New"/>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57200" y="108543"/>
            <a:ext cx="8001000"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Control</a:t>
            </a:r>
            <a:r>
              <a:rPr spc="-40" dirty="0">
                <a:solidFill>
                  <a:srgbClr val="696363"/>
                </a:solidFill>
              </a:rPr>
              <a:t> </a:t>
            </a:r>
            <a:r>
              <a:rPr dirty="0">
                <a:solidFill>
                  <a:srgbClr val="696363"/>
                </a:solidFill>
              </a:rPr>
              <a:t>Statements</a:t>
            </a:r>
            <a:r>
              <a:rPr spc="-45" dirty="0">
                <a:solidFill>
                  <a:srgbClr val="696363"/>
                </a:solidFill>
              </a:rPr>
              <a:t> </a:t>
            </a:r>
            <a:r>
              <a:rPr dirty="0">
                <a:solidFill>
                  <a:srgbClr val="696363"/>
                </a:solidFill>
              </a:rPr>
              <a:t>–</a:t>
            </a:r>
            <a:r>
              <a:rPr spc="-45" dirty="0">
                <a:solidFill>
                  <a:srgbClr val="696363"/>
                </a:solidFill>
              </a:rPr>
              <a:t> </a:t>
            </a:r>
            <a:r>
              <a:rPr spc="-20" dirty="0"/>
              <a:t>if-</a:t>
            </a:r>
            <a:r>
              <a:rPr spc="-10" dirty="0"/>
              <a:t>else-</a:t>
            </a:r>
            <a:r>
              <a:rPr spc="-25" dirty="0"/>
              <a:t>if</a:t>
            </a:r>
          </a:p>
        </p:txBody>
      </p:sp>
      <p:sp>
        <p:nvSpPr>
          <p:cNvPr id="3" name="object 3"/>
          <p:cNvSpPr txBox="1"/>
          <p:nvPr/>
        </p:nvSpPr>
        <p:spPr>
          <a:xfrm>
            <a:off x="228600" y="663178"/>
            <a:ext cx="8686800" cy="5531643"/>
          </a:xfrm>
          <a:prstGeom prst="rect">
            <a:avLst/>
          </a:prstGeom>
        </p:spPr>
        <p:txBody>
          <a:bodyPr vert="horz" wrap="square" lIns="0" tIns="205105" rIns="0" bIns="0" rtlCol="0">
            <a:spAutoFit/>
          </a:bodyPr>
          <a:lstStyle/>
          <a:p>
            <a:pPr marL="88900">
              <a:lnSpc>
                <a:spcPct val="100000"/>
              </a:lnSpc>
              <a:spcBef>
                <a:spcPts val="920"/>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class</a:t>
            </a:r>
            <a:r>
              <a:rPr sz="2200" b="1" spc="-45" dirty="0">
                <a:latin typeface="Courier New"/>
                <a:cs typeface="Courier New"/>
              </a:rPr>
              <a:t> </a:t>
            </a:r>
            <a:r>
              <a:rPr sz="2200" spc="-10" dirty="0">
                <a:latin typeface="Courier New"/>
                <a:cs typeface="Courier New"/>
              </a:rPr>
              <a:t>IfElseIfExample</a:t>
            </a:r>
            <a:endParaRPr sz="2200" dirty="0">
              <a:latin typeface="Courier New"/>
              <a:cs typeface="Courier New"/>
            </a:endParaRPr>
          </a:p>
          <a:p>
            <a:pPr marL="88900">
              <a:lnSpc>
                <a:spcPct val="100000"/>
              </a:lnSpc>
              <a:spcBef>
                <a:spcPts val="600"/>
              </a:spcBef>
            </a:pPr>
            <a:r>
              <a:rPr sz="2200" spc="-50" dirty="0">
                <a:latin typeface="Courier New"/>
                <a:cs typeface="Courier New"/>
              </a:rPr>
              <a:t>{</a:t>
            </a:r>
            <a:endParaRPr sz="2200" dirty="0">
              <a:latin typeface="Courier New"/>
              <a:cs typeface="Courier New"/>
            </a:endParaRPr>
          </a:p>
          <a:p>
            <a:pPr marL="1003300">
              <a:lnSpc>
                <a:spcPct val="100000"/>
              </a:lnSpc>
              <a:spcBef>
                <a:spcPts val="600"/>
              </a:spcBef>
            </a:pPr>
            <a:r>
              <a:rPr sz="2200" b="1" dirty="0">
                <a:latin typeface="Courier New"/>
                <a:cs typeface="Courier New"/>
              </a:rPr>
              <a:t>public</a:t>
            </a:r>
            <a:r>
              <a:rPr sz="2200" b="1" spc="-75" dirty="0">
                <a:latin typeface="Courier New"/>
                <a:cs typeface="Courier New"/>
              </a:rPr>
              <a:t> </a:t>
            </a:r>
            <a:r>
              <a:rPr sz="2200" b="1" dirty="0">
                <a:latin typeface="Courier New"/>
                <a:cs typeface="Courier New"/>
              </a:rPr>
              <a:t>static</a:t>
            </a:r>
            <a:r>
              <a:rPr sz="2200" b="1" spc="-90" dirty="0">
                <a:latin typeface="Courier New"/>
                <a:cs typeface="Courier New"/>
              </a:rPr>
              <a:t> </a:t>
            </a:r>
            <a:r>
              <a:rPr sz="2200" b="1" dirty="0">
                <a:latin typeface="Courier New"/>
                <a:cs typeface="Courier New"/>
              </a:rPr>
              <a:t>void</a:t>
            </a:r>
            <a:r>
              <a:rPr sz="2200" b="1" spc="-60" dirty="0">
                <a:latin typeface="Courier New"/>
                <a:cs typeface="Courier New"/>
              </a:rPr>
              <a:t> </a:t>
            </a:r>
            <a:r>
              <a:rPr sz="2200" dirty="0">
                <a:latin typeface="Courier New"/>
                <a:cs typeface="Courier New"/>
              </a:rPr>
              <a:t>main(String[]</a:t>
            </a:r>
            <a:r>
              <a:rPr sz="2200" spc="-60" dirty="0">
                <a:latin typeface="Courier New"/>
                <a:cs typeface="Courier New"/>
              </a:rPr>
              <a:t> </a:t>
            </a:r>
            <a:r>
              <a:rPr sz="2200" spc="-10" dirty="0">
                <a:latin typeface="Courier New"/>
                <a:cs typeface="Courier New"/>
              </a:rPr>
              <a:t>args)</a:t>
            </a:r>
            <a:endParaRPr sz="2200" dirty="0">
              <a:latin typeface="Courier New"/>
              <a:cs typeface="Courier New"/>
            </a:endParaRPr>
          </a:p>
          <a:p>
            <a:pPr marL="1003300">
              <a:lnSpc>
                <a:spcPct val="100000"/>
              </a:lnSpc>
              <a:spcBef>
                <a:spcPts val="600"/>
              </a:spcBef>
            </a:pPr>
            <a:r>
              <a:rPr sz="2200" spc="-50" dirty="0">
                <a:latin typeface="Courier New"/>
                <a:cs typeface="Courier New"/>
              </a:rPr>
              <a:t>{</a:t>
            </a:r>
            <a:endParaRPr sz="2200" dirty="0">
              <a:latin typeface="Courier New"/>
              <a:cs typeface="Courier New"/>
            </a:endParaRPr>
          </a:p>
          <a:p>
            <a:pPr marL="1917700">
              <a:lnSpc>
                <a:spcPct val="100000"/>
              </a:lnSpc>
              <a:spcBef>
                <a:spcPts val="600"/>
              </a:spcBef>
            </a:pPr>
            <a:r>
              <a:rPr sz="2200" b="1" dirty="0">
                <a:latin typeface="Courier New"/>
                <a:cs typeface="Courier New"/>
              </a:rPr>
              <a:t>int</a:t>
            </a:r>
            <a:r>
              <a:rPr sz="2200" b="1" spc="-30" dirty="0">
                <a:latin typeface="Courier New"/>
                <a:cs typeface="Courier New"/>
              </a:rPr>
              <a:t> </a:t>
            </a:r>
            <a:r>
              <a:rPr sz="2200" spc="-10" dirty="0">
                <a:latin typeface="Courier New"/>
                <a:cs typeface="Courier New"/>
              </a:rPr>
              <a:t>marks=65;</a:t>
            </a:r>
            <a:endParaRPr sz="2200" dirty="0">
              <a:latin typeface="Courier New"/>
              <a:cs typeface="Courier New"/>
            </a:endParaRPr>
          </a:p>
          <a:p>
            <a:pPr marL="1917700">
              <a:lnSpc>
                <a:spcPct val="100000"/>
              </a:lnSpc>
              <a:spcBef>
                <a:spcPts val="600"/>
              </a:spcBef>
            </a:pPr>
            <a:r>
              <a:rPr sz="2200" b="1" spc="-10" dirty="0">
                <a:latin typeface="Courier New"/>
                <a:cs typeface="Courier New"/>
              </a:rPr>
              <a:t>if</a:t>
            </a:r>
            <a:r>
              <a:rPr sz="2200" spc="-10" dirty="0">
                <a:latin typeface="Courier New"/>
                <a:cs typeface="Courier New"/>
              </a:rPr>
              <a:t>(marks&lt;50)</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a:p>
            <a:pPr marL="2832735">
              <a:lnSpc>
                <a:spcPct val="100000"/>
              </a:lnSpc>
              <a:spcBef>
                <a:spcPts val="605"/>
              </a:spcBef>
            </a:pPr>
            <a:r>
              <a:rPr sz="2200" spc="-10" dirty="0">
                <a:latin typeface="Courier New"/>
                <a:cs typeface="Courier New"/>
              </a:rPr>
              <a:t>System.out.println("fail");</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a:p>
            <a:pPr marL="1917700">
              <a:lnSpc>
                <a:spcPct val="100000"/>
              </a:lnSpc>
              <a:spcBef>
                <a:spcPts val="600"/>
              </a:spcBef>
            </a:pPr>
            <a:r>
              <a:rPr sz="2200" b="1" dirty="0">
                <a:latin typeface="Courier New"/>
                <a:cs typeface="Courier New"/>
              </a:rPr>
              <a:t>else</a:t>
            </a:r>
            <a:r>
              <a:rPr sz="2200" b="1" spc="-70" dirty="0">
                <a:latin typeface="Courier New"/>
                <a:cs typeface="Courier New"/>
              </a:rPr>
              <a:t> </a:t>
            </a:r>
            <a:r>
              <a:rPr sz="2200" b="1" dirty="0">
                <a:latin typeface="Courier New"/>
                <a:cs typeface="Courier New"/>
              </a:rPr>
              <a:t>if</a:t>
            </a:r>
            <a:r>
              <a:rPr sz="2200" dirty="0">
                <a:latin typeface="Courier New"/>
                <a:cs typeface="Courier New"/>
              </a:rPr>
              <a:t>(marks&gt;=50</a:t>
            </a:r>
            <a:r>
              <a:rPr sz="2200" spc="-40"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marks&lt;60)</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a:p>
            <a:pPr marL="2832735">
              <a:lnSpc>
                <a:spcPct val="100000"/>
              </a:lnSpc>
              <a:spcBef>
                <a:spcPts val="600"/>
              </a:spcBef>
            </a:pPr>
            <a:r>
              <a:rPr sz="2200" dirty="0">
                <a:latin typeface="Courier New"/>
                <a:cs typeface="Courier New"/>
              </a:rPr>
              <a:t>System.out.println("D</a:t>
            </a:r>
            <a:r>
              <a:rPr sz="2200" spc="-204" dirty="0">
                <a:latin typeface="Courier New"/>
                <a:cs typeface="Courier New"/>
              </a:rPr>
              <a:t> </a:t>
            </a:r>
            <a:r>
              <a:rPr sz="2200" spc="-10" dirty="0">
                <a:latin typeface="Courier New"/>
                <a:cs typeface="Courier New"/>
              </a:rPr>
              <a:t>grade");</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1000" y="152400"/>
            <a:ext cx="7818374"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rPr>
              <a:t>Control</a:t>
            </a:r>
            <a:r>
              <a:rPr sz="4000" spc="-40" dirty="0">
                <a:solidFill>
                  <a:srgbClr val="696363"/>
                </a:solidFill>
              </a:rPr>
              <a:t> </a:t>
            </a:r>
            <a:r>
              <a:rPr sz="4000" dirty="0">
                <a:solidFill>
                  <a:srgbClr val="696363"/>
                </a:solidFill>
              </a:rPr>
              <a:t>Statements</a:t>
            </a:r>
            <a:r>
              <a:rPr sz="4000" spc="-45" dirty="0">
                <a:solidFill>
                  <a:srgbClr val="696363"/>
                </a:solidFill>
              </a:rPr>
              <a:t> </a:t>
            </a:r>
            <a:r>
              <a:rPr sz="4000" dirty="0">
                <a:solidFill>
                  <a:srgbClr val="696363"/>
                </a:solidFill>
              </a:rPr>
              <a:t>–</a:t>
            </a:r>
            <a:r>
              <a:rPr sz="4000" spc="-45" dirty="0">
                <a:solidFill>
                  <a:srgbClr val="696363"/>
                </a:solidFill>
              </a:rPr>
              <a:t> </a:t>
            </a:r>
            <a:r>
              <a:rPr sz="4000" spc="-20" dirty="0"/>
              <a:t>if-</a:t>
            </a:r>
            <a:r>
              <a:rPr sz="4000" spc="-10" dirty="0"/>
              <a:t>else-</a:t>
            </a:r>
            <a:r>
              <a:rPr sz="4000" spc="-25" dirty="0"/>
              <a:t>if</a:t>
            </a:r>
          </a:p>
        </p:txBody>
      </p:sp>
      <p:sp>
        <p:nvSpPr>
          <p:cNvPr id="4" name="object 4"/>
          <p:cNvSpPr txBox="1"/>
          <p:nvPr/>
        </p:nvSpPr>
        <p:spPr>
          <a:xfrm>
            <a:off x="457200" y="915060"/>
            <a:ext cx="8001000" cy="4998804"/>
          </a:xfrm>
          <a:prstGeom prst="rect">
            <a:avLst/>
          </a:prstGeom>
        </p:spPr>
        <p:txBody>
          <a:bodyPr vert="horz" wrap="square" lIns="0" tIns="88900" rIns="0" bIns="0" rtlCol="0">
            <a:spAutoFit/>
          </a:bodyPr>
          <a:lstStyle/>
          <a:p>
            <a:pPr marL="12700">
              <a:lnSpc>
                <a:spcPct val="100000"/>
              </a:lnSpc>
              <a:spcBef>
                <a:spcPts val="7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(marks&gt;=60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marks&lt;70)</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dirty="0">
                <a:latin typeface="Courier New"/>
                <a:cs typeface="Courier New"/>
              </a:rPr>
              <a:t>System.out.println("C</a:t>
            </a:r>
            <a:r>
              <a:rPr sz="2200" spc="-235" dirty="0">
                <a:latin typeface="Courier New"/>
                <a:cs typeface="Courier New"/>
              </a:rPr>
              <a:t> </a:t>
            </a:r>
            <a:r>
              <a:rPr sz="2200" spc="-10" dirty="0">
                <a:latin typeface="Courier New"/>
                <a:cs typeface="Courier New"/>
              </a:rPr>
              <a:t>grade");</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12700">
              <a:lnSpc>
                <a:spcPct val="100000"/>
              </a:lnSpc>
              <a:spcBef>
                <a:spcPts val="6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(marks&gt;=70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marks&lt;80)</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dirty="0">
                <a:latin typeface="Courier New"/>
                <a:cs typeface="Courier New"/>
              </a:rPr>
              <a:t>System.out.println("B</a:t>
            </a:r>
            <a:r>
              <a:rPr sz="2200" spc="-235" dirty="0">
                <a:latin typeface="Courier New"/>
                <a:cs typeface="Courier New"/>
              </a:rPr>
              <a:t> </a:t>
            </a:r>
            <a:r>
              <a:rPr sz="2200" spc="-10" dirty="0">
                <a:latin typeface="Courier New"/>
                <a:cs typeface="Courier New"/>
              </a:rPr>
              <a:t>grade");</a:t>
            </a:r>
            <a:endParaRPr sz="2200" dirty="0">
              <a:latin typeface="Courier New"/>
              <a:cs typeface="Courier New"/>
            </a:endParaRPr>
          </a:p>
          <a:p>
            <a:pPr marL="12700">
              <a:lnSpc>
                <a:spcPct val="100000"/>
              </a:lnSpc>
              <a:spcBef>
                <a:spcPts val="605"/>
              </a:spcBef>
            </a:pPr>
            <a:r>
              <a:rPr sz="2200" spc="-50" dirty="0">
                <a:latin typeface="Courier New"/>
                <a:cs typeface="Courier New"/>
              </a:rPr>
              <a:t>}</a:t>
            </a:r>
            <a:endParaRPr sz="2200" dirty="0">
              <a:latin typeface="Courier New"/>
              <a:cs typeface="Courier New"/>
            </a:endParaRPr>
          </a:p>
          <a:p>
            <a:pPr marL="12700">
              <a:lnSpc>
                <a:spcPct val="100000"/>
              </a:lnSpc>
              <a:spcBef>
                <a:spcPts val="6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(marks&gt;=80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marks&lt;90)</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dirty="0">
                <a:latin typeface="Courier New"/>
                <a:cs typeface="Courier New"/>
              </a:rPr>
              <a:t>System.out.println("A</a:t>
            </a:r>
            <a:r>
              <a:rPr sz="2200" spc="-204" dirty="0">
                <a:latin typeface="Courier New"/>
                <a:cs typeface="Courier New"/>
              </a:rPr>
              <a:t> </a:t>
            </a:r>
            <a:r>
              <a:rPr sz="2200" spc="-10" dirty="0">
                <a:latin typeface="Courier New"/>
                <a:cs typeface="Courier New"/>
              </a:rPr>
              <a:t>grade");</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18124" y="14748"/>
            <a:ext cx="7633335"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Control</a:t>
            </a:r>
            <a:r>
              <a:rPr spc="-40" dirty="0">
                <a:solidFill>
                  <a:srgbClr val="696363"/>
                </a:solidFill>
              </a:rPr>
              <a:t> </a:t>
            </a:r>
            <a:r>
              <a:rPr dirty="0">
                <a:solidFill>
                  <a:srgbClr val="696363"/>
                </a:solidFill>
              </a:rPr>
              <a:t>Statements</a:t>
            </a:r>
            <a:r>
              <a:rPr spc="-45" dirty="0">
                <a:solidFill>
                  <a:srgbClr val="696363"/>
                </a:solidFill>
              </a:rPr>
              <a:t> </a:t>
            </a:r>
            <a:r>
              <a:rPr dirty="0">
                <a:solidFill>
                  <a:srgbClr val="696363"/>
                </a:solidFill>
              </a:rPr>
              <a:t>–</a:t>
            </a:r>
            <a:r>
              <a:rPr spc="-45" dirty="0">
                <a:solidFill>
                  <a:srgbClr val="696363"/>
                </a:solidFill>
              </a:rPr>
              <a:t> </a:t>
            </a:r>
            <a:r>
              <a:rPr spc="-20" dirty="0"/>
              <a:t>if-</a:t>
            </a:r>
            <a:r>
              <a:rPr spc="-10" dirty="0"/>
              <a:t>else-</a:t>
            </a:r>
            <a:r>
              <a:rPr spc="-25" dirty="0"/>
              <a:t>if</a:t>
            </a:r>
          </a:p>
        </p:txBody>
      </p:sp>
      <p:sp>
        <p:nvSpPr>
          <p:cNvPr id="4" name="object 4"/>
          <p:cNvSpPr txBox="1"/>
          <p:nvPr/>
        </p:nvSpPr>
        <p:spPr>
          <a:xfrm>
            <a:off x="383540" y="915060"/>
            <a:ext cx="7985125" cy="4140835"/>
          </a:xfrm>
          <a:prstGeom prst="rect">
            <a:avLst/>
          </a:prstGeom>
        </p:spPr>
        <p:txBody>
          <a:bodyPr vert="horz" wrap="square" lIns="0" tIns="88900" rIns="0" bIns="0" rtlCol="0">
            <a:spAutoFit/>
          </a:bodyPr>
          <a:lstStyle/>
          <a:p>
            <a:pPr marL="1841500">
              <a:lnSpc>
                <a:spcPct val="100000"/>
              </a:lnSpc>
              <a:spcBef>
                <a:spcPts val="7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(marks&gt;=90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marks&lt;100)</a:t>
            </a:r>
            <a:endParaRPr sz="2200" dirty="0">
              <a:latin typeface="Courier New"/>
              <a:cs typeface="Courier New"/>
            </a:endParaRPr>
          </a:p>
          <a:p>
            <a:pPr marL="1841500">
              <a:lnSpc>
                <a:spcPct val="100000"/>
              </a:lnSpc>
              <a:spcBef>
                <a:spcPts val="600"/>
              </a:spcBef>
            </a:pPr>
            <a:r>
              <a:rPr sz="2200" spc="-50" dirty="0">
                <a:latin typeface="Courier New"/>
                <a:cs typeface="Courier New"/>
              </a:rPr>
              <a:t>{</a:t>
            </a:r>
            <a:endParaRPr sz="2200" dirty="0">
              <a:latin typeface="Courier New"/>
              <a:cs typeface="Courier New"/>
            </a:endParaRPr>
          </a:p>
          <a:p>
            <a:pPr marL="2756535">
              <a:lnSpc>
                <a:spcPct val="100000"/>
              </a:lnSpc>
              <a:spcBef>
                <a:spcPts val="600"/>
              </a:spcBef>
            </a:pPr>
            <a:r>
              <a:rPr sz="2200" dirty="0">
                <a:latin typeface="Courier New"/>
                <a:cs typeface="Courier New"/>
              </a:rPr>
              <a:t>System.out.println("A+</a:t>
            </a:r>
            <a:r>
              <a:rPr sz="2200" spc="-254" dirty="0">
                <a:latin typeface="Courier New"/>
                <a:cs typeface="Courier New"/>
              </a:rPr>
              <a:t> </a:t>
            </a:r>
            <a:r>
              <a:rPr sz="2200" spc="-10" dirty="0">
                <a:latin typeface="Courier New"/>
                <a:cs typeface="Courier New"/>
              </a:rPr>
              <a:t>grade");</a:t>
            </a:r>
            <a:endParaRPr sz="2200" dirty="0">
              <a:latin typeface="Courier New"/>
              <a:cs typeface="Courier New"/>
            </a:endParaRPr>
          </a:p>
          <a:p>
            <a:pPr marL="1841500">
              <a:lnSpc>
                <a:spcPct val="100000"/>
              </a:lnSpc>
              <a:spcBef>
                <a:spcPts val="600"/>
              </a:spcBef>
            </a:pPr>
            <a:r>
              <a:rPr sz="2200" spc="-50" dirty="0">
                <a:latin typeface="Courier New"/>
                <a:cs typeface="Courier New"/>
              </a:rPr>
              <a:t>}</a:t>
            </a:r>
            <a:endParaRPr sz="2200" dirty="0">
              <a:latin typeface="Courier New"/>
              <a:cs typeface="Courier New"/>
            </a:endParaRPr>
          </a:p>
          <a:p>
            <a:pPr marL="1841500">
              <a:lnSpc>
                <a:spcPct val="100000"/>
              </a:lnSpc>
              <a:spcBef>
                <a:spcPts val="600"/>
              </a:spcBef>
            </a:pPr>
            <a:r>
              <a:rPr sz="2200" b="1" spc="-20" dirty="0">
                <a:latin typeface="Courier New"/>
                <a:cs typeface="Courier New"/>
              </a:rPr>
              <a:t>else</a:t>
            </a:r>
            <a:endParaRPr sz="2200" dirty="0">
              <a:latin typeface="Courier New"/>
              <a:cs typeface="Courier New"/>
            </a:endParaRPr>
          </a:p>
          <a:p>
            <a:pPr marL="1841500">
              <a:lnSpc>
                <a:spcPct val="100000"/>
              </a:lnSpc>
              <a:spcBef>
                <a:spcPts val="600"/>
              </a:spcBef>
            </a:pPr>
            <a:r>
              <a:rPr sz="2200" spc="-50" dirty="0">
                <a:latin typeface="Courier New"/>
                <a:cs typeface="Courier New"/>
              </a:rPr>
              <a:t>{</a:t>
            </a:r>
            <a:endParaRPr sz="2200" dirty="0">
              <a:latin typeface="Courier New"/>
              <a:cs typeface="Courier New"/>
            </a:endParaRPr>
          </a:p>
          <a:p>
            <a:pPr marL="2756535">
              <a:lnSpc>
                <a:spcPct val="100000"/>
              </a:lnSpc>
              <a:spcBef>
                <a:spcPts val="600"/>
              </a:spcBef>
            </a:pPr>
            <a:r>
              <a:rPr sz="2200" spc="-10" dirty="0">
                <a:latin typeface="Courier New"/>
                <a:cs typeface="Courier New"/>
              </a:rPr>
              <a:t>System.out.println("Invalid!");</a:t>
            </a:r>
            <a:endParaRPr sz="2200" dirty="0">
              <a:latin typeface="Courier New"/>
              <a:cs typeface="Courier New"/>
            </a:endParaRPr>
          </a:p>
          <a:p>
            <a:pPr marL="1841500">
              <a:lnSpc>
                <a:spcPct val="100000"/>
              </a:lnSpc>
              <a:spcBef>
                <a:spcPts val="605"/>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spc="-50" dirty="0">
                <a:latin typeface="Courier New"/>
                <a:cs typeface="Courier New"/>
              </a:rPr>
              <a:t>}</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33400" y="-54112"/>
            <a:ext cx="7162800"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rPr>
              <a:t>Control</a:t>
            </a:r>
            <a:r>
              <a:rPr sz="4000" spc="-55" dirty="0">
                <a:solidFill>
                  <a:srgbClr val="696363"/>
                </a:solidFill>
              </a:rPr>
              <a:t> </a:t>
            </a:r>
            <a:r>
              <a:rPr sz="4000" dirty="0">
                <a:solidFill>
                  <a:srgbClr val="696363"/>
                </a:solidFill>
              </a:rPr>
              <a:t>Statements</a:t>
            </a:r>
            <a:r>
              <a:rPr sz="4000" spc="-60" dirty="0">
                <a:solidFill>
                  <a:srgbClr val="696363"/>
                </a:solidFill>
              </a:rPr>
              <a:t> </a:t>
            </a:r>
            <a:r>
              <a:rPr sz="4000" dirty="0">
                <a:solidFill>
                  <a:srgbClr val="696363"/>
                </a:solidFill>
              </a:rPr>
              <a:t>–</a:t>
            </a:r>
            <a:r>
              <a:rPr sz="4000" spc="-60" dirty="0">
                <a:solidFill>
                  <a:srgbClr val="696363"/>
                </a:solidFill>
              </a:rPr>
              <a:t> </a:t>
            </a:r>
            <a:r>
              <a:rPr sz="4000" b="1" spc="-10" dirty="0">
                <a:solidFill>
                  <a:srgbClr val="FF0000"/>
                </a:solidFill>
              </a:rPr>
              <a:t>switch</a:t>
            </a:r>
          </a:p>
        </p:txBody>
      </p:sp>
      <p:sp>
        <p:nvSpPr>
          <p:cNvPr id="3" name="object 3"/>
          <p:cNvSpPr txBox="1"/>
          <p:nvPr/>
        </p:nvSpPr>
        <p:spPr>
          <a:xfrm>
            <a:off x="346075" y="549684"/>
            <a:ext cx="8451850" cy="5736186"/>
          </a:xfrm>
          <a:prstGeom prst="rect">
            <a:avLst/>
          </a:prstGeom>
        </p:spPr>
        <p:txBody>
          <a:bodyPr vert="horz" wrap="square" lIns="0" tIns="137795" rIns="0" bIns="0" rtlCol="0">
            <a:spAutoFit/>
          </a:bodyPr>
          <a:lstStyle/>
          <a:p>
            <a:pPr marL="360680" marR="5080" indent="-272415" algn="just">
              <a:lnSpc>
                <a:spcPts val="3020"/>
              </a:lnSpc>
              <a:spcBef>
                <a:spcPts val="1150"/>
              </a:spcBef>
              <a:buClr>
                <a:srgbClr val="D24717"/>
              </a:buClr>
              <a:buSzPct val="83928"/>
              <a:buFont typeface="Segoe UI Symbol"/>
              <a:buChar char="⚫"/>
              <a:tabLst>
                <a:tab pos="362585" algn="l"/>
              </a:tabLst>
            </a:pPr>
            <a:r>
              <a:rPr sz="2800" dirty="0">
                <a:latin typeface="Arial MT"/>
                <a:cs typeface="Arial MT"/>
              </a:rPr>
              <a:t>The</a:t>
            </a:r>
            <a:r>
              <a:rPr sz="2800" spc="315" dirty="0">
                <a:latin typeface="Arial MT"/>
                <a:cs typeface="Arial MT"/>
              </a:rPr>
              <a:t>   </a:t>
            </a:r>
            <a:r>
              <a:rPr sz="2800" dirty="0">
                <a:latin typeface="Arial MT"/>
                <a:cs typeface="Arial MT"/>
              </a:rPr>
              <a:t>Java</a:t>
            </a:r>
            <a:r>
              <a:rPr sz="2800" spc="320" dirty="0">
                <a:latin typeface="Arial MT"/>
                <a:cs typeface="Arial MT"/>
              </a:rPr>
              <a:t>   </a:t>
            </a:r>
            <a:r>
              <a:rPr sz="2800" i="1" dirty="0">
                <a:latin typeface="Arial"/>
                <a:cs typeface="Arial"/>
              </a:rPr>
              <a:t>switch</a:t>
            </a:r>
            <a:r>
              <a:rPr sz="2800" i="1" spc="320" dirty="0">
                <a:latin typeface="Arial"/>
                <a:cs typeface="Arial"/>
              </a:rPr>
              <a:t>   </a:t>
            </a:r>
            <a:r>
              <a:rPr sz="2800" i="1" dirty="0">
                <a:latin typeface="Arial"/>
                <a:cs typeface="Arial"/>
              </a:rPr>
              <a:t>statement</a:t>
            </a:r>
            <a:r>
              <a:rPr sz="2800" i="1" spc="315" dirty="0">
                <a:latin typeface="Arial"/>
                <a:cs typeface="Arial"/>
              </a:rPr>
              <a:t>   </a:t>
            </a:r>
            <a:r>
              <a:rPr sz="2800" dirty="0">
                <a:latin typeface="Arial MT"/>
                <a:cs typeface="Arial MT"/>
              </a:rPr>
              <a:t>executes</a:t>
            </a:r>
            <a:r>
              <a:rPr sz="2800" spc="320" dirty="0">
                <a:latin typeface="Arial MT"/>
                <a:cs typeface="Arial MT"/>
              </a:rPr>
              <a:t>   </a:t>
            </a:r>
            <a:r>
              <a:rPr sz="2800" spc="-25" dirty="0">
                <a:solidFill>
                  <a:srgbClr val="FF0000"/>
                </a:solidFill>
                <a:latin typeface="Arial MT"/>
                <a:cs typeface="Arial MT"/>
              </a:rPr>
              <a:t>one 	</a:t>
            </a:r>
            <a:r>
              <a:rPr sz="2800" dirty="0">
                <a:solidFill>
                  <a:srgbClr val="FF0000"/>
                </a:solidFill>
                <a:latin typeface="Arial MT"/>
                <a:cs typeface="Arial MT"/>
              </a:rPr>
              <a:t>statement</a:t>
            </a:r>
            <a:r>
              <a:rPr sz="2800" spc="80" dirty="0">
                <a:solidFill>
                  <a:srgbClr val="FF0000"/>
                </a:solidFill>
                <a:latin typeface="Arial MT"/>
                <a:cs typeface="Arial MT"/>
              </a:rPr>
              <a:t> </a:t>
            </a:r>
            <a:r>
              <a:rPr sz="2800" dirty="0">
                <a:solidFill>
                  <a:srgbClr val="FF0000"/>
                </a:solidFill>
                <a:latin typeface="Arial MT"/>
                <a:cs typeface="Arial MT"/>
              </a:rPr>
              <a:t>from</a:t>
            </a:r>
            <a:r>
              <a:rPr sz="2800" spc="75" dirty="0">
                <a:solidFill>
                  <a:srgbClr val="FF0000"/>
                </a:solidFill>
                <a:latin typeface="Arial MT"/>
                <a:cs typeface="Arial MT"/>
              </a:rPr>
              <a:t> </a:t>
            </a:r>
            <a:r>
              <a:rPr sz="2800" dirty="0">
                <a:solidFill>
                  <a:srgbClr val="FF0000"/>
                </a:solidFill>
                <a:latin typeface="Arial MT"/>
                <a:cs typeface="Arial MT"/>
              </a:rPr>
              <a:t>multiple</a:t>
            </a:r>
            <a:r>
              <a:rPr sz="2800" spc="85" dirty="0">
                <a:solidFill>
                  <a:srgbClr val="FF0000"/>
                </a:solidFill>
                <a:latin typeface="Arial MT"/>
                <a:cs typeface="Arial MT"/>
              </a:rPr>
              <a:t> </a:t>
            </a:r>
            <a:r>
              <a:rPr sz="2800" dirty="0">
                <a:solidFill>
                  <a:srgbClr val="FF0000"/>
                </a:solidFill>
                <a:latin typeface="Arial MT"/>
                <a:cs typeface="Arial MT"/>
              </a:rPr>
              <a:t>conditions</a:t>
            </a:r>
            <a:r>
              <a:rPr sz="2800" dirty="0">
                <a:latin typeface="Arial MT"/>
                <a:cs typeface="Arial MT"/>
              </a:rPr>
              <a:t>.</a:t>
            </a:r>
            <a:r>
              <a:rPr sz="2800" spc="75" dirty="0">
                <a:latin typeface="Arial MT"/>
                <a:cs typeface="Arial MT"/>
              </a:rPr>
              <a:t> </a:t>
            </a:r>
            <a:r>
              <a:rPr sz="2800" dirty="0">
                <a:latin typeface="Arial MT"/>
                <a:cs typeface="Arial MT"/>
              </a:rPr>
              <a:t>It</a:t>
            </a:r>
            <a:r>
              <a:rPr sz="2800" spc="50" dirty="0">
                <a:latin typeface="Arial MT"/>
                <a:cs typeface="Arial MT"/>
              </a:rPr>
              <a:t> </a:t>
            </a:r>
            <a:r>
              <a:rPr sz="2800" dirty="0">
                <a:latin typeface="Arial MT"/>
                <a:cs typeface="Arial MT"/>
              </a:rPr>
              <a:t>is</a:t>
            </a:r>
            <a:r>
              <a:rPr sz="2800" spc="75" dirty="0">
                <a:latin typeface="Arial MT"/>
                <a:cs typeface="Arial MT"/>
              </a:rPr>
              <a:t> </a:t>
            </a:r>
            <a:r>
              <a:rPr sz="2800" dirty="0">
                <a:latin typeface="Arial MT"/>
                <a:cs typeface="Arial MT"/>
              </a:rPr>
              <a:t>like</a:t>
            </a:r>
            <a:r>
              <a:rPr sz="2800" spc="75" dirty="0">
                <a:latin typeface="Arial MT"/>
                <a:cs typeface="Arial MT"/>
              </a:rPr>
              <a:t> </a:t>
            </a:r>
            <a:r>
              <a:rPr sz="2800" spc="-10" dirty="0">
                <a:latin typeface="Arial MT"/>
                <a:cs typeface="Arial MT"/>
              </a:rPr>
              <a:t>if-else- 	</a:t>
            </a:r>
            <a:r>
              <a:rPr sz="2800" dirty="0">
                <a:latin typeface="Arial MT"/>
                <a:cs typeface="Arial MT"/>
              </a:rPr>
              <a:t>if</a:t>
            </a:r>
            <a:r>
              <a:rPr sz="2800" spc="-75" dirty="0">
                <a:latin typeface="Arial MT"/>
                <a:cs typeface="Arial MT"/>
              </a:rPr>
              <a:t> </a:t>
            </a:r>
            <a:r>
              <a:rPr sz="2800" dirty="0">
                <a:latin typeface="Arial MT"/>
                <a:cs typeface="Arial MT"/>
              </a:rPr>
              <a:t>ladder</a:t>
            </a:r>
            <a:r>
              <a:rPr sz="2800" spc="-45" dirty="0">
                <a:latin typeface="Arial MT"/>
                <a:cs typeface="Arial MT"/>
              </a:rPr>
              <a:t> </a:t>
            </a:r>
            <a:r>
              <a:rPr sz="2800" dirty="0">
                <a:latin typeface="Arial MT"/>
                <a:cs typeface="Arial MT"/>
              </a:rPr>
              <a:t>statement.</a:t>
            </a:r>
            <a:r>
              <a:rPr sz="2800" spc="-120" dirty="0">
                <a:latin typeface="Arial MT"/>
                <a:cs typeface="Arial MT"/>
              </a:rPr>
              <a:t> </a:t>
            </a:r>
            <a:r>
              <a:rPr sz="2800" dirty="0">
                <a:latin typeface="Arial MT"/>
                <a:cs typeface="Arial MT"/>
              </a:rPr>
              <a:t>The</a:t>
            </a:r>
            <a:r>
              <a:rPr sz="2800" spc="-50" dirty="0">
                <a:latin typeface="Arial MT"/>
                <a:cs typeface="Arial MT"/>
              </a:rPr>
              <a:t> </a:t>
            </a:r>
            <a:r>
              <a:rPr sz="2800" dirty="0">
                <a:latin typeface="Arial MT"/>
                <a:cs typeface="Arial MT"/>
              </a:rPr>
              <a:t>syntax</a:t>
            </a:r>
            <a:r>
              <a:rPr sz="2800" spc="-75" dirty="0">
                <a:latin typeface="Arial MT"/>
                <a:cs typeface="Arial MT"/>
              </a:rPr>
              <a:t> </a:t>
            </a:r>
            <a:r>
              <a:rPr sz="2800" dirty="0">
                <a:latin typeface="Arial MT"/>
                <a:cs typeface="Arial MT"/>
              </a:rPr>
              <a:t>as</a:t>
            </a:r>
            <a:r>
              <a:rPr sz="2800" spc="-60" dirty="0">
                <a:latin typeface="Arial MT"/>
                <a:cs typeface="Arial MT"/>
              </a:rPr>
              <a:t> </a:t>
            </a:r>
            <a:r>
              <a:rPr sz="2800" spc="-10" dirty="0">
                <a:latin typeface="Arial MT"/>
                <a:cs typeface="Arial MT"/>
              </a:rPr>
              <a:t>follows:</a:t>
            </a:r>
            <a:endParaRPr sz="2800" dirty="0">
              <a:latin typeface="Arial MT"/>
              <a:cs typeface="Arial MT"/>
            </a:endParaRPr>
          </a:p>
          <a:p>
            <a:pPr marL="637540">
              <a:lnSpc>
                <a:spcPts val="2520"/>
              </a:lnSpc>
            </a:pPr>
            <a:r>
              <a:rPr sz="2400" b="1" i="1" spc="-10" dirty="0">
                <a:latin typeface="Courier New"/>
                <a:cs typeface="Courier New"/>
              </a:rPr>
              <a:t>switch</a:t>
            </a:r>
            <a:r>
              <a:rPr sz="2400" i="1" spc="-10" dirty="0">
                <a:latin typeface="Courier New"/>
                <a:cs typeface="Courier New"/>
              </a:rPr>
              <a:t>(expression)</a:t>
            </a:r>
            <a:endParaRPr sz="2400" dirty="0">
              <a:latin typeface="Courier New"/>
              <a:cs typeface="Courier New"/>
            </a:endParaRPr>
          </a:p>
          <a:p>
            <a:pPr marL="637540">
              <a:lnSpc>
                <a:spcPts val="2700"/>
              </a:lnSpc>
            </a:pPr>
            <a:r>
              <a:rPr sz="2400" i="1" spc="-50" dirty="0">
                <a:latin typeface="Courier New"/>
                <a:cs typeface="Courier New"/>
              </a:rPr>
              <a:t>{</a:t>
            </a:r>
            <a:endParaRPr sz="2400" dirty="0">
              <a:latin typeface="Courier New"/>
              <a:cs typeface="Courier New"/>
            </a:endParaRPr>
          </a:p>
          <a:p>
            <a:pPr marL="1003300">
              <a:lnSpc>
                <a:spcPts val="2705"/>
              </a:lnSpc>
            </a:pPr>
            <a:r>
              <a:rPr sz="2400" b="1" i="1" dirty="0">
                <a:latin typeface="Courier New"/>
                <a:cs typeface="Courier New"/>
              </a:rPr>
              <a:t>case</a:t>
            </a:r>
            <a:r>
              <a:rPr sz="2400" b="1" i="1" spc="-20" dirty="0">
                <a:latin typeface="Courier New"/>
                <a:cs typeface="Courier New"/>
              </a:rPr>
              <a:t> </a:t>
            </a:r>
            <a:r>
              <a:rPr sz="2400" i="1" spc="-10" dirty="0">
                <a:latin typeface="Courier New"/>
                <a:cs typeface="Courier New"/>
              </a:rPr>
              <a:t>value1:</a:t>
            </a:r>
            <a:endParaRPr sz="2400" dirty="0">
              <a:latin typeface="Courier New"/>
              <a:cs typeface="Courier New"/>
            </a:endParaRPr>
          </a:p>
          <a:p>
            <a:pPr marL="2832735">
              <a:lnSpc>
                <a:spcPts val="2705"/>
              </a:lnSpc>
            </a:pPr>
            <a:r>
              <a:rPr sz="2400" i="1" dirty="0">
                <a:latin typeface="Courier New"/>
                <a:cs typeface="Courier New"/>
              </a:rPr>
              <a:t>//code</a:t>
            </a:r>
            <a:r>
              <a:rPr sz="2400" i="1" spc="-40" dirty="0">
                <a:latin typeface="Courier New"/>
                <a:cs typeface="Courier New"/>
              </a:rPr>
              <a:t> </a:t>
            </a:r>
            <a:r>
              <a:rPr sz="2400" i="1" dirty="0">
                <a:latin typeface="Courier New"/>
                <a:cs typeface="Courier New"/>
              </a:rPr>
              <a:t>to</a:t>
            </a:r>
            <a:r>
              <a:rPr sz="2400" i="1" spc="-20" dirty="0">
                <a:latin typeface="Courier New"/>
                <a:cs typeface="Courier New"/>
              </a:rPr>
              <a:t> </a:t>
            </a:r>
            <a:r>
              <a:rPr sz="2400" i="1" dirty="0">
                <a:latin typeface="Courier New"/>
                <a:cs typeface="Courier New"/>
              </a:rPr>
              <a:t>be</a:t>
            </a:r>
            <a:r>
              <a:rPr sz="2400" i="1" spc="-20" dirty="0">
                <a:latin typeface="Courier New"/>
                <a:cs typeface="Courier New"/>
              </a:rPr>
              <a:t> </a:t>
            </a:r>
            <a:r>
              <a:rPr sz="2400" i="1" spc="-10" dirty="0">
                <a:latin typeface="Courier New"/>
                <a:cs typeface="Courier New"/>
              </a:rPr>
              <a:t>executed;</a:t>
            </a:r>
            <a:endParaRPr sz="2400" dirty="0">
              <a:latin typeface="Courier New"/>
              <a:cs typeface="Courier New"/>
            </a:endParaRPr>
          </a:p>
          <a:p>
            <a:pPr marL="2832735">
              <a:lnSpc>
                <a:spcPts val="2700"/>
              </a:lnSpc>
            </a:pPr>
            <a:r>
              <a:rPr sz="2400" b="1" i="1" dirty="0">
                <a:latin typeface="Courier New"/>
                <a:cs typeface="Courier New"/>
              </a:rPr>
              <a:t>break</a:t>
            </a:r>
            <a:r>
              <a:rPr sz="2400" i="1" dirty="0">
                <a:latin typeface="Courier New"/>
                <a:cs typeface="Courier New"/>
              </a:rPr>
              <a:t>;</a:t>
            </a:r>
            <a:r>
              <a:rPr sz="2400" i="1" spc="-40" dirty="0">
                <a:latin typeface="Courier New"/>
                <a:cs typeface="Courier New"/>
              </a:rPr>
              <a:t> </a:t>
            </a:r>
            <a:r>
              <a:rPr sz="2400" i="1" spc="-10" dirty="0">
                <a:latin typeface="Courier New"/>
                <a:cs typeface="Courier New"/>
              </a:rPr>
              <a:t>//optional</a:t>
            </a:r>
            <a:endParaRPr sz="2400" dirty="0">
              <a:latin typeface="Courier New"/>
              <a:cs typeface="Courier New"/>
            </a:endParaRPr>
          </a:p>
          <a:p>
            <a:pPr marL="1003300">
              <a:lnSpc>
                <a:spcPts val="2705"/>
              </a:lnSpc>
            </a:pPr>
            <a:r>
              <a:rPr sz="2400" b="1" i="1" dirty="0">
                <a:latin typeface="Courier New"/>
                <a:cs typeface="Courier New"/>
              </a:rPr>
              <a:t>case</a:t>
            </a:r>
            <a:r>
              <a:rPr sz="2400" b="1" i="1" spc="-20" dirty="0">
                <a:latin typeface="Courier New"/>
                <a:cs typeface="Courier New"/>
              </a:rPr>
              <a:t> </a:t>
            </a:r>
            <a:r>
              <a:rPr sz="2400" i="1" spc="-10" dirty="0">
                <a:latin typeface="Courier New"/>
                <a:cs typeface="Courier New"/>
              </a:rPr>
              <a:t>value2:</a:t>
            </a:r>
            <a:endParaRPr sz="2400" dirty="0">
              <a:latin typeface="Courier New"/>
              <a:cs typeface="Courier New"/>
            </a:endParaRPr>
          </a:p>
          <a:p>
            <a:pPr marL="2832735">
              <a:lnSpc>
                <a:spcPts val="2705"/>
              </a:lnSpc>
            </a:pPr>
            <a:r>
              <a:rPr sz="2400" i="1" dirty="0">
                <a:latin typeface="Courier New"/>
                <a:cs typeface="Courier New"/>
              </a:rPr>
              <a:t>//code</a:t>
            </a:r>
            <a:r>
              <a:rPr sz="2400" i="1" spc="-40" dirty="0">
                <a:latin typeface="Courier New"/>
                <a:cs typeface="Courier New"/>
              </a:rPr>
              <a:t> </a:t>
            </a:r>
            <a:r>
              <a:rPr sz="2400" i="1" dirty="0">
                <a:latin typeface="Courier New"/>
                <a:cs typeface="Courier New"/>
              </a:rPr>
              <a:t>to</a:t>
            </a:r>
            <a:r>
              <a:rPr sz="2400" i="1" spc="-20" dirty="0">
                <a:latin typeface="Courier New"/>
                <a:cs typeface="Courier New"/>
              </a:rPr>
              <a:t> </a:t>
            </a:r>
            <a:r>
              <a:rPr sz="2400" i="1" dirty="0">
                <a:latin typeface="Courier New"/>
                <a:cs typeface="Courier New"/>
              </a:rPr>
              <a:t>be</a:t>
            </a:r>
            <a:r>
              <a:rPr sz="2400" i="1" spc="-20" dirty="0">
                <a:latin typeface="Courier New"/>
                <a:cs typeface="Courier New"/>
              </a:rPr>
              <a:t> </a:t>
            </a:r>
            <a:r>
              <a:rPr sz="2400" i="1" spc="-10" dirty="0">
                <a:latin typeface="Courier New"/>
                <a:cs typeface="Courier New"/>
              </a:rPr>
              <a:t>executed;</a:t>
            </a:r>
            <a:endParaRPr sz="2400" dirty="0">
              <a:latin typeface="Courier New"/>
              <a:cs typeface="Courier New"/>
            </a:endParaRPr>
          </a:p>
          <a:p>
            <a:pPr marL="2832735">
              <a:lnSpc>
                <a:spcPts val="2700"/>
              </a:lnSpc>
            </a:pPr>
            <a:r>
              <a:rPr sz="2400" b="1" i="1" dirty="0">
                <a:latin typeface="Courier New"/>
                <a:cs typeface="Courier New"/>
              </a:rPr>
              <a:t>break</a:t>
            </a:r>
            <a:r>
              <a:rPr sz="2400" i="1" dirty="0">
                <a:latin typeface="Courier New"/>
                <a:cs typeface="Courier New"/>
              </a:rPr>
              <a:t>;</a:t>
            </a:r>
            <a:r>
              <a:rPr sz="2400" i="1" spc="-40" dirty="0">
                <a:latin typeface="Courier New"/>
                <a:cs typeface="Courier New"/>
              </a:rPr>
              <a:t> </a:t>
            </a:r>
            <a:r>
              <a:rPr sz="2400" i="1" spc="-10" dirty="0">
                <a:latin typeface="Courier New"/>
                <a:cs typeface="Courier New"/>
              </a:rPr>
              <a:t>//optional</a:t>
            </a:r>
            <a:endParaRPr sz="2400" dirty="0">
              <a:latin typeface="Courier New"/>
              <a:cs typeface="Courier New"/>
            </a:endParaRPr>
          </a:p>
          <a:p>
            <a:pPr marL="2832735">
              <a:lnSpc>
                <a:spcPts val="2710"/>
              </a:lnSpc>
            </a:pPr>
            <a:r>
              <a:rPr sz="2400" i="1" spc="-10" dirty="0">
                <a:latin typeface="Courier New"/>
                <a:cs typeface="Courier New"/>
              </a:rPr>
              <a:t>......</a:t>
            </a:r>
            <a:endParaRPr sz="2400" dirty="0">
              <a:latin typeface="Courier New"/>
              <a:cs typeface="Courier New"/>
            </a:endParaRPr>
          </a:p>
          <a:p>
            <a:pPr marL="1003300">
              <a:lnSpc>
                <a:spcPts val="2705"/>
              </a:lnSpc>
            </a:pPr>
            <a:r>
              <a:rPr sz="2400" b="1" i="1" spc="-10" dirty="0">
                <a:latin typeface="Courier New"/>
                <a:cs typeface="Courier New"/>
              </a:rPr>
              <a:t>default</a:t>
            </a:r>
            <a:r>
              <a:rPr sz="2400" i="1" spc="-10" dirty="0">
                <a:latin typeface="Courier New"/>
                <a:cs typeface="Courier New"/>
              </a:rPr>
              <a:t>:</a:t>
            </a:r>
            <a:endParaRPr sz="2400" dirty="0">
              <a:latin typeface="Courier New"/>
              <a:cs typeface="Courier New"/>
            </a:endParaRPr>
          </a:p>
          <a:p>
            <a:pPr marL="637540" marR="864235" indent="2195195">
              <a:lnSpc>
                <a:spcPts val="2300"/>
              </a:lnSpc>
              <a:spcBef>
                <a:spcPts val="470"/>
              </a:spcBef>
            </a:pPr>
            <a:r>
              <a:rPr sz="2400" i="1" dirty="0">
                <a:latin typeface="Courier New"/>
                <a:cs typeface="Courier New"/>
              </a:rPr>
              <a:t>code</a:t>
            </a:r>
            <a:r>
              <a:rPr sz="2400" i="1" spc="-35" dirty="0">
                <a:latin typeface="Courier New"/>
                <a:cs typeface="Courier New"/>
              </a:rPr>
              <a:t> </a:t>
            </a:r>
            <a:r>
              <a:rPr sz="2400" i="1" dirty="0">
                <a:latin typeface="Courier New"/>
                <a:cs typeface="Courier New"/>
              </a:rPr>
              <a:t>to</a:t>
            </a:r>
            <a:r>
              <a:rPr sz="2400" i="1" spc="-40" dirty="0">
                <a:latin typeface="Courier New"/>
                <a:cs typeface="Courier New"/>
              </a:rPr>
              <a:t> </a:t>
            </a:r>
            <a:r>
              <a:rPr sz="2400" i="1" dirty="0">
                <a:latin typeface="Courier New"/>
                <a:cs typeface="Courier New"/>
              </a:rPr>
              <a:t>be</a:t>
            </a:r>
            <a:r>
              <a:rPr sz="2400" i="1" spc="-25" dirty="0">
                <a:latin typeface="Courier New"/>
                <a:cs typeface="Courier New"/>
              </a:rPr>
              <a:t> </a:t>
            </a:r>
            <a:r>
              <a:rPr sz="2400" i="1" dirty="0">
                <a:latin typeface="Courier New"/>
                <a:cs typeface="Courier New"/>
              </a:rPr>
              <a:t>executed</a:t>
            </a:r>
            <a:r>
              <a:rPr sz="2400" i="1" spc="-15" dirty="0">
                <a:latin typeface="Courier New"/>
                <a:cs typeface="Courier New"/>
              </a:rPr>
              <a:t> </a:t>
            </a:r>
            <a:r>
              <a:rPr sz="2400" b="1" i="1" dirty="0">
                <a:latin typeface="Courier New"/>
                <a:cs typeface="Courier New"/>
              </a:rPr>
              <a:t>if</a:t>
            </a:r>
            <a:r>
              <a:rPr sz="2400" b="1" i="1" spc="-25" dirty="0">
                <a:latin typeface="Courier New"/>
                <a:cs typeface="Courier New"/>
              </a:rPr>
              <a:t> </a:t>
            </a:r>
            <a:r>
              <a:rPr sz="2400" i="1" spc="-25" dirty="0">
                <a:latin typeface="Courier New"/>
                <a:cs typeface="Courier New"/>
              </a:rPr>
              <a:t>all </a:t>
            </a:r>
            <a:r>
              <a:rPr sz="2400" i="1" dirty="0">
                <a:latin typeface="Courier New"/>
                <a:cs typeface="Courier New"/>
              </a:rPr>
              <a:t>cases</a:t>
            </a:r>
            <a:r>
              <a:rPr sz="2400" i="1" spc="-25" dirty="0">
                <a:latin typeface="Courier New"/>
                <a:cs typeface="Courier New"/>
              </a:rPr>
              <a:t> </a:t>
            </a:r>
            <a:r>
              <a:rPr sz="2400" i="1" dirty="0">
                <a:latin typeface="Courier New"/>
                <a:cs typeface="Courier New"/>
              </a:rPr>
              <a:t>are</a:t>
            </a:r>
            <a:r>
              <a:rPr sz="2400" i="1" spc="-15" dirty="0">
                <a:latin typeface="Courier New"/>
                <a:cs typeface="Courier New"/>
              </a:rPr>
              <a:t> </a:t>
            </a:r>
            <a:r>
              <a:rPr sz="2400" i="1" dirty="0">
                <a:latin typeface="Courier New"/>
                <a:cs typeface="Courier New"/>
              </a:rPr>
              <a:t>not</a:t>
            </a:r>
            <a:r>
              <a:rPr sz="2400" i="1" spc="-15" dirty="0">
                <a:latin typeface="Courier New"/>
                <a:cs typeface="Courier New"/>
              </a:rPr>
              <a:t> </a:t>
            </a:r>
            <a:r>
              <a:rPr sz="2400" i="1" spc="-10" dirty="0">
                <a:latin typeface="Courier New"/>
                <a:cs typeface="Courier New"/>
              </a:rPr>
              <a:t>matched;</a:t>
            </a:r>
            <a:endParaRPr sz="2400" dirty="0">
              <a:latin typeface="Courier New"/>
              <a:cs typeface="Courier New"/>
            </a:endParaRPr>
          </a:p>
          <a:p>
            <a:pPr marL="637540">
              <a:lnSpc>
                <a:spcPts val="2725"/>
              </a:lnSpc>
            </a:pPr>
            <a:r>
              <a:rPr sz="2400" i="1" spc="-50" dirty="0">
                <a:latin typeface="Courier New"/>
                <a:cs typeface="Courier New"/>
              </a:rPr>
              <a:t>}</a:t>
            </a:r>
            <a:endParaRPr sz="2400" dirty="0">
              <a:latin typeface="Courier New"/>
              <a:cs typeface="Courier New"/>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07340" y="175980"/>
            <a:ext cx="7675880" cy="5408147"/>
          </a:xfrm>
          <a:prstGeom prst="rect">
            <a:avLst/>
          </a:prstGeom>
        </p:spPr>
        <p:txBody>
          <a:bodyPr vert="horz" wrap="square" lIns="0" tIns="162560" rIns="0" bIns="0" rtlCol="0">
            <a:spAutoFit/>
          </a:bodyPr>
          <a:lstStyle/>
          <a:p>
            <a:pPr marL="88900">
              <a:lnSpc>
                <a:spcPct val="100000"/>
              </a:lnSpc>
              <a:spcBef>
                <a:spcPts val="715"/>
              </a:spcBef>
            </a:pPr>
            <a:endParaRPr lang="en-US" sz="2200" b="1" dirty="0">
              <a:latin typeface="Courier New"/>
              <a:cs typeface="Courier New"/>
            </a:endParaRPr>
          </a:p>
          <a:p>
            <a:pPr marL="88900">
              <a:lnSpc>
                <a:spcPct val="100000"/>
              </a:lnSpc>
              <a:spcBef>
                <a:spcPts val="715"/>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class</a:t>
            </a:r>
            <a:r>
              <a:rPr sz="2200" b="1" spc="-45" dirty="0">
                <a:latin typeface="Courier New"/>
                <a:cs typeface="Courier New"/>
              </a:rPr>
              <a:t> </a:t>
            </a:r>
            <a:r>
              <a:rPr sz="2200" spc="-10" dirty="0">
                <a:latin typeface="Courier New"/>
                <a:cs typeface="Courier New"/>
              </a:rPr>
              <a:t>SwitchExample</a:t>
            </a:r>
            <a:endParaRPr sz="2200" dirty="0">
              <a:latin typeface="Courier New"/>
              <a:cs typeface="Courier New"/>
            </a:endParaRPr>
          </a:p>
          <a:p>
            <a:pPr marL="88900">
              <a:lnSpc>
                <a:spcPct val="100000"/>
              </a:lnSpc>
              <a:spcBef>
                <a:spcPts val="335"/>
              </a:spcBef>
            </a:pPr>
            <a:r>
              <a:rPr sz="2200" spc="-50" dirty="0">
                <a:latin typeface="Courier New"/>
                <a:cs typeface="Courier New"/>
              </a:rPr>
              <a:t>{</a:t>
            </a:r>
            <a:endParaRPr sz="2200" dirty="0">
              <a:latin typeface="Courier New"/>
              <a:cs typeface="Courier New"/>
            </a:endParaRPr>
          </a:p>
          <a:p>
            <a:pPr marL="1003300">
              <a:lnSpc>
                <a:spcPct val="100000"/>
              </a:lnSpc>
              <a:spcBef>
                <a:spcPts val="335"/>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static</a:t>
            </a:r>
            <a:r>
              <a:rPr sz="2200" b="1" spc="-80" dirty="0">
                <a:latin typeface="Courier New"/>
                <a:cs typeface="Courier New"/>
              </a:rPr>
              <a:t> </a:t>
            </a:r>
            <a:r>
              <a:rPr sz="2200" b="1" dirty="0">
                <a:latin typeface="Courier New"/>
                <a:cs typeface="Courier New"/>
              </a:rPr>
              <a:t>void</a:t>
            </a:r>
            <a:r>
              <a:rPr sz="2200" b="1" spc="-55" dirty="0">
                <a:latin typeface="Courier New"/>
                <a:cs typeface="Courier New"/>
              </a:rPr>
              <a:t> </a:t>
            </a:r>
            <a:r>
              <a:rPr sz="2200" dirty="0">
                <a:latin typeface="Courier New"/>
                <a:cs typeface="Courier New"/>
              </a:rPr>
              <a:t>main(String[]</a:t>
            </a:r>
            <a:r>
              <a:rPr sz="2200" spc="-50" dirty="0">
                <a:latin typeface="Courier New"/>
                <a:cs typeface="Courier New"/>
              </a:rPr>
              <a:t> </a:t>
            </a:r>
            <a:r>
              <a:rPr sz="2200" spc="-10" dirty="0">
                <a:latin typeface="Courier New"/>
                <a:cs typeface="Courier New"/>
              </a:rPr>
              <a:t>args)</a:t>
            </a:r>
            <a:endParaRPr sz="2200" dirty="0">
              <a:latin typeface="Courier New"/>
              <a:cs typeface="Courier New"/>
            </a:endParaRPr>
          </a:p>
          <a:p>
            <a:pPr marL="1003300">
              <a:lnSpc>
                <a:spcPct val="100000"/>
              </a:lnSpc>
              <a:spcBef>
                <a:spcPts val="340"/>
              </a:spcBef>
            </a:pPr>
            <a:r>
              <a:rPr sz="2200" spc="-50" dirty="0">
                <a:latin typeface="Courier New"/>
                <a:cs typeface="Courier New"/>
              </a:rPr>
              <a:t>{</a:t>
            </a:r>
            <a:endParaRPr sz="2200" dirty="0">
              <a:latin typeface="Courier New"/>
              <a:cs typeface="Courier New"/>
            </a:endParaRPr>
          </a:p>
          <a:p>
            <a:pPr marL="1917700">
              <a:lnSpc>
                <a:spcPct val="100000"/>
              </a:lnSpc>
              <a:spcBef>
                <a:spcPts val="335"/>
              </a:spcBef>
            </a:pPr>
            <a:r>
              <a:rPr sz="2200" b="1" dirty="0">
                <a:latin typeface="Courier New"/>
                <a:cs typeface="Courier New"/>
              </a:rPr>
              <a:t>int</a:t>
            </a:r>
            <a:r>
              <a:rPr sz="2200" b="1" spc="-30" dirty="0">
                <a:latin typeface="Courier New"/>
                <a:cs typeface="Courier New"/>
              </a:rPr>
              <a:t> </a:t>
            </a:r>
            <a:r>
              <a:rPr sz="2200" spc="-10" dirty="0">
                <a:latin typeface="Courier New"/>
                <a:cs typeface="Courier New"/>
              </a:rPr>
              <a:t>number=20;</a:t>
            </a:r>
            <a:endParaRPr sz="2200" dirty="0">
              <a:latin typeface="Courier New"/>
              <a:cs typeface="Courier New"/>
            </a:endParaRPr>
          </a:p>
          <a:p>
            <a:pPr marL="1917700">
              <a:lnSpc>
                <a:spcPct val="100000"/>
              </a:lnSpc>
              <a:spcBef>
                <a:spcPts val="340"/>
              </a:spcBef>
            </a:pPr>
            <a:r>
              <a:rPr sz="2200" b="1" spc="-10" dirty="0">
                <a:latin typeface="Courier New"/>
                <a:cs typeface="Courier New"/>
              </a:rPr>
              <a:t>switch</a:t>
            </a:r>
            <a:r>
              <a:rPr sz="2200" spc="-10" dirty="0">
                <a:latin typeface="Courier New"/>
                <a:cs typeface="Courier New"/>
              </a:rPr>
              <a:t>(number)</a:t>
            </a:r>
            <a:endParaRPr sz="2200" dirty="0">
              <a:latin typeface="Courier New"/>
              <a:cs typeface="Courier New"/>
            </a:endParaRPr>
          </a:p>
          <a:p>
            <a:pPr marL="1917700">
              <a:lnSpc>
                <a:spcPct val="100000"/>
              </a:lnSpc>
              <a:spcBef>
                <a:spcPts val="335"/>
              </a:spcBef>
            </a:pPr>
            <a:r>
              <a:rPr sz="2200" spc="-50" dirty="0">
                <a:latin typeface="Courier New"/>
                <a:cs typeface="Courier New"/>
              </a:rPr>
              <a:t>{</a:t>
            </a:r>
            <a:endParaRPr sz="2200" dirty="0">
              <a:latin typeface="Courier New"/>
              <a:cs typeface="Courier New"/>
            </a:endParaRPr>
          </a:p>
          <a:p>
            <a:pPr marL="88900" marR="5080">
              <a:lnSpc>
                <a:spcPct val="112700"/>
              </a:lnSpc>
            </a:pPr>
            <a:r>
              <a:rPr sz="2200" b="1" dirty="0">
                <a:latin typeface="Courier New"/>
                <a:cs typeface="Courier New"/>
              </a:rPr>
              <a:t>case</a:t>
            </a:r>
            <a:r>
              <a:rPr sz="2200" b="1" spc="-110" dirty="0">
                <a:latin typeface="Courier New"/>
                <a:cs typeface="Courier New"/>
              </a:rPr>
              <a:t> </a:t>
            </a:r>
            <a:r>
              <a:rPr sz="2200" dirty="0">
                <a:latin typeface="Courier New"/>
                <a:cs typeface="Courier New"/>
              </a:rPr>
              <a:t>10:</a:t>
            </a:r>
            <a:r>
              <a:rPr sz="2200" spc="-95" dirty="0">
                <a:latin typeface="Courier New"/>
                <a:cs typeface="Courier New"/>
              </a:rPr>
              <a:t> </a:t>
            </a:r>
            <a:r>
              <a:rPr sz="2200" dirty="0">
                <a:latin typeface="Courier New"/>
                <a:cs typeface="Courier New"/>
              </a:rPr>
              <a:t>System.out.println(“Ten");</a:t>
            </a:r>
            <a:r>
              <a:rPr sz="2200" spc="-85" dirty="0">
                <a:latin typeface="Courier New"/>
                <a:cs typeface="Courier New"/>
              </a:rPr>
              <a:t> </a:t>
            </a:r>
            <a:r>
              <a:rPr sz="2200" b="1" spc="-10" dirty="0">
                <a:latin typeface="Courier New"/>
                <a:cs typeface="Courier New"/>
              </a:rPr>
              <a:t>break</a:t>
            </a:r>
            <a:r>
              <a:rPr sz="2200" spc="-10" dirty="0">
                <a:latin typeface="Courier New"/>
                <a:cs typeface="Courier New"/>
              </a:rPr>
              <a:t>; </a:t>
            </a:r>
            <a:r>
              <a:rPr sz="2200" b="1" dirty="0">
                <a:latin typeface="Courier New"/>
                <a:cs typeface="Courier New"/>
              </a:rPr>
              <a:t>case</a:t>
            </a:r>
            <a:r>
              <a:rPr sz="2200" b="1" spc="-120" dirty="0">
                <a:latin typeface="Courier New"/>
                <a:cs typeface="Courier New"/>
              </a:rPr>
              <a:t> </a:t>
            </a:r>
            <a:r>
              <a:rPr sz="2200" dirty="0">
                <a:latin typeface="Courier New"/>
                <a:cs typeface="Courier New"/>
              </a:rPr>
              <a:t>20:</a:t>
            </a:r>
            <a:r>
              <a:rPr sz="2200" spc="-95" dirty="0">
                <a:latin typeface="Courier New"/>
                <a:cs typeface="Courier New"/>
              </a:rPr>
              <a:t> </a:t>
            </a:r>
            <a:r>
              <a:rPr sz="2200" dirty="0">
                <a:latin typeface="Courier New"/>
                <a:cs typeface="Courier New"/>
              </a:rPr>
              <a:t>System.out.println(“Twenty");</a:t>
            </a:r>
            <a:r>
              <a:rPr sz="2200" spc="-105" dirty="0">
                <a:latin typeface="Courier New"/>
                <a:cs typeface="Courier New"/>
              </a:rPr>
              <a:t> </a:t>
            </a:r>
            <a:r>
              <a:rPr sz="2200" b="1" spc="-10" dirty="0">
                <a:latin typeface="Courier New"/>
                <a:cs typeface="Courier New"/>
              </a:rPr>
              <a:t>break</a:t>
            </a:r>
            <a:r>
              <a:rPr sz="2200" spc="-10" dirty="0">
                <a:latin typeface="Courier New"/>
                <a:cs typeface="Courier New"/>
              </a:rPr>
              <a:t>; </a:t>
            </a:r>
            <a:r>
              <a:rPr sz="2200" b="1" dirty="0">
                <a:latin typeface="Courier New"/>
                <a:cs typeface="Courier New"/>
              </a:rPr>
              <a:t>case</a:t>
            </a:r>
            <a:r>
              <a:rPr sz="2200" b="1" spc="-120" dirty="0">
                <a:latin typeface="Courier New"/>
                <a:cs typeface="Courier New"/>
              </a:rPr>
              <a:t> </a:t>
            </a:r>
            <a:r>
              <a:rPr sz="2200" dirty="0">
                <a:latin typeface="Courier New"/>
                <a:cs typeface="Courier New"/>
              </a:rPr>
              <a:t>30:</a:t>
            </a:r>
            <a:r>
              <a:rPr sz="2200" spc="-95" dirty="0">
                <a:latin typeface="Courier New"/>
                <a:cs typeface="Courier New"/>
              </a:rPr>
              <a:t> </a:t>
            </a:r>
            <a:r>
              <a:rPr sz="2200" dirty="0">
                <a:latin typeface="Courier New"/>
                <a:cs typeface="Courier New"/>
              </a:rPr>
              <a:t>System.out.println(“Thirty");</a:t>
            </a:r>
            <a:r>
              <a:rPr sz="2200" spc="-105" dirty="0">
                <a:latin typeface="Courier New"/>
                <a:cs typeface="Courier New"/>
              </a:rPr>
              <a:t> </a:t>
            </a:r>
            <a:r>
              <a:rPr sz="2200" b="1" spc="-10" dirty="0">
                <a:latin typeface="Courier New"/>
                <a:cs typeface="Courier New"/>
              </a:rPr>
              <a:t>break</a:t>
            </a:r>
            <a:r>
              <a:rPr sz="2200" spc="-10" dirty="0">
                <a:latin typeface="Courier New"/>
                <a:cs typeface="Courier New"/>
              </a:rPr>
              <a:t>; </a:t>
            </a:r>
            <a:r>
              <a:rPr sz="2200" b="1" dirty="0">
                <a:latin typeface="Courier New"/>
                <a:cs typeface="Courier New"/>
              </a:rPr>
              <a:t>default</a:t>
            </a:r>
            <a:r>
              <a:rPr sz="2200" dirty="0">
                <a:latin typeface="Courier New"/>
                <a:cs typeface="Courier New"/>
              </a:rPr>
              <a:t>:</a:t>
            </a:r>
            <a:r>
              <a:rPr sz="2200" spc="-65" dirty="0">
                <a:latin typeface="Courier New"/>
                <a:cs typeface="Courier New"/>
              </a:rPr>
              <a:t> </a:t>
            </a:r>
            <a:r>
              <a:rPr sz="2200" dirty="0">
                <a:latin typeface="Courier New"/>
                <a:cs typeface="Courier New"/>
              </a:rPr>
              <a:t>System.out.println("Not</a:t>
            </a:r>
            <a:r>
              <a:rPr sz="2200" spc="-75" dirty="0">
                <a:latin typeface="Courier New"/>
                <a:cs typeface="Courier New"/>
              </a:rPr>
              <a:t> </a:t>
            </a:r>
            <a:r>
              <a:rPr sz="2200" dirty="0">
                <a:latin typeface="Courier New"/>
                <a:cs typeface="Courier New"/>
              </a:rPr>
              <a:t>in</a:t>
            </a:r>
            <a:r>
              <a:rPr sz="2200" spc="-65" dirty="0">
                <a:latin typeface="Courier New"/>
                <a:cs typeface="Courier New"/>
              </a:rPr>
              <a:t> </a:t>
            </a:r>
            <a:r>
              <a:rPr sz="2200" dirty="0">
                <a:latin typeface="Courier New"/>
                <a:cs typeface="Courier New"/>
              </a:rPr>
              <a:t>10,</a:t>
            </a:r>
            <a:r>
              <a:rPr sz="2200" spc="-75" dirty="0">
                <a:latin typeface="Courier New"/>
                <a:cs typeface="Courier New"/>
              </a:rPr>
              <a:t> </a:t>
            </a:r>
            <a:r>
              <a:rPr sz="2200" dirty="0">
                <a:latin typeface="Courier New"/>
                <a:cs typeface="Courier New"/>
              </a:rPr>
              <a:t>20</a:t>
            </a:r>
            <a:r>
              <a:rPr sz="2200" spc="-75" dirty="0">
                <a:latin typeface="Courier New"/>
                <a:cs typeface="Courier New"/>
              </a:rPr>
              <a:t> </a:t>
            </a:r>
            <a:r>
              <a:rPr sz="2200" spc="-25" dirty="0">
                <a:latin typeface="Courier New"/>
                <a:cs typeface="Courier New"/>
              </a:rPr>
              <a:t>or</a:t>
            </a:r>
            <a:endParaRPr sz="2200" dirty="0">
              <a:latin typeface="Courier New"/>
              <a:cs typeface="Courier New"/>
            </a:endParaRPr>
          </a:p>
          <a:p>
            <a:pPr marL="88900">
              <a:lnSpc>
                <a:spcPts val="2375"/>
              </a:lnSpc>
            </a:pPr>
            <a:r>
              <a:rPr sz="2200" spc="-10" dirty="0">
                <a:latin typeface="Courier New"/>
                <a:cs typeface="Courier New"/>
              </a:rPr>
              <a:t>30");</a:t>
            </a:r>
            <a:endParaRPr sz="2200" dirty="0">
              <a:latin typeface="Courier New"/>
              <a:cs typeface="Courier New"/>
            </a:endParaRPr>
          </a:p>
          <a:p>
            <a:pPr marL="1917700">
              <a:lnSpc>
                <a:spcPct val="100000"/>
              </a:lnSpc>
              <a:spcBef>
                <a:spcPts val="340"/>
              </a:spcBef>
            </a:pPr>
            <a:r>
              <a:rPr sz="2200" spc="-50" dirty="0">
                <a:latin typeface="Courier New"/>
                <a:cs typeface="Courier New"/>
              </a:rPr>
              <a:t>}</a:t>
            </a:r>
            <a:endParaRPr sz="2200" dirty="0">
              <a:latin typeface="Courier New"/>
              <a:cs typeface="Courier New"/>
            </a:endParaRPr>
          </a:p>
        </p:txBody>
      </p:sp>
      <p:sp>
        <p:nvSpPr>
          <p:cNvPr id="4" name="object 4"/>
          <p:cNvSpPr txBox="1"/>
          <p:nvPr/>
        </p:nvSpPr>
        <p:spPr>
          <a:xfrm>
            <a:off x="1298194" y="5804103"/>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
        <p:nvSpPr>
          <p:cNvPr id="5" name="object 5"/>
          <p:cNvSpPr txBox="1"/>
          <p:nvPr/>
        </p:nvSpPr>
        <p:spPr>
          <a:xfrm>
            <a:off x="383540" y="6182055"/>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57200" y="285601"/>
            <a:ext cx="8229600" cy="1121076"/>
          </a:xfrm>
          <a:prstGeom prst="rect">
            <a:avLst/>
          </a:prstGeom>
        </p:spPr>
        <p:txBody>
          <a:bodyPr vert="horz" wrap="square" lIns="0" tIns="500634" rIns="0" bIns="0" rtlCol="0">
            <a:spAutoFit/>
          </a:bodyPr>
          <a:lstStyle/>
          <a:p>
            <a:pPr marL="12700">
              <a:lnSpc>
                <a:spcPct val="100000"/>
              </a:lnSpc>
              <a:spcBef>
                <a:spcPts val="100"/>
              </a:spcBef>
            </a:pPr>
            <a:r>
              <a:rPr lang="en-US" sz="4000" dirty="0">
                <a:solidFill>
                  <a:srgbClr val="696363"/>
                </a:solidFill>
              </a:rPr>
              <a:t>Iterative/</a:t>
            </a:r>
            <a:r>
              <a:rPr sz="4000" dirty="0">
                <a:solidFill>
                  <a:srgbClr val="696363"/>
                </a:solidFill>
              </a:rPr>
              <a:t>Looping</a:t>
            </a:r>
            <a:r>
              <a:rPr sz="4000" spc="-50" dirty="0">
                <a:solidFill>
                  <a:srgbClr val="696363"/>
                </a:solidFill>
              </a:rPr>
              <a:t> </a:t>
            </a:r>
            <a:r>
              <a:rPr sz="4000" dirty="0">
                <a:solidFill>
                  <a:srgbClr val="696363"/>
                </a:solidFill>
              </a:rPr>
              <a:t>Statements</a:t>
            </a:r>
            <a:r>
              <a:rPr sz="4000" spc="-70" dirty="0">
                <a:solidFill>
                  <a:srgbClr val="696363"/>
                </a:solidFill>
              </a:rPr>
              <a:t> </a:t>
            </a:r>
            <a:r>
              <a:rPr sz="4000" dirty="0">
                <a:solidFill>
                  <a:srgbClr val="696363"/>
                </a:solidFill>
              </a:rPr>
              <a:t>–</a:t>
            </a:r>
            <a:r>
              <a:rPr sz="4000" spc="-65" dirty="0">
                <a:solidFill>
                  <a:srgbClr val="696363"/>
                </a:solidFill>
              </a:rPr>
              <a:t> </a:t>
            </a:r>
            <a:r>
              <a:rPr sz="4000" dirty="0"/>
              <a:t>for</a:t>
            </a:r>
            <a:r>
              <a:rPr sz="4000" spc="-60" dirty="0"/>
              <a:t> </a:t>
            </a:r>
            <a:r>
              <a:rPr sz="4000" spc="-20" dirty="0"/>
              <a:t>loop</a:t>
            </a:r>
          </a:p>
        </p:txBody>
      </p:sp>
      <p:sp>
        <p:nvSpPr>
          <p:cNvPr id="3" name="object 3"/>
          <p:cNvSpPr txBox="1"/>
          <p:nvPr/>
        </p:nvSpPr>
        <p:spPr>
          <a:xfrm>
            <a:off x="307022" y="1845501"/>
            <a:ext cx="8529955" cy="4256935"/>
          </a:xfrm>
          <a:prstGeom prst="rect">
            <a:avLst/>
          </a:prstGeom>
        </p:spPr>
        <p:txBody>
          <a:bodyPr vert="horz" wrap="square" lIns="0" tIns="12065" rIns="0" bIns="0" rtlCol="0">
            <a:spAutoFit/>
          </a:bodyPr>
          <a:lstStyle/>
          <a:p>
            <a:pPr marL="284480" marR="5080" indent="-272415" algn="just">
              <a:lnSpc>
                <a:spcPct val="150000"/>
              </a:lnSpc>
              <a:spcBef>
                <a:spcPts val="95"/>
              </a:spcBef>
              <a:buClr>
                <a:srgbClr val="D24717"/>
              </a:buClr>
              <a:buSzPct val="83928"/>
              <a:buFont typeface="Segoe UI Symbol"/>
              <a:buChar char="⚫"/>
              <a:tabLst>
                <a:tab pos="286385" algn="l"/>
              </a:tabLst>
            </a:pPr>
            <a:r>
              <a:rPr sz="2800" dirty="0">
                <a:latin typeface="Times New Roman" panose="02020603050405020304" pitchFamily="18" charset="0"/>
                <a:cs typeface="Times New Roman" panose="02020603050405020304" pitchFamily="18" charset="0"/>
              </a:rPr>
              <a:t>The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simple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for</a:t>
            </a:r>
            <a:r>
              <a:rPr sz="2800" spc="-2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loop</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same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C/C++.</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We</a:t>
            </a:r>
            <a:r>
              <a:rPr sz="2800" spc="-30"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can 	</a:t>
            </a:r>
            <a:r>
              <a:rPr sz="2800" dirty="0">
                <a:latin typeface="Times New Roman" panose="02020603050405020304" pitchFamily="18" charset="0"/>
                <a:cs typeface="Times New Roman" panose="02020603050405020304" pitchFamily="18" charset="0"/>
              </a:rPr>
              <a:t>initialize</a:t>
            </a:r>
            <a:r>
              <a:rPr sz="2800" spc="50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variable,</a:t>
            </a:r>
            <a:r>
              <a:rPr sz="2800" spc="509"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check</a:t>
            </a:r>
            <a:r>
              <a:rPr sz="2800" spc="50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condition</a:t>
            </a:r>
            <a:r>
              <a:rPr sz="2800" spc="509"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and 	</a:t>
            </a:r>
            <a:r>
              <a:rPr sz="2800" spc="-10" dirty="0">
                <a:latin typeface="Times New Roman" panose="02020603050405020304" pitchFamily="18" charset="0"/>
                <a:cs typeface="Times New Roman" panose="02020603050405020304" pitchFamily="18" charset="0"/>
              </a:rPr>
              <a:t>increment/decrement</a:t>
            </a:r>
            <a:r>
              <a:rPr sz="2800" spc="-1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value.</a:t>
            </a:r>
            <a:r>
              <a:rPr sz="2800" spc="-10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syntax</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45"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follows:</a:t>
            </a:r>
            <a:endParaRPr sz="2800" dirty="0">
              <a:latin typeface="Times New Roman" panose="02020603050405020304" pitchFamily="18" charset="0"/>
              <a:cs typeface="Times New Roman" panose="02020603050405020304" pitchFamily="18" charset="0"/>
            </a:endParaRPr>
          </a:p>
          <a:p>
            <a:pPr algn="just">
              <a:lnSpc>
                <a:spcPct val="100000"/>
              </a:lnSpc>
              <a:spcBef>
                <a:spcPts val="1270"/>
              </a:spcBef>
            </a:pPr>
            <a:endParaRPr sz="2800" dirty="0">
              <a:latin typeface="Times New Roman" panose="02020603050405020304" pitchFamily="18" charset="0"/>
              <a:cs typeface="Times New Roman" panose="02020603050405020304" pitchFamily="18" charset="0"/>
            </a:endParaRPr>
          </a:p>
          <a:p>
            <a:pPr marL="927100" algn="just">
              <a:lnSpc>
                <a:spcPct val="100000"/>
              </a:lnSpc>
              <a:spcBef>
                <a:spcPts val="5"/>
              </a:spcBef>
            </a:pPr>
            <a:r>
              <a:rPr sz="2400" b="1" i="1" dirty="0">
                <a:latin typeface="Times New Roman" panose="02020603050405020304" pitchFamily="18" charset="0"/>
                <a:cs typeface="Times New Roman" panose="02020603050405020304" pitchFamily="18" charset="0"/>
              </a:rPr>
              <a:t>for</a:t>
            </a:r>
            <a:r>
              <a:rPr sz="2400" i="1" dirty="0">
                <a:latin typeface="Times New Roman" panose="02020603050405020304" pitchFamily="18" charset="0"/>
                <a:cs typeface="Times New Roman" panose="02020603050405020304" pitchFamily="18" charset="0"/>
              </a:rPr>
              <a:t>(initialization;</a:t>
            </a:r>
            <a:r>
              <a:rPr sz="2400" i="1" spc="-120" dirty="0">
                <a:latin typeface="Times New Roman" panose="02020603050405020304" pitchFamily="18" charset="0"/>
                <a:cs typeface="Times New Roman" panose="02020603050405020304" pitchFamily="18" charset="0"/>
              </a:rPr>
              <a:t> </a:t>
            </a:r>
            <a:r>
              <a:rPr sz="2400" i="1" dirty="0">
                <a:latin typeface="Times New Roman" panose="02020603050405020304" pitchFamily="18" charset="0"/>
                <a:cs typeface="Times New Roman" panose="02020603050405020304" pitchFamily="18" charset="0"/>
              </a:rPr>
              <a:t>condition;</a:t>
            </a:r>
            <a:r>
              <a:rPr sz="2400" i="1" spc="-114" dirty="0">
                <a:latin typeface="Times New Roman" panose="02020603050405020304" pitchFamily="18" charset="0"/>
                <a:cs typeface="Times New Roman" panose="02020603050405020304" pitchFamily="18" charset="0"/>
              </a:rPr>
              <a:t> </a:t>
            </a:r>
            <a:r>
              <a:rPr sz="2400" i="1" spc="-10" dirty="0">
                <a:latin typeface="Times New Roman" panose="02020603050405020304" pitchFamily="18" charset="0"/>
                <a:cs typeface="Times New Roman" panose="02020603050405020304" pitchFamily="18" charset="0"/>
              </a:rPr>
              <a:t>incr/decr)</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841500" algn="just">
              <a:lnSpc>
                <a:spcPct val="100000"/>
              </a:lnSpc>
              <a:spcBef>
                <a:spcPts val="600"/>
              </a:spcBef>
            </a:pPr>
            <a:r>
              <a:rPr sz="2400" i="1" dirty="0">
                <a:latin typeface="Times New Roman" panose="02020603050405020304" pitchFamily="18" charset="0"/>
                <a:cs typeface="Times New Roman" panose="02020603050405020304" pitchFamily="18" charset="0"/>
              </a:rPr>
              <a:t>//code</a:t>
            </a:r>
            <a:r>
              <a:rPr sz="2400" i="1" spc="-30" dirty="0">
                <a:latin typeface="Times New Roman" panose="02020603050405020304" pitchFamily="18" charset="0"/>
                <a:cs typeface="Times New Roman" panose="02020603050405020304" pitchFamily="18" charset="0"/>
              </a:rPr>
              <a:t> </a:t>
            </a:r>
            <a:r>
              <a:rPr sz="2400" i="1" dirty="0">
                <a:latin typeface="Times New Roman" panose="02020603050405020304" pitchFamily="18" charset="0"/>
                <a:cs typeface="Times New Roman" panose="02020603050405020304" pitchFamily="18" charset="0"/>
              </a:rPr>
              <a:t>to</a:t>
            </a:r>
            <a:r>
              <a:rPr sz="2400" i="1" spc="-20" dirty="0">
                <a:latin typeface="Times New Roman" panose="02020603050405020304" pitchFamily="18" charset="0"/>
                <a:cs typeface="Times New Roman" panose="02020603050405020304" pitchFamily="18" charset="0"/>
              </a:rPr>
              <a:t> </a:t>
            </a:r>
            <a:r>
              <a:rPr sz="2400" i="1" dirty="0">
                <a:latin typeface="Times New Roman" panose="02020603050405020304" pitchFamily="18" charset="0"/>
                <a:cs typeface="Times New Roman" panose="02020603050405020304" pitchFamily="18" charset="0"/>
              </a:rPr>
              <a:t>be</a:t>
            </a:r>
            <a:r>
              <a:rPr sz="2400" i="1" spc="-20" dirty="0">
                <a:latin typeface="Times New Roman" panose="02020603050405020304" pitchFamily="18" charset="0"/>
                <a:cs typeface="Times New Roman" panose="02020603050405020304" pitchFamily="18" charset="0"/>
              </a:rPr>
              <a:t> </a:t>
            </a:r>
            <a:r>
              <a:rPr sz="2400" i="1" spc="-10" dirty="0">
                <a:latin typeface="Times New Roman" panose="02020603050405020304" pitchFamily="18" charset="0"/>
                <a:cs typeface="Times New Roman" panose="02020603050405020304" pitchFamily="18" charset="0"/>
              </a:rPr>
              <a:t>executed</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02287" y="848752"/>
            <a:ext cx="6910070" cy="574040"/>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Looping</a:t>
            </a:r>
            <a:r>
              <a:rPr spc="-55" dirty="0">
                <a:solidFill>
                  <a:srgbClr val="696363"/>
                </a:solidFill>
              </a:rPr>
              <a:t> </a:t>
            </a:r>
            <a:r>
              <a:rPr dirty="0">
                <a:solidFill>
                  <a:srgbClr val="696363"/>
                </a:solidFill>
              </a:rPr>
              <a:t>Statements</a:t>
            </a:r>
            <a:r>
              <a:rPr spc="-75" dirty="0">
                <a:solidFill>
                  <a:srgbClr val="696363"/>
                </a:solidFill>
              </a:rPr>
              <a:t> </a:t>
            </a:r>
            <a:r>
              <a:rPr dirty="0">
                <a:solidFill>
                  <a:srgbClr val="696363"/>
                </a:solidFill>
              </a:rPr>
              <a:t>–</a:t>
            </a:r>
            <a:r>
              <a:rPr spc="-70" dirty="0">
                <a:solidFill>
                  <a:srgbClr val="696363"/>
                </a:solidFill>
              </a:rPr>
              <a:t> </a:t>
            </a:r>
            <a:r>
              <a:rPr dirty="0"/>
              <a:t>for</a:t>
            </a:r>
            <a:r>
              <a:rPr spc="-70" dirty="0"/>
              <a:t> </a:t>
            </a:r>
            <a:r>
              <a:rPr dirty="0"/>
              <a:t>loop</a:t>
            </a:r>
            <a:r>
              <a:rPr spc="-60" dirty="0"/>
              <a:t> </a:t>
            </a:r>
            <a:r>
              <a:rPr spc="-50" dirty="0"/>
              <a:t>-</a:t>
            </a:r>
          </a:p>
        </p:txBody>
      </p:sp>
      <p:sp>
        <p:nvSpPr>
          <p:cNvPr id="4" name="object 4"/>
          <p:cNvSpPr txBox="1"/>
          <p:nvPr/>
        </p:nvSpPr>
        <p:spPr>
          <a:xfrm>
            <a:off x="1298194" y="2313559"/>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5" name="object 5"/>
          <p:cNvSpPr txBox="1">
            <a:spLocks noGrp="1"/>
          </p:cNvSpPr>
          <p:nvPr>
            <p:ph type="body" idx="1"/>
          </p:nvPr>
        </p:nvSpPr>
        <p:spPr>
          <a:xfrm>
            <a:off x="457200" y="1600200"/>
            <a:ext cx="8229600" cy="4447884"/>
          </a:xfrm>
          <a:prstGeom prst="rect">
            <a:avLst/>
          </a:prstGeom>
        </p:spPr>
        <p:txBody>
          <a:bodyPr vert="horz" wrap="square" lIns="0" tIns="88900" rIns="0" bIns="0" rtlCol="0">
            <a:spAutoFit/>
          </a:bodyPr>
          <a:lstStyle/>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ForExample</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for</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=1;i&lt;=10;i++)</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p:txBody>
      </p:sp>
      <p:sp>
        <p:nvSpPr>
          <p:cNvPr id="6" name="object 6"/>
          <p:cNvSpPr txBox="1"/>
          <p:nvPr/>
        </p:nvSpPr>
        <p:spPr>
          <a:xfrm>
            <a:off x="1298194" y="452361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7" name="object 7"/>
          <p:cNvSpPr txBox="1"/>
          <p:nvPr/>
        </p:nvSpPr>
        <p:spPr>
          <a:xfrm>
            <a:off x="383540" y="4965268"/>
            <a:ext cx="208915" cy="391795"/>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82477" y="152400"/>
            <a:ext cx="8229600" cy="334962"/>
          </a:xfrm>
          <a:prstGeom prst="rect">
            <a:avLst/>
          </a:prstGeom>
        </p:spPr>
        <p:txBody>
          <a:bodyPr vert="horz" wrap="square" lIns="0" tIns="500634" rIns="0" bIns="0" rtlCol="0">
            <a:noAutofit/>
          </a:bodyPr>
          <a:lstStyle/>
          <a:p>
            <a:pPr marL="12700">
              <a:lnSpc>
                <a:spcPct val="100000"/>
              </a:lnSpc>
              <a:spcBef>
                <a:spcPts val="100"/>
              </a:spcBef>
            </a:pPr>
            <a:r>
              <a:rPr sz="3200" dirty="0">
                <a:solidFill>
                  <a:srgbClr val="696363"/>
                </a:solidFill>
              </a:rPr>
              <a:t>Looping</a:t>
            </a:r>
            <a:r>
              <a:rPr sz="3200" spc="-50" dirty="0">
                <a:solidFill>
                  <a:srgbClr val="696363"/>
                </a:solidFill>
              </a:rPr>
              <a:t> </a:t>
            </a:r>
            <a:r>
              <a:rPr sz="3200" dirty="0">
                <a:solidFill>
                  <a:srgbClr val="696363"/>
                </a:solidFill>
              </a:rPr>
              <a:t>Statements</a:t>
            </a:r>
            <a:r>
              <a:rPr sz="3200" spc="-70" dirty="0">
                <a:solidFill>
                  <a:srgbClr val="696363"/>
                </a:solidFill>
              </a:rPr>
              <a:t> </a:t>
            </a:r>
            <a:r>
              <a:rPr sz="3200" dirty="0">
                <a:solidFill>
                  <a:srgbClr val="696363"/>
                </a:solidFill>
              </a:rPr>
              <a:t>–</a:t>
            </a:r>
            <a:r>
              <a:rPr sz="3200" spc="-65" dirty="0">
                <a:solidFill>
                  <a:srgbClr val="696363"/>
                </a:solidFill>
              </a:rPr>
              <a:t> </a:t>
            </a:r>
            <a:r>
              <a:rPr sz="3200" dirty="0"/>
              <a:t>for</a:t>
            </a:r>
            <a:r>
              <a:rPr sz="3200" spc="-60" dirty="0"/>
              <a:t> </a:t>
            </a:r>
            <a:r>
              <a:rPr sz="3200" spc="-20" dirty="0"/>
              <a:t>each</a:t>
            </a:r>
          </a:p>
        </p:txBody>
      </p:sp>
      <p:sp>
        <p:nvSpPr>
          <p:cNvPr id="3" name="object 3"/>
          <p:cNvSpPr txBox="1"/>
          <p:nvPr/>
        </p:nvSpPr>
        <p:spPr>
          <a:xfrm>
            <a:off x="383539" y="935360"/>
            <a:ext cx="8453119" cy="6003567"/>
          </a:xfrm>
          <a:prstGeom prst="rect">
            <a:avLst/>
          </a:prstGeom>
        </p:spPr>
        <p:txBody>
          <a:bodyPr vert="horz" wrap="square" lIns="0" tIns="12065" rIns="0" bIns="0" rtlCol="0">
            <a:spAutoFit/>
          </a:bodyPr>
          <a:lstStyle/>
          <a:p>
            <a:pPr marL="284480" marR="5080" indent="-272415" algn="just">
              <a:lnSpc>
                <a:spcPct val="150000"/>
              </a:lnSpc>
              <a:spcBef>
                <a:spcPts val="95"/>
              </a:spcBef>
              <a:buClr>
                <a:srgbClr val="D24717"/>
              </a:buClr>
              <a:buSzPct val="83928"/>
              <a:buFont typeface="Segoe UI Symbol"/>
              <a:buChar char="⚫"/>
              <a:tabLst>
                <a:tab pos="286385" algn="l"/>
              </a:tabLst>
            </a:pP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for-</a:t>
            </a:r>
            <a:r>
              <a:rPr sz="2800" dirty="0">
                <a:latin typeface="Times New Roman" panose="02020603050405020304" pitchFamily="18" charset="0"/>
                <a:cs typeface="Times New Roman" panose="02020603050405020304" pitchFamily="18" charset="0"/>
              </a:rPr>
              <a:t>each</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loop</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used</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to</a:t>
            </a:r>
            <a:r>
              <a:rPr sz="2800" spc="-50" dirty="0">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traverse</a:t>
            </a:r>
            <a:r>
              <a:rPr sz="2800" i="1" spc="-6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array</a:t>
            </a:r>
            <a:r>
              <a:rPr sz="2800" i="1" spc="-45" dirty="0">
                <a:solidFill>
                  <a:srgbClr val="FF0000"/>
                </a:solidFill>
                <a:latin typeface="Times New Roman" panose="02020603050405020304" pitchFamily="18" charset="0"/>
                <a:cs typeface="Times New Roman" panose="02020603050405020304" pitchFamily="18" charset="0"/>
              </a:rPr>
              <a:t> </a:t>
            </a:r>
            <a:r>
              <a:rPr sz="2800" i="1" spc="-25" dirty="0">
                <a:solidFill>
                  <a:srgbClr val="FF0000"/>
                </a:solidFill>
                <a:latin typeface="Times New Roman" panose="02020603050405020304" pitchFamily="18" charset="0"/>
                <a:cs typeface="Times New Roman" panose="02020603050405020304" pitchFamily="18" charset="0"/>
              </a:rPr>
              <a:t>or 	</a:t>
            </a:r>
            <a:r>
              <a:rPr sz="2800" i="1" dirty="0">
                <a:solidFill>
                  <a:srgbClr val="FF0000"/>
                </a:solidFill>
                <a:latin typeface="Times New Roman" panose="02020603050405020304" pitchFamily="18" charset="0"/>
                <a:cs typeface="Times New Roman" panose="02020603050405020304" pitchFamily="18" charset="0"/>
              </a:rPr>
              <a:t>collection</a:t>
            </a:r>
            <a:r>
              <a:rPr sz="2800" i="1" spc="-5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in</a:t>
            </a:r>
            <a:r>
              <a:rPr sz="2800" i="1" spc="-55"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java.</a:t>
            </a:r>
            <a:r>
              <a:rPr sz="2800" i="1" spc="-50" dirty="0">
                <a:solidFill>
                  <a:srgbClr val="FF0000"/>
                </a:solidFill>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It</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easier</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to</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use</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than</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simple</a:t>
            </a:r>
            <a:r>
              <a:rPr sz="2800" spc="-45"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for 	</a:t>
            </a:r>
            <a:r>
              <a:rPr sz="2800" dirty="0">
                <a:latin typeface="Times New Roman" panose="02020603050405020304" pitchFamily="18" charset="0"/>
                <a:cs typeface="Times New Roman" panose="02020603050405020304" pitchFamily="18" charset="0"/>
              </a:rPr>
              <a:t>loop</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because</a:t>
            </a:r>
            <a:r>
              <a:rPr sz="2800" spc="-7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we</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don't</a:t>
            </a:r>
            <a:r>
              <a:rPr sz="2800" spc="-7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need</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to</a:t>
            </a:r>
            <a:r>
              <a:rPr sz="2800" spc="-7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increment</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value</a:t>
            </a:r>
            <a:r>
              <a:rPr sz="2800" spc="-70"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and 	</a:t>
            </a:r>
            <a:r>
              <a:rPr sz="2800" dirty="0">
                <a:latin typeface="Times New Roman" panose="02020603050405020304" pitchFamily="18" charset="0"/>
                <a:cs typeface="Times New Roman" panose="02020603050405020304" pitchFamily="18" charset="0"/>
              </a:rPr>
              <a:t>use</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subscript</a:t>
            </a:r>
            <a:r>
              <a:rPr sz="2800" spc="-65"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notation.</a:t>
            </a:r>
            <a:endParaRPr sz="2800" dirty="0">
              <a:latin typeface="Times New Roman" panose="02020603050405020304" pitchFamily="18" charset="0"/>
              <a:cs typeface="Times New Roman" panose="02020603050405020304" pitchFamily="18" charset="0"/>
            </a:endParaRPr>
          </a:p>
          <a:p>
            <a:pPr marL="284480" marR="611505" indent="-272415" algn="just">
              <a:lnSpc>
                <a:spcPct val="150000"/>
              </a:lnSpc>
              <a:spcBef>
                <a:spcPts val="600"/>
              </a:spcBef>
              <a:buClr>
                <a:srgbClr val="D24717"/>
              </a:buClr>
              <a:buSzPct val="83928"/>
              <a:buFont typeface="Segoe UI Symbol"/>
              <a:buChar char="⚫"/>
              <a:tabLst>
                <a:tab pos="286385" algn="l"/>
              </a:tabLst>
            </a:pPr>
            <a:r>
              <a:rPr sz="2800" i="1" dirty="0">
                <a:solidFill>
                  <a:srgbClr val="FF0000"/>
                </a:solidFill>
                <a:latin typeface="Times New Roman" panose="02020603050405020304" pitchFamily="18" charset="0"/>
                <a:cs typeface="Times New Roman" panose="02020603050405020304" pitchFamily="18" charset="0"/>
              </a:rPr>
              <a:t>It</a:t>
            </a:r>
            <a:r>
              <a:rPr sz="2800" i="1" spc="-55"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works</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on</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elements</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basis</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not</a:t>
            </a:r>
            <a:r>
              <a:rPr sz="2800" i="1" spc="-55"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index</a:t>
            </a:r>
            <a:r>
              <a:rPr sz="2800" dirty="0">
                <a:latin typeface="Times New Roman" panose="02020603050405020304" pitchFamily="18" charset="0"/>
                <a:cs typeface="Times New Roman" panose="02020603050405020304" pitchFamily="18" charset="0"/>
              </a:rPr>
              <a:t>.</a:t>
            </a:r>
            <a:r>
              <a:rPr sz="2800" spc="-4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It</a:t>
            </a:r>
            <a:r>
              <a:rPr sz="2800" spc="-5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returns 	</a:t>
            </a:r>
            <a:r>
              <a:rPr sz="2800" dirty="0">
                <a:latin typeface="Times New Roman" panose="02020603050405020304" pitchFamily="18" charset="0"/>
                <a:cs typeface="Times New Roman" panose="02020603050405020304" pitchFamily="18" charset="0"/>
              </a:rPr>
              <a:t>element</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one</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by</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one</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in</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defined</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variable.</a:t>
            </a:r>
            <a:r>
              <a:rPr sz="2800" spc="-110"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The 	</a:t>
            </a:r>
            <a:r>
              <a:rPr sz="2800" dirty="0">
                <a:latin typeface="Times New Roman" panose="02020603050405020304" pitchFamily="18" charset="0"/>
                <a:cs typeface="Times New Roman" panose="02020603050405020304" pitchFamily="18" charset="0"/>
              </a:rPr>
              <a:t>syntax</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6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follows</a:t>
            </a:r>
            <a:endParaRPr sz="2800" dirty="0">
              <a:latin typeface="Times New Roman" panose="02020603050405020304" pitchFamily="18" charset="0"/>
              <a:cs typeface="Times New Roman" panose="02020603050405020304" pitchFamily="18" charset="0"/>
            </a:endParaRPr>
          </a:p>
          <a:p>
            <a:pPr marL="927100" algn="just">
              <a:lnSpc>
                <a:spcPct val="100000"/>
              </a:lnSpc>
              <a:spcBef>
                <a:spcPts val="1015"/>
              </a:spcBef>
            </a:pPr>
            <a:r>
              <a:rPr sz="2400" b="1" dirty="0">
                <a:latin typeface="Times New Roman" panose="02020603050405020304" pitchFamily="18" charset="0"/>
                <a:cs typeface="Times New Roman" panose="02020603050405020304" pitchFamily="18" charset="0"/>
              </a:rPr>
              <a:t>for</a:t>
            </a:r>
            <a:r>
              <a:rPr sz="2400" dirty="0">
                <a:latin typeface="Times New Roman" panose="02020603050405020304" pitchFamily="18" charset="0"/>
                <a:cs typeface="Times New Roman" panose="02020603050405020304" pitchFamily="18" charset="0"/>
              </a:rPr>
              <a:t>(Type</a:t>
            </a:r>
            <a:r>
              <a:rPr sz="2400" spc="-60" dirty="0">
                <a:latin typeface="Times New Roman" panose="02020603050405020304" pitchFamily="18" charset="0"/>
                <a:cs typeface="Times New Roman" panose="02020603050405020304" pitchFamily="18" charset="0"/>
              </a:rPr>
              <a:t> </a:t>
            </a:r>
            <a:r>
              <a:rPr sz="2400" spc="-10" dirty="0">
                <a:latin typeface="Times New Roman" panose="02020603050405020304" pitchFamily="18" charset="0"/>
                <a:cs typeface="Times New Roman" panose="02020603050405020304" pitchFamily="18" charset="0"/>
              </a:rPr>
              <a:t>var:array)</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spc="-50" dirty="0">
                <a:latin typeface="Times New Roman" panose="02020603050405020304" pitchFamily="18" charset="0"/>
                <a:cs typeface="Times New Roman" panose="02020603050405020304" pitchFamily="18" charset="0"/>
              </a:rPr>
              <a:t>{</a:t>
            </a:r>
            <a:endParaRPr lang="en-US" sz="2400" spc="-5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dirty="0">
                <a:latin typeface="Times New Roman" panose="02020603050405020304" pitchFamily="18" charset="0"/>
                <a:cs typeface="Times New Roman" panose="02020603050405020304" pitchFamily="18" charset="0"/>
              </a:rPr>
              <a:t>//code</a:t>
            </a:r>
            <a:r>
              <a:rPr sz="2400" spc="-35" dirty="0">
                <a:latin typeface="Times New Roman" panose="02020603050405020304" pitchFamily="18" charset="0"/>
                <a:cs typeface="Times New Roman" panose="02020603050405020304" pitchFamily="18" charset="0"/>
              </a:rPr>
              <a:t> </a:t>
            </a:r>
            <a:r>
              <a:rPr sz="2400" dirty="0">
                <a:latin typeface="Times New Roman" panose="02020603050405020304" pitchFamily="18" charset="0"/>
                <a:cs typeface="Times New Roman" panose="02020603050405020304" pitchFamily="18" charset="0"/>
              </a:rPr>
              <a:t>to</a:t>
            </a:r>
            <a:r>
              <a:rPr sz="2400" spc="-15" dirty="0">
                <a:latin typeface="Times New Roman" panose="02020603050405020304" pitchFamily="18" charset="0"/>
                <a:cs typeface="Times New Roman" panose="02020603050405020304" pitchFamily="18" charset="0"/>
              </a:rPr>
              <a:t> </a:t>
            </a:r>
            <a:r>
              <a:rPr sz="2400" dirty="0">
                <a:latin typeface="Times New Roman" panose="02020603050405020304" pitchFamily="18" charset="0"/>
                <a:cs typeface="Times New Roman" panose="02020603050405020304" pitchFamily="18" charset="0"/>
              </a:rPr>
              <a:t>be</a:t>
            </a:r>
            <a:r>
              <a:rPr sz="2400" spc="-20" dirty="0">
                <a:latin typeface="Times New Roman" panose="02020603050405020304" pitchFamily="18" charset="0"/>
                <a:cs typeface="Times New Roman" panose="02020603050405020304" pitchFamily="18" charset="0"/>
              </a:rPr>
              <a:t> </a:t>
            </a:r>
            <a:r>
              <a:rPr sz="2400" spc="-10" dirty="0">
                <a:latin typeface="Times New Roman" panose="02020603050405020304" pitchFamily="18" charset="0"/>
                <a:cs typeface="Times New Roman" panose="02020603050405020304" pitchFamily="18" charset="0"/>
              </a:rPr>
              <a:t>executed</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447800" y="457200"/>
            <a:ext cx="6986270" cy="628377"/>
          </a:xfrm>
          <a:prstGeom prst="rect">
            <a:avLst/>
          </a:prstGeom>
        </p:spPr>
        <p:txBody>
          <a:bodyPr vert="horz" wrap="square" lIns="0" tIns="12700" rIns="0" bIns="0" rtlCol="0">
            <a:spAutoFit/>
          </a:bodyPr>
          <a:lstStyle/>
          <a:p>
            <a:pPr marL="12700" algn="just">
              <a:lnSpc>
                <a:spcPct val="100000"/>
              </a:lnSpc>
              <a:spcBef>
                <a:spcPts val="100"/>
              </a:spcBef>
            </a:pPr>
            <a:r>
              <a:rPr sz="4000" dirty="0">
                <a:solidFill>
                  <a:srgbClr val="696363"/>
                </a:solidFill>
              </a:rPr>
              <a:t>Looping</a:t>
            </a:r>
            <a:r>
              <a:rPr sz="4000" spc="-50" dirty="0">
                <a:solidFill>
                  <a:srgbClr val="696363"/>
                </a:solidFill>
              </a:rPr>
              <a:t> </a:t>
            </a:r>
            <a:r>
              <a:rPr sz="4000" dirty="0">
                <a:solidFill>
                  <a:srgbClr val="696363"/>
                </a:solidFill>
              </a:rPr>
              <a:t>Statements</a:t>
            </a:r>
            <a:r>
              <a:rPr sz="4000" spc="-55" dirty="0">
                <a:solidFill>
                  <a:srgbClr val="696363"/>
                </a:solidFill>
              </a:rPr>
              <a:t> </a:t>
            </a:r>
            <a:r>
              <a:rPr sz="4000" dirty="0">
                <a:solidFill>
                  <a:srgbClr val="696363"/>
                </a:solidFill>
              </a:rPr>
              <a:t>–</a:t>
            </a:r>
            <a:r>
              <a:rPr sz="4000" spc="-55" dirty="0">
                <a:solidFill>
                  <a:srgbClr val="696363"/>
                </a:solidFill>
              </a:rPr>
              <a:t> </a:t>
            </a:r>
            <a:r>
              <a:rPr sz="4000" dirty="0"/>
              <a:t>for</a:t>
            </a:r>
            <a:r>
              <a:rPr sz="4000" spc="-50" dirty="0"/>
              <a:t> </a:t>
            </a:r>
            <a:r>
              <a:rPr sz="4000" dirty="0"/>
              <a:t>each</a:t>
            </a:r>
            <a:endParaRPr sz="4000" spc="-50" dirty="0"/>
          </a:p>
        </p:txBody>
      </p:sp>
      <p:sp>
        <p:nvSpPr>
          <p:cNvPr id="3" name="object 3"/>
          <p:cNvSpPr txBox="1"/>
          <p:nvPr/>
        </p:nvSpPr>
        <p:spPr>
          <a:xfrm>
            <a:off x="307340" y="1419155"/>
            <a:ext cx="7955280" cy="4204356"/>
          </a:xfrm>
          <a:prstGeom prst="rect">
            <a:avLst/>
          </a:prstGeom>
        </p:spPr>
        <p:txBody>
          <a:bodyPr vert="horz" wrap="square" lIns="0" tIns="140335" rIns="0" bIns="0" rtlCol="0">
            <a:spAutoFit/>
          </a:bodyPr>
          <a:lstStyle/>
          <a:p>
            <a:r>
              <a:rPr lang="en-US" sz="2400" b="1" dirty="0"/>
              <a:t>public</a:t>
            </a:r>
            <a:r>
              <a:rPr lang="en-US" sz="2400" dirty="0"/>
              <a:t> </a:t>
            </a:r>
            <a:r>
              <a:rPr lang="en-US" sz="2400" b="1" dirty="0"/>
              <a:t>class</a:t>
            </a:r>
            <a:r>
              <a:rPr lang="en-US" sz="2400" dirty="0"/>
              <a:t> </a:t>
            </a:r>
            <a:r>
              <a:rPr lang="en-US" sz="2400" dirty="0" err="1"/>
              <a:t>ForEachExample</a:t>
            </a:r>
            <a:endParaRPr lang="en-US" sz="2400" dirty="0"/>
          </a:p>
          <a:p>
            <a:r>
              <a:rPr lang="en-US" sz="2400" dirty="0"/>
              <a:t>{</a:t>
            </a:r>
          </a:p>
          <a:p>
            <a:r>
              <a:rPr lang="en-US" sz="2400" b="1" dirty="0"/>
              <a:t>public</a:t>
            </a:r>
            <a:r>
              <a:rPr lang="en-US" sz="2400" dirty="0"/>
              <a:t> </a:t>
            </a:r>
            <a:r>
              <a:rPr lang="en-US" sz="2400" b="1" dirty="0"/>
              <a:t>static</a:t>
            </a:r>
            <a:r>
              <a:rPr lang="en-US" sz="2400" dirty="0"/>
              <a:t> </a:t>
            </a:r>
            <a:r>
              <a:rPr lang="en-US" sz="2400" b="1" dirty="0"/>
              <a:t>void</a:t>
            </a:r>
            <a:r>
              <a:rPr lang="en-US" sz="2400" dirty="0"/>
              <a:t> main(String[] </a:t>
            </a:r>
            <a:r>
              <a:rPr lang="en-US" sz="2400" dirty="0" err="1"/>
              <a:t>args</a:t>
            </a:r>
            <a:r>
              <a:rPr lang="en-US" sz="2400" dirty="0"/>
              <a:t>)</a:t>
            </a:r>
          </a:p>
          <a:p>
            <a:r>
              <a:rPr lang="en-US" sz="2400" dirty="0"/>
              <a:t>{</a:t>
            </a:r>
          </a:p>
          <a:p>
            <a:r>
              <a:rPr lang="en-US" sz="2400" b="1" dirty="0"/>
              <a:t>int</a:t>
            </a:r>
            <a:r>
              <a:rPr lang="en-US" sz="2400" dirty="0"/>
              <a:t> </a:t>
            </a:r>
            <a:r>
              <a:rPr lang="en-US" sz="2400" dirty="0" err="1"/>
              <a:t>arr</a:t>
            </a:r>
            <a:r>
              <a:rPr lang="en-US" sz="2400" dirty="0"/>
              <a:t>[]={12,23,44,56,78};</a:t>
            </a:r>
          </a:p>
          <a:p>
            <a:r>
              <a:rPr lang="en-US" sz="2400" b="1" dirty="0"/>
              <a:t>for</a:t>
            </a:r>
            <a:r>
              <a:rPr lang="en-US" sz="2400" dirty="0"/>
              <a:t>(</a:t>
            </a:r>
            <a:r>
              <a:rPr lang="en-US" sz="2400" b="1" dirty="0"/>
              <a:t>int</a:t>
            </a:r>
            <a:r>
              <a:rPr lang="en-US" sz="2400" dirty="0"/>
              <a:t> i:arr)</a:t>
            </a:r>
          </a:p>
          <a:p>
            <a:r>
              <a:rPr lang="en-US" sz="2400" dirty="0"/>
              <a:t>{</a:t>
            </a:r>
          </a:p>
          <a:p>
            <a:r>
              <a:rPr lang="en-US" sz="2400" dirty="0" err="1"/>
              <a:t>System.</a:t>
            </a:r>
            <a:r>
              <a:rPr lang="en-US" sz="2400" b="1" i="1" dirty="0" err="1"/>
              <a:t>out</a:t>
            </a:r>
            <a:r>
              <a:rPr lang="en-US" sz="2400" dirty="0" err="1"/>
              <a:t>.println</a:t>
            </a:r>
            <a:r>
              <a:rPr lang="en-US" sz="2400" dirty="0"/>
              <a:t>(</a:t>
            </a:r>
            <a:r>
              <a:rPr lang="en-US" sz="2400" dirty="0" err="1"/>
              <a:t>i</a:t>
            </a:r>
            <a:r>
              <a:rPr lang="en-US" sz="2400" dirty="0"/>
              <a:t>);</a:t>
            </a:r>
          </a:p>
          <a:p>
            <a:r>
              <a:rPr lang="en-US" sz="2400" dirty="0"/>
              <a:t>}</a:t>
            </a:r>
          </a:p>
          <a:p>
            <a:r>
              <a:rPr lang="en-US" sz="2400" dirty="0"/>
              <a:t>}</a:t>
            </a:r>
          </a:p>
          <a:p>
            <a:r>
              <a:rPr lang="en-US" sz="2400" dirty="0"/>
              <a:t>}</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A74A6A-24F0-5161-9EEC-ECD90F29F0F4}"/>
              </a:ext>
            </a:extLst>
          </p:cNvPr>
          <p:cNvSpPr>
            <a:spLocks noGrp="1"/>
          </p:cNvSpPr>
          <p:nvPr>
            <p:ph idx="1"/>
          </p:nvPr>
        </p:nvSpPr>
        <p:spPr>
          <a:xfrm>
            <a:off x="457200" y="152400"/>
            <a:ext cx="8229600" cy="5973763"/>
          </a:xfrm>
        </p:spPr>
        <p:txBody>
          <a:bodyPr>
            <a:normAutofit fontScale="85000" lnSpcReduction="10000"/>
          </a:bodyPr>
          <a:lstStyle/>
          <a:p>
            <a:pPr marL="0" indent="0">
              <a:buNone/>
            </a:pPr>
            <a:r>
              <a:rPr lang="en-US" b="1" dirty="0"/>
              <a:t>public</a:t>
            </a:r>
            <a:r>
              <a:rPr lang="en-US" dirty="0"/>
              <a:t> </a:t>
            </a:r>
            <a:r>
              <a:rPr lang="en-US" b="1" dirty="0"/>
              <a:t>class</a:t>
            </a:r>
            <a:r>
              <a:rPr lang="en-US" dirty="0"/>
              <a:t> </a:t>
            </a:r>
            <a:r>
              <a:rPr lang="en-US" dirty="0" err="1"/>
              <a:t>ForEach</a:t>
            </a:r>
            <a:r>
              <a:rPr lang="en-US" dirty="0"/>
              <a:t>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marL="0" indent="0">
              <a:buNone/>
            </a:pPr>
            <a:r>
              <a:rPr lang="en-US" b="1" dirty="0"/>
              <a:t>int</a:t>
            </a:r>
            <a:r>
              <a:rPr lang="en-US" dirty="0"/>
              <a:t> </a:t>
            </a:r>
            <a:r>
              <a:rPr lang="en-US" dirty="0" err="1"/>
              <a:t>nums</a:t>
            </a:r>
            <a:r>
              <a:rPr lang="en-US" dirty="0"/>
              <a:t>[ ] = { 1, 2, 3, 4, 5, 6, 7, 8, 9, 10 }; </a:t>
            </a:r>
          </a:p>
          <a:p>
            <a:pPr marL="0" indent="0">
              <a:buNone/>
            </a:pPr>
            <a:r>
              <a:rPr lang="en-US" b="1" dirty="0"/>
              <a:t>int</a:t>
            </a:r>
            <a:r>
              <a:rPr lang="en-US" dirty="0"/>
              <a:t> sum = 0; </a:t>
            </a:r>
          </a:p>
          <a:p>
            <a:pPr marL="0" indent="0">
              <a:buNone/>
            </a:pPr>
            <a:r>
              <a:rPr lang="en-US" dirty="0"/>
              <a:t>// use for-each style for to display and sum the values </a:t>
            </a:r>
          </a:p>
          <a:p>
            <a:pPr marL="0" indent="0">
              <a:buNone/>
            </a:pPr>
            <a:r>
              <a:rPr lang="en-US" b="1" dirty="0"/>
              <a:t>for</a:t>
            </a:r>
            <a:r>
              <a:rPr lang="en-US" dirty="0"/>
              <a:t>(</a:t>
            </a:r>
            <a:r>
              <a:rPr lang="en-US" b="1" dirty="0"/>
              <a:t>int</a:t>
            </a:r>
            <a:r>
              <a:rPr lang="en-US" dirty="0"/>
              <a:t> x : </a:t>
            </a:r>
            <a:r>
              <a:rPr lang="en-US" dirty="0" err="1"/>
              <a:t>nums</a:t>
            </a:r>
            <a:r>
              <a:rPr lang="en-US" dirty="0"/>
              <a:t>) </a:t>
            </a:r>
          </a:p>
          <a:p>
            <a:pPr marL="0" indent="0">
              <a:buNone/>
            </a:pPr>
            <a:r>
              <a:rPr lang="en-US" dirty="0"/>
              <a:t>{ </a:t>
            </a:r>
          </a:p>
          <a:p>
            <a:pPr marL="0" indent="0">
              <a:buNone/>
            </a:pPr>
            <a:r>
              <a:rPr lang="en-US" dirty="0" err="1"/>
              <a:t>System.</a:t>
            </a:r>
            <a:r>
              <a:rPr lang="en-US" b="1" i="1" dirty="0" err="1"/>
              <a:t>out</a:t>
            </a:r>
            <a:r>
              <a:rPr lang="en-US" dirty="0" err="1"/>
              <a:t>.println</a:t>
            </a:r>
            <a:r>
              <a:rPr lang="en-US" dirty="0"/>
              <a:t>("Value is: " + x); </a:t>
            </a:r>
          </a:p>
          <a:p>
            <a:pPr marL="0" indent="0">
              <a:buNone/>
            </a:pPr>
            <a:r>
              <a:rPr lang="en-US" dirty="0"/>
              <a:t>sum += x; </a:t>
            </a:r>
          </a:p>
          <a:p>
            <a:pPr marL="0" indent="0">
              <a:buNone/>
            </a:pPr>
            <a:r>
              <a:rPr lang="en-US" dirty="0"/>
              <a:t>} </a:t>
            </a:r>
          </a:p>
          <a:p>
            <a:pPr marL="0" indent="0">
              <a:buNone/>
            </a:pPr>
            <a:r>
              <a:rPr lang="en-US" dirty="0" err="1"/>
              <a:t>System.</a:t>
            </a:r>
            <a:r>
              <a:rPr lang="en-US" b="1" i="1" dirty="0" err="1"/>
              <a:t>out</a:t>
            </a:r>
            <a:r>
              <a:rPr lang="en-US" dirty="0" err="1"/>
              <a:t>.println</a:t>
            </a:r>
            <a:r>
              <a:rPr lang="en-US" dirty="0"/>
              <a:t>("Summation: " + sum); </a:t>
            </a:r>
          </a:p>
          <a:p>
            <a:pPr marL="0" indent="0">
              <a:buNone/>
            </a:pPr>
            <a:r>
              <a:rPr lang="en-US" dirty="0"/>
              <a:t>} </a:t>
            </a:r>
          </a:p>
          <a:p>
            <a:pPr marL="0" indent="0">
              <a:buNone/>
            </a:pPr>
            <a:r>
              <a:rPr lang="en-US" dirty="0"/>
              <a:t>} </a:t>
            </a:r>
          </a:p>
        </p:txBody>
      </p:sp>
    </p:spTree>
    <p:extLst>
      <p:ext uri="{BB962C8B-B14F-4D97-AF65-F5344CB8AC3E}">
        <p14:creationId xmlns:p14="http://schemas.microsoft.com/office/powerpoint/2010/main" val="1873731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6700" y="162297"/>
            <a:ext cx="8420100" cy="1305486"/>
          </a:xfrm>
          <a:prstGeom prst="rect">
            <a:avLst/>
          </a:prstGeom>
        </p:spPr>
        <p:txBody>
          <a:bodyPr vert="horz" wrap="square" lIns="0" tIns="12700" rIns="0" bIns="0" rtlCol="0">
            <a:spAutoFit/>
          </a:bodyPr>
          <a:lstStyle/>
          <a:p>
            <a:pPr marL="12700">
              <a:spcBef>
                <a:spcPts val="100"/>
              </a:spcBef>
            </a:pPr>
            <a:r>
              <a:rPr sz="4000" dirty="0">
                <a:solidFill>
                  <a:srgbClr val="696363"/>
                </a:solidFill>
              </a:rPr>
              <a:t>Looping</a:t>
            </a:r>
            <a:r>
              <a:rPr sz="4000" spc="-45" dirty="0">
                <a:solidFill>
                  <a:srgbClr val="696363"/>
                </a:solidFill>
              </a:rPr>
              <a:t> </a:t>
            </a:r>
            <a:r>
              <a:rPr sz="4000" dirty="0">
                <a:solidFill>
                  <a:srgbClr val="696363"/>
                </a:solidFill>
              </a:rPr>
              <a:t>Statements</a:t>
            </a:r>
            <a:r>
              <a:rPr sz="4000" spc="-60" dirty="0">
                <a:solidFill>
                  <a:srgbClr val="696363"/>
                </a:solidFill>
              </a:rPr>
              <a:t> </a:t>
            </a:r>
            <a:r>
              <a:rPr sz="4000" dirty="0">
                <a:solidFill>
                  <a:srgbClr val="696363"/>
                </a:solidFill>
              </a:rPr>
              <a:t>–</a:t>
            </a:r>
            <a:r>
              <a:rPr sz="4000" spc="-55" dirty="0">
                <a:solidFill>
                  <a:srgbClr val="696363"/>
                </a:solidFill>
              </a:rPr>
              <a:t> </a:t>
            </a:r>
            <a:r>
              <a:rPr sz="3200" dirty="0">
                <a:solidFill>
                  <a:srgbClr val="FF0000"/>
                </a:solidFill>
              </a:rPr>
              <a:t>While</a:t>
            </a:r>
            <a:r>
              <a:rPr sz="3200" spc="-80" dirty="0">
                <a:solidFill>
                  <a:srgbClr val="FF0000"/>
                </a:solidFill>
              </a:rPr>
              <a:t> </a:t>
            </a:r>
            <a:r>
              <a:rPr sz="3200" spc="-10" dirty="0">
                <a:solidFill>
                  <a:srgbClr val="FF0000"/>
                </a:solidFill>
              </a:rPr>
              <a:t>loop</a:t>
            </a:r>
            <a:r>
              <a:rPr spc="-10" dirty="0">
                <a:solidFill>
                  <a:srgbClr val="FF0000"/>
                </a:solidFill>
              </a:rPr>
              <a:t>–</a:t>
            </a:r>
            <a:r>
              <a:rPr sz="2400" spc="-10" dirty="0">
                <a:solidFill>
                  <a:srgbClr val="FF0000"/>
                </a:solidFill>
              </a:rPr>
              <a:t>Entry</a:t>
            </a:r>
            <a:r>
              <a:rPr lang="en-US" sz="2400" spc="-10" dirty="0">
                <a:solidFill>
                  <a:srgbClr val="FF0000"/>
                </a:solidFill>
              </a:rPr>
              <a:t> </a:t>
            </a:r>
            <a:r>
              <a:rPr lang="en-US" sz="2000" b="1" spc="-10" dirty="0">
                <a:solidFill>
                  <a:srgbClr val="FF0000"/>
                </a:solidFill>
                <a:latin typeface="Arial"/>
                <a:cs typeface="Arial"/>
              </a:rPr>
              <a:t>controlled</a:t>
            </a:r>
            <a:br>
              <a:rPr lang="en-US" sz="2000" dirty="0">
                <a:latin typeface="Arial"/>
                <a:cs typeface="Arial"/>
              </a:rPr>
            </a:br>
            <a:endParaRPr sz="2000" dirty="0">
              <a:solidFill>
                <a:srgbClr val="FF0000"/>
              </a:solidFill>
            </a:endParaRPr>
          </a:p>
        </p:txBody>
      </p:sp>
      <p:sp>
        <p:nvSpPr>
          <p:cNvPr id="3" name="object 3"/>
          <p:cNvSpPr txBox="1"/>
          <p:nvPr/>
        </p:nvSpPr>
        <p:spPr>
          <a:xfrm>
            <a:off x="266700" y="1543214"/>
            <a:ext cx="8610600" cy="4296048"/>
          </a:xfrm>
          <a:prstGeom prst="rect">
            <a:avLst/>
          </a:prstGeom>
        </p:spPr>
        <p:txBody>
          <a:bodyPr vert="horz" wrap="square" lIns="0" tIns="12700" rIns="0" bIns="0" rtlCol="0">
            <a:spAutoFit/>
          </a:bodyPr>
          <a:lstStyle/>
          <a:p>
            <a:pPr marL="366395" marR="5080" indent="-272415" algn="just">
              <a:lnSpc>
                <a:spcPct val="150000"/>
              </a:lnSpc>
              <a:spcBef>
                <a:spcPts val="1405"/>
              </a:spcBef>
              <a:buClr>
                <a:srgbClr val="D24717"/>
              </a:buClr>
              <a:buSzPct val="83928"/>
              <a:buFont typeface="Segoe UI Symbol"/>
              <a:buChar char="⚫"/>
              <a:tabLst>
                <a:tab pos="368300" algn="l"/>
              </a:tabLst>
            </a:pPr>
            <a:r>
              <a:rPr sz="2800" dirty="0">
                <a:latin typeface="Arial MT"/>
                <a:cs typeface="Arial MT"/>
              </a:rPr>
              <a:t>The</a:t>
            </a:r>
            <a:r>
              <a:rPr sz="2800" spc="225" dirty="0">
                <a:latin typeface="Arial MT"/>
                <a:cs typeface="Arial MT"/>
              </a:rPr>
              <a:t> </a:t>
            </a:r>
            <a:r>
              <a:rPr sz="2800" dirty="0">
                <a:latin typeface="Arial MT"/>
                <a:cs typeface="Arial MT"/>
              </a:rPr>
              <a:t>Java</a:t>
            </a:r>
            <a:r>
              <a:rPr sz="2800" spc="229" dirty="0">
                <a:latin typeface="Arial MT"/>
                <a:cs typeface="Arial MT"/>
              </a:rPr>
              <a:t> </a:t>
            </a:r>
            <a:r>
              <a:rPr sz="2800" b="1" i="1" dirty="0">
                <a:solidFill>
                  <a:srgbClr val="FF0000"/>
                </a:solidFill>
                <a:latin typeface="Times New Roman" panose="02020603050405020304" pitchFamily="18" charset="0"/>
                <a:cs typeface="Times New Roman" panose="02020603050405020304" pitchFamily="18" charset="0"/>
              </a:rPr>
              <a:t>while</a:t>
            </a:r>
            <a:r>
              <a:rPr sz="2800" b="1" i="1" spc="229" dirty="0">
                <a:solidFill>
                  <a:srgbClr val="FF0000"/>
                </a:solidFill>
                <a:latin typeface="Times New Roman" panose="02020603050405020304" pitchFamily="18" charset="0"/>
                <a:cs typeface="Times New Roman" panose="02020603050405020304" pitchFamily="18" charset="0"/>
              </a:rPr>
              <a:t> </a:t>
            </a:r>
            <a:r>
              <a:rPr sz="2800" b="1" i="1" dirty="0">
                <a:solidFill>
                  <a:srgbClr val="FF0000"/>
                </a:solidFill>
                <a:latin typeface="Times New Roman" panose="02020603050405020304" pitchFamily="18" charset="0"/>
                <a:cs typeface="Times New Roman" panose="02020603050405020304" pitchFamily="18" charset="0"/>
              </a:rPr>
              <a:t>loop</a:t>
            </a:r>
            <a:r>
              <a:rPr sz="2800" b="1" i="1" spc="23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is</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used</a:t>
            </a:r>
            <a:r>
              <a:rPr sz="2800" b="1" spc="220"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to</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iterate</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a</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part</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of</a:t>
            </a:r>
            <a:r>
              <a:rPr sz="2800" b="1" spc="215" dirty="0">
                <a:solidFill>
                  <a:srgbClr val="FF0000"/>
                </a:solidFill>
                <a:latin typeface="Times New Roman" panose="02020603050405020304" pitchFamily="18" charset="0"/>
                <a:cs typeface="Times New Roman" panose="02020603050405020304" pitchFamily="18" charset="0"/>
              </a:rPr>
              <a:t> </a:t>
            </a:r>
            <a:r>
              <a:rPr sz="2800" b="1" spc="-25" dirty="0">
                <a:solidFill>
                  <a:srgbClr val="FF0000"/>
                </a:solidFill>
                <a:latin typeface="Times New Roman" panose="02020603050405020304" pitchFamily="18" charset="0"/>
                <a:cs typeface="Times New Roman" panose="02020603050405020304" pitchFamily="18" charset="0"/>
              </a:rPr>
              <a:t>the 	</a:t>
            </a:r>
            <a:r>
              <a:rPr sz="2800" b="1" dirty="0">
                <a:solidFill>
                  <a:srgbClr val="FF0000"/>
                </a:solidFill>
                <a:latin typeface="Times New Roman" panose="02020603050405020304" pitchFamily="18" charset="0"/>
                <a:cs typeface="Times New Roman" panose="02020603050405020304" pitchFamily="18" charset="0"/>
              </a:rPr>
              <a:t>program</a:t>
            </a:r>
            <a:r>
              <a:rPr sz="2800" b="1" spc="220"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several</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times.</a:t>
            </a:r>
            <a:r>
              <a:rPr sz="2800" spc="220" dirty="0">
                <a:latin typeface="Arial MT"/>
                <a:cs typeface="Arial MT"/>
              </a:rPr>
              <a:t> </a:t>
            </a:r>
            <a:r>
              <a:rPr sz="2800" dirty="0">
                <a:latin typeface="Arial MT"/>
                <a:cs typeface="Arial MT"/>
              </a:rPr>
              <a:t>If</a:t>
            </a:r>
            <a:r>
              <a:rPr sz="2800" spc="210" dirty="0">
                <a:latin typeface="Arial MT"/>
                <a:cs typeface="Arial MT"/>
              </a:rPr>
              <a:t> </a:t>
            </a:r>
            <a:r>
              <a:rPr sz="2800" dirty="0">
                <a:latin typeface="Arial MT"/>
                <a:cs typeface="Arial MT"/>
              </a:rPr>
              <a:t>the</a:t>
            </a:r>
            <a:r>
              <a:rPr sz="2800" spc="220" dirty="0">
                <a:latin typeface="Arial MT"/>
                <a:cs typeface="Arial MT"/>
              </a:rPr>
              <a:t> </a:t>
            </a:r>
            <a:r>
              <a:rPr sz="2800" dirty="0">
                <a:latin typeface="Arial MT"/>
                <a:cs typeface="Arial MT"/>
              </a:rPr>
              <a:t>number</a:t>
            </a:r>
            <a:r>
              <a:rPr sz="2800" spc="240" dirty="0">
                <a:latin typeface="Arial MT"/>
                <a:cs typeface="Arial MT"/>
              </a:rPr>
              <a:t> </a:t>
            </a:r>
            <a:r>
              <a:rPr sz="2800" dirty="0">
                <a:latin typeface="Arial MT"/>
                <a:cs typeface="Arial MT"/>
              </a:rPr>
              <a:t>of</a:t>
            </a:r>
            <a:r>
              <a:rPr sz="2800" spc="210" dirty="0">
                <a:latin typeface="Arial MT"/>
                <a:cs typeface="Arial MT"/>
              </a:rPr>
              <a:t> </a:t>
            </a:r>
            <a:r>
              <a:rPr sz="2800" dirty="0">
                <a:latin typeface="Arial MT"/>
                <a:cs typeface="Arial MT"/>
              </a:rPr>
              <a:t>iteration</a:t>
            </a:r>
            <a:r>
              <a:rPr sz="2800" spc="229" dirty="0">
                <a:latin typeface="Arial MT"/>
                <a:cs typeface="Arial MT"/>
              </a:rPr>
              <a:t> </a:t>
            </a:r>
            <a:r>
              <a:rPr sz="2800" spc="-25" dirty="0">
                <a:latin typeface="Arial MT"/>
                <a:cs typeface="Arial MT"/>
              </a:rPr>
              <a:t>is 	</a:t>
            </a:r>
            <a:r>
              <a:rPr sz="2800" dirty="0">
                <a:latin typeface="Arial MT"/>
                <a:cs typeface="Arial MT"/>
              </a:rPr>
              <a:t>not</a:t>
            </a:r>
            <a:r>
              <a:rPr sz="2800" spc="-50" dirty="0">
                <a:latin typeface="Arial MT"/>
                <a:cs typeface="Arial MT"/>
              </a:rPr>
              <a:t> </a:t>
            </a:r>
            <a:r>
              <a:rPr sz="2800" dirty="0">
                <a:latin typeface="Arial MT"/>
                <a:cs typeface="Arial MT"/>
              </a:rPr>
              <a:t>fixed,</a:t>
            </a:r>
            <a:r>
              <a:rPr sz="2800" spc="-70" dirty="0">
                <a:latin typeface="Arial MT"/>
                <a:cs typeface="Arial MT"/>
              </a:rPr>
              <a:t> </a:t>
            </a:r>
            <a:r>
              <a:rPr sz="2800" dirty="0">
                <a:latin typeface="Arial MT"/>
                <a:cs typeface="Arial MT"/>
              </a:rPr>
              <a:t>it</a:t>
            </a:r>
            <a:r>
              <a:rPr sz="2800" spc="-55" dirty="0">
                <a:latin typeface="Arial MT"/>
                <a:cs typeface="Arial MT"/>
              </a:rPr>
              <a:t> </a:t>
            </a:r>
            <a:r>
              <a:rPr sz="2800" dirty="0">
                <a:latin typeface="Arial MT"/>
                <a:cs typeface="Arial MT"/>
              </a:rPr>
              <a:t>is</a:t>
            </a:r>
            <a:r>
              <a:rPr sz="2800" spc="-55" dirty="0">
                <a:latin typeface="Arial MT"/>
                <a:cs typeface="Arial MT"/>
              </a:rPr>
              <a:t> </a:t>
            </a:r>
            <a:r>
              <a:rPr sz="2800" dirty="0">
                <a:latin typeface="Arial MT"/>
                <a:cs typeface="Arial MT"/>
              </a:rPr>
              <a:t>recommended</a:t>
            </a:r>
            <a:r>
              <a:rPr sz="2800" spc="-10" dirty="0">
                <a:latin typeface="Arial MT"/>
                <a:cs typeface="Arial MT"/>
              </a:rPr>
              <a:t> </a:t>
            </a:r>
            <a:r>
              <a:rPr sz="2800" dirty="0">
                <a:latin typeface="Arial MT"/>
                <a:cs typeface="Arial MT"/>
              </a:rPr>
              <a:t>to</a:t>
            </a:r>
            <a:r>
              <a:rPr sz="2800" spc="-60" dirty="0">
                <a:latin typeface="Arial MT"/>
                <a:cs typeface="Arial MT"/>
              </a:rPr>
              <a:t> </a:t>
            </a:r>
            <a:r>
              <a:rPr sz="2800" dirty="0">
                <a:latin typeface="Arial MT"/>
                <a:cs typeface="Arial MT"/>
              </a:rPr>
              <a:t>use</a:t>
            </a:r>
            <a:r>
              <a:rPr sz="2800" spc="-45" dirty="0">
                <a:latin typeface="Arial MT"/>
                <a:cs typeface="Arial MT"/>
              </a:rPr>
              <a:t> </a:t>
            </a:r>
            <a:r>
              <a:rPr sz="2800" dirty="0">
                <a:latin typeface="Arial MT"/>
                <a:cs typeface="Arial MT"/>
              </a:rPr>
              <a:t>while</a:t>
            </a:r>
            <a:r>
              <a:rPr sz="2800" spc="-45" dirty="0">
                <a:latin typeface="Arial MT"/>
                <a:cs typeface="Arial MT"/>
              </a:rPr>
              <a:t> </a:t>
            </a:r>
            <a:r>
              <a:rPr sz="2800" spc="-10" dirty="0">
                <a:latin typeface="Arial MT"/>
                <a:cs typeface="Arial MT"/>
              </a:rPr>
              <a:t>loop.</a:t>
            </a:r>
            <a:endParaRPr sz="2800" dirty="0">
              <a:latin typeface="Arial MT"/>
              <a:cs typeface="Arial MT"/>
            </a:endParaRPr>
          </a:p>
          <a:p>
            <a:pPr marL="93980">
              <a:lnSpc>
                <a:spcPct val="100000"/>
              </a:lnSpc>
              <a:spcBef>
                <a:spcPts val="1225"/>
              </a:spcBef>
            </a:pPr>
            <a:r>
              <a:rPr sz="2800" b="1" spc="-10" dirty="0">
                <a:latin typeface="Arial"/>
                <a:cs typeface="Arial"/>
              </a:rPr>
              <a:t>Syntax:</a:t>
            </a:r>
            <a:endParaRPr sz="2800" dirty="0">
              <a:latin typeface="Arial"/>
              <a:cs typeface="Arial"/>
            </a:endParaRPr>
          </a:p>
          <a:p>
            <a:pPr marL="1009015">
              <a:lnSpc>
                <a:spcPct val="100000"/>
              </a:lnSpc>
              <a:spcBef>
                <a:spcPts val="385"/>
              </a:spcBef>
            </a:pPr>
            <a:r>
              <a:rPr sz="2400" b="1" i="1" spc="-10" dirty="0">
                <a:latin typeface="Courier New"/>
                <a:cs typeface="Courier New"/>
              </a:rPr>
              <a:t>while</a:t>
            </a:r>
            <a:r>
              <a:rPr sz="2400" i="1" spc="-10" dirty="0">
                <a:latin typeface="Courier New"/>
                <a:cs typeface="Courier New"/>
              </a:rPr>
              <a:t>(condition)</a:t>
            </a:r>
            <a:endParaRPr sz="2400" dirty="0">
              <a:latin typeface="Courier New"/>
              <a:cs typeface="Courier New"/>
            </a:endParaRPr>
          </a:p>
          <a:p>
            <a:pPr marL="1009015">
              <a:lnSpc>
                <a:spcPct val="100000"/>
              </a:lnSpc>
              <a:spcBef>
                <a:spcPts val="605"/>
              </a:spcBef>
            </a:pPr>
            <a:r>
              <a:rPr sz="2400" i="1" spc="-50" dirty="0">
                <a:latin typeface="Courier New"/>
                <a:cs typeface="Courier New"/>
              </a:rPr>
              <a:t>{</a:t>
            </a:r>
            <a:endParaRPr sz="2400" dirty="0">
              <a:latin typeface="Courier New"/>
              <a:cs typeface="Courier New"/>
            </a:endParaRPr>
          </a:p>
          <a:p>
            <a:pPr marL="1923414">
              <a:lnSpc>
                <a:spcPct val="100000"/>
              </a:lnSpc>
              <a:spcBef>
                <a:spcPts val="600"/>
              </a:spcBef>
            </a:pPr>
            <a:r>
              <a:rPr sz="2400" i="1" dirty="0">
                <a:latin typeface="Courier New"/>
                <a:cs typeface="Courier New"/>
              </a:rPr>
              <a:t>//code</a:t>
            </a:r>
            <a:r>
              <a:rPr sz="2400" i="1" spc="-30" dirty="0">
                <a:latin typeface="Courier New"/>
                <a:cs typeface="Courier New"/>
              </a:rPr>
              <a:t> </a:t>
            </a:r>
            <a:r>
              <a:rPr sz="2400" i="1" dirty="0">
                <a:latin typeface="Courier New"/>
                <a:cs typeface="Courier New"/>
              </a:rPr>
              <a:t>to</a:t>
            </a:r>
            <a:r>
              <a:rPr sz="2400" i="1" spc="-20" dirty="0">
                <a:latin typeface="Courier New"/>
                <a:cs typeface="Courier New"/>
              </a:rPr>
              <a:t> </a:t>
            </a:r>
            <a:r>
              <a:rPr sz="2400" i="1" dirty="0">
                <a:latin typeface="Courier New"/>
                <a:cs typeface="Courier New"/>
              </a:rPr>
              <a:t>be</a:t>
            </a:r>
            <a:r>
              <a:rPr sz="2400" i="1" spc="-20" dirty="0">
                <a:latin typeface="Courier New"/>
                <a:cs typeface="Courier New"/>
              </a:rPr>
              <a:t> </a:t>
            </a:r>
            <a:r>
              <a:rPr sz="2400" i="1" spc="-10" dirty="0">
                <a:latin typeface="Courier New"/>
                <a:cs typeface="Courier New"/>
              </a:rPr>
              <a:t>executed</a:t>
            </a:r>
            <a:endParaRPr sz="2400" dirty="0">
              <a:latin typeface="Courier New"/>
              <a:cs typeface="Courier New"/>
            </a:endParaRPr>
          </a:p>
          <a:p>
            <a:pPr marL="1009015">
              <a:lnSpc>
                <a:spcPct val="100000"/>
              </a:lnSpc>
              <a:spcBef>
                <a:spcPts val="600"/>
              </a:spcBef>
            </a:pPr>
            <a:r>
              <a:rPr sz="2400" i="1" spc="-50" dirty="0">
                <a:latin typeface="Courier New"/>
                <a:cs typeface="Courier New"/>
              </a:rPr>
              <a:t>}</a:t>
            </a:r>
            <a:endParaRPr sz="2400" dirty="0">
              <a:latin typeface="Courier New"/>
              <a:cs typeface="Courier New"/>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51346"/>
            <a:ext cx="8229600" cy="1143000"/>
          </a:xfrm>
          <a:prstGeom prst="rect">
            <a:avLst/>
          </a:prstGeom>
        </p:spPr>
        <p:txBody>
          <a:bodyPr vert="horz" wrap="square" lIns="0" tIns="377901" rIns="0" bIns="0" rtlCol="0">
            <a:spAutoFit/>
          </a:bodyPr>
          <a:lstStyle/>
          <a:p>
            <a:pPr marL="6985">
              <a:lnSpc>
                <a:spcPct val="100000"/>
              </a:lnSpc>
              <a:spcBef>
                <a:spcPts val="100"/>
              </a:spcBef>
            </a:pPr>
            <a:r>
              <a:rPr spc="-10" dirty="0"/>
              <a:t>Example</a:t>
            </a:r>
          </a:p>
        </p:txBody>
      </p:sp>
      <p:sp>
        <p:nvSpPr>
          <p:cNvPr id="3" name="object 3"/>
          <p:cNvSpPr txBox="1"/>
          <p:nvPr/>
        </p:nvSpPr>
        <p:spPr>
          <a:xfrm>
            <a:off x="383540" y="911097"/>
            <a:ext cx="7879080" cy="1351915"/>
          </a:xfrm>
          <a:prstGeom prst="rect">
            <a:avLst/>
          </a:prstGeom>
        </p:spPr>
        <p:txBody>
          <a:bodyPr vert="horz" wrap="square" lIns="0" tIns="88900" rIns="0" bIns="0" rtlCol="0">
            <a:spAutoFit/>
          </a:bodyPr>
          <a:lstStyle/>
          <a:p>
            <a:pPr marL="12700">
              <a:lnSpc>
                <a:spcPct val="100000"/>
              </a:lnSpc>
              <a:spcBef>
                <a:spcPts val="700"/>
              </a:spcBef>
            </a:pPr>
            <a:r>
              <a:rPr sz="2400" b="1" dirty="0">
                <a:latin typeface="Courier New"/>
                <a:cs typeface="Courier New"/>
              </a:rPr>
              <a:t>public</a:t>
            </a:r>
            <a:r>
              <a:rPr sz="2400" b="1" spc="-45" dirty="0">
                <a:latin typeface="Courier New"/>
                <a:cs typeface="Courier New"/>
              </a:rPr>
              <a:t> </a:t>
            </a:r>
            <a:r>
              <a:rPr sz="2400" b="1" dirty="0">
                <a:latin typeface="Courier New"/>
                <a:cs typeface="Courier New"/>
              </a:rPr>
              <a:t>class</a:t>
            </a:r>
            <a:r>
              <a:rPr sz="2400" b="1" spc="-25" dirty="0">
                <a:latin typeface="Courier New"/>
                <a:cs typeface="Courier New"/>
              </a:rPr>
              <a:t> </a:t>
            </a:r>
            <a:r>
              <a:rPr sz="2400" spc="-10" dirty="0">
                <a:latin typeface="Courier New"/>
                <a:cs typeface="Courier New"/>
              </a:rPr>
              <a:t>WhileExample</a:t>
            </a:r>
            <a:endParaRPr sz="2400" dirty="0">
              <a:latin typeface="Courier New"/>
              <a:cs typeface="Courier New"/>
            </a:endParaRPr>
          </a:p>
          <a:p>
            <a:pPr marL="12700">
              <a:lnSpc>
                <a:spcPct val="100000"/>
              </a:lnSpc>
              <a:spcBef>
                <a:spcPts val="600"/>
              </a:spcBef>
            </a:pPr>
            <a:r>
              <a:rPr sz="2400" spc="-50" dirty="0">
                <a:latin typeface="Courier New"/>
                <a:cs typeface="Courier New"/>
              </a:rPr>
              <a:t>{</a:t>
            </a:r>
            <a:endParaRPr sz="2400" dirty="0">
              <a:latin typeface="Courier New"/>
              <a:cs typeface="Courier New"/>
            </a:endParaRPr>
          </a:p>
          <a:p>
            <a:pPr marL="927100">
              <a:lnSpc>
                <a:spcPct val="100000"/>
              </a:lnSpc>
              <a:spcBef>
                <a:spcPts val="600"/>
              </a:spcBef>
            </a:pPr>
            <a:r>
              <a:rPr sz="2400" b="1" dirty="0">
                <a:latin typeface="Courier New"/>
                <a:cs typeface="Courier New"/>
              </a:rPr>
              <a:t>public</a:t>
            </a:r>
            <a:r>
              <a:rPr sz="2400" b="1" spc="-65" dirty="0">
                <a:latin typeface="Courier New"/>
                <a:cs typeface="Courier New"/>
              </a:rPr>
              <a:t> </a:t>
            </a:r>
            <a:r>
              <a:rPr sz="2400" b="1" dirty="0">
                <a:latin typeface="Courier New"/>
                <a:cs typeface="Courier New"/>
              </a:rPr>
              <a:t>static</a:t>
            </a:r>
            <a:r>
              <a:rPr sz="2400" b="1" spc="-60" dirty="0">
                <a:latin typeface="Courier New"/>
                <a:cs typeface="Courier New"/>
              </a:rPr>
              <a:t> </a:t>
            </a:r>
            <a:r>
              <a:rPr sz="2400" b="1" dirty="0">
                <a:latin typeface="Courier New"/>
                <a:cs typeface="Courier New"/>
              </a:rPr>
              <a:t>void</a:t>
            </a:r>
            <a:r>
              <a:rPr sz="2400" b="1" spc="-50" dirty="0">
                <a:latin typeface="Courier New"/>
                <a:cs typeface="Courier New"/>
              </a:rPr>
              <a:t> </a:t>
            </a:r>
            <a:r>
              <a:rPr sz="2400" dirty="0">
                <a:latin typeface="Courier New"/>
                <a:cs typeface="Courier New"/>
              </a:rPr>
              <a:t>main(String[]</a:t>
            </a:r>
            <a:r>
              <a:rPr sz="2400" spc="-55" dirty="0">
                <a:latin typeface="Courier New"/>
                <a:cs typeface="Courier New"/>
              </a:rPr>
              <a:t> </a:t>
            </a:r>
            <a:r>
              <a:rPr sz="2400" spc="-20" dirty="0">
                <a:latin typeface="Courier New"/>
                <a:cs typeface="Courier New"/>
              </a:rPr>
              <a:t>args)</a:t>
            </a:r>
            <a:endParaRPr sz="2400" dirty="0">
              <a:latin typeface="Courier New"/>
              <a:cs typeface="Courier New"/>
            </a:endParaRPr>
          </a:p>
        </p:txBody>
      </p:sp>
      <p:sp>
        <p:nvSpPr>
          <p:cNvPr id="4" name="object 4"/>
          <p:cNvSpPr txBox="1"/>
          <p:nvPr/>
        </p:nvSpPr>
        <p:spPr>
          <a:xfrm>
            <a:off x="1298194" y="2313559"/>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5" name="object 5"/>
          <p:cNvSpPr txBox="1">
            <a:spLocks noGrp="1"/>
          </p:cNvSpPr>
          <p:nvPr>
            <p:ph type="body" idx="1"/>
          </p:nvPr>
        </p:nvSpPr>
        <p:spPr>
          <a:xfrm>
            <a:off x="762000" y="2263012"/>
            <a:ext cx="8229600" cy="2984728"/>
          </a:xfrm>
          <a:prstGeom prst="rect">
            <a:avLst/>
          </a:prstGeom>
        </p:spPr>
        <p:txBody>
          <a:bodyPr vert="horz" wrap="square" lIns="0" tIns="88900" rIns="0" bIns="0" rtlCol="0">
            <a:spAutoFit/>
          </a:bodyPr>
          <a:lstStyle/>
          <a:p>
            <a:pPr marL="0" indent="0">
              <a:lnSpc>
                <a:spcPct val="100000"/>
              </a:lnSpc>
              <a:spcBef>
                <a:spcPts val="700"/>
              </a:spcBef>
              <a:buNone/>
            </a:pPr>
            <a:r>
              <a:rPr b="1" dirty="0"/>
              <a:t>int</a:t>
            </a:r>
            <a:r>
              <a:rPr b="1" spc="-25" dirty="0"/>
              <a:t> </a:t>
            </a:r>
            <a:r>
              <a:rPr spc="-20" dirty="0">
                <a:latin typeface="Courier New"/>
                <a:cs typeface="Courier New"/>
              </a:rPr>
              <a:t>i=1;</a:t>
            </a:r>
          </a:p>
          <a:p>
            <a:pPr marL="0" indent="0">
              <a:lnSpc>
                <a:spcPct val="100000"/>
              </a:lnSpc>
              <a:spcBef>
                <a:spcPts val="600"/>
              </a:spcBef>
              <a:buNone/>
            </a:pPr>
            <a:r>
              <a:rPr b="1" spc="-10" dirty="0"/>
              <a:t>while</a:t>
            </a:r>
            <a:r>
              <a:rPr spc="-10" dirty="0">
                <a:latin typeface="Courier New"/>
                <a:cs typeface="Courier New"/>
              </a:rPr>
              <a:t>(i&lt;=10)</a:t>
            </a:r>
          </a:p>
          <a:p>
            <a:pPr marL="0" indent="0">
              <a:lnSpc>
                <a:spcPct val="100000"/>
              </a:lnSpc>
              <a:spcBef>
                <a:spcPts val="600"/>
              </a:spcBef>
              <a:buNone/>
            </a:pPr>
            <a:r>
              <a:rPr spc="-50" dirty="0">
                <a:latin typeface="Courier New"/>
                <a:cs typeface="Courier New"/>
              </a:rPr>
              <a:t>{</a:t>
            </a:r>
          </a:p>
          <a:p>
            <a:pPr marL="584200" marR="5080" indent="0">
              <a:lnSpc>
                <a:spcPct val="120800"/>
              </a:lnSpc>
              <a:buNone/>
            </a:pPr>
            <a:r>
              <a:rPr spc="-10" dirty="0">
                <a:latin typeface="Courier New"/>
                <a:cs typeface="Courier New"/>
              </a:rPr>
              <a:t>System.out.println(i); </a:t>
            </a:r>
            <a:r>
              <a:rPr spc="-20" dirty="0">
                <a:latin typeface="Courier New"/>
                <a:cs typeface="Courier New"/>
              </a:rPr>
              <a:t>i++;</a:t>
            </a:r>
          </a:p>
          <a:p>
            <a:pPr marL="0" indent="0">
              <a:lnSpc>
                <a:spcPct val="100000"/>
              </a:lnSpc>
              <a:spcBef>
                <a:spcPts val="600"/>
              </a:spcBef>
              <a:buNone/>
            </a:pPr>
            <a:r>
              <a:rPr spc="-50" dirty="0">
                <a:latin typeface="Courier New"/>
                <a:cs typeface="Courier New"/>
              </a:rPr>
              <a:t>}</a:t>
            </a:r>
          </a:p>
        </p:txBody>
      </p:sp>
      <p:sp>
        <p:nvSpPr>
          <p:cNvPr id="6" name="object 6"/>
          <p:cNvSpPr txBox="1"/>
          <p:nvPr/>
        </p:nvSpPr>
        <p:spPr>
          <a:xfrm>
            <a:off x="1298194" y="540786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7" name="object 7"/>
          <p:cNvSpPr txBox="1"/>
          <p:nvPr/>
        </p:nvSpPr>
        <p:spPr>
          <a:xfrm>
            <a:off x="383540" y="584982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1853" y="-150280"/>
            <a:ext cx="8102600" cy="874598"/>
          </a:xfrm>
          <a:prstGeom prst="rect">
            <a:avLst/>
          </a:prstGeom>
        </p:spPr>
        <p:txBody>
          <a:bodyPr vert="horz" wrap="square" lIns="0" tIns="12700" rIns="0" bIns="0" rtlCol="0">
            <a:spAutoFit/>
          </a:bodyPr>
          <a:lstStyle/>
          <a:p>
            <a:pPr marL="12700">
              <a:spcBef>
                <a:spcPts val="100"/>
              </a:spcBef>
            </a:pPr>
            <a:r>
              <a:rPr sz="3600" dirty="0">
                <a:solidFill>
                  <a:srgbClr val="696363"/>
                </a:solidFill>
                <a:latin typeface="Times New Roman" panose="02020603050405020304" pitchFamily="18" charset="0"/>
                <a:cs typeface="Times New Roman" panose="02020603050405020304" pitchFamily="18" charset="0"/>
              </a:rPr>
              <a:t>Looping</a:t>
            </a:r>
            <a:r>
              <a:rPr sz="3600" spc="-35" dirty="0">
                <a:solidFill>
                  <a:srgbClr val="696363"/>
                </a:solidFill>
                <a:latin typeface="Times New Roman" panose="02020603050405020304" pitchFamily="18" charset="0"/>
                <a:cs typeface="Times New Roman" panose="02020603050405020304" pitchFamily="18" charset="0"/>
              </a:rPr>
              <a:t> </a:t>
            </a:r>
            <a:r>
              <a:rPr sz="3600" spc="-10" dirty="0">
                <a:solidFill>
                  <a:srgbClr val="696363"/>
                </a:solidFill>
                <a:latin typeface="Times New Roman" panose="02020603050405020304" pitchFamily="18" charset="0"/>
                <a:cs typeface="Times New Roman" panose="02020603050405020304" pitchFamily="18" charset="0"/>
              </a:rPr>
              <a:t>Statements–</a:t>
            </a:r>
            <a:r>
              <a:rPr sz="2400" spc="-10" dirty="0">
                <a:latin typeface="Times New Roman" panose="02020603050405020304" pitchFamily="18" charset="0"/>
                <a:cs typeface="Times New Roman" panose="02020603050405020304" pitchFamily="18" charset="0"/>
              </a:rPr>
              <a:t>do-</a:t>
            </a:r>
            <a:r>
              <a:rPr sz="2400" dirty="0">
                <a:latin typeface="Times New Roman" panose="02020603050405020304" pitchFamily="18" charset="0"/>
                <a:cs typeface="Times New Roman" panose="02020603050405020304" pitchFamily="18" charset="0"/>
              </a:rPr>
              <a:t>while</a:t>
            </a:r>
            <a:r>
              <a:rPr sz="2400" spc="-90" dirty="0">
                <a:latin typeface="Times New Roman" panose="02020603050405020304" pitchFamily="18" charset="0"/>
                <a:cs typeface="Times New Roman" panose="02020603050405020304" pitchFamily="18" charset="0"/>
              </a:rPr>
              <a:t> </a:t>
            </a:r>
            <a:r>
              <a:rPr sz="2400" spc="-10" dirty="0">
                <a:latin typeface="Times New Roman" panose="02020603050405020304" pitchFamily="18" charset="0"/>
                <a:cs typeface="Times New Roman" panose="02020603050405020304" pitchFamily="18" charset="0"/>
              </a:rPr>
              <a:t>loop</a:t>
            </a:r>
            <a:r>
              <a:rPr sz="3600" spc="-10" dirty="0">
                <a:latin typeface="Times New Roman" panose="02020603050405020304" pitchFamily="18" charset="0"/>
                <a:cs typeface="Times New Roman" panose="02020603050405020304" pitchFamily="18" charset="0"/>
              </a:rPr>
              <a:t>–</a:t>
            </a:r>
            <a:r>
              <a:rPr sz="1800" spc="-10" dirty="0">
                <a:latin typeface="Times New Roman" panose="02020603050405020304" pitchFamily="18" charset="0"/>
                <a:cs typeface="Times New Roman" panose="02020603050405020304" pitchFamily="18" charset="0"/>
              </a:rPr>
              <a:t>Exit</a:t>
            </a:r>
            <a:r>
              <a:rPr lang="en-US" sz="1800" spc="-10" dirty="0">
                <a:latin typeface="Times New Roman" panose="02020603050405020304" pitchFamily="18" charset="0"/>
                <a:cs typeface="Times New Roman" panose="02020603050405020304" pitchFamily="18" charset="0"/>
              </a:rPr>
              <a:t> </a:t>
            </a:r>
            <a:r>
              <a:rPr lang="en-US" sz="1800" b="1" spc="-10" dirty="0">
                <a:solidFill>
                  <a:srgbClr val="FF0000"/>
                </a:solidFill>
                <a:latin typeface="Arial"/>
                <a:cs typeface="Arial"/>
              </a:rPr>
              <a:t>controlled</a:t>
            </a:r>
            <a:br>
              <a:rPr lang="en-US" sz="1800" dirty="0">
                <a:latin typeface="Arial"/>
                <a:cs typeface="Arial"/>
              </a:rPr>
            </a:br>
            <a:endParaRPr sz="1800" dirty="0">
              <a:latin typeface="Times New Roman" panose="02020603050405020304" pitchFamily="18" charset="0"/>
              <a:cs typeface="Times New Roman" panose="02020603050405020304" pitchFamily="18" charset="0"/>
            </a:endParaRPr>
          </a:p>
        </p:txBody>
      </p:sp>
      <p:sp>
        <p:nvSpPr>
          <p:cNvPr id="3" name="object 3"/>
          <p:cNvSpPr txBox="1"/>
          <p:nvPr/>
        </p:nvSpPr>
        <p:spPr>
          <a:xfrm>
            <a:off x="533400" y="533400"/>
            <a:ext cx="8308747" cy="5550237"/>
          </a:xfrm>
          <a:prstGeom prst="rect">
            <a:avLst/>
          </a:prstGeom>
        </p:spPr>
        <p:txBody>
          <a:bodyPr vert="horz" wrap="square" lIns="0" tIns="12700" rIns="0" bIns="0" rtlCol="0">
            <a:spAutoFit/>
          </a:bodyPr>
          <a:lstStyle/>
          <a:p>
            <a:pPr marL="367030" marR="6985" indent="-273050" algn="just">
              <a:spcBef>
                <a:spcPts val="500"/>
              </a:spcBef>
              <a:buClr>
                <a:srgbClr val="D24717"/>
              </a:buClr>
              <a:buSzPct val="84615"/>
              <a:buFont typeface="Segoe UI Symbol"/>
              <a:buChar char="⚫"/>
              <a:tabLst>
                <a:tab pos="368300" algn="l"/>
              </a:tabLst>
            </a:pPr>
            <a:r>
              <a:rPr sz="2600" dirty="0">
                <a:latin typeface="Times New Roman" panose="02020603050405020304" pitchFamily="18" charset="0"/>
                <a:cs typeface="Times New Roman" panose="02020603050405020304" pitchFamily="18" charset="0"/>
              </a:rPr>
              <a:t>The</a:t>
            </a:r>
            <a:r>
              <a:rPr sz="2600" spc="29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Java</a:t>
            </a:r>
            <a:r>
              <a:rPr sz="2600" spc="295" dirty="0">
                <a:latin typeface="Times New Roman" panose="02020603050405020304" pitchFamily="18" charset="0"/>
                <a:cs typeface="Times New Roman" panose="02020603050405020304" pitchFamily="18" charset="0"/>
              </a:rPr>
              <a:t> </a:t>
            </a:r>
            <a:r>
              <a:rPr sz="2600" i="1" spc="-20" dirty="0">
                <a:latin typeface="Times New Roman" panose="02020603050405020304" pitchFamily="18" charset="0"/>
                <a:cs typeface="Times New Roman" panose="02020603050405020304" pitchFamily="18" charset="0"/>
              </a:rPr>
              <a:t>do-</a:t>
            </a:r>
            <a:r>
              <a:rPr sz="2600" i="1" dirty="0">
                <a:latin typeface="Times New Roman" panose="02020603050405020304" pitchFamily="18" charset="0"/>
                <a:cs typeface="Times New Roman" panose="02020603050405020304" pitchFamily="18" charset="0"/>
              </a:rPr>
              <a:t>while</a:t>
            </a:r>
            <a:r>
              <a:rPr sz="2600" i="1" spc="295" dirty="0">
                <a:latin typeface="Times New Roman" panose="02020603050405020304" pitchFamily="18" charset="0"/>
                <a:cs typeface="Times New Roman" panose="02020603050405020304" pitchFamily="18" charset="0"/>
              </a:rPr>
              <a:t> </a:t>
            </a:r>
            <a:r>
              <a:rPr sz="2600" i="1" dirty="0">
                <a:latin typeface="Times New Roman" panose="02020603050405020304" pitchFamily="18" charset="0"/>
                <a:cs typeface="Times New Roman" panose="02020603050405020304" pitchFamily="18" charset="0"/>
              </a:rPr>
              <a:t>loop</a:t>
            </a:r>
            <a:r>
              <a:rPr sz="2600" i="1"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used</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to</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iterate</a:t>
            </a:r>
            <a:r>
              <a:rPr sz="2600" spc="29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part</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of</a:t>
            </a:r>
            <a:r>
              <a:rPr sz="2600" spc="290" dirty="0">
                <a:latin typeface="Times New Roman" panose="02020603050405020304" pitchFamily="18" charset="0"/>
                <a:cs typeface="Times New Roman" panose="02020603050405020304" pitchFamily="18" charset="0"/>
              </a:rPr>
              <a:t> </a:t>
            </a:r>
            <a:r>
              <a:rPr sz="2600" spc="-25" dirty="0">
                <a:latin typeface="Times New Roman" panose="02020603050405020304" pitchFamily="18" charset="0"/>
                <a:cs typeface="Times New Roman" panose="02020603050405020304" pitchFamily="18" charset="0"/>
              </a:rPr>
              <a:t>the 	</a:t>
            </a:r>
            <a:r>
              <a:rPr sz="2600" dirty="0">
                <a:latin typeface="Times New Roman" panose="02020603050405020304" pitchFamily="18" charset="0"/>
                <a:cs typeface="Times New Roman" panose="02020603050405020304" pitchFamily="18" charset="0"/>
              </a:rPr>
              <a:t>program</a:t>
            </a:r>
            <a:r>
              <a:rPr sz="2600" spc="-5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several</a:t>
            </a:r>
            <a:r>
              <a:rPr sz="2600" spc="-55" dirty="0">
                <a:latin typeface="Times New Roman" panose="02020603050405020304" pitchFamily="18" charset="0"/>
                <a:cs typeface="Times New Roman" panose="02020603050405020304" pitchFamily="18" charset="0"/>
              </a:rPr>
              <a:t> </a:t>
            </a:r>
            <a:r>
              <a:rPr sz="2600" spc="-10" dirty="0">
                <a:latin typeface="Times New Roman" panose="02020603050405020304" pitchFamily="18" charset="0"/>
                <a:cs typeface="Times New Roman" panose="02020603050405020304" pitchFamily="18" charset="0"/>
              </a:rPr>
              <a:t>times.</a:t>
            </a:r>
            <a:endParaRPr sz="2600" dirty="0">
              <a:latin typeface="Times New Roman" panose="02020603050405020304" pitchFamily="18" charset="0"/>
              <a:cs typeface="Times New Roman" panose="02020603050405020304" pitchFamily="18" charset="0"/>
            </a:endParaRPr>
          </a:p>
          <a:p>
            <a:pPr marL="367030" marR="5080" indent="-273050" algn="just">
              <a:spcBef>
                <a:spcPts val="600"/>
              </a:spcBef>
              <a:buClr>
                <a:srgbClr val="D24717"/>
              </a:buClr>
              <a:buSzPct val="84615"/>
              <a:buFont typeface="Segoe UI Symbol"/>
              <a:buChar char="⚫"/>
              <a:tabLst>
                <a:tab pos="368300" algn="l"/>
              </a:tabLst>
            </a:pPr>
            <a:r>
              <a:rPr sz="2600" dirty="0">
                <a:latin typeface="Times New Roman" panose="02020603050405020304" pitchFamily="18" charset="0"/>
                <a:cs typeface="Times New Roman" panose="02020603050405020304" pitchFamily="18" charset="0"/>
              </a:rPr>
              <a:t>If</a:t>
            </a:r>
            <a:r>
              <a:rPr sz="2600" spc="2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the</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number</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of</a:t>
            </a:r>
            <a:r>
              <a:rPr sz="2600" spc="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iteration</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not</a:t>
            </a:r>
            <a:r>
              <a:rPr sz="2600" spc="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fixed</a:t>
            </a:r>
            <a:r>
              <a:rPr sz="2600" spc="4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and</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you</a:t>
            </a:r>
            <a:r>
              <a:rPr sz="2600" spc="4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must</a:t>
            </a:r>
            <a:r>
              <a:rPr sz="2600" spc="20" dirty="0">
                <a:latin typeface="Times New Roman" panose="02020603050405020304" pitchFamily="18" charset="0"/>
                <a:cs typeface="Times New Roman" panose="02020603050405020304" pitchFamily="18" charset="0"/>
              </a:rPr>
              <a:t> </a:t>
            </a:r>
            <a:r>
              <a:rPr sz="2600" spc="-20" dirty="0">
                <a:latin typeface="Times New Roman" panose="02020603050405020304" pitchFamily="18" charset="0"/>
                <a:cs typeface="Times New Roman" panose="02020603050405020304" pitchFamily="18" charset="0"/>
              </a:rPr>
              <a:t>have 	</a:t>
            </a:r>
            <a:r>
              <a:rPr sz="2600" dirty="0">
                <a:latin typeface="Times New Roman" panose="02020603050405020304" pitchFamily="18" charset="0"/>
                <a:cs typeface="Times New Roman" panose="02020603050405020304" pitchFamily="18" charset="0"/>
              </a:rPr>
              <a:t>to</a:t>
            </a:r>
            <a:r>
              <a:rPr sz="2600" spc="1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execute</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the</a:t>
            </a:r>
            <a:r>
              <a:rPr sz="2600" spc="1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loop</a:t>
            </a:r>
            <a:r>
              <a:rPr sz="2600" spc="1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at</a:t>
            </a:r>
            <a:r>
              <a:rPr sz="2600" spc="12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least</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once,</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it</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1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recommended</a:t>
            </a:r>
            <a:r>
              <a:rPr sz="2600" spc="140" dirty="0">
                <a:latin typeface="Times New Roman" panose="02020603050405020304" pitchFamily="18" charset="0"/>
                <a:cs typeface="Times New Roman" panose="02020603050405020304" pitchFamily="18" charset="0"/>
              </a:rPr>
              <a:t> </a:t>
            </a:r>
            <a:r>
              <a:rPr sz="2600" spc="-25" dirty="0">
                <a:latin typeface="Times New Roman" panose="02020603050405020304" pitchFamily="18" charset="0"/>
                <a:cs typeface="Times New Roman" panose="02020603050405020304" pitchFamily="18" charset="0"/>
              </a:rPr>
              <a:t>to 	</a:t>
            </a:r>
            <a:r>
              <a:rPr sz="2600" dirty="0">
                <a:latin typeface="Times New Roman" panose="02020603050405020304" pitchFamily="18" charset="0"/>
                <a:cs typeface="Times New Roman" panose="02020603050405020304" pitchFamily="18" charset="0"/>
              </a:rPr>
              <a:t>use</a:t>
            </a:r>
            <a:r>
              <a:rPr sz="2600" spc="-10" dirty="0">
                <a:latin typeface="Times New Roman" panose="02020603050405020304" pitchFamily="18" charset="0"/>
                <a:cs typeface="Times New Roman" panose="02020603050405020304" pitchFamily="18" charset="0"/>
              </a:rPr>
              <a:t> </a:t>
            </a:r>
            <a:r>
              <a:rPr sz="2600" spc="-20" dirty="0">
                <a:latin typeface="Times New Roman" panose="02020603050405020304" pitchFamily="18" charset="0"/>
                <a:cs typeface="Times New Roman" panose="02020603050405020304" pitchFamily="18" charset="0"/>
              </a:rPr>
              <a:t>do-</a:t>
            </a:r>
            <a:r>
              <a:rPr sz="2600" dirty="0">
                <a:latin typeface="Times New Roman" panose="02020603050405020304" pitchFamily="18" charset="0"/>
                <a:cs typeface="Times New Roman" panose="02020603050405020304" pitchFamily="18" charset="0"/>
              </a:rPr>
              <a:t>while</a:t>
            </a:r>
            <a:r>
              <a:rPr sz="2600" spc="-15" dirty="0">
                <a:latin typeface="Times New Roman" panose="02020603050405020304" pitchFamily="18" charset="0"/>
                <a:cs typeface="Times New Roman" panose="02020603050405020304" pitchFamily="18" charset="0"/>
              </a:rPr>
              <a:t> </a:t>
            </a:r>
            <a:r>
              <a:rPr sz="2600" spc="-10" dirty="0">
                <a:latin typeface="Times New Roman" panose="02020603050405020304" pitchFamily="18" charset="0"/>
                <a:cs typeface="Times New Roman" panose="02020603050405020304" pitchFamily="18" charset="0"/>
              </a:rPr>
              <a:t>loop.</a:t>
            </a:r>
            <a:endParaRPr sz="2600" dirty="0">
              <a:latin typeface="Times New Roman" panose="02020603050405020304" pitchFamily="18" charset="0"/>
              <a:cs typeface="Times New Roman" panose="02020603050405020304" pitchFamily="18" charset="0"/>
            </a:endParaRPr>
          </a:p>
          <a:p>
            <a:pPr marL="367030" indent="-273050" algn="just">
              <a:spcBef>
                <a:spcPts val="2165"/>
              </a:spcBef>
              <a:buClr>
                <a:srgbClr val="D24717"/>
              </a:buClr>
              <a:buSzPct val="84615"/>
              <a:buFont typeface="Segoe UI Symbol"/>
              <a:buChar char="⚫"/>
              <a:tabLst>
                <a:tab pos="367030" algn="l"/>
              </a:tabLst>
            </a:pPr>
            <a:r>
              <a:rPr sz="2600" dirty="0">
                <a:latin typeface="Times New Roman" panose="02020603050405020304" pitchFamily="18" charset="0"/>
                <a:cs typeface="Times New Roman" panose="02020603050405020304" pitchFamily="18" charset="0"/>
              </a:rPr>
              <a:t>The</a:t>
            </a:r>
            <a:r>
              <a:rPr sz="2600" spc="16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Java</a:t>
            </a:r>
            <a:r>
              <a:rPr sz="2600" spc="160" dirty="0">
                <a:latin typeface="Times New Roman" panose="02020603050405020304" pitchFamily="18" charset="0"/>
                <a:cs typeface="Times New Roman" panose="02020603050405020304" pitchFamily="18" charset="0"/>
              </a:rPr>
              <a:t>  </a:t>
            </a:r>
            <a:r>
              <a:rPr sz="2600" i="1" spc="-20" dirty="0">
                <a:latin typeface="Times New Roman" panose="02020603050405020304" pitchFamily="18" charset="0"/>
                <a:cs typeface="Times New Roman" panose="02020603050405020304" pitchFamily="18" charset="0"/>
              </a:rPr>
              <a:t>do-</a:t>
            </a:r>
            <a:r>
              <a:rPr sz="2600" i="1" dirty="0">
                <a:latin typeface="Times New Roman" panose="02020603050405020304" pitchFamily="18" charset="0"/>
                <a:cs typeface="Times New Roman" panose="02020603050405020304" pitchFamily="18" charset="0"/>
              </a:rPr>
              <a:t>while</a:t>
            </a:r>
            <a:r>
              <a:rPr sz="2600" i="1" spc="160" dirty="0">
                <a:latin typeface="Times New Roman" panose="02020603050405020304" pitchFamily="18" charset="0"/>
                <a:cs typeface="Times New Roman" panose="02020603050405020304" pitchFamily="18" charset="0"/>
              </a:rPr>
              <a:t>  </a:t>
            </a:r>
            <a:r>
              <a:rPr sz="2600" i="1" dirty="0">
                <a:latin typeface="Times New Roman" panose="02020603050405020304" pitchFamily="18" charset="0"/>
                <a:cs typeface="Times New Roman" panose="02020603050405020304" pitchFamily="18" charset="0"/>
              </a:rPr>
              <a:t>loop</a:t>
            </a:r>
            <a:r>
              <a:rPr sz="2600" i="1" spc="17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16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executed</a:t>
            </a:r>
            <a:r>
              <a:rPr sz="2600" spc="16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at</a:t>
            </a:r>
            <a:r>
              <a:rPr sz="2600" spc="16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least</a:t>
            </a:r>
            <a:r>
              <a:rPr sz="2600" spc="165" dirty="0">
                <a:latin typeface="Times New Roman" panose="02020603050405020304" pitchFamily="18" charset="0"/>
                <a:cs typeface="Times New Roman" panose="02020603050405020304" pitchFamily="18" charset="0"/>
              </a:rPr>
              <a:t>  </a:t>
            </a:r>
            <a:r>
              <a:rPr sz="2600" spc="-20" dirty="0">
                <a:latin typeface="Times New Roman" panose="02020603050405020304" pitchFamily="18" charset="0"/>
                <a:cs typeface="Times New Roman" panose="02020603050405020304" pitchFamily="18" charset="0"/>
              </a:rPr>
              <a:t>once</a:t>
            </a:r>
            <a:endParaRPr lang="en-US" sz="2600" spc="-20" dirty="0">
              <a:latin typeface="Times New Roman" panose="02020603050405020304" pitchFamily="18" charset="0"/>
              <a:cs typeface="Times New Roman" panose="02020603050405020304" pitchFamily="18" charset="0"/>
            </a:endParaRPr>
          </a:p>
          <a:p>
            <a:pPr marL="12700" marR="5080">
              <a:spcBef>
                <a:spcPts val="95"/>
              </a:spcBef>
              <a:tabLst>
                <a:tab pos="1483360" algn="l"/>
              </a:tabLst>
            </a:pPr>
            <a:r>
              <a:rPr lang="en-US" sz="2600" spc="-10" dirty="0">
                <a:latin typeface="Times New Roman" panose="02020603050405020304" pitchFamily="18" charset="0"/>
                <a:cs typeface="Times New Roman" panose="02020603050405020304" pitchFamily="18" charset="0"/>
              </a:rPr>
              <a:t>because</a:t>
            </a:r>
            <a:r>
              <a:rPr lang="en-US" sz="2600" dirty="0">
                <a:latin typeface="Times New Roman" panose="02020603050405020304" pitchFamily="18" charset="0"/>
                <a:cs typeface="Times New Roman" panose="02020603050405020304" pitchFamily="18" charset="0"/>
              </a:rPr>
              <a:t>	</a:t>
            </a:r>
            <a:r>
              <a:rPr lang="en-US" sz="2600" spc="-10" dirty="0" err="1">
                <a:latin typeface="Times New Roman" panose="02020603050405020304" pitchFamily="18" charset="0"/>
                <a:cs typeface="Times New Roman" panose="02020603050405020304" pitchFamily="18" charset="0"/>
              </a:rPr>
              <a:t>condition</a:t>
            </a:r>
            <a:r>
              <a:rPr lang="en-US" sz="2600" spc="-25" dirty="0" err="1">
                <a:latin typeface="Times New Roman" panose="02020603050405020304" pitchFamily="18" charset="0"/>
                <a:cs typeface="Times New Roman" panose="02020603050405020304" pitchFamily="18" charset="0"/>
              </a:rPr>
              <a:t>is</a:t>
            </a:r>
            <a:r>
              <a:rPr lang="en-US" sz="260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checked</a:t>
            </a:r>
            <a:r>
              <a:rPr lang="en-US" sz="260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after</a:t>
            </a:r>
            <a:r>
              <a:rPr lang="en-US" sz="2600" dirty="0">
                <a:latin typeface="Times New Roman" panose="02020603050405020304" pitchFamily="18" charset="0"/>
                <a:cs typeface="Times New Roman" panose="02020603050405020304" pitchFamily="18" charset="0"/>
              </a:rPr>
              <a:t>	</a:t>
            </a:r>
            <a:r>
              <a:rPr lang="en-US" sz="2600" spc="-20" dirty="0">
                <a:latin typeface="Times New Roman" panose="02020603050405020304" pitchFamily="18" charset="0"/>
                <a:cs typeface="Times New Roman" panose="02020603050405020304" pitchFamily="18" charset="0"/>
              </a:rPr>
              <a:t>loop</a:t>
            </a:r>
            <a:r>
              <a:rPr lang="en-US" sz="260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body. </a:t>
            </a:r>
            <a:r>
              <a:rPr lang="en-US" sz="2600" spc="-25" dirty="0">
                <a:latin typeface="Times New Roman" panose="02020603050405020304" pitchFamily="18" charset="0"/>
                <a:cs typeface="Times New Roman" panose="02020603050405020304" pitchFamily="18" charset="0"/>
              </a:rPr>
              <a:t>The </a:t>
            </a:r>
            <a:r>
              <a:rPr lang="en-US" sz="2600" dirty="0">
                <a:latin typeface="Times New Roman" panose="02020603050405020304" pitchFamily="18" charset="0"/>
                <a:cs typeface="Times New Roman" panose="02020603050405020304" pitchFamily="18" charset="0"/>
              </a:rPr>
              <a:t>syntax</a:t>
            </a:r>
            <a:r>
              <a:rPr lang="en-US" sz="2600" spc="-35" dirty="0">
                <a:latin typeface="Times New Roman" panose="02020603050405020304" pitchFamily="18" charset="0"/>
                <a:cs typeface="Times New Roman" panose="02020603050405020304" pitchFamily="18" charset="0"/>
              </a:rPr>
              <a:t> </a:t>
            </a:r>
            <a:r>
              <a:rPr lang="en-US" sz="2600" dirty="0">
                <a:latin typeface="Times New Roman" panose="02020603050405020304" pitchFamily="18" charset="0"/>
                <a:cs typeface="Times New Roman" panose="02020603050405020304" pitchFamily="18" charset="0"/>
              </a:rPr>
              <a:t>as</a:t>
            </a:r>
            <a:r>
              <a:rPr lang="en-US" sz="2600" spc="-2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follows:</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do </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    { </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       statement(s) </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    } while (expression); </a:t>
            </a:r>
            <a:endParaRPr lang="en-US" sz="2800" b="1" dirty="0">
              <a:latin typeface="Times New Roman" panose="02020603050405020304" pitchFamily="18" charset="0"/>
              <a:cs typeface="Times New Roman" panose="02020603050405020304" pitchFamily="18" charset="0"/>
            </a:endParaRPr>
          </a:p>
          <a:p>
            <a:pPr marL="367030" indent="-273050" algn="just">
              <a:spcBef>
                <a:spcPts val="2165"/>
              </a:spcBef>
              <a:buClr>
                <a:srgbClr val="D24717"/>
              </a:buClr>
              <a:buSzPct val="84615"/>
              <a:buFont typeface="Segoe UI Symbol"/>
              <a:buChar char="⚫"/>
              <a:tabLst>
                <a:tab pos="367030" algn="l"/>
              </a:tabLst>
            </a:pPr>
            <a:endParaRPr lang="en-US" sz="2600" dirty="0">
              <a:latin typeface="Times New Roman" panose="02020603050405020304" pitchFamily="18" charset="0"/>
              <a:cs typeface="Times New Roman" panose="02020603050405020304" pitchFamily="18" charset="0"/>
            </a:endParaRPr>
          </a:p>
        </p:txBody>
      </p:sp>
      <p:sp>
        <p:nvSpPr>
          <p:cNvPr id="5" name="object 5"/>
          <p:cNvSpPr txBox="1"/>
          <p:nvPr/>
        </p:nvSpPr>
        <p:spPr>
          <a:xfrm>
            <a:off x="2743200" y="5180694"/>
            <a:ext cx="2820670" cy="477695"/>
          </a:xfrm>
          <a:prstGeom prst="rect">
            <a:avLst/>
          </a:prstGeom>
        </p:spPr>
        <p:txBody>
          <a:bodyPr vert="horz" wrap="square" lIns="0" tIns="12065" rIns="0" bIns="0" rtlCol="0">
            <a:spAutoFit/>
          </a:bodyPr>
          <a:lstStyle/>
          <a:p>
            <a:pPr marL="12700" marR="5080">
              <a:lnSpc>
                <a:spcPct val="150100"/>
              </a:lnSpc>
              <a:spcBef>
                <a:spcPts val="95"/>
              </a:spcBef>
              <a:tabLst>
                <a:tab pos="1483360" algn="l"/>
              </a:tabLst>
            </a:pPr>
            <a:endParaRPr lang="en-US" sz="2200" dirty="0">
              <a:latin typeface="Courier New"/>
              <a:cs typeface="Courier New"/>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83540" y="788923"/>
            <a:ext cx="7879080" cy="4398640"/>
          </a:xfrm>
          <a:prstGeom prst="rect">
            <a:avLst/>
          </a:prstGeom>
        </p:spPr>
        <p:txBody>
          <a:bodyPr vert="horz" wrap="square" lIns="0" tIns="88900" rIns="0" bIns="0" rtlCol="0">
            <a:spAutoFit/>
          </a:bodyPr>
          <a:lstStyle/>
          <a:p>
            <a:r>
              <a:rPr lang="en-US" sz="2800" b="1" dirty="0">
                <a:latin typeface="Times New Roman" panose="02020603050405020304" pitchFamily="18" charset="0"/>
                <a:cs typeface="Times New Roman" panose="02020603050405020304" pitchFamily="18" charset="0"/>
              </a:rPr>
              <a:t>package</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oppsJavaProg</a:t>
            </a:r>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class</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DoWhileExample</a:t>
            </a:r>
            <a:r>
              <a:rPr lang="en-US" sz="2800" dirty="0">
                <a:latin typeface="Times New Roman" panose="02020603050405020304" pitchFamily="18" charset="0"/>
                <a:cs typeface="Times New Roman" panose="02020603050405020304" pitchFamily="18" charset="0"/>
              </a:rPr>
              <a:t> {</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static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void</a:t>
            </a:r>
            <a:r>
              <a:rPr lang="en-US" sz="2800" dirty="0">
                <a:latin typeface="Times New Roman" panose="02020603050405020304" pitchFamily="18" charset="0"/>
                <a:cs typeface="Times New Roman" panose="02020603050405020304" pitchFamily="18" charset="0"/>
              </a:rPr>
              <a:t> main(String[] </a:t>
            </a:r>
            <a:r>
              <a:rPr lang="en-US" sz="2800" dirty="0" err="1">
                <a:latin typeface="Times New Roman" panose="02020603050405020304" pitchFamily="18" charset="0"/>
                <a:cs typeface="Times New Roman" panose="02020603050405020304" pitchFamily="18" charset="0"/>
              </a:rPr>
              <a:t>args</a:t>
            </a:r>
            <a:r>
              <a:rPr lang="en-US" sz="2800" dirty="0">
                <a:latin typeface="Times New Roman" panose="02020603050405020304" pitchFamily="18" charset="0"/>
                <a:cs typeface="Times New Roman" panose="02020603050405020304" pitchFamily="18" charset="0"/>
              </a:rPr>
              <a:t>) {</a:t>
            </a:r>
          </a:p>
          <a:p>
            <a:r>
              <a:rPr lang="en-US" sz="2800" b="1" dirty="0">
                <a:latin typeface="Times New Roman" panose="02020603050405020304" pitchFamily="18" charset="0"/>
                <a:cs typeface="Times New Roman" panose="02020603050405020304" pitchFamily="18" charset="0"/>
              </a:rPr>
              <a:t>int</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=1;</a:t>
            </a:r>
          </a:p>
          <a:p>
            <a:r>
              <a:rPr lang="en-US" sz="2800" b="1" dirty="0">
                <a:latin typeface="Times New Roman" panose="02020603050405020304" pitchFamily="18" charset="0"/>
                <a:cs typeface="Times New Roman" panose="02020603050405020304" pitchFamily="18" charset="0"/>
              </a:rPr>
              <a:t>do</a:t>
            </a:r>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a:t>
            </a:r>
          </a:p>
          <a:p>
            <a:r>
              <a:rPr lang="en-US" sz="2800" dirty="0" err="1">
                <a:latin typeface="Times New Roman" panose="02020603050405020304" pitchFamily="18" charset="0"/>
                <a:cs typeface="Times New Roman" panose="02020603050405020304" pitchFamily="18" charset="0"/>
              </a:rPr>
              <a:t>System.</a:t>
            </a:r>
            <a:r>
              <a:rPr lang="en-US" sz="2800" b="1" i="1" dirty="0" err="1">
                <a:latin typeface="Times New Roman" panose="02020603050405020304" pitchFamily="18" charset="0"/>
                <a:cs typeface="Times New Roman" panose="02020603050405020304" pitchFamily="18" charset="0"/>
              </a:rPr>
              <a:t>out</a:t>
            </a:r>
            <a:r>
              <a:rPr lang="en-US" sz="2800" dirty="0" err="1">
                <a:latin typeface="Times New Roman" panose="02020603050405020304" pitchFamily="18" charset="0"/>
                <a:cs typeface="Times New Roman" panose="02020603050405020304" pitchFamily="18" charset="0"/>
              </a:rPr>
              <a:t>.println</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r>
              <a:rPr lang="en-US" sz="2800" b="1" dirty="0">
                <a:latin typeface="Times New Roman" panose="02020603050405020304" pitchFamily="18" charset="0"/>
                <a:cs typeface="Times New Roman" panose="02020603050405020304" pitchFamily="18" charset="0"/>
              </a:rPr>
              <a:t>while</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&lt;=15);</a:t>
            </a:r>
          </a:p>
          <a:p>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p:txBody>
      </p:sp>
      <p:sp>
        <p:nvSpPr>
          <p:cNvPr id="4" name="object 4"/>
          <p:cNvSpPr txBox="1"/>
          <p:nvPr/>
        </p:nvSpPr>
        <p:spPr>
          <a:xfrm>
            <a:off x="1298194" y="2191258"/>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526B3C-2DF2-F885-F93D-9AE131DC6766}"/>
              </a:ext>
            </a:extLst>
          </p:cNvPr>
          <p:cNvSpPr>
            <a:spLocks noGrp="1"/>
          </p:cNvSpPr>
          <p:nvPr>
            <p:ph idx="1"/>
          </p:nvPr>
        </p:nvSpPr>
        <p:spPr>
          <a:xfrm>
            <a:off x="457200" y="228600"/>
            <a:ext cx="8229600" cy="5897563"/>
          </a:xfrm>
        </p:spPr>
        <p:txBody>
          <a:bodyPr>
            <a:normAutofit fontScale="70000" lnSpcReduction="20000"/>
          </a:bodyPr>
          <a:lstStyle/>
          <a:p>
            <a:pPr marL="0" indent="0" algn="ctr">
              <a:buNone/>
            </a:pPr>
            <a:r>
              <a:rPr lang="en-US" b="1" dirty="0">
                <a:solidFill>
                  <a:srgbClr val="FF0000"/>
                </a:solidFill>
              </a:rPr>
              <a:t>Nested Loops </a:t>
            </a:r>
            <a:endParaRPr lang="en-US" dirty="0">
              <a:solidFill>
                <a:srgbClr val="FF0000"/>
              </a:solidFill>
            </a:endParaRPr>
          </a:p>
          <a:p>
            <a:pPr marL="0" indent="0">
              <a:buNone/>
            </a:pPr>
            <a:r>
              <a:rPr lang="en-US" dirty="0"/>
              <a:t>One loop may be inside another. </a:t>
            </a:r>
          </a:p>
          <a:p>
            <a:pPr marL="0" indent="0">
              <a:buNone/>
            </a:pPr>
            <a:r>
              <a:rPr lang="en-US" b="1" dirty="0"/>
              <a:t>package</a:t>
            </a:r>
            <a:r>
              <a:rPr lang="en-US" dirty="0"/>
              <a:t> </a:t>
            </a:r>
            <a:r>
              <a:rPr lang="en-US" dirty="0" err="1"/>
              <a:t>oppsJavaProg</a:t>
            </a:r>
            <a:r>
              <a:rPr lang="en-US" dirty="0"/>
              <a:t>;</a:t>
            </a:r>
          </a:p>
          <a:p>
            <a:pPr marL="0" indent="0">
              <a:buNone/>
            </a:pPr>
            <a:r>
              <a:rPr lang="en-US" b="1" dirty="0"/>
              <a:t>public</a:t>
            </a:r>
            <a:r>
              <a:rPr lang="en-US" dirty="0"/>
              <a:t> </a:t>
            </a:r>
            <a:r>
              <a:rPr lang="en-US" b="1" dirty="0"/>
              <a:t>class</a:t>
            </a:r>
            <a:r>
              <a:rPr lang="en-US" dirty="0"/>
              <a:t> Nested{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a:t>{ </a:t>
            </a:r>
          </a:p>
          <a:p>
            <a:pPr marL="0" indent="0">
              <a:buNone/>
            </a:pPr>
            <a:r>
              <a:rPr lang="en-US" b="1" dirty="0"/>
              <a:t>int</a:t>
            </a:r>
            <a:r>
              <a:rPr lang="en-US" dirty="0"/>
              <a:t> </a:t>
            </a:r>
            <a:r>
              <a:rPr lang="en-US" dirty="0" err="1"/>
              <a:t>i</a:t>
            </a:r>
            <a:r>
              <a:rPr lang="en-US" dirty="0"/>
              <a:t>, j; </a:t>
            </a:r>
          </a:p>
          <a:p>
            <a:pPr marL="0" indent="0">
              <a:buNone/>
            </a:pPr>
            <a:r>
              <a:rPr lang="en-US" b="1" dirty="0"/>
              <a:t>for</a:t>
            </a:r>
            <a:r>
              <a:rPr lang="en-US" dirty="0"/>
              <a:t>(</a:t>
            </a:r>
            <a:r>
              <a:rPr lang="en-US" dirty="0" err="1"/>
              <a:t>i</a:t>
            </a:r>
            <a:r>
              <a:rPr lang="en-US" dirty="0"/>
              <a:t>=1; </a:t>
            </a:r>
            <a:r>
              <a:rPr lang="en-US" dirty="0" err="1"/>
              <a:t>i</a:t>
            </a:r>
            <a:r>
              <a:rPr lang="en-US" dirty="0"/>
              <a:t>&lt;10; </a:t>
            </a:r>
            <a:r>
              <a:rPr lang="en-US" dirty="0" err="1"/>
              <a:t>i</a:t>
            </a:r>
            <a:r>
              <a:rPr lang="en-US" dirty="0"/>
              <a:t>++) </a:t>
            </a:r>
          </a:p>
          <a:p>
            <a:pPr marL="0" indent="0">
              <a:buNone/>
            </a:pPr>
            <a:r>
              <a:rPr lang="en-US" dirty="0"/>
              <a:t>{ </a:t>
            </a:r>
          </a:p>
          <a:p>
            <a:pPr marL="0" indent="0">
              <a:buNone/>
            </a:pPr>
            <a:r>
              <a:rPr lang="en-US" b="1" dirty="0"/>
              <a:t>for</a:t>
            </a:r>
            <a:r>
              <a:rPr lang="en-US" dirty="0"/>
              <a:t>(j=</a:t>
            </a:r>
            <a:r>
              <a:rPr lang="en-US" dirty="0" err="1"/>
              <a:t>i</a:t>
            </a:r>
            <a:r>
              <a:rPr lang="en-US" dirty="0"/>
              <a:t>; j&lt;10; </a:t>
            </a:r>
            <a:r>
              <a:rPr lang="en-US" dirty="0" err="1"/>
              <a:t>j++</a:t>
            </a:r>
            <a:r>
              <a:rPr lang="en-US" dirty="0"/>
              <a:t>) </a:t>
            </a:r>
          </a:p>
          <a:p>
            <a:pPr marL="0" indent="0">
              <a:buNone/>
            </a:pPr>
            <a:r>
              <a:rPr lang="en-US" dirty="0"/>
              <a:t>{ </a:t>
            </a:r>
          </a:p>
          <a:p>
            <a:pPr marL="0" indent="0">
              <a:buNone/>
            </a:pPr>
            <a:r>
              <a:rPr lang="en-US" dirty="0" err="1"/>
              <a:t>System.</a:t>
            </a:r>
            <a:r>
              <a:rPr lang="en-US" b="1" i="1" dirty="0" err="1"/>
              <a:t>out</a:t>
            </a:r>
            <a:r>
              <a:rPr lang="en-US" dirty="0" err="1"/>
              <a:t>.print</a:t>
            </a:r>
            <a:r>
              <a:rPr lang="en-US" dirty="0"/>
              <a:t>("*"); </a:t>
            </a:r>
          </a:p>
          <a:p>
            <a:pPr marL="0" indent="0">
              <a:buNone/>
            </a:pPr>
            <a:r>
              <a:rPr lang="en-US" dirty="0"/>
              <a:t>} </a:t>
            </a:r>
          </a:p>
          <a:p>
            <a:pPr marL="0" indent="0">
              <a:buNone/>
            </a:pPr>
            <a:r>
              <a:rPr lang="en-US" dirty="0" err="1"/>
              <a:t>System.</a:t>
            </a:r>
            <a:r>
              <a:rPr lang="en-US" b="1" i="1" dirty="0" err="1"/>
              <a:t>out</a:t>
            </a:r>
            <a:r>
              <a:rPr lang="en-US" dirty="0" err="1"/>
              <a:t>.println</a:t>
            </a:r>
            <a:r>
              <a:rPr lang="en-US" dirty="0"/>
              <a:t>(); </a:t>
            </a:r>
          </a:p>
          <a:p>
            <a:pPr marL="0" indent="0">
              <a:buNone/>
            </a:pPr>
            <a:r>
              <a:rPr lang="en-US" dirty="0"/>
              <a:t>} </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21000612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1853" y="176298"/>
            <a:ext cx="8129270"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latin typeface="Times New Roman" panose="02020603050405020304" pitchFamily="18" charset="0"/>
                <a:cs typeface="Times New Roman" panose="02020603050405020304" pitchFamily="18" charset="0"/>
              </a:rPr>
              <a:t>Jumping</a:t>
            </a:r>
            <a:r>
              <a:rPr sz="4000" spc="-4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Statements</a:t>
            </a:r>
            <a:r>
              <a:rPr sz="4000" spc="-4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a:t>
            </a:r>
            <a:r>
              <a:rPr sz="4000" spc="-135" dirty="0">
                <a:solidFill>
                  <a:srgbClr val="696363"/>
                </a:solidFill>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break</a:t>
            </a:r>
            <a:r>
              <a:rPr sz="2800" spc="-45"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statement</a:t>
            </a:r>
            <a:endParaRPr sz="2800" dirty="0">
              <a:latin typeface="Times New Roman" panose="02020603050405020304" pitchFamily="18" charset="0"/>
              <a:cs typeface="Times New Roman" panose="02020603050405020304" pitchFamily="18" charset="0"/>
            </a:endParaRPr>
          </a:p>
        </p:txBody>
      </p:sp>
      <p:sp>
        <p:nvSpPr>
          <p:cNvPr id="3" name="object 3"/>
          <p:cNvSpPr txBox="1"/>
          <p:nvPr/>
        </p:nvSpPr>
        <p:spPr>
          <a:xfrm>
            <a:off x="383540" y="812697"/>
            <a:ext cx="8530590" cy="5306581"/>
          </a:xfrm>
          <a:prstGeom prst="rect">
            <a:avLst/>
          </a:prstGeom>
        </p:spPr>
        <p:txBody>
          <a:bodyPr vert="horz" wrap="square" lIns="0" tIns="12700" rIns="0" bIns="0" rtlCol="0">
            <a:spAutoFit/>
          </a:bodyPr>
          <a:lstStyle/>
          <a:p>
            <a:pPr marL="12065" marR="5080" algn="just">
              <a:lnSpc>
                <a:spcPct val="150000"/>
              </a:lnSpc>
              <a:spcBef>
                <a:spcPts val="100"/>
              </a:spcBef>
              <a:buClr>
                <a:srgbClr val="D24717"/>
              </a:buClr>
              <a:buSzPct val="83928"/>
              <a:tabLst>
                <a:tab pos="286385" algn="l"/>
              </a:tabLst>
            </a:pPr>
            <a:r>
              <a:rPr lang="en-US" sz="2000" b="1" dirty="0">
                <a:latin typeface="Times New Roman" panose="02020603050405020304" pitchFamily="18" charset="0"/>
                <a:cs typeface="Times New Roman" panose="02020603050405020304" pitchFamily="18" charset="0"/>
              </a:rPr>
              <a:t>Unconditional Control Statements </a:t>
            </a:r>
            <a:endParaRPr lang="en-US" sz="3200" dirty="0">
              <a:latin typeface="Times New Roman" panose="02020603050405020304" pitchFamily="18" charset="0"/>
              <a:cs typeface="Times New Roman" panose="02020603050405020304" pitchFamily="18" charset="0"/>
            </a:endParaRPr>
          </a:p>
          <a:p>
            <a:pPr marL="284480" marR="5080" indent="-272415" algn="just">
              <a:lnSpc>
                <a:spcPct val="150000"/>
              </a:lnSpc>
              <a:spcBef>
                <a:spcPts val="100"/>
              </a:spcBef>
              <a:buClr>
                <a:srgbClr val="D24717"/>
              </a:buClr>
              <a:buSzPct val="83928"/>
              <a:buFont typeface="Segoe UI Symbol"/>
              <a:buChar char="⚫"/>
              <a:tabLst>
                <a:tab pos="286385" algn="l"/>
              </a:tabLst>
            </a:pPr>
            <a:r>
              <a:rPr sz="2800" dirty="0">
                <a:latin typeface="Arial MT"/>
                <a:cs typeface="Arial MT"/>
              </a:rPr>
              <a:t>The</a:t>
            </a:r>
            <a:r>
              <a:rPr sz="2800" spc="-25" dirty="0">
                <a:latin typeface="Arial MT"/>
                <a:cs typeface="Arial MT"/>
              </a:rPr>
              <a:t>  </a:t>
            </a:r>
            <a:r>
              <a:rPr sz="2800" dirty="0">
                <a:latin typeface="Arial MT"/>
                <a:cs typeface="Arial MT"/>
              </a:rPr>
              <a:t>Java</a:t>
            </a:r>
            <a:r>
              <a:rPr sz="2800" spc="-20" dirty="0">
                <a:latin typeface="Arial MT"/>
                <a:cs typeface="Arial MT"/>
              </a:rPr>
              <a:t>  </a:t>
            </a:r>
            <a:r>
              <a:rPr sz="2800" b="1" dirty="0">
                <a:solidFill>
                  <a:srgbClr val="FF0000"/>
                </a:solidFill>
                <a:latin typeface="Times New Roman" panose="02020603050405020304" pitchFamily="18" charset="0"/>
                <a:cs typeface="Times New Roman" panose="02020603050405020304" pitchFamily="18" charset="0"/>
              </a:rPr>
              <a:t>break</a:t>
            </a:r>
            <a:r>
              <a:rPr sz="2800" b="1" spc="-1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is</a:t>
            </a:r>
            <a:r>
              <a:rPr sz="2800" b="1" spc="-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used</a:t>
            </a:r>
            <a:r>
              <a:rPr sz="2800" b="1" spc="-20"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to</a:t>
            </a:r>
            <a:r>
              <a:rPr sz="2800" b="1" spc="-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break</a:t>
            </a:r>
            <a:r>
              <a:rPr sz="2800" b="1" spc="-1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loop</a:t>
            </a:r>
            <a:r>
              <a:rPr sz="2800" b="1" spc="-20" dirty="0">
                <a:solidFill>
                  <a:srgbClr val="FF0000"/>
                </a:solidFill>
                <a:latin typeface="Times New Roman" panose="02020603050405020304" pitchFamily="18" charset="0"/>
                <a:cs typeface="Times New Roman" panose="02020603050405020304" pitchFamily="18" charset="0"/>
              </a:rPr>
              <a:t>  </a:t>
            </a:r>
            <a:r>
              <a:rPr sz="2800" dirty="0">
                <a:latin typeface="Arial MT"/>
                <a:cs typeface="Arial MT"/>
              </a:rPr>
              <a:t>or</a:t>
            </a:r>
            <a:r>
              <a:rPr sz="2800" spc="-20" dirty="0">
                <a:latin typeface="Arial MT"/>
                <a:cs typeface="Arial MT"/>
              </a:rPr>
              <a:t>  </a:t>
            </a:r>
            <a:r>
              <a:rPr sz="2800" b="1" i="1" spc="-10" dirty="0">
                <a:solidFill>
                  <a:srgbClr val="FF0000"/>
                </a:solidFill>
                <a:latin typeface="Times New Roman" panose="02020603050405020304" pitchFamily="18" charset="0"/>
                <a:cs typeface="Times New Roman" panose="02020603050405020304" pitchFamily="18" charset="0"/>
              </a:rPr>
              <a:t>switch 	</a:t>
            </a:r>
            <a:r>
              <a:rPr sz="2800" b="1" i="1" dirty="0">
                <a:solidFill>
                  <a:srgbClr val="FF0000"/>
                </a:solidFill>
                <a:latin typeface="Times New Roman" panose="02020603050405020304" pitchFamily="18" charset="0"/>
                <a:cs typeface="Times New Roman" panose="02020603050405020304" pitchFamily="18" charset="0"/>
              </a:rPr>
              <a:t>statement.</a:t>
            </a:r>
            <a:r>
              <a:rPr sz="2800" b="1" i="1" spc="90" dirty="0">
                <a:solidFill>
                  <a:srgbClr val="FF0000"/>
                </a:solidFill>
                <a:latin typeface="Times New Roman" panose="02020603050405020304" pitchFamily="18" charset="0"/>
                <a:cs typeface="Times New Roman" panose="02020603050405020304" pitchFamily="18" charset="0"/>
              </a:rPr>
              <a:t> </a:t>
            </a:r>
            <a:r>
              <a:rPr sz="2800" dirty="0">
                <a:latin typeface="Arial MT"/>
                <a:cs typeface="Arial MT"/>
              </a:rPr>
              <a:t>It</a:t>
            </a:r>
            <a:r>
              <a:rPr sz="2800" spc="90" dirty="0">
                <a:latin typeface="Arial MT"/>
                <a:cs typeface="Arial MT"/>
              </a:rPr>
              <a:t> </a:t>
            </a:r>
            <a:r>
              <a:rPr sz="2800" dirty="0">
                <a:latin typeface="Arial MT"/>
                <a:cs typeface="Arial MT"/>
              </a:rPr>
              <a:t>breaks</a:t>
            </a:r>
            <a:r>
              <a:rPr sz="2800" spc="100" dirty="0">
                <a:latin typeface="Arial MT"/>
                <a:cs typeface="Arial MT"/>
              </a:rPr>
              <a:t> </a:t>
            </a:r>
            <a:r>
              <a:rPr sz="2800" dirty="0">
                <a:latin typeface="Arial MT"/>
                <a:cs typeface="Arial MT"/>
              </a:rPr>
              <a:t>the</a:t>
            </a:r>
            <a:r>
              <a:rPr sz="2800" spc="114" dirty="0">
                <a:latin typeface="Arial MT"/>
                <a:cs typeface="Arial MT"/>
              </a:rPr>
              <a:t> </a:t>
            </a:r>
            <a:r>
              <a:rPr sz="2800" dirty="0">
                <a:latin typeface="Arial MT"/>
                <a:cs typeface="Arial MT"/>
              </a:rPr>
              <a:t>current</a:t>
            </a:r>
            <a:r>
              <a:rPr sz="2800" spc="114" dirty="0">
                <a:latin typeface="Arial MT"/>
                <a:cs typeface="Arial MT"/>
              </a:rPr>
              <a:t> </a:t>
            </a:r>
            <a:r>
              <a:rPr sz="2800" dirty="0">
                <a:latin typeface="Arial MT"/>
                <a:cs typeface="Arial MT"/>
              </a:rPr>
              <a:t>flow</a:t>
            </a:r>
            <a:r>
              <a:rPr sz="2800" spc="90" dirty="0">
                <a:latin typeface="Arial MT"/>
                <a:cs typeface="Arial MT"/>
              </a:rPr>
              <a:t> </a:t>
            </a:r>
            <a:r>
              <a:rPr sz="2800" dirty="0">
                <a:latin typeface="Arial MT"/>
                <a:cs typeface="Arial MT"/>
              </a:rPr>
              <a:t>of</a:t>
            </a:r>
            <a:r>
              <a:rPr sz="2800" spc="90" dirty="0">
                <a:latin typeface="Arial MT"/>
                <a:cs typeface="Arial MT"/>
              </a:rPr>
              <a:t> </a:t>
            </a:r>
            <a:r>
              <a:rPr sz="2800" dirty="0">
                <a:latin typeface="Arial MT"/>
                <a:cs typeface="Arial MT"/>
              </a:rPr>
              <a:t>the</a:t>
            </a:r>
            <a:r>
              <a:rPr sz="2800" spc="120" dirty="0">
                <a:latin typeface="Arial MT"/>
                <a:cs typeface="Arial MT"/>
              </a:rPr>
              <a:t> </a:t>
            </a:r>
            <a:r>
              <a:rPr sz="2800" spc="-10" dirty="0">
                <a:latin typeface="Arial MT"/>
                <a:cs typeface="Arial MT"/>
              </a:rPr>
              <a:t>program 	</a:t>
            </a:r>
            <a:r>
              <a:rPr sz="2800" dirty="0">
                <a:latin typeface="Arial MT"/>
                <a:cs typeface="Arial MT"/>
              </a:rPr>
              <a:t>at</a:t>
            </a:r>
            <a:r>
              <a:rPr sz="2800" spc="135" dirty="0">
                <a:latin typeface="Arial MT"/>
                <a:cs typeface="Arial MT"/>
              </a:rPr>
              <a:t>  </a:t>
            </a:r>
            <a:r>
              <a:rPr sz="2800" dirty="0">
                <a:latin typeface="Arial MT"/>
                <a:cs typeface="Arial MT"/>
              </a:rPr>
              <a:t>specified</a:t>
            </a:r>
            <a:r>
              <a:rPr sz="2800" spc="140" dirty="0">
                <a:latin typeface="Arial MT"/>
                <a:cs typeface="Arial MT"/>
              </a:rPr>
              <a:t>  </a:t>
            </a:r>
            <a:r>
              <a:rPr sz="2800" dirty="0">
                <a:latin typeface="Arial MT"/>
                <a:cs typeface="Arial MT"/>
              </a:rPr>
              <a:t>condition.</a:t>
            </a:r>
            <a:r>
              <a:rPr sz="2800" spc="140" dirty="0">
                <a:latin typeface="Arial MT"/>
                <a:cs typeface="Arial MT"/>
              </a:rPr>
              <a:t>  </a:t>
            </a:r>
            <a:r>
              <a:rPr sz="2800" dirty="0">
                <a:latin typeface="Arial MT"/>
                <a:cs typeface="Arial MT"/>
              </a:rPr>
              <a:t>In</a:t>
            </a:r>
            <a:r>
              <a:rPr sz="2800" spc="130" dirty="0">
                <a:latin typeface="Arial MT"/>
                <a:cs typeface="Arial MT"/>
              </a:rPr>
              <a:t>  </a:t>
            </a:r>
            <a:r>
              <a:rPr sz="2800" dirty="0">
                <a:latin typeface="Arial MT"/>
                <a:cs typeface="Arial MT"/>
              </a:rPr>
              <a:t>case</a:t>
            </a:r>
            <a:r>
              <a:rPr sz="2800" spc="140" dirty="0">
                <a:latin typeface="Arial MT"/>
                <a:cs typeface="Arial MT"/>
              </a:rPr>
              <a:t>  </a:t>
            </a:r>
            <a:r>
              <a:rPr sz="2800" dirty="0">
                <a:latin typeface="Arial MT"/>
                <a:cs typeface="Arial MT"/>
              </a:rPr>
              <a:t>of</a:t>
            </a:r>
            <a:r>
              <a:rPr sz="2800" spc="130" dirty="0">
                <a:latin typeface="Arial MT"/>
                <a:cs typeface="Arial MT"/>
              </a:rPr>
              <a:t>  </a:t>
            </a:r>
            <a:r>
              <a:rPr sz="2800" dirty="0">
                <a:latin typeface="Arial MT"/>
                <a:cs typeface="Arial MT"/>
              </a:rPr>
              <a:t>inner</a:t>
            </a:r>
            <a:r>
              <a:rPr sz="2800" spc="140" dirty="0">
                <a:latin typeface="Arial MT"/>
                <a:cs typeface="Arial MT"/>
              </a:rPr>
              <a:t>  </a:t>
            </a:r>
            <a:r>
              <a:rPr sz="2800" dirty="0">
                <a:latin typeface="Arial MT"/>
                <a:cs typeface="Arial MT"/>
              </a:rPr>
              <a:t>loop,</a:t>
            </a:r>
            <a:r>
              <a:rPr sz="2800" spc="140" dirty="0">
                <a:latin typeface="Arial MT"/>
                <a:cs typeface="Arial MT"/>
              </a:rPr>
              <a:t>  </a:t>
            </a:r>
            <a:r>
              <a:rPr sz="2800" spc="-25" dirty="0">
                <a:latin typeface="Arial MT"/>
                <a:cs typeface="Arial MT"/>
              </a:rPr>
              <a:t>it 	</a:t>
            </a:r>
            <a:r>
              <a:rPr sz="2800" dirty="0">
                <a:latin typeface="Arial MT"/>
                <a:cs typeface="Arial MT"/>
              </a:rPr>
              <a:t>breaks</a:t>
            </a:r>
            <a:r>
              <a:rPr sz="2800" spc="-55" dirty="0">
                <a:latin typeface="Arial MT"/>
                <a:cs typeface="Arial MT"/>
              </a:rPr>
              <a:t> </a:t>
            </a:r>
            <a:r>
              <a:rPr sz="2800" dirty="0">
                <a:latin typeface="Arial MT"/>
                <a:cs typeface="Arial MT"/>
              </a:rPr>
              <a:t>only</a:t>
            </a:r>
            <a:r>
              <a:rPr sz="2800" spc="-55" dirty="0">
                <a:latin typeface="Arial MT"/>
                <a:cs typeface="Arial MT"/>
              </a:rPr>
              <a:t> </a:t>
            </a:r>
            <a:r>
              <a:rPr sz="2800" dirty="0">
                <a:latin typeface="Arial MT"/>
                <a:cs typeface="Arial MT"/>
              </a:rPr>
              <a:t>inner</a:t>
            </a:r>
            <a:r>
              <a:rPr sz="2800" spc="-35" dirty="0">
                <a:latin typeface="Arial MT"/>
                <a:cs typeface="Arial MT"/>
              </a:rPr>
              <a:t> </a:t>
            </a:r>
            <a:r>
              <a:rPr sz="2800" spc="-10" dirty="0">
                <a:latin typeface="Arial MT"/>
                <a:cs typeface="Arial MT"/>
              </a:rPr>
              <a:t>loop.</a:t>
            </a:r>
            <a:endParaRPr lang="en-US" sz="2800" spc="-10" dirty="0">
              <a:latin typeface="Arial MT"/>
              <a:cs typeface="Arial MT"/>
            </a:endParaRPr>
          </a:p>
          <a:p>
            <a:pPr marL="284480" marR="5080" indent="-272415" algn="just">
              <a:lnSpc>
                <a:spcPct val="150000"/>
              </a:lnSpc>
              <a:spcBef>
                <a:spcPts val="100"/>
              </a:spcBef>
              <a:buClr>
                <a:srgbClr val="D24717"/>
              </a:buClr>
              <a:buSzPct val="83928"/>
              <a:buFont typeface="Segoe UI Symbol"/>
              <a:buChar char="⚫"/>
              <a:tabLst>
                <a:tab pos="286385" algn="l"/>
              </a:tabLst>
            </a:pPr>
            <a:endParaRPr sz="2800" dirty="0">
              <a:latin typeface="Arial MT"/>
              <a:cs typeface="Arial MT"/>
            </a:endParaRPr>
          </a:p>
          <a:p>
            <a:pPr marL="12700">
              <a:lnSpc>
                <a:spcPct val="100000"/>
              </a:lnSpc>
            </a:pPr>
            <a:r>
              <a:rPr sz="2400" b="1" spc="-10" dirty="0">
                <a:latin typeface="Courier New"/>
                <a:cs typeface="Courier New"/>
              </a:rPr>
              <a:t>Syntax:</a:t>
            </a:r>
            <a:endParaRPr sz="2400" dirty="0">
              <a:latin typeface="Courier New"/>
              <a:cs typeface="Courier New"/>
            </a:endParaRPr>
          </a:p>
          <a:p>
            <a:pPr marL="927100">
              <a:lnSpc>
                <a:spcPct val="100000"/>
              </a:lnSpc>
              <a:spcBef>
                <a:spcPts val="2039"/>
              </a:spcBef>
            </a:pPr>
            <a:r>
              <a:rPr sz="2400" spc="-10" dirty="0">
                <a:latin typeface="Courier New"/>
                <a:cs typeface="Courier New"/>
              </a:rPr>
              <a:t>jump-statement;</a:t>
            </a:r>
            <a:endParaRPr sz="2400" dirty="0">
              <a:latin typeface="Courier New"/>
              <a:cs typeface="Courier New"/>
            </a:endParaRPr>
          </a:p>
          <a:p>
            <a:pPr marL="927100">
              <a:lnSpc>
                <a:spcPct val="100000"/>
              </a:lnSpc>
              <a:spcBef>
                <a:spcPts val="2039"/>
              </a:spcBef>
            </a:pPr>
            <a:r>
              <a:rPr sz="2400" b="1" spc="-10" dirty="0">
                <a:latin typeface="Courier New"/>
                <a:cs typeface="Courier New"/>
              </a:rPr>
              <a:t>break</a:t>
            </a:r>
            <a:r>
              <a:rPr sz="2400" spc="-10" dirty="0">
                <a:latin typeface="Courier New"/>
                <a:cs typeface="Courier New"/>
              </a:rPr>
              <a:t>;</a:t>
            </a:r>
            <a:endParaRPr sz="2400" dirty="0">
              <a:latin typeface="Courier New"/>
              <a:cs typeface="Courier New"/>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9395" y="13276"/>
            <a:ext cx="8265159"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Jumping</a:t>
            </a:r>
            <a:r>
              <a:rPr spc="-80" dirty="0">
                <a:solidFill>
                  <a:srgbClr val="696363"/>
                </a:solidFill>
              </a:rPr>
              <a:t> </a:t>
            </a:r>
            <a:r>
              <a:rPr dirty="0">
                <a:solidFill>
                  <a:srgbClr val="696363"/>
                </a:solidFill>
              </a:rPr>
              <a:t>Statements</a:t>
            </a:r>
            <a:r>
              <a:rPr spc="-55" dirty="0">
                <a:solidFill>
                  <a:srgbClr val="696363"/>
                </a:solidFill>
              </a:rPr>
              <a:t> </a:t>
            </a:r>
            <a:r>
              <a:rPr dirty="0">
                <a:solidFill>
                  <a:srgbClr val="696363"/>
                </a:solidFill>
              </a:rPr>
              <a:t>–</a:t>
            </a:r>
            <a:r>
              <a:rPr spc="-160" dirty="0">
                <a:solidFill>
                  <a:srgbClr val="696363"/>
                </a:solidFill>
              </a:rPr>
              <a:t> </a:t>
            </a:r>
            <a:r>
              <a:rPr sz="3200" dirty="0">
                <a:solidFill>
                  <a:srgbClr val="FF0000"/>
                </a:solidFill>
              </a:rPr>
              <a:t>break</a:t>
            </a:r>
            <a:r>
              <a:rPr sz="3200" spc="-65" dirty="0"/>
              <a:t> </a:t>
            </a:r>
            <a:r>
              <a:rPr sz="3200" spc="-10" dirty="0"/>
              <a:t>statement-</a:t>
            </a:r>
            <a:endParaRPr sz="3200" dirty="0"/>
          </a:p>
        </p:txBody>
      </p:sp>
      <p:sp>
        <p:nvSpPr>
          <p:cNvPr id="3" name="object 3"/>
          <p:cNvSpPr txBox="1"/>
          <p:nvPr/>
        </p:nvSpPr>
        <p:spPr>
          <a:xfrm>
            <a:off x="299395" y="865107"/>
            <a:ext cx="7878445" cy="6127318"/>
          </a:xfrm>
          <a:prstGeom prst="rect">
            <a:avLst/>
          </a:prstGeom>
        </p:spPr>
        <p:txBody>
          <a:bodyPr vert="horz" wrap="square" lIns="0" tIns="93980" rIns="0" bIns="0" rtlCol="0">
            <a:spAutoFit/>
          </a:bodyPr>
          <a:lstStyle/>
          <a:p>
            <a:r>
              <a:rPr lang="en-US" sz="2800" b="1" dirty="0">
                <a:latin typeface="Times New Roman" panose="02020603050405020304" pitchFamily="18" charset="0"/>
                <a:cs typeface="Times New Roman" panose="02020603050405020304" pitchFamily="18" charset="0"/>
              </a:rPr>
              <a:t>package</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oppsJavaProg</a:t>
            </a:r>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class</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BreakExample</a:t>
            </a:r>
            <a:r>
              <a:rPr lang="en-US" sz="2800" dirty="0">
                <a:latin typeface="Times New Roman" panose="02020603050405020304" pitchFamily="18" charset="0"/>
                <a:cs typeface="Times New Roman" panose="02020603050405020304" pitchFamily="18" charset="0"/>
              </a:rPr>
              <a:t> {</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static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void</a:t>
            </a:r>
            <a:r>
              <a:rPr lang="en-US" sz="2800" dirty="0">
                <a:latin typeface="Times New Roman" panose="02020603050405020304" pitchFamily="18" charset="0"/>
                <a:cs typeface="Times New Roman" panose="02020603050405020304" pitchFamily="18" charset="0"/>
              </a:rPr>
              <a:t> main(String[] </a:t>
            </a:r>
            <a:r>
              <a:rPr lang="en-US" sz="2800" dirty="0" err="1">
                <a:latin typeface="Times New Roman" panose="02020603050405020304" pitchFamily="18" charset="0"/>
                <a:cs typeface="Times New Roman" panose="02020603050405020304" pitchFamily="18" charset="0"/>
              </a:rPr>
              <a:t>args</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for</a:t>
            </a:r>
            <a:r>
              <a:rPr lang="en-US" sz="2800" dirty="0">
                <a:latin typeface="Times New Roman" panose="02020603050405020304" pitchFamily="18" charset="0"/>
                <a:cs typeface="Times New Roman" panose="02020603050405020304" pitchFamily="18" charset="0"/>
              </a:rPr>
              <a:t>(</a:t>
            </a:r>
            <a:r>
              <a:rPr lang="en-US" sz="2800" b="1" dirty="0">
                <a:latin typeface="Times New Roman" panose="02020603050405020304" pitchFamily="18" charset="0"/>
                <a:cs typeface="Times New Roman" panose="02020603050405020304" pitchFamily="18" charset="0"/>
              </a:rPr>
              <a:t>int</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=1;i&lt;=10;i++)</a:t>
            </a:r>
          </a:p>
          <a:p>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if</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==5)</a:t>
            </a:r>
          </a:p>
          <a:p>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	break</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dirty="0" err="1">
                <a:latin typeface="Times New Roman" panose="02020603050405020304" pitchFamily="18" charset="0"/>
                <a:cs typeface="Times New Roman" panose="02020603050405020304" pitchFamily="18" charset="0"/>
              </a:rPr>
              <a:t>System.</a:t>
            </a:r>
            <a:r>
              <a:rPr lang="en-US" sz="2800" b="1" i="1" dirty="0" err="1">
                <a:latin typeface="Times New Roman" panose="02020603050405020304" pitchFamily="18" charset="0"/>
                <a:cs typeface="Times New Roman" panose="02020603050405020304" pitchFamily="18" charset="0"/>
              </a:rPr>
              <a:t>out</a:t>
            </a:r>
            <a:r>
              <a:rPr lang="en-US" sz="2800" dirty="0" err="1">
                <a:latin typeface="Times New Roman" panose="02020603050405020304" pitchFamily="18" charset="0"/>
                <a:cs typeface="Times New Roman" panose="02020603050405020304" pitchFamily="18" charset="0"/>
              </a:rPr>
              <a:t>.println</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9D3DD5-7712-078F-193F-A145F88098E1}"/>
              </a:ext>
            </a:extLst>
          </p:cNvPr>
          <p:cNvSpPr>
            <a:spLocks noGrp="1"/>
          </p:cNvSpPr>
          <p:nvPr>
            <p:ph idx="1"/>
          </p:nvPr>
        </p:nvSpPr>
        <p:spPr>
          <a:xfrm>
            <a:off x="457200" y="381000"/>
            <a:ext cx="8229600" cy="5745163"/>
          </a:xfrm>
        </p:spPr>
        <p:txBody>
          <a:bodyPr>
            <a:normAutofit/>
          </a:bodyPr>
          <a:lstStyle/>
          <a:p>
            <a:pPr marL="0" indent="0">
              <a:buNone/>
            </a:pPr>
            <a:r>
              <a:rPr lang="en-US" sz="2400" b="1" dirty="0">
                <a:latin typeface="Times New Roman" panose="02020603050405020304" pitchFamily="18" charset="0"/>
                <a:cs typeface="Times New Roman" panose="02020603050405020304" pitchFamily="18" charset="0"/>
              </a:rPr>
              <a:t>package</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oppsJavaProg</a:t>
            </a: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BreakLoop</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for</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=0;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&lt;100;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if</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 10) {</a:t>
            </a:r>
          </a:p>
          <a:p>
            <a:pPr marL="0" indent="0">
              <a:buNone/>
            </a:pPr>
            <a:r>
              <a:rPr lang="en-US" sz="2400" b="1" dirty="0">
                <a:latin typeface="Times New Roman" panose="02020603050405020304" pitchFamily="18" charset="0"/>
                <a:cs typeface="Times New Roman" panose="02020603050405020304" pitchFamily="18" charset="0"/>
              </a:rPr>
              <a:t>break</a:t>
            </a:r>
            <a:r>
              <a:rPr lang="en-US" sz="2400" dirty="0">
                <a:latin typeface="Times New Roman" panose="02020603050405020304" pitchFamily="18" charset="0"/>
                <a:cs typeface="Times New Roman" panose="02020603050405020304" pitchFamily="18" charset="0"/>
              </a:rPr>
              <a:t>; // terminate loop if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is 10 </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 </a:t>
            </a:r>
          </a:p>
          <a:p>
            <a:pPr marL="0" indent="0">
              <a:buNone/>
            </a:pP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a:t>
            </a:r>
            <a:r>
              <a:rPr lang="en-US" sz="2400" dirty="0">
                <a:latin typeface="Times New Roman" panose="02020603050405020304" pitchFamily="18" charset="0"/>
                <a:cs typeface="Times New Roman" panose="02020603050405020304" pitchFamily="18" charset="0"/>
              </a:rPr>
              <a:t>(" Loop complete.");</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768383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01853" y="264109"/>
            <a:ext cx="8610600" cy="5363648"/>
          </a:xfrm>
          <a:prstGeom prst="rect">
            <a:avLst/>
          </a:prstGeom>
        </p:spPr>
        <p:txBody>
          <a:bodyPr vert="horz" wrap="square" lIns="0" tIns="13335" rIns="0" bIns="0" rtlCol="0">
            <a:spAutoFit/>
          </a:bodyPr>
          <a:lstStyle/>
          <a:p>
            <a:pPr marL="12700" algn="ctr">
              <a:lnSpc>
                <a:spcPct val="100000"/>
              </a:lnSpc>
              <a:spcBef>
                <a:spcPts val="105"/>
              </a:spcBef>
            </a:pPr>
            <a:r>
              <a:rPr lang="en-US" sz="4000" dirty="0">
                <a:solidFill>
                  <a:srgbClr val="696363"/>
                </a:solidFill>
                <a:latin typeface="Times New Roman" panose="02020603050405020304" pitchFamily="18" charset="0"/>
                <a:cs typeface="Times New Roman" panose="02020603050405020304" pitchFamily="18" charset="0"/>
              </a:rPr>
              <a:t>Jumping</a:t>
            </a:r>
            <a:r>
              <a:rPr lang="en-US" sz="4000" spc="-85" dirty="0">
                <a:solidFill>
                  <a:srgbClr val="696363"/>
                </a:solidFill>
                <a:latin typeface="Times New Roman" panose="02020603050405020304" pitchFamily="18" charset="0"/>
                <a:cs typeface="Times New Roman" panose="02020603050405020304" pitchFamily="18" charset="0"/>
              </a:rPr>
              <a:t> </a:t>
            </a:r>
            <a:r>
              <a:rPr lang="en-US" sz="4000" dirty="0">
                <a:solidFill>
                  <a:srgbClr val="696363"/>
                </a:solidFill>
                <a:latin typeface="Times New Roman" panose="02020603050405020304" pitchFamily="18" charset="0"/>
                <a:cs typeface="Times New Roman" panose="02020603050405020304" pitchFamily="18" charset="0"/>
              </a:rPr>
              <a:t>Statements</a:t>
            </a:r>
            <a:r>
              <a:rPr lang="en-US" sz="4000" spc="-60" dirty="0">
                <a:solidFill>
                  <a:srgbClr val="696363"/>
                </a:solidFill>
                <a:latin typeface="Times New Roman" panose="02020603050405020304" pitchFamily="18" charset="0"/>
                <a:cs typeface="Times New Roman" panose="02020603050405020304" pitchFamily="18" charset="0"/>
              </a:rPr>
              <a:t> </a:t>
            </a:r>
            <a:r>
              <a:rPr lang="en-US" sz="4000" dirty="0">
                <a:solidFill>
                  <a:srgbClr val="696363"/>
                </a:solidFill>
                <a:latin typeface="Times New Roman" panose="02020603050405020304" pitchFamily="18" charset="0"/>
                <a:cs typeface="Times New Roman" panose="02020603050405020304" pitchFamily="18" charset="0"/>
              </a:rPr>
              <a:t>–</a:t>
            </a:r>
            <a:r>
              <a:rPr lang="en-US" sz="4000" spc="-165" dirty="0">
                <a:solidFill>
                  <a:srgbClr val="696363"/>
                </a:solidFill>
                <a:latin typeface="Times New Roman" panose="02020603050405020304" pitchFamily="18" charset="0"/>
                <a:cs typeface="Times New Roman" panose="02020603050405020304" pitchFamily="18" charset="0"/>
              </a:rPr>
              <a:t> </a:t>
            </a:r>
            <a:r>
              <a:rPr lang="en-US" sz="2800" spc="-10" dirty="0">
                <a:solidFill>
                  <a:srgbClr val="FF0000"/>
                </a:solidFill>
                <a:latin typeface="Times New Roman" panose="02020603050405020304" pitchFamily="18" charset="0"/>
                <a:cs typeface="Times New Roman" panose="02020603050405020304" pitchFamily="18" charset="0"/>
              </a:rPr>
              <a:t>continue</a:t>
            </a:r>
          </a:p>
          <a:p>
            <a:pPr marL="12700">
              <a:lnSpc>
                <a:spcPct val="100000"/>
              </a:lnSpc>
              <a:spcBef>
                <a:spcPts val="105"/>
              </a:spcBef>
            </a:pPr>
            <a:endParaRPr lang="en-US" sz="2000" spc="-10" dirty="0">
              <a:latin typeface="Arial MT"/>
              <a:cs typeface="Arial MT"/>
            </a:endParaRPr>
          </a:p>
          <a:p>
            <a:pPr marL="12700" algn="just">
              <a:lnSpc>
                <a:spcPct val="100000"/>
              </a:lnSpc>
              <a:spcBef>
                <a:spcPts val="105"/>
              </a:spcBef>
            </a:pPr>
            <a:r>
              <a:rPr sz="3600" dirty="0">
                <a:latin typeface="Times New Roman" panose="02020603050405020304" pitchFamily="18" charset="0"/>
                <a:cs typeface="Times New Roman" panose="02020603050405020304" pitchFamily="18" charset="0"/>
              </a:rPr>
              <a:t>The</a:t>
            </a:r>
            <a:r>
              <a:rPr sz="3600" spc="60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Java</a:t>
            </a:r>
            <a:r>
              <a:rPr sz="3600" spc="600" dirty="0">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continue</a:t>
            </a:r>
            <a:r>
              <a:rPr sz="3600" b="1" i="1" spc="61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statement</a:t>
            </a:r>
            <a:r>
              <a:rPr sz="3600" b="1" i="1" spc="61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is</a:t>
            </a:r>
            <a:r>
              <a:rPr sz="3600" b="1" i="1" spc="60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used</a:t>
            </a:r>
            <a:r>
              <a:rPr sz="3600" b="1" i="1" spc="60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to</a:t>
            </a:r>
            <a:r>
              <a:rPr sz="3600" b="1" i="1" spc="605" dirty="0">
                <a:solidFill>
                  <a:srgbClr val="FF0000"/>
                </a:solidFill>
                <a:latin typeface="Times New Roman" panose="02020603050405020304" pitchFamily="18" charset="0"/>
                <a:cs typeface="Times New Roman" panose="02020603050405020304" pitchFamily="18" charset="0"/>
              </a:rPr>
              <a:t> </a:t>
            </a:r>
            <a:r>
              <a:rPr sz="3600" b="1" i="1" spc="-10" dirty="0">
                <a:solidFill>
                  <a:srgbClr val="FF0000"/>
                </a:solidFill>
                <a:latin typeface="Times New Roman" panose="02020603050405020304" pitchFamily="18" charset="0"/>
                <a:cs typeface="Times New Roman" panose="02020603050405020304" pitchFamily="18" charset="0"/>
              </a:rPr>
              <a:t>continue </a:t>
            </a:r>
            <a:r>
              <a:rPr sz="3600" b="1" i="1" dirty="0">
                <a:solidFill>
                  <a:srgbClr val="FF0000"/>
                </a:solidFill>
                <a:latin typeface="Times New Roman" panose="02020603050405020304" pitchFamily="18" charset="0"/>
                <a:cs typeface="Times New Roman" panose="02020603050405020304" pitchFamily="18" charset="0"/>
              </a:rPr>
              <a:t>loop.</a:t>
            </a:r>
            <a:r>
              <a:rPr sz="3600" b="1" i="1" spc="520" dirty="0">
                <a:solidFill>
                  <a:srgbClr val="FF0000"/>
                </a:solidFill>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It</a:t>
            </a:r>
            <a:r>
              <a:rPr sz="3600" spc="509"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continues</a:t>
            </a:r>
            <a:r>
              <a:rPr sz="3600" spc="54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the</a:t>
            </a:r>
            <a:r>
              <a:rPr sz="3600" spc="53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current</a:t>
            </a:r>
            <a:r>
              <a:rPr sz="3600" spc="53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flow</a:t>
            </a:r>
            <a:r>
              <a:rPr sz="3600" spc="52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of</a:t>
            </a:r>
            <a:r>
              <a:rPr sz="3600" spc="52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the</a:t>
            </a:r>
            <a:r>
              <a:rPr sz="3600" spc="540" dirty="0">
                <a:latin typeface="Times New Roman" panose="02020603050405020304" pitchFamily="18" charset="0"/>
                <a:cs typeface="Times New Roman" panose="02020603050405020304" pitchFamily="18" charset="0"/>
              </a:rPr>
              <a:t> </a:t>
            </a:r>
            <a:r>
              <a:rPr sz="3600" spc="-10" dirty="0">
                <a:latin typeface="Times New Roman" panose="02020603050405020304" pitchFamily="18" charset="0"/>
                <a:cs typeface="Times New Roman" panose="02020603050405020304" pitchFamily="18" charset="0"/>
              </a:rPr>
              <a:t>program </a:t>
            </a:r>
            <a:r>
              <a:rPr sz="3600" dirty="0">
                <a:latin typeface="Times New Roman" panose="02020603050405020304" pitchFamily="18" charset="0"/>
                <a:cs typeface="Times New Roman" panose="02020603050405020304" pitchFamily="18" charset="0"/>
              </a:rPr>
              <a:t>and</a:t>
            </a:r>
            <a:r>
              <a:rPr sz="3600" spc="1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skips</a:t>
            </a:r>
            <a:r>
              <a:rPr sz="3600" spc="2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the</a:t>
            </a:r>
            <a:r>
              <a:rPr sz="3600" spc="2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remaining</a:t>
            </a:r>
            <a:r>
              <a:rPr sz="3600" spc="1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code</a:t>
            </a:r>
            <a:r>
              <a:rPr sz="3600" spc="2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at</a:t>
            </a:r>
            <a:r>
              <a:rPr sz="3600" spc="1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specified</a:t>
            </a:r>
            <a:r>
              <a:rPr sz="3600" spc="30" dirty="0">
                <a:latin typeface="Times New Roman" panose="02020603050405020304" pitchFamily="18" charset="0"/>
                <a:cs typeface="Times New Roman" panose="02020603050405020304" pitchFamily="18" charset="0"/>
              </a:rPr>
              <a:t> </a:t>
            </a:r>
            <a:r>
              <a:rPr sz="3600" spc="-10" dirty="0">
                <a:latin typeface="Times New Roman" panose="02020603050405020304" pitchFamily="18" charset="0"/>
                <a:cs typeface="Times New Roman" panose="02020603050405020304" pitchFamily="18" charset="0"/>
              </a:rPr>
              <a:t>condition. </a:t>
            </a:r>
            <a:r>
              <a:rPr sz="3600" b="1" i="1" dirty="0">
                <a:solidFill>
                  <a:srgbClr val="FF0000"/>
                </a:solidFill>
                <a:latin typeface="Times New Roman" panose="02020603050405020304" pitchFamily="18" charset="0"/>
                <a:cs typeface="Times New Roman" panose="02020603050405020304" pitchFamily="18" charset="0"/>
              </a:rPr>
              <a:t>In</a:t>
            </a:r>
            <a:r>
              <a:rPr sz="3600" b="1" i="1" spc="-5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case</a:t>
            </a:r>
            <a:r>
              <a:rPr sz="3600" b="1" i="1" spc="-5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of</a:t>
            </a:r>
            <a:r>
              <a:rPr sz="3600" b="1" i="1" spc="-5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inner</a:t>
            </a:r>
            <a:r>
              <a:rPr sz="3600" b="1" i="1" spc="-3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loop,</a:t>
            </a:r>
            <a:r>
              <a:rPr sz="3600" b="1" i="1" spc="-5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it</a:t>
            </a:r>
            <a:r>
              <a:rPr sz="3600" b="1" i="1" spc="-5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continues</a:t>
            </a:r>
            <a:r>
              <a:rPr sz="3600" b="1" i="1" spc="-4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only</a:t>
            </a:r>
            <a:r>
              <a:rPr sz="3600" b="1" i="1" spc="-4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inner</a:t>
            </a:r>
            <a:r>
              <a:rPr sz="3600" b="1" i="1" spc="-35" dirty="0">
                <a:solidFill>
                  <a:srgbClr val="FF0000"/>
                </a:solidFill>
                <a:latin typeface="Times New Roman" panose="02020603050405020304" pitchFamily="18" charset="0"/>
                <a:cs typeface="Times New Roman" panose="02020603050405020304" pitchFamily="18" charset="0"/>
              </a:rPr>
              <a:t> </a:t>
            </a:r>
            <a:r>
              <a:rPr sz="3600" b="1" i="1" spc="-10" dirty="0">
                <a:solidFill>
                  <a:srgbClr val="FF0000"/>
                </a:solidFill>
                <a:latin typeface="Times New Roman" panose="02020603050405020304" pitchFamily="18" charset="0"/>
                <a:cs typeface="Times New Roman" panose="02020603050405020304" pitchFamily="18" charset="0"/>
              </a:rPr>
              <a:t>loop.</a:t>
            </a:r>
            <a:endParaRPr sz="3600" b="1" i="1" dirty="0">
              <a:solidFill>
                <a:srgbClr val="FF0000"/>
              </a:solidFill>
              <a:latin typeface="Times New Roman" panose="02020603050405020304" pitchFamily="18" charset="0"/>
              <a:cs typeface="Times New Roman" panose="02020603050405020304" pitchFamily="18" charset="0"/>
            </a:endParaRPr>
          </a:p>
          <a:p>
            <a:pPr marL="93980">
              <a:lnSpc>
                <a:spcPct val="100000"/>
              </a:lnSpc>
            </a:pPr>
            <a:r>
              <a:rPr sz="3200" b="1" spc="-10" dirty="0">
                <a:latin typeface="Times New Roman" panose="02020603050405020304" pitchFamily="18" charset="0"/>
                <a:cs typeface="Times New Roman" panose="02020603050405020304" pitchFamily="18" charset="0"/>
              </a:rPr>
              <a:t>Syntax:</a:t>
            </a:r>
            <a:endParaRPr sz="3200" dirty="0">
              <a:latin typeface="Times New Roman" panose="02020603050405020304" pitchFamily="18" charset="0"/>
              <a:cs typeface="Times New Roman" panose="02020603050405020304" pitchFamily="18" charset="0"/>
            </a:endParaRPr>
          </a:p>
          <a:p>
            <a:pPr marL="1923414">
              <a:lnSpc>
                <a:spcPct val="100000"/>
              </a:lnSpc>
              <a:spcBef>
                <a:spcPts val="600"/>
              </a:spcBef>
            </a:pPr>
            <a:r>
              <a:rPr sz="3200" spc="-10" dirty="0">
                <a:latin typeface="Times New Roman" panose="02020603050405020304" pitchFamily="18" charset="0"/>
                <a:cs typeface="Times New Roman" panose="02020603050405020304" pitchFamily="18" charset="0"/>
              </a:rPr>
              <a:t>jump-statement;</a:t>
            </a:r>
            <a:endParaRPr sz="3200" dirty="0">
              <a:latin typeface="Times New Roman" panose="02020603050405020304" pitchFamily="18" charset="0"/>
              <a:cs typeface="Times New Roman" panose="02020603050405020304" pitchFamily="18" charset="0"/>
            </a:endParaRPr>
          </a:p>
          <a:p>
            <a:pPr marL="1923414">
              <a:lnSpc>
                <a:spcPct val="100000"/>
              </a:lnSpc>
              <a:spcBef>
                <a:spcPts val="600"/>
              </a:spcBef>
            </a:pPr>
            <a:r>
              <a:rPr sz="3200" b="1" spc="-10" dirty="0">
                <a:latin typeface="Times New Roman" panose="02020603050405020304" pitchFamily="18" charset="0"/>
                <a:cs typeface="Times New Roman" panose="02020603050405020304" pitchFamily="18" charset="0"/>
              </a:rPr>
              <a:t>continue</a:t>
            </a:r>
            <a:r>
              <a:rPr sz="3200" spc="-10" dirty="0">
                <a:latin typeface="Times New Roman" panose="02020603050405020304" pitchFamily="18" charset="0"/>
                <a:cs typeface="Times New Roman" panose="02020603050405020304" pitchFamily="18" charset="0"/>
              </a:rPr>
              <a:t>;</a:t>
            </a:r>
            <a:endParaRPr sz="3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54253" y="570051"/>
            <a:ext cx="7960359" cy="1313180"/>
          </a:xfrm>
          <a:prstGeom prst="rect">
            <a:avLst/>
          </a:prstGeom>
        </p:spPr>
        <p:txBody>
          <a:bodyPr vert="horz" wrap="square" lIns="0" tIns="127000" rIns="0" bIns="0" rtlCol="0">
            <a:spAutoFit/>
          </a:bodyPr>
          <a:lstStyle/>
          <a:p>
            <a:pPr marL="93980">
              <a:lnSpc>
                <a:spcPct val="100000"/>
              </a:lnSpc>
              <a:spcBef>
                <a:spcPts val="670"/>
              </a:spcBef>
            </a:pPr>
            <a:r>
              <a:rPr sz="2400" b="1" dirty="0">
                <a:latin typeface="Courier New"/>
                <a:cs typeface="Courier New"/>
              </a:rPr>
              <a:t>public</a:t>
            </a:r>
            <a:r>
              <a:rPr sz="2400" b="1" spc="-45" dirty="0">
                <a:latin typeface="Courier New"/>
                <a:cs typeface="Courier New"/>
              </a:rPr>
              <a:t> </a:t>
            </a:r>
            <a:r>
              <a:rPr sz="2400" b="1" dirty="0">
                <a:latin typeface="Courier New"/>
                <a:cs typeface="Courier New"/>
              </a:rPr>
              <a:t>class</a:t>
            </a:r>
            <a:r>
              <a:rPr sz="2400" b="1" spc="-25" dirty="0">
                <a:latin typeface="Courier New"/>
                <a:cs typeface="Courier New"/>
              </a:rPr>
              <a:t> </a:t>
            </a:r>
            <a:r>
              <a:rPr sz="2400" spc="-10" dirty="0">
                <a:latin typeface="Courier New"/>
                <a:cs typeface="Courier New"/>
              </a:rPr>
              <a:t>ContinueExample</a:t>
            </a:r>
            <a:endParaRPr sz="2400" dirty="0">
              <a:latin typeface="Courier New"/>
              <a:cs typeface="Courier New"/>
            </a:endParaRPr>
          </a:p>
          <a:p>
            <a:pPr marL="93980">
              <a:lnSpc>
                <a:spcPct val="100000"/>
              </a:lnSpc>
              <a:spcBef>
                <a:spcPts val="310"/>
              </a:spcBef>
            </a:pPr>
            <a:r>
              <a:rPr sz="2400" spc="-50" dirty="0">
                <a:latin typeface="Courier New"/>
                <a:cs typeface="Courier New"/>
              </a:rPr>
              <a:t>{</a:t>
            </a:r>
            <a:endParaRPr sz="2400" dirty="0">
              <a:latin typeface="Courier New"/>
              <a:cs typeface="Courier New"/>
            </a:endParaRPr>
          </a:p>
          <a:p>
            <a:pPr marL="1009015">
              <a:lnSpc>
                <a:spcPct val="100000"/>
              </a:lnSpc>
              <a:spcBef>
                <a:spcPts val="310"/>
              </a:spcBef>
            </a:pPr>
            <a:r>
              <a:rPr sz="2400" b="1" dirty="0">
                <a:latin typeface="Courier New"/>
                <a:cs typeface="Courier New"/>
              </a:rPr>
              <a:t>public</a:t>
            </a:r>
            <a:r>
              <a:rPr sz="2400" b="1" spc="-75" dirty="0">
                <a:latin typeface="Courier New"/>
                <a:cs typeface="Courier New"/>
              </a:rPr>
              <a:t> </a:t>
            </a:r>
            <a:r>
              <a:rPr sz="2400" b="1" dirty="0">
                <a:latin typeface="Courier New"/>
                <a:cs typeface="Courier New"/>
              </a:rPr>
              <a:t>static</a:t>
            </a:r>
            <a:r>
              <a:rPr sz="2400" b="1" spc="-50" dirty="0">
                <a:latin typeface="Courier New"/>
                <a:cs typeface="Courier New"/>
              </a:rPr>
              <a:t> </a:t>
            </a:r>
            <a:r>
              <a:rPr sz="2400" b="1" dirty="0">
                <a:latin typeface="Courier New"/>
                <a:cs typeface="Courier New"/>
              </a:rPr>
              <a:t>void</a:t>
            </a:r>
            <a:r>
              <a:rPr sz="2400" b="1" spc="-45" dirty="0">
                <a:latin typeface="Courier New"/>
                <a:cs typeface="Courier New"/>
              </a:rPr>
              <a:t> </a:t>
            </a:r>
            <a:r>
              <a:rPr sz="2400" dirty="0">
                <a:latin typeface="Courier New"/>
                <a:cs typeface="Courier New"/>
              </a:rPr>
              <a:t>main(String[]</a:t>
            </a:r>
            <a:r>
              <a:rPr sz="2400" spc="-55" dirty="0">
                <a:latin typeface="Courier New"/>
                <a:cs typeface="Courier New"/>
              </a:rPr>
              <a:t> </a:t>
            </a:r>
            <a:r>
              <a:rPr sz="2400" spc="-10" dirty="0">
                <a:latin typeface="Courier New"/>
                <a:cs typeface="Courier New"/>
              </a:rPr>
              <a:t>args)</a:t>
            </a:r>
            <a:endParaRPr sz="2400" dirty="0">
              <a:latin typeface="Courier New"/>
              <a:cs typeface="Courier New"/>
            </a:endParaRPr>
          </a:p>
        </p:txBody>
      </p:sp>
      <p:sp>
        <p:nvSpPr>
          <p:cNvPr id="4" name="object 4"/>
          <p:cNvSpPr txBox="1"/>
          <p:nvPr/>
        </p:nvSpPr>
        <p:spPr>
          <a:xfrm>
            <a:off x="1298194" y="2054097"/>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5" name="object 5"/>
          <p:cNvSpPr txBox="1"/>
          <p:nvPr/>
        </p:nvSpPr>
        <p:spPr>
          <a:xfrm>
            <a:off x="2212594" y="2419858"/>
            <a:ext cx="4043679" cy="2458085"/>
          </a:xfrm>
          <a:prstGeom prst="rect">
            <a:avLst/>
          </a:prstGeom>
        </p:spPr>
        <p:txBody>
          <a:bodyPr vert="horz" wrap="square" lIns="0" tIns="52069" rIns="0" bIns="0" rtlCol="0">
            <a:spAutoFit/>
          </a:bodyPr>
          <a:lstStyle/>
          <a:p>
            <a:pPr marL="12700">
              <a:lnSpc>
                <a:spcPct val="100000"/>
              </a:lnSpc>
              <a:spcBef>
                <a:spcPts val="409"/>
              </a:spcBef>
            </a:pPr>
            <a:r>
              <a:rPr sz="2400" b="1" dirty="0">
                <a:latin typeface="Courier New"/>
                <a:cs typeface="Courier New"/>
              </a:rPr>
              <a:t>for</a:t>
            </a:r>
            <a:r>
              <a:rPr sz="2400" dirty="0">
                <a:latin typeface="Courier New"/>
                <a:cs typeface="Courier New"/>
              </a:rPr>
              <a:t>(</a:t>
            </a:r>
            <a:r>
              <a:rPr sz="2400" b="1" dirty="0">
                <a:latin typeface="Courier New"/>
                <a:cs typeface="Courier New"/>
              </a:rPr>
              <a:t>int</a:t>
            </a:r>
            <a:r>
              <a:rPr sz="2400" b="1" spc="-50" dirty="0">
                <a:latin typeface="Courier New"/>
                <a:cs typeface="Courier New"/>
              </a:rPr>
              <a:t> </a:t>
            </a:r>
            <a:r>
              <a:rPr sz="2400" spc="-10" dirty="0">
                <a:latin typeface="Courier New"/>
                <a:cs typeface="Courier New"/>
              </a:rPr>
              <a:t>i=1;i&lt;=10;i++)</a:t>
            </a:r>
            <a:endParaRPr sz="2400" dirty="0">
              <a:latin typeface="Courier New"/>
              <a:cs typeface="Courier New"/>
            </a:endParaRPr>
          </a:p>
          <a:p>
            <a:pPr marL="12700">
              <a:lnSpc>
                <a:spcPct val="100000"/>
              </a:lnSpc>
              <a:spcBef>
                <a:spcPts val="310"/>
              </a:spcBef>
            </a:pPr>
            <a:r>
              <a:rPr sz="2400" spc="-50" dirty="0">
                <a:latin typeface="Courier New"/>
                <a:cs typeface="Courier New"/>
              </a:rPr>
              <a:t>{</a:t>
            </a:r>
            <a:endParaRPr sz="2400" dirty="0">
              <a:latin typeface="Courier New"/>
              <a:cs typeface="Courier New"/>
            </a:endParaRPr>
          </a:p>
          <a:p>
            <a:pPr marL="927100">
              <a:lnSpc>
                <a:spcPct val="100000"/>
              </a:lnSpc>
              <a:spcBef>
                <a:spcPts val="315"/>
              </a:spcBef>
            </a:pPr>
            <a:r>
              <a:rPr sz="2400" b="1" spc="-10" dirty="0">
                <a:latin typeface="Courier New"/>
                <a:cs typeface="Courier New"/>
              </a:rPr>
              <a:t>if</a:t>
            </a:r>
            <a:r>
              <a:rPr sz="2400" spc="-10" dirty="0">
                <a:latin typeface="Courier New"/>
                <a:cs typeface="Courier New"/>
              </a:rPr>
              <a:t>(i==5)</a:t>
            </a:r>
            <a:endParaRPr sz="2400" dirty="0">
              <a:latin typeface="Courier New"/>
              <a:cs typeface="Courier New"/>
            </a:endParaRPr>
          </a:p>
          <a:p>
            <a:pPr marL="927100">
              <a:lnSpc>
                <a:spcPct val="100000"/>
              </a:lnSpc>
              <a:spcBef>
                <a:spcPts val="315"/>
              </a:spcBef>
            </a:pPr>
            <a:r>
              <a:rPr sz="2400" spc="-50" dirty="0">
                <a:latin typeface="Courier New"/>
                <a:cs typeface="Courier New"/>
              </a:rPr>
              <a:t>{</a:t>
            </a:r>
            <a:endParaRPr sz="2400" dirty="0">
              <a:latin typeface="Courier New"/>
              <a:cs typeface="Courier New"/>
            </a:endParaRPr>
          </a:p>
          <a:p>
            <a:pPr marL="1841500">
              <a:lnSpc>
                <a:spcPct val="100000"/>
              </a:lnSpc>
              <a:spcBef>
                <a:spcPts val="310"/>
              </a:spcBef>
            </a:pPr>
            <a:r>
              <a:rPr sz="2400" b="1" spc="-10" dirty="0">
                <a:latin typeface="Courier New"/>
                <a:cs typeface="Courier New"/>
              </a:rPr>
              <a:t>continue</a:t>
            </a:r>
            <a:r>
              <a:rPr sz="2400" spc="-10" dirty="0">
                <a:latin typeface="Courier New"/>
                <a:cs typeface="Courier New"/>
              </a:rPr>
              <a:t>;</a:t>
            </a:r>
            <a:endParaRPr sz="2400" dirty="0">
              <a:latin typeface="Courier New"/>
              <a:cs typeface="Courier New"/>
            </a:endParaRPr>
          </a:p>
          <a:p>
            <a:pPr marL="927100">
              <a:lnSpc>
                <a:spcPct val="100000"/>
              </a:lnSpc>
              <a:spcBef>
                <a:spcPts val="315"/>
              </a:spcBef>
            </a:pPr>
            <a:r>
              <a:rPr sz="2400" spc="-50" dirty="0">
                <a:latin typeface="Courier New"/>
                <a:cs typeface="Courier New"/>
              </a:rPr>
              <a:t>}</a:t>
            </a:r>
            <a:endParaRPr sz="2400" dirty="0">
              <a:latin typeface="Courier New"/>
              <a:cs typeface="Courier New"/>
            </a:endParaRPr>
          </a:p>
        </p:txBody>
      </p:sp>
      <p:sp>
        <p:nvSpPr>
          <p:cNvPr id="6" name="object 6"/>
          <p:cNvSpPr txBox="1"/>
          <p:nvPr/>
        </p:nvSpPr>
        <p:spPr>
          <a:xfrm>
            <a:off x="3127375" y="4891862"/>
            <a:ext cx="4043045" cy="391795"/>
          </a:xfrm>
          <a:prstGeom prst="rect">
            <a:avLst/>
          </a:prstGeom>
        </p:spPr>
        <p:txBody>
          <a:bodyPr vert="horz" wrap="square" lIns="0" tIns="12700" rIns="0" bIns="0" rtlCol="0">
            <a:spAutoFit/>
          </a:bodyPr>
          <a:lstStyle/>
          <a:p>
            <a:pPr marL="12700">
              <a:lnSpc>
                <a:spcPct val="100000"/>
              </a:lnSpc>
              <a:spcBef>
                <a:spcPts val="100"/>
              </a:spcBef>
            </a:pPr>
            <a:r>
              <a:rPr sz="2400" spc="-10" dirty="0">
                <a:latin typeface="Courier New"/>
                <a:cs typeface="Courier New"/>
              </a:rPr>
              <a:t>System.out.println(i);</a:t>
            </a:r>
            <a:endParaRPr sz="2400" dirty="0">
              <a:latin typeface="Courier New"/>
              <a:cs typeface="Courier New"/>
            </a:endParaRPr>
          </a:p>
        </p:txBody>
      </p:sp>
      <p:sp>
        <p:nvSpPr>
          <p:cNvPr id="7" name="object 7"/>
          <p:cNvSpPr txBox="1"/>
          <p:nvPr/>
        </p:nvSpPr>
        <p:spPr>
          <a:xfrm>
            <a:off x="2212594" y="5297830"/>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8" name="object 8"/>
          <p:cNvSpPr txBox="1"/>
          <p:nvPr/>
        </p:nvSpPr>
        <p:spPr>
          <a:xfrm>
            <a:off x="1298194" y="5703214"/>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9" name="object 9"/>
          <p:cNvSpPr txBox="1"/>
          <p:nvPr/>
        </p:nvSpPr>
        <p:spPr>
          <a:xfrm>
            <a:off x="383540" y="6108598"/>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3928C2-22CB-2DB6-D488-A77363E8BCDD}"/>
              </a:ext>
            </a:extLst>
          </p:cNvPr>
          <p:cNvSpPr>
            <a:spLocks noGrp="1"/>
          </p:cNvSpPr>
          <p:nvPr>
            <p:ph idx="1"/>
          </p:nvPr>
        </p:nvSpPr>
        <p:spPr>
          <a:xfrm>
            <a:off x="457200" y="533400"/>
            <a:ext cx="8229600" cy="5592763"/>
          </a:xfrm>
        </p:spPr>
        <p:txBody>
          <a:bodyPr>
            <a:normAutofit fontScale="92500" lnSpcReduction="10000"/>
          </a:bodyPr>
          <a:lstStyle/>
          <a:p>
            <a:pPr marL="0" indent="0" algn="ctr">
              <a:buNone/>
            </a:pPr>
            <a:r>
              <a:rPr lang="en-US" b="1" dirty="0">
                <a:latin typeface="Times New Roman" panose="02020603050405020304" pitchFamily="18" charset="0"/>
                <a:cs typeface="Times New Roman" panose="02020603050405020304" pitchFamily="18" charset="0"/>
              </a:rPr>
              <a:t>return statement</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Java, the </a:t>
            </a:r>
            <a:r>
              <a:rPr lang="en-US" b="1" dirty="0">
                <a:latin typeface="Times New Roman" panose="02020603050405020304" pitchFamily="18" charset="0"/>
                <a:cs typeface="Times New Roman" panose="02020603050405020304" pitchFamily="18" charset="0"/>
              </a:rPr>
              <a:t>return statement</a:t>
            </a:r>
            <a:r>
              <a:rPr lang="en-US" dirty="0">
                <a:latin typeface="Times New Roman" panose="02020603050405020304" pitchFamily="18" charset="0"/>
                <a:cs typeface="Times New Roman" panose="02020603050405020304" pitchFamily="18" charset="0"/>
              </a:rPr>
              <a:t> is a jump statement that immediately </a:t>
            </a:r>
            <a:r>
              <a:rPr lang="en-US" b="1" dirty="0">
                <a:latin typeface="Times New Roman" panose="02020603050405020304" pitchFamily="18" charset="0"/>
                <a:cs typeface="Times New Roman" panose="02020603050405020304" pitchFamily="18" charset="0"/>
              </a:rPr>
              <a:t>terminates the execution of the current method</a:t>
            </a:r>
            <a:r>
              <a:rPr lang="en-US" dirty="0">
                <a:latin typeface="Times New Roman" panose="02020603050405020304" pitchFamily="18" charset="0"/>
                <a:cs typeface="Times New Roman" panose="02020603050405020304" pitchFamily="18" charset="0"/>
              </a:rPr>
              <a:t> and passes the control back to the calling method.</a:t>
            </a:r>
          </a:p>
          <a:p>
            <a:pPr algn="just"/>
            <a:r>
              <a:rPr lang="en-US" dirty="0"/>
              <a:t>The return keyword is used in two ways, depending on whether the method returns a data value or is declared void</a:t>
            </a:r>
          </a:p>
          <a:p>
            <a:pPr marL="0" indent="0" algn="just">
              <a:buNone/>
            </a:pPr>
            <a:r>
              <a:rPr lang="en-US" b="1" dirty="0">
                <a:solidFill>
                  <a:srgbClr val="FF0000"/>
                </a:solidFill>
              </a:rPr>
              <a:t>Syntax:- </a:t>
            </a:r>
          </a:p>
          <a:p>
            <a:pPr marL="0" indent="0" algn="just">
              <a:buNone/>
            </a:pPr>
            <a:r>
              <a:rPr lang="en-US" b="1" dirty="0"/>
              <a:t>return value; </a:t>
            </a:r>
            <a:r>
              <a:rPr lang="en-US" dirty="0"/>
              <a:t>// Used in methods that have a specific return type </a:t>
            </a:r>
          </a:p>
          <a:p>
            <a:pPr marL="0" indent="0" algn="just">
              <a:buNone/>
            </a:pPr>
            <a:r>
              <a:rPr lang="en-US" b="1" dirty="0"/>
              <a:t>return; </a:t>
            </a:r>
            <a:r>
              <a:rPr lang="en-US" dirty="0"/>
              <a:t>// Used in void methods to exit early</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3154664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A19C5DE-6BD5-0CD7-61DC-336A641A2571}"/>
              </a:ext>
            </a:extLst>
          </p:cNvPr>
          <p:cNvSpPr>
            <a:spLocks noGrp="1"/>
          </p:cNvSpPr>
          <p:nvPr>
            <p:ph idx="1"/>
          </p:nvPr>
        </p:nvSpPr>
        <p:spPr>
          <a:xfrm>
            <a:off x="457200" y="304800"/>
            <a:ext cx="8229600" cy="5821363"/>
          </a:xfrm>
        </p:spPr>
        <p:txBody>
          <a:bodyPr>
            <a:normAutofit/>
          </a:bodyPr>
          <a:lstStyle/>
          <a:p>
            <a:pPr marL="0" indent="0">
              <a:lnSpc>
                <a:spcPct val="120000"/>
              </a:lnSpc>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Calculatorreturn</a:t>
            </a:r>
            <a:r>
              <a:rPr lang="en-US" sz="2400" dirty="0">
                <a:latin typeface="Times New Roman" panose="02020603050405020304" pitchFamily="18" charset="0"/>
                <a:cs typeface="Times New Roman" panose="02020603050405020304" pitchFamily="18" charset="0"/>
              </a:rPr>
              <a:t> {</a:t>
            </a:r>
          </a:p>
          <a:p>
            <a:pPr marL="0" indent="0">
              <a:lnSpc>
                <a:spcPct val="120000"/>
              </a:lnSpc>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lnSpc>
                <a:spcPct val="120000"/>
              </a:lnSpc>
              <a:buNone/>
            </a:pP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outcome = </a:t>
            </a:r>
            <a:r>
              <a:rPr lang="en-US" sz="2400" i="1" dirty="0" err="1">
                <a:latin typeface="Times New Roman" panose="02020603050405020304" pitchFamily="18" charset="0"/>
                <a:cs typeface="Times New Roman" panose="02020603050405020304" pitchFamily="18" charset="0"/>
              </a:rPr>
              <a:t>addNumbers</a:t>
            </a:r>
            <a:r>
              <a:rPr lang="en-US" sz="2400" dirty="0">
                <a:latin typeface="Times New Roman" panose="02020603050405020304" pitchFamily="18" charset="0"/>
                <a:cs typeface="Times New Roman" panose="02020603050405020304" pitchFamily="18" charset="0"/>
              </a:rPr>
              <a:t>(10, 5); // Receives control and value back</a:t>
            </a:r>
          </a:p>
          <a:p>
            <a:pPr marL="0" indent="0">
              <a:lnSpc>
                <a:spcPct val="120000"/>
              </a:lnSpc>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("Total: " + outcome);</a:t>
            </a:r>
          </a:p>
          <a:p>
            <a:pPr marL="0" indent="0">
              <a:lnSpc>
                <a:spcPct val="120000"/>
              </a:lnSpc>
              <a:buNone/>
            </a:pPr>
            <a:r>
              <a:rPr lang="en-US" sz="2400" dirty="0">
                <a:latin typeface="Times New Roman" panose="02020603050405020304" pitchFamily="18" charset="0"/>
                <a:cs typeface="Times New Roman" panose="02020603050405020304" pitchFamily="18" charset="0"/>
              </a:rPr>
              <a:t>}</a:t>
            </a:r>
          </a:p>
          <a:p>
            <a:pPr marL="0" indent="0">
              <a:lnSpc>
                <a:spcPct val="120000"/>
              </a:lnSpc>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addNumbers</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 </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b) {</a:t>
            </a:r>
          </a:p>
          <a:p>
            <a:pPr marL="0" indent="0">
              <a:lnSpc>
                <a:spcPct val="120000"/>
              </a:lnSpc>
              <a:buNone/>
            </a:pPr>
            <a:r>
              <a:rPr lang="en-US" sz="2400" b="1" dirty="0">
                <a:latin typeface="Times New Roman" panose="02020603050405020304" pitchFamily="18" charset="0"/>
                <a:cs typeface="Times New Roman" panose="02020603050405020304" pitchFamily="18" charset="0"/>
              </a:rPr>
              <a:t>return</a:t>
            </a:r>
            <a:r>
              <a:rPr lang="en-US" sz="2400" dirty="0">
                <a:latin typeface="Times New Roman" panose="02020603050405020304" pitchFamily="18" charset="0"/>
                <a:cs typeface="Times New Roman" panose="02020603050405020304" pitchFamily="18" charset="0"/>
              </a:rPr>
              <a:t> a + b; // Instantly jumps back to main with the sum</a:t>
            </a:r>
          </a:p>
          <a:p>
            <a:pPr marL="0" indent="0">
              <a:lnSpc>
                <a:spcPct val="120000"/>
              </a:lnSpc>
              <a:buNone/>
            </a:pPr>
            <a:r>
              <a:rPr lang="en-US" sz="2400" dirty="0">
                <a:latin typeface="Times New Roman" panose="02020603050405020304" pitchFamily="18" charset="0"/>
                <a:cs typeface="Times New Roman" panose="02020603050405020304" pitchFamily="18" charset="0"/>
              </a:rPr>
              <a:t>}</a:t>
            </a:r>
          </a:p>
          <a:p>
            <a:pPr marL="0" indent="0">
              <a:lnSpc>
                <a:spcPct val="120000"/>
              </a:lnSpc>
              <a:buNone/>
            </a:pPr>
            <a:r>
              <a:rPr lang="en-US" sz="24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61478591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A6E9A5-E138-9FBE-051D-88F22936D989}"/>
              </a:ext>
            </a:extLst>
          </p:cNvPr>
          <p:cNvSpPr>
            <a:spLocks noGrp="1"/>
          </p:cNvSpPr>
          <p:nvPr>
            <p:ph idx="1"/>
          </p:nvPr>
        </p:nvSpPr>
        <p:spPr>
          <a:xfrm>
            <a:off x="457200" y="190500"/>
            <a:ext cx="8229600" cy="6477000"/>
          </a:xfrm>
        </p:spPr>
        <p:txBody>
          <a:bodyPr>
            <a:normAutofit fontScale="92500" lnSpcReduction="10000"/>
          </a:bodyPr>
          <a:lstStyle/>
          <a:p>
            <a:pPr marL="0" indent="0" algn="ctr">
              <a:buNone/>
            </a:pPr>
            <a:r>
              <a:rPr lang="en-US" sz="2200" b="1" dirty="0">
                <a:solidFill>
                  <a:srgbClr val="FF0000"/>
                </a:solidFill>
                <a:latin typeface="Times New Roman" panose="02020603050405020304" pitchFamily="18" charset="0"/>
                <a:cs typeface="Times New Roman" panose="02020603050405020304" pitchFamily="18" charset="0"/>
              </a:rPr>
              <a:t>TYPE CONVERSION AND CASTING </a:t>
            </a:r>
            <a:endParaRPr lang="en-US" sz="2200" dirty="0">
              <a:solidFill>
                <a:srgbClr val="FF0000"/>
              </a:solidFill>
              <a:latin typeface="Times New Roman" panose="02020603050405020304" pitchFamily="18" charset="0"/>
              <a:cs typeface="Times New Roman" panose="02020603050405020304" pitchFamily="18" charset="0"/>
            </a:endParaRPr>
          </a:p>
          <a:p>
            <a:pPr marL="0" indent="0" algn="just">
              <a:buNone/>
            </a:pPr>
            <a:r>
              <a:rPr lang="en-US" sz="2200" b="1" dirty="0">
                <a:solidFill>
                  <a:srgbClr val="FF0000"/>
                </a:solidFill>
                <a:latin typeface="Times New Roman" panose="02020603050405020304" pitchFamily="18" charset="0"/>
                <a:cs typeface="Times New Roman" panose="02020603050405020304" pitchFamily="18" charset="0"/>
              </a:rPr>
              <a:t>Type Casting </a:t>
            </a:r>
            <a:endParaRPr lang="en-US" sz="2200" dirty="0">
              <a:solidFill>
                <a:srgbClr val="FF0000"/>
              </a:solidFill>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When a data type is converted into another data type by a programmer using the casting operator </a:t>
            </a:r>
            <a:r>
              <a:rPr lang="en-US" sz="2200" b="1" i="1" dirty="0">
                <a:solidFill>
                  <a:srgbClr val="C00000"/>
                </a:solidFill>
                <a:latin typeface="Times New Roman" panose="02020603050405020304" pitchFamily="18" charset="0"/>
                <a:cs typeface="Times New Roman" panose="02020603050405020304" pitchFamily="18" charset="0"/>
              </a:rPr>
              <a:t>while writing a program code</a:t>
            </a:r>
            <a:r>
              <a:rPr lang="en-US" sz="2200" dirty="0">
                <a:latin typeface="Times New Roman" panose="02020603050405020304" pitchFamily="18" charset="0"/>
                <a:cs typeface="Times New Roman" panose="02020603050405020304" pitchFamily="18" charset="0"/>
              </a:rPr>
              <a:t>, the mechanism is known as </a:t>
            </a:r>
            <a:r>
              <a:rPr lang="en-US" sz="2200" b="1" dirty="0">
                <a:latin typeface="Times New Roman" panose="02020603050405020304" pitchFamily="18" charset="0"/>
                <a:cs typeface="Times New Roman" panose="02020603050405020304" pitchFamily="18" charset="0"/>
              </a:rPr>
              <a:t>type casting</a:t>
            </a:r>
            <a:r>
              <a:rPr lang="en-US" sz="2200"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 In typing casting, the destination </a:t>
            </a:r>
            <a:r>
              <a:rPr lang="en-US" sz="2200" b="1" i="1" dirty="0">
                <a:solidFill>
                  <a:srgbClr val="C00000"/>
                </a:solidFill>
                <a:latin typeface="Times New Roman" panose="02020603050405020304" pitchFamily="18" charset="0"/>
                <a:cs typeface="Times New Roman" panose="02020603050405020304" pitchFamily="18" charset="0"/>
              </a:rPr>
              <a:t>data type may be smaller than the source data type</a:t>
            </a:r>
            <a:r>
              <a:rPr lang="en-US" sz="2200" dirty="0">
                <a:latin typeface="Times New Roman" panose="02020603050405020304" pitchFamily="18" charset="0"/>
                <a:cs typeface="Times New Roman" panose="02020603050405020304" pitchFamily="18" charset="0"/>
              </a:rPr>
              <a:t> when converting the data type to another data type, that’s why it is also called </a:t>
            </a:r>
            <a:r>
              <a:rPr lang="en-US" sz="2600" b="1" i="1" dirty="0">
                <a:solidFill>
                  <a:srgbClr val="FF0000"/>
                </a:solidFill>
                <a:latin typeface="Times New Roman" panose="02020603050405020304" pitchFamily="18" charset="0"/>
                <a:cs typeface="Times New Roman" panose="02020603050405020304" pitchFamily="18" charset="0"/>
              </a:rPr>
              <a:t>narrowing</a:t>
            </a:r>
            <a:r>
              <a:rPr lang="en-US" sz="2200" b="1" dirty="0">
                <a:latin typeface="Times New Roman" panose="02020603050405020304" pitchFamily="18" charset="0"/>
                <a:cs typeface="Times New Roman" panose="02020603050405020304" pitchFamily="18" charset="0"/>
              </a:rPr>
              <a:t> conversion</a:t>
            </a:r>
            <a:r>
              <a:rPr lang="en-US" sz="2200"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But it is possible for conversion between </a:t>
            </a:r>
            <a:r>
              <a:rPr lang="en-US" sz="2200" b="1" dirty="0">
                <a:latin typeface="Times New Roman" panose="02020603050405020304" pitchFamily="18" charset="0"/>
                <a:cs typeface="Times New Roman" panose="02020603050405020304" pitchFamily="18" charset="0"/>
              </a:rPr>
              <a:t>incompatible types</a:t>
            </a:r>
            <a:r>
              <a:rPr lang="en-US" sz="2200" dirty="0">
                <a:latin typeface="Times New Roman" panose="02020603050405020304" pitchFamily="18" charset="0"/>
                <a:cs typeface="Times New Roman" panose="02020603050405020304" pitchFamily="18" charset="0"/>
              </a:rPr>
              <a:t>. To do so, you must use a </a:t>
            </a:r>
            <a:r>
              <a:rPr lang="en-US" sz="2200" b="1" dirty="0">
                <a:latin typeface="Times New Roman" panose="02020603050405020304" pitchFamily="18" charset="0"/>
                <a:cs typeface="Times New Roman" panose="02020603050405020304" pitchFamily="18" charset="0"/>
              </a:rPr>
              <a:t>cast</a:t>
            </a:r>
            <a:r>
              <a:rPr lang="en-US" sz="2200" dirty="0">
                <a:latin typeface="Times New Roman" panose="02020603050405020304" pitchFamily="18" charset="0"/>
                <a:cs typeface="Times New Roman" panose="02020603050405020304" pitchFamily="18" charset="0"/>
              </a:rPr>
              <a:t>, which performs an </a:t>
            </a:r>
            <a:r>
              <a:rPr lang="en-US" sz="2200" b="1" dirty="0">
                <a:latin typeface="Times New Roman" panose="02020603050405020304" pitchFamily="18" charset="0"/>
                <a:cs typeface="Times New Roman" panose="02020603050405020304" pitchFamily="18" charset="0"/>
              </a:rPr>
              <a:t>explicit conversion between incompatible types</a:t>
            </a:r>
            <a:r>
              <a:rPr lang="en-US" sz="2200" dirty="0">
                <a:latin typeface="Times New Roman" panose="02020603050405020304" pitchFamily="18" charset="0"/>
                <a:cs typeface="Times New Roman" panose="02020603050405020304" pitchFamily="18" charset="0"/>
              </a:rPr>
              <a:t>. </a:t>
            </a:r>
          </a:p>
          <a:p>
            <a:pPr marL="0" indent="0" algn="just">
              <a:buNone/>
            </a:pPr>
            <a:r>
              <a:rPr lang="en-US" sz="2200" b="1" dirty="0">
                <a:latin typeface="Times New Roman" panose="02020603050405020304" pitchFamily="18" charset="0"/>
                <a:cs typeface="Times New Roman" panose="02020603050405020304" pitchFamily="18" charset="0"/>
              </a:rPr>
              <a:t>Syntax </a:t>
            </a:r>
            <a:endParaRPr lang="en-US" sz="2200" dirty="0">
              <a:latin typeface="Times New Roman" panose="02020603050405020304" pitchFamily="18" charset="0"/>
              <a:cs typeface="Times New Roman" panose="02020603050405020304" pitchFamily="18" charset="0"/>
            </a:endParaRPr>
          </a:p>
          <a:p>
            <a:pPr marL="0" indent="0" algn="ctr">
              <a:buNone/>
            </a:pPr>
            <a:r>
              <a:rPr lang="en-US" sz="2200" i="1" dirty="0" err="1">
                <a:solidFill>
                  <a:srgbClr val="FF0000"/>
                </a:solidFill>
                <a:latin typeface="Times New Roman" panose="02020603050405020304" pitchFamily="18" charset="0"/>
                <a:cs typeface="Times New Roman" panose="02020603050405020304" pitchFamily="18" charset="0"/>
              </a:rPr>
              <a:t>destination_datatype</a:t>
            </a:r>
            <a:r>
              <a:rPr lang="en-US" sz="2200" i="1" dirty="0">
                <a:solidFill>
                  <a:srgbClr val="FF0000"/>
                </a:solidFill>
                <a:latin typeface="Times New Roman" panose="02020603050405020304" pitchFamily="18" charset="0"/>
                <a:cs typeface="Times New Roman" panose="02020603050405020304" pitchFamily="18" charset="0"/>
              </a:rPr>
              <a:t> = (</a:t>
            </a:r>
            <a:r>
              <a:rPr lang="en-US" sz="2200" i="1" dirty="0" err="1">
                <a:solidFill>
                  <a:srgbClr val="FF0000"/>
                </a:solidFill>
                <a:latin typeface="Times New Roman" panose="02020603050405020304" pitchFamily="18" charset="0"/>
                <a:cs typeface="Times New Roman" panose="02020603050405020304" pitchFamily="18" charset="0"/>
              </a:rPr>
              <a:t>target_datatype</a:t>
            </a:r>
            <a:r>
              <a:rPr lang="en-US" sz="2200" i="1" dirty="0">
                <a:solidFill>
                  <a:srgbClr val="FF0000"/>
                </a:solidFill>
                <a:latin typeface="Times New Roman" panose="02020603050405020304" pitchFamily="18" charset="0"/>
                <a:cs typeface="Times New Roman" panose="02020603050405020304" pitchFamily="18" charset="0"/>
              </a:rPr>
              <a:t>)variable; </a:t>
            </a:r>
          </a:p>
          <a:p>
            <a:pPr marL="0" indent="0" algn="just">
              <a:buNone/>
            </a:pPr>
            <a:r>
              <a:rPr lang="en-US" sz="2200" b="1" dirty="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is a casting operator. </a:t>
            </a:r>
          </a:p>
          <a:p>
            <a:pPr marL="0" indent="0">
              <a:buNone/>
            </a:pPr>
            <a:r>
              <a:rPr lang="en-US" sz="2000" b="1" dirty="0" err="1">
                <a:latin typeface="Times New Roman" panose="02020603050405020304" pitchFamily="18" charset="0"/>
                <a:cs typeface="Times New Roman" panose="02020603050405020304" pitchFamily="18" charset="0"/>
              </a:rPr>
              <a:t>target_datatype</a:t>
            </a:r>
            <a:r>
              <a:rPr lang="en-US" sz="2000" b="1" dirty="0">
                <a:latin typeface="Times New Roman" panose="02020603050405020304" pitchFamily="18" charset="0"/>
                <a:cs typeface="Times New Roman" panose="02020603050405020304" pitchFamily="18" charset="0"/>
              </a:rPr>
              <a:t> : </a:t>
            </a:r>
            <a:r>
              <a:rPr lang="en-US" sz="2000" dirty="0">
                <a:latin typeface="Times New Roman" panose="02020603050405020304" pitchFamily="18" charset="0"/>
                <a:cs typeface="Times New Roman" panose="02020603050405020304" pitchFamily="18" charset="0"/>
              </a:rPr>
              <a:t>is a data type in which we want to convert the source data type. </a:t>
            </a:r>
          </a:p>
          <a:p>
            <a:pPr marL="0" indent="0" algn="ctr">
              <a:buNone/>
            </a:pPr>
            <a:r>
              <a:rPr lang="en-US" sz="2000" b="1" dirty="0">
                <a:latin typeface="Times New Roman" panose="02020603050405020304" pitchFamily="18" charset="0"/>
                <a:cs typeface="Times New Roman" panose="02020603050405020304" pitchFamily="18" charset="0"/>
              </a:rPr>
              <a:t>Example </a:t>
            </a:r>
            <a:endParaRPr lang="en-US" sz="2000" dirty="0">
              <a:latin typeface="Times New Roman" panose="02020603050405020304" pitchFamily="18" charset="0"/>
              <a:cs typeface="Times New Roman" panose="02020603050405020304" pitchFamily="18" charset="0"/>
            </a:endParaRPr>
          </a:p>
          <a:p>
            <a:pPr marL="0" indent="0" algn="ctr">
              <a:buNone/>
            </a:pPr>
            <a:r>
              <a:rPr lang="en-US" sz="2000" dirty="0">
                <a:latin typeface="Times New Roman" panose="02020603050405020304" pitchFamily="18" charset="0"/>
                <a:cs typeface="Times New Roman" panose="02020603050405020304" pitchFamily="18" charset="0"/>
              </a:rPr>
              <a:t>float x; </a:t>
            </a:r>
          </a:p>
          <a:p>
            <a:pPr marL="0" indent="0" algn="ctr">
              <a:buNone/>
            </a:pPr>
            <a:r>
              <a:rPr lang="en-US" sz="2000" dirty="0">
                <a:latin typeface="Times New Roman" panose="02020603050405020304" pitchFamily="18" charset="0"/>
                <a:cs typeface="Times New Roman" panose="02020603050405020304" pitchFamily="18" charset="0"/>
              </a:rPr>
              <a:t>byte y; </a:t>
            </a:r>
          </a:p>
          <a:p>
            <a:pPr marL="0" indent="0" algn="ctr">
              <a:buNone/>
            </a:pPr>
            <a:r>
              <a:rPr lang="en-US" sz="2000" dirty="0">
                <a:latin typeface="Times New Roman" panose="02020603050405020304" pitchFamily="18" charset="0"/>
                <a:cs typeface="Times New Roman" panose="02020603050405020304" pitchFamily="18" charset="0"/>
              </a:rPr>
              <a:t>y=(byte)x; </a:t>
            </a:r>
          </a:p>
        </p:txBody>
      </p:sp>
    </p:spTree>
    <p:extLst>
      <p:ext uri="{BB962C8B-B14F-4D97-AF65-F5344CB8AC3E}">
        <p14:creationId xmlns:p14="http://schemas.microsoft.com/office/powerpoint/2010/main" val="135958931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6F5D1C-C53F-18A9-563A-C1DC58DAFC71}"/>
              </a:ext>
            </a:extLst>
          </p:cNvPr>
          <p:cNvSpPr>
            <a:spLocks noGrp="1"/>
          </p:cNvSpPr>
          <p:nvPr>
            <p:ph idx="1"/>
          </p:nvPr>
        </p:nvSpPr>
        <p:spPr>
          <a:xfrm>
            <a:off x="457200" y="44245"/>
            <a:ext cx="8229600" cy="6585155"/>
          </a:xfrm>
        </p:spPr>
        <p:txBody>
          <a:bodyPr>
            <a:normAutofit fontScale="70000" lnSpcReduction="20000"/>
          </a:bodyPr>
          <a:lstStyle/>
          <a:p>
            <a:pPr marL="0" indent="0">
              <a:buNone/>
            </a:pPr>
            <a:r>
              <a:rPr lang="en-US" b="1" dirty="0"/>
              <a:t>public</a:t>
            </a:r>
            <a:r>
              <a:rPr lang="en-US" dirty="0"/>
              <a:t> </a:t>
            </a:r>
            <a:r>
              <a:rPr lang="en-US" b="1" dirty="0"/>
              <a:t>class</a:t>
            </a:r>
            <a:r>
              <a:rPr lang="en-US" dirty="0"/>
              <a:t> </a:t>
            </a:r>
            <a:r>
              <a:rPr lang="en-US" dirty="0" err="1"/>
              <a:t>NarrowingTypeCastingExample</a:t>
            </a:r>
            <a:endParaRPr lang="en-US" dirty="0"/>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a:t>
            </a:r>
          </a:p>
          <a:p>
            <a:pPr marL="0" indent="0">
              <a:buNone/>
            </a:pPr>
            <a:r>
              <a:rPr lang="en-US" dirty="0"/>
              <a:t>{</a:t>
            </a:r>
          </a:p>
          <a:p>
            <a:pPr marL="0" indent="0">
              <a:buNone/>
            </a:pPr>
            <a:r>
              <a:rPr lang="en-US" b="1" dirty="0"/>
              <a:t>double</a:t>
            </a:r>
            <a:r>
              <a:rPr lang="en-US" dirty="0"/>
              <a:t> d = 166.66;</a:t>
            </a:r>
          </a:p>
          <a:p>
            <a:pPr marL="0" indent="0">
              <a:buNone/>
            </a:pPr>
            <a:r>
              <a:rPr lang="en-US" b="1" dirty="0"/>
              <a:t>int</a:t>
            </a:r>
            <a:r>
              <a:rPr lang="en-US" dirty="0"/>
              <a:t> </a:t>
            </a:r>
            <a:r>
              <a:rPr lang="en-US" dirty="0" err="1"/>
              <a:t>i</a:t>
            </a:r>
            <a:r>
              <a:rPr lang="en-US" dirty="0"/>
              <a:t> = (</a:t>
            </a:r>
            <a:r>
              <a:rPr lang="en-US" b="1" dirty="0"/>
              <a:t>int</a:t>
            </a:r>
            <a:r>
              <a:rPr lang="en-US" dirty="0"/>
              <a:t>)d;</a:t>
            </a:r>
          </a:p>
          <a:p>
            <a:pPr marL="0" indent="0">
              <a:buNone/>
            </a:pPr>
            <a:r>
              <a:rPr lang="en-US" dirty="0"/>
              <a:t>//float f = 16.6f;</a:t>
            </a:r>
          </a:p>
          <a:p>
            <a:pPr marL="0" indent="0">
              <a:buNone/>
            </a:pPr>
            <a:r>
              <a:rPr lang="en-US" dirty="0"/>
              <a:t>//</a:t>
            </a:r>
            <a:r>
              <a:rPr lang="en-US" u="sng" dirty="0"/>
              <a:t>int</a:t>
            </a:r>
            <a:r>
              <a:rPr lang="en-US" dirty="0"/>
              <a:t> </a:t>
            </a:r>
            <a:r>
              <a:rPr lang="en-US" dirty="0" err="1"/>
              <a:t>i</a:t>
            </a:r>
            <a:r>
              <a:rPr lang="en-US" dirty="0"/>
              <a:t> = (</a:t>
            </a:r>
            <a:r>
              <a:rPr lang="en-US" u="sng" dirty="0"/>
              <a:t>int</a:t>
            </a:r>
            <a:r>
              <a:rPr lang="en-US" dirty="0"/>
              <a:t>)f;</a:t>
            </a:r>
          </a:p>
          <a:p>
            <a:pPr marL="0" indent="0">
              <a:buNone/>
            </a:pPr>
            <a:r>
              <a:rPr lang="en-US" dirty="0" err="1"/>
              <a:t>System.</a:t>
            </a:r>
            <a:r>
              <a:rPr lang="en-US" b="1" i="1" dirty="0" err="1"/>
              <a:t>out</a:t>
            </a:r>
            <a:r>
              <a:rPr lang="en-US" dirty="0" err="1"/>
              <a:t>.println</a:t>
            </a:r>
            <a:r>
              <a:rPr lang="en-US" dirty="0"/>
              <a:t>("Before conversion: "+d);</a:t>
            </a:r>
          </a:p>
          <a:p>
            <a:pPr marL="0" indent="0">
              <a:buNone/>
            </a:pPr>
            <a:r>
              <a:rPr lang="en-US" dirty="0" err="1"/>
              <a:t>System.</a:t>
            </a:r>
            <a:r>
              <a:rPr lang="en-US" b="1" i="1" dirty="0" err="1"/>
              <a:t>out</a:t>
            </a:r>
            <a:r>
              <a:rPr lang="en-US" dirty="0" err="1"/>
              <a:t>.println</a:t>
            </a:r>
            <a:r>
              <a:rPr lang="en-US" dirty="0"/>
              <a:t>("After </a:t>
            </a:r>
            <a:r>
              <a:rPr lang="en-US" dirty="0" err="1"/>
              <a:t>conversiontype</a:t>
            </a:r>
            <a:r>
              <a:rPr lang="en-US" dirty="0"/>
              <a:t>: "+</a:t>
            </a:r>
            <a:r>
              <a:rPr lang="en-US" dirty="0" err="1"/>
              <a:t>i</a:t>
            </a:r>
            <a:r>
              <a:rPr lang="en-US" dirty="0"/>
              <a:t>);</a:t>
            </a:r>
          </a:p>
          <a:p>
            <a:pPr marL="0" indent="0">
              <a:buNone/>
            </a:pPr>
            <a:r>
              <a:rPr lang="en-US" dirty="0"/>
              <a:t>}</a:t>
            </a:r>
          </a:p>
          <a:p>
            <a:pPr marL="0" indent="0">
              <a:buNone/>
            </a:pPr>
            <a:r>
              <a:rPr lang="en-US" dirty="0"/>
              <a:t>}</a:t>
            </a:r>
          </a:p>
          <a:p>
            <a:pPr marL="0" indent="0">
              <a:buNone/>
            </a:pPr>
            <a:endParaRPr lang="en-US" dirty="0"/>
          </a:p>
          <a:p>
            <a:pPr marL="0" indent="0" algn="just">
              <a:buNone/>
            </a:pPr>
            <a:r>
              <a:rPr lang="en-US" b="1" dirty="0">
                <a:solidFill>
                  <a:srgbClr val="FF0000"/>
                </a:solidFill>
                <a:latin typeface="Times New Roman" panose="02020603050405020304" pitchFamily="18" charset="0"/>
                <a:cs typeface="Times New Roman" panose="02020603050405020304" pitchFamily="18" charset="0"/>
              </a:rPr>
              <a:t>Note:- </a:t>
            </a:r>
            <a:r>
              <a:rPr lang="en-US" dirty="0">
                <a:latin typeface="Times New Roman" panose="02020603050405020304" pitchFamily="18" charset="0"/>
                <a:cs typeface="Times New Roman" panose="02020603050405020304" pitchFamily="18" charset="0"/>
              </a:rPr>
              <a:t>A different type of conversion will occur when a floating-point value is assigned to an integer type: </a:t>
            </a:r>
            <a:r>
              <a:rPr lang="en-US" b="1" dirty="0">
                <a:solidFill>
                  <a:srgbClr val="FF0000"/>
                </a:solidFill>
                <a:latin typeface="Times New Roman" panose="02020603050405020304" pitchFamily="18" charset="0"/>
                <a:cs typeface="Times New Roman" panose="02020603050405020304" pitchFamily="18" charset="0"/>
              </a:rPr>
              <a:t>truncation</a:t>
            </a: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As integers do not have fractional components so, when a floating-point value is assigned to an integer type, the fractional component is lost. </a:t>
            </a:r>
          </a:p>
        </p:txBody>
      </p:sp>
    </p:spTree>
    <p:extLst>
      <p:ext uri="{BB962C8B-B14F-4D97-AF65-F5344CB8AC3E}">
        <p14:creationId xmlns:p14="http://schemas.microsoft.com/office/powerpoint/2010/main" val="382529884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5DDF90-7B79-4D74-E44A-E7A863838B47}"/>
              </a:ext>
            </a:extLst>
          </p:cNvPr>
          <p:cNvSpPr>
            <a:spLocks noGrp="1"/>
          </p:cNvSpPr>
          <p:nvPr>
            <p:ph idx="1"/>
          </p:nvPr>
        </p:nvSpPr>
        <p:spPr>
          <a:xfrm>
            <a:off x="457200" y="457200"/>
            <a:ext cx="8229600" cy="5668963"/>
          </a:xfrm>
        </p:spPr>
        <p:txBody>
          <a:bodyPr>
            <a:normAutofit/>
          </a:bodyPr>
          <a:lstStyle/>
          <a:p>
            <a:pPr marL="0" indent="0">
              <a:buNone/>
            </a:pPr>
            <a:r>
              <a:rPr lang="en-US" sz="2800" b="1" dirty="0">
                <a:latin typeface="Times New Roman" panose="02020603050405020304" pitchFamily="18" charset="0"/>
                <a:cs typeface="Times New Roman" panose="02020603050405020304" pitchFamily="18" charset="0"/>
              </a:rPr>
              <a:t>The Type Promotion Rules </a:t>
            </a:r>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Java defines several type promotion rules that apply to expressions. They are as follows: </a:t>
            </a:r>
          </a:p>
          <a:p>
            <a:r>
              <a:rPr lang="en-US" sz="2800" b="1" dirty="0">
                <a:latin typeface="Times New Roman" panose="02020603050405020304" pitchFamily="18" charset="0"/>
                <a:cs typeface="Times New Roman" panose="02020603050405020304" pitchFamily="18" charset="0"/>
              </a:rPr>
              <a:t>First</a:t>
            </a:r>
            <a:r>
              <a:rPr lang="en-US" sz="2800" dirty="0">
                <a:latin typeface="Times New Roman" panose="02020603050405020304" pitchFamily="18" charset="0"/>
                <a:cs typeface="Times New Roman" panose="02020603050405020304" pitchFamily="18" charset="0"/>
              </a:rPr>
              <a:t>, all byte, short, and char values are promoted to int, as just described.</a:t>
            </a:r>
          </a:p>
          <a:p>
            <a:r>
              <a:rPr lang="en-US" sz="2800" dirty="0">
                <a:latin typeface="Times New Roman" panose="02020603050405020304" pitchFamily="18" charset="0"/>
                <a:cs typeface="Times New Roman" panose="02020603050405020304" pitchFamily="18" charset="0"/>
              </a:rPr>
              <a:t> Then, if one operand is a long, the whole expression is promoted to long. </a:t>
            </a:r>
          </a:p>
          <a:p>
            <a:r>
              <a:rPr lang="en-US" sz="2800" dirty="0">
                <a:latin typeface="Times New Roman" panose="02020603050405020304" pitchFamily="18" charset="0"/>
                <a:cs typeface="Times New Roman" panose="02020603050405020304" pitchFamily="18" charset="0"/>
              </a:rPr>
              <a:t>If one operand is a float, the entire expression is promoted to float. </a:t>
            </a:r>
          </a:p>
          <a:p>
            <a:r>
              <a:rPr lang="en-US" sz="2800" dirty="0">
                <a:latin typeface="Times New Roman" panose="02020603050405020304" pitchFamily="18" charset="0"/>
                <a:cs typeface="Times New Roman" panose="02020603050405020304" pitchFamily="18" charset="0"/>
              </a:rPr>
              <a:t>If any of the operands is double, the result is double. </a:t>
            </a:r>
          </a:p>
        </p:txBody>
      </p:sp>
    </p:spTree>
    <p:extLst>
      <p:ext uri="{BB962C8B-B14F-4D97-AF65-F5344CB8AC3E}">
        <p14:creationId xmlns:p14="http://schemas.microsoft.com/office/powerpoint/2010/main" val="259995195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00B5CB-D360-16FE-57FD-F9FE8ACBA8E8}"/>
              </a:ext>
            </a:extLst>
          </p:cNvPr>
          <p:cNvSpPr>
            <a:spLocks noGrp="1"/>
          </p:cNvSpPr>
          <p:nvPr>
            <p:ph idx="1"/>
          </p:nvPr>
        </p:nvSpPr>
        <p:spPr>
          <a:xfrm>
            <a:off x="457200" y="0"/>
            <a:ext cx="8229600" cy="6126163"/>
          </a:xfrm>
        </p:spPr>
        <p:txBody>
          <a:bodyPr>
            <a:noAutofit/>
          </a:bodyPr>
          <a:lstStyle/>
          <a:p>
            <a:pPr marL="0" indent="0">
              <a:buNone/>
            </a:pPr>
            <a:r>
              <a:rPr lang="en-US" sz="2200" b="1" dirty="0">
                <a:solidFill>
                  <a:srgbClr val="FF0000"/>
                </a:solidFill>
                <a:latin typeface="Times New Roman" panose="02020603050405020304" pitchFamily="18" charset="0"/>
                <a:cs typeface="Times New Roman" panose="02020603050405020304" pitchFamily="18" charset="0"/>
              </a:rPr>
              <a:t>Type Conversion </a:t>
            </a:r>
            <a:endParaRPr lang="en-US" sz="2200" dirty="0">
              <a:solidFill>
                <a:srgbClr val="FF000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 If a data type is automatically converted into another data type </a:t>
            </a:r>
            <a:r>
              <a:rPr lang="en-US" sz="2200" b="1" i="1" dirty="0">
                <a:solidFill>
                  <a:srgbClr val="C00000"/>
                </a:solidFill>
                <a:latin typeface="Times New Roman" panose="02020603050405020304" pitchFamily="18" charset="0"/>
                <a:cs typeface="Times New Roman" panose="02020603050405020304" pitchFamily="18" charset="0"/>
              </a:rPr>
              <a:t>at compile time</a:t>
            </a:r>
            <a:r>
              <a:rPr lang="en-US" sz="2200" dirty="0">
                <a:latin typeface="Times New Roman" panose="02020603050405020304" pitchFamily="18" charset="0"/>
                <a:cs typeface="Times New Roman" panose="02020603050405020304" pitchFamily="18" charset="0"/>
              </a:rPr>
              <a:t> is known as type conversion. </a:t>
            </a: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The conversion is performed by the compiler if </a:t>
            </a:r>
            <a:r>
              <a:rPr lang="en-US" sz="2200" b="1" i="1" dirty="0">
                <a:solidFill>
                  <a:srgbClr val="C00000"/>
                </a:solidFill>
                <a:latin typeface="Times New Roman" panose="02020603050405020304" pitchFamily="18" charset="0"/>
                <a:cs typeface="Times New Roman" panose="02020603050405020304" pitchFamily="18" charset="0"/>
              </a:rPr>
              <a:t>both data types are compatible </a:t>
            </a:r>
            <a:r>
              <a:rPr lang="en-US" sz="2200" dirty="0">
                <a:latin typeface="Times New Roman" panose="02020603050405020304" pitchFamily="18" charset="0"/>
                <a:cs typeface="Times New Roman" panose="02020603050405020304" pitchFamily="18" charset="0"/>
              </a:rPr>
              <a:t>with each other. </a:t>
            </a: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 Remember that the </a:t>
            </a:r>
            <a:r>
              <a:rPr lang="en-US" sz="2200" b="1" i="1" dirty="0">
                <a:solidFill>
                  <a:srgbClr val="C00000"/>
                </a:solidFill>
                <a:latin typeface="Times New Roman" panose="02020603050405020304" pitchFamily="18" charset="0"/>
                <a:cs typeface="Times New Roman" panose="02020603050405020304" pitchFamily="18" charset="0"/>
              </a:rPr>
              <a:t>destination data type should not be smaller than the source type</a:t>
            </a:r>
            <a:r>
              <a:rPr lang="en-US" sz="2200" b="1" i="1" dirty="0">
                <a:solidFill>
                  <a:srgbClr val="FF0000"/>
                </a:solidFill>
                <a:latin typeface="Times New Roman" panose="02020603050405020304" pitchFamily="18" charset="0"/>
                <a:cs typeface="Times New Roman" panose="02020603050405020304" pitchFamily="18" charset="0"/>
              </a:rPr>
              <a:t>.</a:t>
            </a: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It is also known as </a:t>
            </a:r>
            <a:r>
              <a:rPr lang="en-US" sz="2200" b="1" i="1" dirty="0">
                <a:solidFill>
                  <a:srgbClr val="FF0000"/>
                </a:solidFill>
                <a:latin typeface="Times New Roman" panose="02020603050405020304" pitchFamily="18" charset="0"/>
                <a:cs typeface="Times New Roman" panose="02020603050405020304" pitchFamily="18" charset="0"/>
              </a:rPr>
              <a:t>widening</a:t>
            </a:r>
            <a:r>
              <a:rPr lang="en-US" sz="2200" b="1" dirty="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conversion of the data type.</a:t>
            </a:r>
          </a:p>
          <a:p>
            <a:pPr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However, </a:t>
            </a:r>
            <a:r>
              <a:rPr lang="en-US" sz="2000" b="1" i="1" dirty="0">
                <a:solidFill>
                  <a:srgbClr val="C00000"/>
                </a:solidFill>
                <a:latin typeface="Times New Roman" panose="02020603050405020304" pitchFamily="18" charset="0"/>
                <a:cs typeface="Times New Roman" panose="02020603050405020304" pitchFamily="18" charset="0"/>
              </a:rPr>
              <a:t>not all types are compatible, and thus, not all type conversions are implicitly allowed</a:t>
            </a:r>
            <a:r>
              <a:rPr lang="en-US" sz="2000" dirty="0">
                <a:latin typeface="Times New Roman" panose="02020603050405020304" pitchFamily="18" charset="0"/>
                <a:cs typeface="Times New Roman" panose="02020603050405020304" pitchFamily="18" charset="0"/>
              </a:rPr>
              <a:t>. For instance, there is no conversion defined from double to byte. </a:t>
            </a:r>
          </a:p>
          <a:p>
            <a:pPr marL="0" indent="0">
              <a:buNone/>
            </a:pPr>
            <a:r>
              <a:rPr lang="en-US" sz="2200" b="1" dirty="0">
                <a:latin typeface="Times New Roman" panose="02020603050405020304" pitchFamily="18" charset="0"/>
                <a:cs typeface="Times New Roman" panose="02020603050405020304" pitchFamily="18" charset="0"/>
              </a:rPr>
              <a:t>Example </a:t>
            </a:r>
            <a:endParaRPr lang="en-US" sz="2200" dirty="0">
              <a:latin typeface="Times New Roman" panose="02020603050405020304" pitchFamily="18" charset="0"/>
              <a:cs typeface="Times New Roman" panose="02020603050405020304" pitchFamily="18" charset="0"/>
            </a:endParaRPr>
          </a:p>
          <a:p>
            <a:pPr marL="0" indent="0">
              <a:buNone/>
            </a:pPr>
            <a:r>
              <a:rPr lang="en-US" sz="2200" dirty="0">
                <a:latin typeface="Times New Roman" panose="02020603050405020304" pitchFamily="18" charset="0"/>
                <a:cs typeface="Times New Roman" panose="02020603050405020304" pitchFamily="18" charset="0"/>
              </a:rPr>
              <a:t>int a = 20; </a:t>
            </a:r>
          </a:p>
          <a:p>
            <a:pPr marL="0" indent="0">
              <a:buNone/>
            </a:pPr>
            <a:r>
              <a:rPr lang="en-US" sz="2200" dirty="0">
                <a:latin typeface="Times New Roman" panose="02020603050405020304" pitchFamily="18" charset="0"/>
                <a:cs typeface="Times New Roman" panose="02020603050405020304" pitchFamily="18" charset="0"/>
              </a:rPr>
              <a:t>Float b;</a:t>
            </a:r>
          </a:p>
          <a:p>
            <a:pPr marL="0" indent="0">
              <a:buNone/>
            </a:pPr>
            <a:r>
              <a:rPr lang="en-US" sz="2200" dirty="0">
                <a:latin typeface="Times New Roman" panose="02020603050405020304" pitchFamily="18" charset="0"/>
                <a:cs typeface="Times New Roman" panose="02020603050405020304" pitchFamily="18" charset="0"/>
              </a:rPr>
              <a:t>b=a // Now  the value variable b is 20.000 </a:t>
            </a:r>
          </a:p>
        </p:txBody>
      </p:sp>
    </p:spTree>
    <p:extLst>
      <p:ext uri="{BB962C8B-B14F-4D97-AF65-F5344CB8AC3E}">
        <p14:creationId xmlns:p14="http://schemas.microsoft.com/office/powerpoint/2010/main" val="28128648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D3DD2E-3F5F-AA25-B39B-D477963EB189}"/>
              </a:ext>
            </a:extLst>
          </p:cNvPr>
          <p:cNvSpPr>
            <a:spLocks noGrp="1"/>
          </p:cNvSpPr>
          <p:nvPr>
            <p:ph idx="1"/>
          </p:nvPr>
        </p:nvSpPr>
        <p:spPr>
          <a:xfrm>
            <a:off x="457200" y="152400"/>
            <a:ext cx="8229600" cy="5973763"/>
          </a:xfrm>
        </p:spPr>
        <p:txBody>
          <a:bodyPr>
            <a:normAutofit/>
          </a:bodyPr>
          <a:lstStyle/>
          <a:p>
            <a:pPr marL="0" indent="0">
              <a:buNone/>
            </a:pPr>
            <a:r>
              <a:rPr lang="en-US" b="1" dirty="0"/>
              <a:t>public</a:t>
            </a:r>
            <a:r>
              <a:rPr lang="en-US" dirty="0"/>
              <a:t> </a:t>
            </a:r>
            <a:r>
              <a:rPr lang="en-US" b="1" dirty="0"/>
              <a:t>class</a:t>
            </a:r>
            <a:r>
              <a:rPr lang="en-US" dirty="0"/>
              <a:t> </a:t>
            </a:r>
            <a:r>
              <a:rPr lang="en-US" dirty="0" err="1"/>
              <a:t>WideningTypeCastingExample</a:t>
            </a:r>
            <a:endParaRPr lang="en-US" dirty="0"/>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a:t>
            </a:r>
          </a:p>
          <a:p>
            <a:pPr marL="0" indent="0">
              <a:buNone/>
            </a:pPr>
            <a:r>
              <a:rPr lang="en-US" dirty="0"/>
              <a:t>{</a:t>
            </a:r>
          </a:p>
          <a:p>
            <a:pPr marL="0" indent="0">
              <a:buNone/>
            </a:pPr>
            <a:r>
              <a:rPr lang="en-US" b="1" dirty="0"/>
              <a:t>int</a:t>
            </a:r>
            <a:r>
              <a:rPr lang="en-US" dirty="0"/>
              <a:t> x = 7;</a:t>
            </a:r>
          </a:p>
          <a:p>
            <a:pPr marL="0" indent="0">
              <a:buNone/>
            </a:pPr>
            <a:r>
              <a:rPr lang="en-US" b="1" dirty="0"/>
              <a:t>float</a:t>
            </a:r>
            <a:r>
              <a:rPr lang="en-US" dirty="0"/>
              <a:t> y = x;</a:t>
            </a:r>
          </a:p>
          <a:p>
            <a:pPr marL="0" indent="0">
              <a:buNone/>
            </a:pPr>
            <a:r>
              <a:rPr lang="en-US" dirty="0" err="1"/>
              <a:t>System.</a:t>
            </a:r>
            <a:r>
              <a:rPr lang="en-US" b="1" i="1" dirty="0" err="1"/>
              <a:t>out</a:t>
            </a:r>
            <a:r>
              <a:rPr lang="en-US" dirty="0" err="1"/>
              <a:t>.println</a:t>
            </a:r>
            <a:r>
              <a:rPr lang="en-US" dirty="0"/>
              <a:t>("After conversion, float value "+y);</a:t>
            </a:r>
          </a:p>
          <a:p>
            <a:pPr marL="0" indent="0">
              <a:buNone/>
            </a:pPr>
            <a:r>
              <a:rPr lang="en-US" dirty="0"/>
              <a:t>}</a:t>
            </a:r>
          </a:p>
          <a:p>
            <a:pPr marL="0" indent="0">
              <a:buNone/>
            </a:pP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4735601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12AFCA-2335-AB0A-FEF5-7763DAA95BBF}"/>
              </a:ext>
            </a:extLst>
          </p:cNvPr>
          <p:cNvSpPr>
            <a:spLocks noGrp="1"/>
          </p:cNvSpPr>
          <p:nvPr>
            <p:ph idx="1"/>
          </p:nvPr>
        </p:nvSpPr>
        <p:spPr>
          <a:xfrm>
            <a:off x="457200" y="228600"/>
            <a:ext cx="8229600" cy="5897563"/>
          </a:xfrm>
        </p:spPr>
        <p:txBody>
          <a:bodyPr>
            <a:normAutofit fontScale="62500" lnSpcReduction="20000"/>
          </a:bodyPr>
          <a:lstStyle/>
          <a:p>
            <a:pPr marL="0" indent="0" algn="ctr">
              <a:buNone/>
            </a:pPr>
            <a:r>
              <a:rPr lang="en-US" sz="3800" b="1" i="1" dirty="0">
                <a:solidFill>
                  <a:srgbClr val="FF0000"/>
                </a:solidFill>
                <a:latin typeface="Times New Roman" panose="02020603050405020304" pitchFamily="18" charset="0"/>
                <a:cs typeface="Times New Roman" panose="02020603050405020304" pitchFamily="18" charset="0"/>
              </a:rPr>
              <a:t>Classes and Objects</a:t>
            </a:r>
            <a:endParaRPr lang="en-US" sz="3800" dirty="0">
              <a:solidFill>
                <a:srgbClr val="000000"/>
              </a:solidFill>
              <a:latin typeface="Times New Roman" panose="02020603050405020304" pitchFamily="18" charset="0"/>
              <a:cs typeface="Times New Roman" panose="02020603050405020304" pitchFamily="18" charset="0"/>
            </a:endParaRPr>
          </a:p>
          <a:p>
            <a:pPr marL="0" indent="0">
              <a:buNone/>
            </a:pPr>
            <a:r>
              <a:rPr lang="en-US" b="1" dirty="0">
                <a:solidFill>
                  <a:srgbClr val="FF0000"/>
                </a:solidFill>
                <a:latin typeface="Times New Roman" panose="02020603050405020304" pitchFamily="18" charset="0"/>
                <a:cs typeface="Times New Roman" panose="02020603050405020304" pitchFamily="18" charset="0"/>
              </a:rPr>
              <a:t>Class Characteristics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Identity </a:t>
            </a:r>
            <a:r>
              <a:rPr lang="en-US" dirty="0">
                <a:latin typeface="Times New Roman" panose="02020603050405020304" pitchFamily="18" charset="0"/>
                <a:cs typeface="Times New Roman" panose="02020603050405020304" pitchFamily="18" charset="0"/>
              </a:rPr>
              <a:t>- It is the name given to the class. </a:t>
            </a:r>
          </a:p>
          <a:p>
            <a:pPr marL="0" indent="0">
              <a:buNone/>
            </a:pPr>
            <a:r>
              <a:rPr lang="en-US" b="1" dirty="0">
                <a:latin typeface="Times New Roman" panose="02020603050405020304" pitchFamily="18" charset="0"/>
                <a:cs typeface="Times New Roman" panose="02020603050405020304" pitchFamily="18" charset="0"/>
              </a:rPr>
              <a:t>State </a:t>
            </a:r>
            <a:r>
              <a:rPr lang="en-US" dirty="0">
                <a:latin typeface="Times New Roman" panose="02020603050405020304" pitchFamily="18" charset="0"/>
                <a:cs typeface="Times New Roman" panose="02020603050405020304" pitchFamily="18" charset="0"/>
              </a:rPr>
              <a:t>- Represents data values that are associated with an object. </a:t>
            </a:r>
          </a:p>
          <a:p>
            <a:pPr marL="0" indent="0">
              <a:buNone/>
            </a:pPr>
            <a:r>
              <a:rPr lang="en-US" b="1" dirty="0">
                <a:latin typeface="Times New Roman" panose="02020603050405020304" pitchFamily="18" charset="0"/>
                <a:cs typeface="Times New Roman" panose="02020603050405020304" pitchFamily="18" charset="0"/>
              </a:rPr>
              <a:t>Behavior </a:t>
            </a:r>
            <a:r>
              <a:rPr lang="en-US" dirty="0">
                <a:latin typeface="Times New Roman" panose="02020603050405020304" pitchFamily="18" charset="0"/>
                <a:cs typeface="Times New Roman" panose="02020603050405020304" pitchFamily="18" charset="0"/>
              </a:rPr>
              <a:t>- Represents actions can be performed by an object. </a:t>
            </a:r>
          </a:p>
          <a:p>
            <a:pPr marL="0" indent="0">
              <a:buNone/>
            </a:pPr>
            <a:r>
              <a:rPr lang="en-US" b="1" dirty="0">
                <a:solidFill>
                  <a:srgbClr val="FF0000"/>
                </a:solidFill>
                <a:latin typeface="Times New Roman" panose="02020603050405020304" pitchFamily="18" charset="0"/>
                <a:cs typeface="Times New Roman" panose="02020603050405020304" pitchFamily="18" charset="0"/>
              </a:rPr>
              <a:t>Properties of Java Classes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1. </a:t>
            </a:r>
            <a:r>
              <a:rPr lang="en-US" b="1" dirty="0">
                <a:latin typeface="Times New Roman" panose="02020603050405020304" pitchFamily="18" charset="0"/>
                <a:cs typeface="Times New Roman" panose="02020603050405020304" pitchFamily="18" charset="0"/>
              </a:rPr>
              <a:t>Class is not a real-world entity</a:t>
            </a:r>
            <a:r>
              <a:rPr lang="en-US" dirty="0">
                <a:latin typeface="Times New Roman" panose="02020603050405020304" pitchFamily="18" charset="0"/>
                <a:cs typeface="Times New Roman" panose="02020603050405020304" pitchFamily="18" charset="0"/>
              </a:rPr>
              <a:t>. It is just a template or blueprint or prototype from which objects </a:t>
            </a:r>
          </a:p>
          <a:p>
            <a:pPr marL="0" indent="0">
              <a:buNone/>
            </a:pPr>
            <a:r>
              <a:rPr lang="en-US" dirty="0">
                <a:latin typeface="Times New Roman" panose="02020603050405020304" pitchFamily="18" charset="0"/>
                <a:cs typeface="Times New Roman" panose="02020603050405020304" pitchFamily="18" charset="0"/>
              </a:rPr>
              <a:t>are created. </a:t>
            </a:r>
          </a:p>
          <a:p>
            <a:pPr marL="0" indent="0">
              <a:buNone/>
            </a:pPr>
            <a:r>
              <a:rPr lang="en-US" dirty="0">
                <a:latin typeface="Times New Roman" panose="02020603050405020304" pitchFamily="18" charset="0"/>
                <a:cs typeface="Times New Roman" panose="02020603050405020304" pitchFamily="18" charset="0"/>
              </a:rPr>
              <a:t>2. </a:t>
            </a:r>
            <a:r>
              <a:rPr lang="en-US" b="1" dirty="0">
                <a:latin typeface="Times New Roman" panose="02020603050405020304" pitchFamily="18" charset="0"/>
                <a:cs typeface="Times New Roman" panose="02020603050405020304" pitchFamily="18" charset="0"/>
              </a:rPr>
              <a:t>Class does not occupy memory</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3. Class is a group of variables of </a:t>
            </a:r>
            <a:r>
              <a:rPr lang="en-US" b="1" dirty="0">
                <a:latin typeface="Times New Roman" panose="02020603050405020304" pitchFamily="18" charset="0"/>
                <a:cs typeface="Times New Roman" panose="02020603050405020304" pitchFamily="18" charset="0"/>
              </a:rPr>
              <a:t>different data types and a group </a:t>
            </a:r>
            <a:r>
              <a:rPr lang="en-US" dirty="0">
                <a:latin typeface="Times New Roman" panose="02020603050405020304" pitchFamily="18" charset="0"/>
                <a:cs typeface="Times New Roman" panose="02020603050405020304" pitchFamily="18" charset="0"/>
              </a:rPr>
              <a:t>of methods. </a:t>
            </a:r>
          </a:p>
          <a:p>
            <a:pPr marL="0" indent="0">
              <a:buNone/>
            </a:pPr>
            <a:r>
              <a:rPr lang="en-US" dirty="0">
                <a:latin typeface="Times New Roman" panose="02020603050405020304" pitchFamily="18" charset="0"/>
                <a:cs typeface="Times New Roman" panose="02020603050405020304" pitchFamily="18" charset="0"/>
              </a:rPr>
              <a:t>4. A </a:t>
            </a:r>
            <a:r>
              <a:rPr lang="en-US" b="1" dirty="0">
                <a:latin typeface="Times New Roman" panose="02020603050405020304" pitchFamily="18" charset="0"/>
                <a:cs typeface="Times New Roman" panose="02020603050405020304" pitchFamily="18" charset="0"/>
              </a:rPr>
              <a:t>Class in Java can contain: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Data member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Method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Constructor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Nested Class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Interface </a:t>
            </a:r>
          </a:p>
        </p:txBody>
      </p:sp>
    </p:spTree>
    <p:extLst>
      <p:ext uri="{BB962C8B-B14F-4D97-AF65-F5344CB8AC3E}">
        <p14:creationId xmlns:p14="http://schemas.microsoft.com/office/powerpoint/2010/main" val="32662348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D17ADDC-305F-2FB3-C373-0AE394941F93}"/>
              </a:ext>
            </a:extLst>
          </p:cNvPr>
          <p:cNvSpPr txBox="1"/>
          <p:nvPr/>
        </p:nvSpPr>
        <p:spPr>
          <a:xfrm>
            <a:off x="0" y="152400"/>
            <a:ext cx="8915400" cy="4524315"/>
          </a:xfrm>
          <a:prstGeom prst="rect">
            <a:avLst/>
          </a:prstGeom>
          <a:noFill/>
        </p:spPr>
        <p:txBody>
          <a:bodyPr wrap="square">
            <a:spAutoFit/>
          </a:bodyPr>
          <a:lstStyle/>
          <a:p>
            <a:pPr algn="just"/>
            <a:r>
              <a:rPr lang="en-US" sz="2400" b="1" i="0" u="none" strike="noStrike" baseline="0" dirty="0">
                <a:solidFill>
                  <a:srgbClr val="000000"/>
                </a:solidFill>
                <a:latin typeface="Times New Roman" panose="02020603050405020304" pitchFamily="18" charset="0"/>
                <a:cs typeface="Times New Roman" panose="02020603050405020304" pitchFamily="18" charset="0"/>
              </a:rPr>
              <a:t>Declaring Member Variables </a:t>
            </a:r>
            <a:endParaRPr lang="en-US" sz="2400" b="0" i="0" u="none" strike="noStrike" baseline="0" dirty="0">
              <a:solidFill>
                <a:srgbClr val="000000"/>
              </a:solidFill>
              <a:latin typeface="Times New Roman" panose="02020603050405020304" pitchFamily="18" charset="0"/>
              <a:cs typeface="Times New Roman" panose="02020603050405020304" pitchFamily="18" charset="0"/>
            </a:endParaRPr>
          </a:p>
          <a:p>
            <a:pPr algn="just"/>
            <a:r>
              <a:rPr lang="en-US" sz="2400" b="1" i="1" u="none" strike="noStrike" baseline="0" dirty="0">
                <a:solidFill>
                  <a:srgbClr val="000000"/>
                </a:solidFill>
                <a:latin typeface="Times New Roman" panose="02020603050405020304" pitchFamily="18" charset="0"/>
                <a:cs typeface="Times New Roman" panose="02020603050405020304" pitchFamily="18" charset="0"/>
              </a:rPr>
              <a:t>There are several kinds of variables: </a:t>
            </a:r>
          </a:p>
          <a:p>
            <a:pPr marL="457200" indent="-457200" algn="just">
              <a:buFont typeface="+mj-lt"/>
              <a:buAutoNum type="arabicPeriod"/>
            </a:pPr>
            <a:r>
              <a:rPr lang="en-US" sz="2400" b="1" i="1" u="none" strike="noStrike" baseline="0" dirty="0">
                <a:solidFill>
                  <a:srgbClr val="FF0000"/>
                </a:solidFill>
                <a:latin typeface="Times New Roman" panose="02020603050405020304" pitchFamily="18" charset="0"/>
                <a:cs typeface="Times New Roman" panose="02020603050405020304" pitchFamily="18" charset="0"/>
              </a:rPr>
              <a:t>Member variables </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in a class—these are called </a:t>
            </a:r>
            <a:r>
              <a:rPr lang="en-US" sz="2400" b="1" i="0" u="none" strike="noStrike" baseline="0" dirty="0">
                <a:solidFill>
                  <a:srgbClr val="000000"/>
                </a:solidFill>
                <a:latin typeface="Times New Roman" panose="02020603050405020304" pitchFamily="18" charset="0"/>
                <a:cs typeface="Times New Roman" panose="02020603050405020304" pitchFamily="18" charset="0"/>
              </a:rPr>
              <a:t>fields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p>
          <a:p>
            <a:pPr marL="457200" indent="-457200" algn="just">
              <a:buFont typeface="+mj-lt"/>
              <a:buAutoNum type="arabicPeriod"/>
            </a:pPr>
            <a:r>
              <a:rPr lang="en-US" sz="2400" b="1" i="1" u="none" strike="noStrike" baseline="0" dirty="0">
                <a:solidFill>
                  <a:srgbClr val="FF0000"/>
                </a:solidFill>
                <a:latin typeface="Times New Roman" panose="02020603050405020304" pitchFamily="18" charset="0"/>
                <a:cs typeface="Times New Roman" panose="02020603050405020304" pitchFamily="18" charset="0"/>
              </a:rPr>
              <a:t>Variables in a method</a:t>
            </a:r>
            <a:r>
              <a:rPr lang="en-US" sz="2400" b="0" i="1" u="none" strike="noStrike" baseline="0" dirty="0">
                <a:solidFill>
                  <a:srgbClr val="000000"/>
                </a:solidFill>
                <a:latin typeface="Times New Roman" panose="02020603050405020304" pitchFamily="18" charset="0"/>
                <a:cs typeface="Times New Roman" panose="02020603050405020304" pitchFamily="18" charset="0"/>
              </a:rPr>
              <a:t> </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or block of code—these are called </a:t>
            </a:r>
            <a:r>
              <a:rPr lang="en-US" sz="2400" b="1" i="0" u="none" strike="noStrike" baseline="0" dirty="0">
                <a:solidFill>
                  <a:srgbClr val="000000"/>
                </a:solidFill>
                <a:latin typeface="Times New Roman" panose="02020603050405020304" pitchFamily="18" charset="0"/>
                <a:cs typeface="Times New Roman" panose="02020603050405020304" pitchFamily="18" charset="0"/>
              </a:rPr>
              <a:t>local variables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p>
          <a:p>
            <a:pPr marL="457200" indent="-457200" algn="just">
              <a:buFont typeface="+mj-lt"/>
              <a:buAutoNum type="arabicPeriod"/>
            </a:pPr>
            <a:r>
              <a:rPr lang="en-US" sz="2400" b="1" i="1" u="none" strike="noStrike" baseline="0" dirty="0">
                <a:solidFill>
                  <a:srgbClr val="FF0000"/>
                </a:solidFill>
                <a:latin typeface="Times New Roman" panose="02020603050405020304" pitchFamily="18" charset="0"/>
                <a:cs typeface="Times New Roman" panose="02020603050405020304" pitchFamily="18" charset="0"/>
              </a:rPr>
              <a:t>Variables in method declarations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—these are called </a:t>
            </a:r>
            <a:r>
              <a:rPr lang="en-US" sz="2400" b="1" i="0" u="none" strike="noStrike" baseline="0" dirty="0">
                <a:solidFill>
                  <a:srgbClr val="000000"/>
                </a:solidFill>
                <a:latin typeface="Times New Roman" panose="02020603050405020304" pitchFamily="18" charset="0"/>
                <a:cs typeface="Times New Roman" panose="02020603050405020304" pitchFamily="18" charset="0"/>
              </a:rPr>
              <a:t>parameters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p>
          <a:p>
            <a:pPr algn="just"/>
            <a:endParaRPr lang="en-US" sz="2400" b="0" i="0" u="none" strike="noStrike" baseline="0" dirty="0">
              <a:solidFill>
                <a:srgbClr val="000000"/>
              </a:solidFill>
              <a:latin typeface="Times New Roman" panose="02020603050405020304" pitchFamily="18" charset="0"/>
              <a:cs typeface="Times New Roman" panose="02020603050405020304" pitchFamily="18" charset="0"/>
            </a:endParaRPr>
          </a:p>
          <a:p>
            <a:pPr algn="just"/>
            <a:r>
              <a:rPr lang="en-US" sz="2400" b="1" i="0" u="none" strike="noStrike" baseline="0" dirty="0">
                <a:solidFill>
                  <a:srgbClr val="000000"/>
                </a:solidFill>
                <a:latin typeface="Times New Roman" panose="02020603050405020304" pitchFamily="18" charset="0"/>
                <a:cs typeface="Times New Roman" panose="02020603050405020304" pitchFamily="18" charset="0"/>
              </a:rPr>
              <a:t>Syntax to declare a class: </a:t>
            </a:r>
            <a:endParaRPr lang="en-US" sz="2400" b="0" i="0" u="none" strike="noStrike" baseline="0" dirty="0">
              <a:solidFill>
                <a:srgbClr val="000000"/>
              </a:solidFill>
              <a:latin typeface="Times New Roman" panose="02020603050405020304" pitchFamily="18" charset="0"/>
              <a:cs typeface="Times New Roman" panose="02020603050405020304" pitchFamily="18" charset="0"/>
            </a:endParaRP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class &lt;</a:t>
            </a:r>
            <a:r>
              <a:rPr lang="en-US" sz="2400" b="0" i="0" u="none" strike="noStrike" baseline="0" dirty="0" err="1">
                <a:solidFill>
                  <a:srgbClr val="000000"/>
                </a:solidFill>
                <a:latin typeface="Times New Roman" panose="02020603050405020304" pitchFamily="18" charset="0"/>
                <a:cs typeface="Times New Roman" panose="02020603050405020304" pitchFamily="18" charset="0"/>
              </a:rPr>
              <a:t>class_name</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&gt;{</a:t>
            </a: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 field; </a:t>
            </a: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method; </a:t>
            </a: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776133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FA8D0-3832-B4E8-B021-33DB5A003144}"/>
              </a:ext>
            </a:extLst>
          </p:cNvPr>
          <p:cNvSpPr>
            <a:spLocks noGrp="1"/>
          </p:cNvSpPr>
          <p:nvPr>
            <p:ph idx="1"/>
          </p:nvPr>
        </p:nvSpPr>
        <p:spPr>
          <a:xfrm>
            <a:off x="457200" y="0"/>
            <a:ext cx="8229600" cy="6126163"/>
          </a:xfrm>
        </p:spPr>
        <p:txBody>
          <a:bodyPr>
            <a:normAutofit fontScale="92500" lnSpcReduction="20000"/>
          </a:bodyPr>
          <a:lstStyle/>
          <a:p>
            <a:pPr marL="0" indent="0">
              <a:buNone/>
            </a:pPr>
            <a:r>
              <a:rPr lang="en-US" sz="2000" dirty="0">
                <a:latin typeface="Times New Roman" panose="02020603050405020304" pitchFamily="18" charset="0"/>
                <a:cs typeface="Times New Roman" panose="02020603050405020304" pitchFamily="18" charset="0"/>
              </a:rPr>
              <a:t>A </a:t>
            </a:r>
            <a:r>
              <a:rPr lang="en-US" sz="2000" b="1" dirty="0">
                <a:latin typeface="Times New Roman" panose="02020603050405020304" pitchFamily="18" charset="0"/>
                <a:cs typeface="Times New Roman" panose="02020603050405020304" pitchFamily="18" charset="0"/>
              </a:rPr>
              <a:t>class is declared </a:t>
            </a:r>
            <a:r>
              <a:rPr lang="en-US" sz="2000" dirty="0">
                <a:latin typeface="Times New Roman" panose="02020603050405020304" pitchFamily="18" charset="0"/>
                <a:cs typeface="Times New Roman" panose="02020603050405020304" pitchFamily="18" charset="0"/>
              </a:rPr>
              <a:t>by use of the </a:t>
            </a:r>
            <a:r>
              <a:rPr lang="en-US" sz="2000" b="1" dirty="0">
                <a:latin typeface="Times New Roman" panose="02020603050405020304" pitchFamily="18" charset="0"/>
                <a:cs typeface="Times New Roman" panose="02020603050405020304" pitchFamily="18" charset="0"/>
              </a:rPr>
              <a:t>class keyword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class </a:t>
            </a:r>
            <a:r>
              <a:rPr lang="en-US" sz="2000" dirty="0" err="1">
                <a:latin typeface="Times New Roman" panose="02020603050405020304" pitchFamily="18" charset="0"/>
                <a:cs typeface="Times New Roman" panose="02020603050405020304" pitchFamily="18" charset="0"/>
              </a:rPr>
              <a:t>classname</a:t>
            </a: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type instance-variable1; </a:t>
            </a:r>
          </a:p>
          <a:p>
            <a:pPr marL="0" indent="0">
              <a:buNone/>
            </a:pPr>
            <a:r>
              <a:rPr lang="en-US" sz="2000" b="1" dirty="0">
                <a:latin typeface="Times New Roman" panose="02020603050405020304" pitchFamily="18" charset="0"/>
                <a:cs typeface="Times New Roman" panose="02020603050405020304" pitchFamily="18" charset="0"/>
              </a:rPr>
              <a:t>	type instance-variable2; </a:t>
            </a:r>
          </a:p>
          <a:p>
            <a:pPr marL="0" indent="0">
              <a:buNone/>
            </a:pPr>
            <a:r>
              <a:rPr lang="en-US" sz="2000" b="1" dirty="0">
                <a:latin typeface="Times New Roman" panose="02020603050405020304" pitchFamily="18" charset="0"/>
                <a:cs typeface="Times New Roman" panose="02020603050405020304" pitchFamily="18" charset="0"/>
              </a:rPr>
              <a:t>	// ... </a:t>
            </a:r>
          </a:p>
          <a:p>
            <a:pPr marL="0" indent="0">
              <a:buNone/>
            </a:pPr>
            <a:r>
              <a:rPr lang="en-US" sz="2000" b="1" dirty="0">
                <a:latin typeface="Times New Roman" panose="02020603050405020304" pitchFamily="18" charset="0"/>
                <a:cs typeface="Times New Roman" panose="02020603050405020304" pitchFamily="18" charset="0"/>
              </a:rPr>
              <a:t>	type instance-</a:t>
            </a:r>
            <a:r>
              <a:rPr lang="en-US" sz="2000" b="1" dirty="0" err="1">
                <a:latin typeface="Times New Roman" panose="02020603050405020304" pitchFamily="18" charset="0"/>
                <a:cs typeface="Times New Roman" panose="02020603050405020304" pitchFamily="18" charset="0"/>
              </a:rPr>
              <a:t>variableN</a:t>
            </a:r>
            <a:r>
              <a:rPr lang="en-US" sz="2000" b="1"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type methodname1(parameter-list)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body of method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type methodname2(parameter-list)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body of method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a:t>
            </a:r>
          </a:p>
          <a:p>
            <a:pPr marL="0" indent="0">
              <a:buNone/>
            </a:pPr>
            <a:r>
              <a:rPr lang="en-US" sz="2000" dirty="0">
                <a:latin typeface="Times New Roman" panose="02020603050405020304" pitchFamily="18" charset="0"/>
                <a:cs typeface="Times New Roman" panose="02020603050405020304" pitchFamily="18" charset="0"/>
              </a:rPr>
              <a:t>type </a:t>
            </a:r>
            <a:r>
              <a:rPr lang="en-US" sz="2000" dirty="0" err="1">
                <a:latin typeface="Times New Roman" panose="02020603050405020304" pitchFamily="18" charset="0"/>
                <a:cs typeface="Times New Roman" panose="02020603050405020304" pitchFamily="18" charset="0"/>
              </a:rPr>
              <a:t>methodnameN</a:t>
            </a:r>
            <a:r>
              <a:rPr lang="en-US" sz="2000" dirty="0">
                <a:latin typeface="Times New Roman" panose="02020603050405020304" pitchFamily="18" charset="0"/>
                <a:cs typeface="Times New Roman" panose="02020603050405020304" pitchFamily="18" charset="0"/>
              </a:rPr>
              <a:t>(parameter-list)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body of method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175230416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055684-C4DE-C812-C276-4A8012433554}"/>
              </a:ext>
            </a:extLst>
          </p:cNvPr>
          <p:cNvSpPr>
            <a:spLocks noGrp="1"/>
          </p:cNvSpPr>
          <p:nvPr>
            <p:ph idx="1"/>
          </p:nvPr>
        </p:nvSpPr>
        <p:spPr>
          <a:xfrm>
            <a:off x="457200" y="228600"/>
            <a:ext cx="8229600" cy="5897563"/>
          </a:xfrm>
        </p:spPr>
        <p:txBody>
          <a:bodyPr>
            <a:normAutofit fontScale="85000" lnSpcReduction="20000"/>
          </a:bodyPr>
          <a:lstStyle/>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data, or variables, defined within a class are called </a:t>
            </a:r>
            <a:r>
              <a:rPr lang="en-US" b="1" i="1" dirty="0">
                <a:solidFill>
                  <a:srgbClr val="FF0000"/>
                </a:solidFill>
                <a:latin typeface="Times New Roman" panose="02020603050405020304" pitchFamily="18" charset="0"/>
                <a:cs typeface="Times New Roman" panose="02020603050405020304" pitchFamily="18" charset="0"/>
              </a:rPr>
              <a:t>instance variables</a:t>
            </a:r>
            <a:r>
              <a:rPr lang="en-US" b="1"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code is contained within methods. Collectively, the methods and variables defined within a class are called </a:t>
            </a:r>
            <a:r>
              <a:rPr lang="en-US" b="1" dirty="0">
                <a:latin typeface="Times New Roman" panose="02020603050405020304" pitchFamily="18" charset="0"/>
                <a:cs typeface="Times New Roman" panose="02020603050405020304" pitchFamily="18" charset="0"/>
              </a:rPr>
              <a:t>members of the class</a:t>
            </a:r>
            <a:r>
              <a:rPr lang="en-US"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Variables defined within a class are called </a:t>
            </a:r>
            <a:r>
              <a:rPr lang="en-US" b="1" dirty="0">
                <a:latin typeface="Times New Roman" panose="02020603050405020304" pitchFamily="18" charset="0"/>
                <a:cs typeface="Times New Roman" panose="02020603050405020304" pitchFamily="18" charset="0"/>
              </a:rPr>
              <a:t>instance variables.</a:t>
            </a:r>
          </a:p>
          <a:p>
            <a:pPr algn="just">
              <a:buFont typeface="Wingdings" panose="05000000000000000000" pitchFamily="2" charset="2"/>
              <a:buChar char="Ø"/>
            </a:pPr>
            <a:endParaRPr lang="en-US" b="1"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Class demo { </a:t>
            </a:r>
          </a:p>
          <a:p>
            <a:pPr marL="0" indent="0" algn="just">
              <a:buNone/>
            </a:pPr>
            <a:r>
              <a:rPr lang="en-US" dirty="0">
                <a:latin typeface="Times New Roman" panose="02020603050405020304" pitchFamily="18" charset="0"/>
                <a:cs typeface="Times New Roman" panose="02020603050405020304" pitchFamily="18" charset="0"/>
              </a:rPr>
              <a:t>int x=1;; int y=2; float z=3; </a:t>
            </a:r>
          </a:p>
          <a:p>
            <a:pPr marL="0" indent="0" algn="just">
              <a:buNone/>
            </a:pPr>
            <a:r>
              <a:rPr lang="en-US" dirty="0">
                <a:latin typeface="Times New Roman" panose="02020603050405020304" pitchFamily="18" charset="0"/>
                <a:cs typeface="Times New Roman" panose="02020603050405020304" pitchFamily="18" charset="0"/>
              </a:rPr>
              <a:t>void display()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(―values are:‖+x+--y+--z);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731919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2EFFEB-D544-633E-348A-A1D9F68A74E8}"/>
              </a:ext>
            </a:extLst>
          </p:cNvPr>
          <p:cNvSpPr>
            <a:spLocks noGrp="1"/>
          </p:cNvSpPr>
          <p:nvPr>
            <p:ph idx="1"/>
          </p:nvPr>
        </p:nvSpPr>
        <p:spPr>
          <a:xfrm>
            <a:off x="457200" y="152400"/>
            <a:ext cx="8229600" cy="5973763"/>
          </a:xfrm>
        </p:spPr>
        <p:txBody>
          <a:bodyPr>
            <a:normAutofit fontScale="77500" lnSpcReduction="20000"/>
          </a:bodyPr>
          <a:lstStyle/>
          <a:p>
            <a:pPr marL="0" indent="0" algn="ctr">
              <a:buNone/>
            </a:pPr>
            <a:r>
              <a:rPr lang="en-US" b="1" i="1" dirty="0">
                <a:solidFill>
                  <a:srgbClr val="FF0000"/>
                </a:solidFill>
                <a:latin typeface="Times New Roman" panose="02020603050405020304" pitchFamily="18" charset="0"/>
                <a:cs typeface="Times New Roman" panose="02020603050405020304" pitchFamily="18" charset="0"/>
              </a:rPr>
              <a:t>OBJECTS</a:t>
            </a:r>
            <a:endParaRPr lang="en-US" dirty="0">
              <a:solidFill>
                <a:srgbClr val="FF0000"/>
              </a:solidFill>
              <a:latin typeface="Times New Roman" panose="02020603050405020304" pitchFamily="18" charset="0"/>
              <a:cs typeface="Times New Roman" panose="02020603050405020304" pitchFamily="18" charset="0"/>
            </a:endParaRPr>
          </a:p>
          <a:p>
            <a:pPr algn="just"/>
            <a:r>
              <a:rPr lang="en-US" b="1" i="1" dirty="0">
                <a:latin typeface="Times New Roman" panose="02020603050405020304" pitchFamily="18" charset="0"/>
                <a:cs typeface="Times New Roman" panose="02020603050405020304" pitchFamily="18" charset="0"/>
              </a:rPr>
              <a:t>An entity that has state and behavior is known as an object</a:t>
            </a:r>
            <a:r>
              <a:rPr lang="en-US" dirty="0">
                <a:latin typeface="Times New Roman" panose="02020603050405020304" pitchFamily="18" charset="0"/>
                <a:cs typeface="Times New Roman" panose="02020603050405020304" pitchFamily="18" charset="0"/>
              </a:rPr>
              <a:t> e.g. chair, bike, marker, pen, table, car etc. It can be physical or logical (tangible and intangible). The example of intangible object is banking system. </a:t>
            </a:r>
          </a:p>
          <a:p>
            <a:pPr algn="just"/>
            <a:r>
              <a:rPr lang="en-US" b="1" i="1" dirty="0">
                <a:latin typeface="Times New Roman" panose="02020603050405020304" pitchFamily="18" charset="0"/>
                <a:cs typeface="Times New Roman" panose="02020603050405020304" pitchFamily="18" charset="0"/>
              </a:rPr>
              <a:t>An object has three characteristics: </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state: </a:t>
            </a:r>
            <a:r>
              <a:rPr lang="en-US" dirty="0">
                <a:latin typeface="Times New Roman" panose="02020603050405020304" pitchFamily="18" charset="0"/>
                <a:cs typeface="Times New Roman" panose="02020603050405020304" pitchFamily="18" charset="0"/>
              </a:rPr>
              <a:t>represents data (value) of an object. </a:t>
            </a:r>
          </a:p>
          <a:p>
            <a:pPr algn="just"/>
            <a:r>
              <a:rPr lang="en-US" b="1" dirty="0">
                <a:latin typeface="Times New Roman" panose="02020603050405020304" pitchFamily="18" charset="0"/>
                <a:cs typeface="Times New Roman" panose="02020603050405020304" pitchFamily="18" charset="0"/>
              </a:rPr>
              <a:t>behavior: </a:t>
            </a:r>
            <a:r>
              <a:rPr lang="en-US" dirty="0">
                <a:latin typeface="Times New Roman" panose="02020603050405020304" pitchFamily="18" charset="0"/>
                <a:cs typeface="Times New Roman" panose="02020603050405020304" pitchFamily="18" charset="0"/>
              </a:rPr>
              <a:t>represents the behavior (functionality) of an object such as deposit, withdraw etc. </a:t>
            </a:r>
          </a:p>
          <a:p>
            <a:pPr algn="just"/>
            <a:r>
              <a:rPr lang="en-US" b="1" dirty="0">
                <a:latin typeface="Times New Roman" panose="02020603050405020304" pitchFamily="18" charset="0"/>
                <a:cs typeface="Times New Roman" panose="02020603050405020304" pitchFamily="18" charset="0"/>
              </a:rPr>
              <a:t>identity: </a:t>
            </a:r>
            <a:r>
              <a:rPr lang="en-US" dirty="0">
                <a:latin typeface="Times New Roman" panose="02020603050405020304" pitchFamily="18" charset="0"/>
                <a:cs typeface="Times New Roman" panose="02020603050405020304" pitchFamily="18" charset="0"/>
              </a:rPr>
              <a:t>Object identity is typically implemented via a unique ID. The value of the ID is not visible to the external user. But, it is used internally by the JVM to identify each object uniquely. </a:t>
            </a:r>
          </a:p>
          <a:p>
            <a:pPr algn="just"/>
            <a:endParaRPr lang="en-US" dirty="0">
              <a:latin typeface="Times New Roman" panose="02020603050405020304" pitchFamily="18" charset="0"/>
              <a:cs typeface="Times New Roman" panose="02020603050405020304" pitchFamily="18" charset="0"/>
            </a:endParaRPr>
          </a:p>
          <a:p>
            <a:pPr marL="0" indent="0" algn="just">
              <a:buNone/>
            </a:pPr>
            <a:r>
              <a:rPr lang="en-US" b="1" i="1" dirty="0">
                <a:latin typeface="Times New Roman" panose="02020603050405020304" pitchFamily="18" charset="0"/>
                <a:cs typeface="Times New Roman" panose="02020603050405020304" pitchFamily="18" charset="0"/>
              </a:rPr>
              <a:t>For Example: </a:t>
            </a:r>
            <a:r>
              <a:rPr lang="en-US" dirty="0">
                <a:latin typeface="Times New Roman" panose="02020603050405020304" pitchFamily="18" charset="0"/>
                <a:cs typeface="Times New Roman" panose="02020603050405020304" pitchFamily="18" charset="0"/>
              </a:rPr>
              <a:t>Pen is an </a:t>
            </a:r>
            <a:r>
              <a:rPr lang="en-US" dirty="0">
                <a:solidFill>
                  <a:srgbClr val="FF0000"/>
                </a:solidFill>
                <a:latin typeface="Times New Roman" panose="02020603050405020304" pitchFamily="18" charset="0"/>
                <a:cs typeface="Times New Roman" panose="02020603050405020304" pitchFamily="18" charset="0"/>
              </a:rPr>
              <a:t>object. </a:t>
            </a:r>
          </a:p>
          <a:p>
            <a:pPr algn="just"/>
            <a:r>
              <a:rPr lang="en-US" dirty="0">
                <a:latin typeface="Times New Roman" panose="02020603050405020304" pitchFamily="18" charset="0"/>
                <a:cs typeface="Times New Roman" panose="02020603050405020304" pitchFamily="18" charset="0"/>
              </a:rPr>
              <a:t>Its name is Reynolds, color is white etc. known as its </a:t>
            </a:r>
            <a:r>
              <a:rPr lang="en-US" dirty="0">
                <a:solidFill>
                  <a:srgbClr val="FF0000"/>
                </a:solidFill>
                <a:latin typeface="Times New Roman" panose="02020603050405020304" pitchFamily="18" charset="0"/>
                <a:cs typeface="Times New Roman" panose="02020603050405020304" pitchFamily="18" charset="0"/>
              </a:rPr>
              <a:t>state. </a:t>
            </a:r>
            <a:r>
              <a:rPr lang="en-US" dirty="0">
                <a:latin typeface="Times New Roman" panose="02020603050405020304" pitchFamily="18" charset="0"/>
                <a:cs typeface="Times New Roman" panose="02020603050405020304" pitchFamily="18" charset="0"/>
              </a:rPr>
              <a:t>It is used to write, so writing is its </a:t>
            </a:r>
            <a:r>
              <a:rPr lang="en-US" dirty="0">
                <a:solidFill>
                  <a:srgbClr val="FF0000"/>
                </a:solidFill>
                <a:latin typeface="Times New Roman" panose="02020603050405020304" pitchFamily="18" charset="0"/>
                <a:cs typeface="Times New Roman" panose="02020603050405020304" pitchFamily="18" charset="0"/>
              </a:rPr>
              <a:t>behavior. </a:t>
            </a:r>
          </a:p>
        </p:txBody>
      </p:sp>
    </p:spTree>
    <p:extLst>
      <p:ext uri="{BB962C8B-B14F-4D97-AF65-F5344CB8AC3E}">
        <p14:creationId xmlns:p14="http://schemas.microsoft.com/office/powerpoint/2010/main" val="324619385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0369F6-6D87-441A-9BBF-1855030AA0B7}"/>
              </a:ext>
            </a:extLst>
          </p:cNvPr>
          <p:cNvSpPr>
            <a:spLocks noGrp="1"/>
          </p:cNvSpPr>
          <p:nvPr>
            <p:ph idx="1"/>
          </p:nvPr>
        </p:nvSpPr>
        <p:spPr>
          <a:xfrm>
            <a:off x="457200" y="228600"/>
            <a:ext cx="8229600" cy="5897563"/>
          </a:xfrm>
        </p:spPr>
        <p:txBody>
          <a:bodyPr>
            <a:normAutofit/>
          </a:bodyPr>
          <a:lstStyle/>
          <a:p>
            <a:pPr marL="0" indent="0" algn="just">
              <a:buNone/>
            </a:pPr>
            <a:r>
              <a:rPr lang="en-US" sz="2400" b="1" dirty="0">
                <a:latin typeface="Times New Roman" panose="02020603050405020304" pitchFamily="18" charset="0"/>
                <a:cs typeface="Times New Roman" panose="02020603050405020304" pitchFamily="18" charset="0"/>
              </a:rPr>
              <a:t>Object is an instance of a class. </a:t>
            </a:r>
            <a:r>
              <a:rPr lang="en-US" sz="2400" dirty="0">
                <a:latin typeface="Times New Roman" panose="02020603050405020304" pitchFamily="18" charset="0"/>
                <a:cs typeface="Times New Roman" panose="02020603050405020304" pitchFamily="18" charset="0"/>
              </a:rPr>
              <a:t>Class is a template or blueprint from which objects are created. So object is the instance(result) of a class.</a:t>
            </a:r>
          </a:p>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i="1" dirty="0">
                <a:latin typeface="Times New Roman" panose="02020603050405020304" pitchFamily="18" charset="0"/>
                <a:cs typeface="Times New Roman" panose="02020603050405020304" pitchFamily="18" charset="0"/>
              </a:rPr>
              <a:t>All the objects that are created using a single class have the same properties and methods. But the value of properties is different for every object. </a:t>
            </a:r>
          </a:p>
          <a:p>
            <a:pPr marL="0" indent="0" algn="just">
              <a:buNone/>
            </a:pPr>
            <a:endParaRPr lang="en-US" sz="2400" b="1" i="1"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Object Definitions: </a:t>
            </a:r>
            <a:endParaRPr lang="en-US" sz="2400"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 real world entity. </a:t>
            </a: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 run time entity. </a:t>
            </a: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an entity which has state and behavior. </a:t>
            </a: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an instance of a class. </a:t>
            </a:r>
          </a:p>
          <a:p>
            <a:pPr marL="0" indent="0" algn="just">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7221337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4F943A-A7FC-ACB1-677D-9CFACE77570B}"/>
              </a:ext>
            </a:extLst>
          </p:cNvPr>
          <p:cNvSpPr>
            <a:spLocks noGrp="1"/>
          </p:cNvSpPr>
          <p:nvPr>
            <p:ph idx="1"/>
          </p:nvPr>
        </p:nvSpPr>
        <p:spPr>
          <a:xfrm>
            <a:off x="457200" y="457200"/>
            <a:ext cx="8229600" cy="5668963"/>
          </a:xfrm>
        </p:spPr>
        <p:txBody>
          <a:bodyPr>
            <a:normAutofit fontScale="92500" lnSpcReduction="10000"/>
          </a:bodyPr>
          <a:lstStyle/>
          <a:p>
            <a:pPr marL="0" indent="0">
              <a:buNone/>
            </a:pPr>
            <a:r>
              <a:rPr lang="en-US" b="1" dirty="0">
                <a:solidFill>
                  <a:srgbClr val="FF0000"/>
                </a:solidFill>
                <a:latin typeface="Times New Roman" panose="02020603050405020304" pitchFamily="18" charset="0"/>
                <a:cs typeface="Times New Roman" panose="02020603050405020304" pitchFamily="18" charset="0"/>
              </a:rPr>
              <a:t>New keyword in Java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The new keyword is used to allocate memory at run time. All objects get memory in Heap memory area.</a:t>
            </a:r>
          </a:p>
          <a:p>
            <a:pPr marL="0" indent="0">
              <a:buNone/>
            </a:pPr>
            <a:r>
              <a:rPr lang="en-US" b="1" dirty="0">
                <a:latin typeface="Times New Roman" panose="02020603050405020304" pitchFamily="18" charset="0"/>
                <a:cs typeface="Times New Roman" panose="02020603050405020304" pitchFamily="18" charset="0"/>
              </a:rPr>
              <a:t>Syntax </a:t>
            </a:r>
            <a:endParaRPr lang="en-US" dirty="0">
              <a:latin typeface="Times New Roman" panose="02020603050405020304" pitchFamily="18" charset="0"/>
              <a:cs typeface="Times New Roman" panose="02020603050405020304" pitchFamily="18" charset="0"/>
            </a:endParaRPr>
          </a:p>
          <a:p>
            <a:pPr marL="0" indent="0">
              <a:buNone/>
            </a:pP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objectName</a:t>
            </a:r>
            <a:r>
              <a:rPr lang="en-US" dirty="0">
                <a:latin typeface="Times New Roman" panose="02020603050405020304" pitchFamily="18" charset="0"/>
                <a:cs typeface="Times New Roman" panose="02020603050405020304" pitchFamily="18" charset="0"/>
              </a:rPr>
              <a:t> = new </a:t>
            </a: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 The </a:t>
            </a:r>
            <a:r>
              <a:rPr lang="en-US" dirty="0" err="1">
                <a:latin typeface="Times New Roman" panose="02020603050405020304" pitchFamily="18" charset="0"/>
                <a:cs typeface="Times New Roman" panose="02020603050405020304" pitchFamily="18" charset="0"/>
              </a:rPr>
              <a:t>objectName</a:t>
            </a:r>
            <a:r>
              <a:rPr lang="en-US" dirty="0">
                <a:latin typeface="Times New Roman" panose="02020603050405020304" pitchFamily="18" charset="0"/>
                <a:cs typeface="Times New Roman" panose="02020603050405020304" pitchFamily="18" charset="0"/>
              </a:rPr>
              <a:t> must begin with an alphabet, and a Lower-case letter is preferred.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a:t>
            </a:r>
            <a:r>
              <a:rPr lang="en-US" dirty="0" err="1">
                <a:latin typeface="Times New Roman" panose="02020603050405020304" pitchFamily="18" charset="0"/>
                <a:cs typeface="Times New Roman" panose="02020603050405020304" pitchFamily="18" charset="0"/>
              </a:rPr>
              <a:t>objectName</a:t>
            </a:r>
            <a:r>
              <a:rPr lang="en-US" dirty="0">
                <a:latin typeface="Times New Roman" panose="02020603050405020304" pitchFamily="18" charset="0"/>
                <a:cs typeface="Times New Roman" panose="02020603050405020304" pitchFamily="18" charset="0"/>
              </a:rPr>
              <a:t> must follow all naming rules. </a:t>
            </a:r>
          </a:p>
          <a:p>
            <a:pPr marL="0" indent="0">
              <a:buNone/>
            </a:pPr>
            <a:r>
              <a:rPr lang="en-US" b="1" dirty="0">
                <a:latin typeface="Times New Roman" panose="02020603050405020304" pitchFamily="18" charset="0"/>
                <a:cs typeface="Times New Roman" panose="02020603050405020304" pitchFamily="18" charset="0"/>
              </a:rPr>
              <a:t>Example </a:t>
            </a: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Box </a:t>
            </a:r>
            <a:r>
              <a:rPr lang="en-US" dirty="0" err="1">
                <a:latin typeface="Times New Roman" panose="02020603050405020304" pitchFamily="18" charset="0"/>
                <a:cs typeface="Times New Roman" panose="02020603050405020304" pitchFamily="18" charset="0"/>
              </a:rPr>
              <a:t>mybox</a:t>
            </a:r>
            <a:r>
              <a:rPr lang="en-US" dirty="0">
                <a:latin typeface="Times New Roman" panose="02020603050405020304" pitchFamily="18" charset="0"/>
                <a:cs typeface="Times New Roman" panose="02020603050405020304" pitchFamily="18" charset="0"/>
              </a:rPr>
              <a:t> = new Box(); </a:t>
            </a:r>
          </a:p>
          <a:p>
            <a:pPr marL="0" indent="0">
              <a:buNone/>
            </a:pPr>
            <a:r>
              <a:rPr lang="en-US" dirty="0">
                <a:latin typeface="Times New Roman" panose="02020603050405020304" pitchFamily="18" charset="0"/>
                <a:cs typeface="Times New Roman" panose="02020603050405020304" pitchFamily="18" charset="0"/>
              </a:rPr>
              <a:t>The new operator allocates memory for an object.  </a:t>
            </a:r>
          </a:p>
          <a:p>
            <a:endParaRPr lang="en-US" dirty="0"/>
          </a:p>
        </p:txBody>
      </p:sp>
    </p:spTree>
    <p:extLst>
      <p:ext uri="{BB962C8B-B14F-4D97-AF65-F5344CB8AC3E}">
        <p14:creationId xmlns:p14="http://schemas.microsoft.com/office/powerpoint/2010/main" val="298511446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A4447-8897-DDB1-9194-8FA4776A62BF}"/>
              </a:ext>
            </a:extLst>
          </p:cNvPr>
          <p:cNvSpPr>
            <a:spLocks noGrp="1"/>
          </p:cNvSpPr>
          <p:nvPr>
            <p:ph idx="1"/>
          </p:nvPr>
        </p:nvSpPr>
        <p:spPr>
          <a:xfrm>
            <a:off x="457200" y="0"/>
            <a:ext cx="8229600" cy="6111081"/>
          </a:xfrm>
        </p:spPr>
        <p:txBody>
          <a:bodyPr>
            <a:normAutofit fontScale="92500" lnSpcReduction="20000"/>
          </a:bodyPr>
          <a:lstStyle/>
          <a:p>
            <a:pPr marL="0" indent="0" algn="ctr">
              <a:buNone/>
            </a:pPr>
            <a:r>
              <a:rPr lang="en-US" sz="2000" b="1" dirty="0">
                <a:latin typeface="Times New Roman" panose="02020603050405020304" pitchFamily="18" charset="0"/>
                <a:cs typeface="Times New Roman" panose="02020603050405020304" pitchFamily="18" charset="0"/>
              </a:rPr>
              <a:t>Declaring Objects </a:t>
            </a:r>
            <a:endParaRPr lang="en-US" sz="2000" dirty="0">
              <a:latin typeface="Times New Roman" panose="02020603050405020304" pitchFamily="18" charset="0"/>
              <a:cs typeface="Times New Roman" panose="02020603050405020304" pitchFamily="18" charset="0"/>
            </a:endParaRPr>
          </a:p>
          <a:p>
            <a:pPr algn="just"/>
            <a:r>
              <a:rPr lang="en-US" sz="2000" dirty="0">
                <a:solidFill>
                  <a:srgbClr val="FF0000"/>
                </a:solidFill>
                <a:latin typeface="Times New Roman" panose="02020603050405020304" pitchFamily="18" charset="0"/>
                <a:cs typeface="Times New Roman" panose="02020603050405020304" pitchFamily="18" charset="0"/>
              </a:rPr>
              <a:t>When you create a class, you are creating a new data type</a:t>
            </a:r>
            <a:r>
              <a:rPr lang="en-US" sz="2000" dirty="0">
                <a:latin typeface="Times New Roman" panose="02020603050405020304" pitchFamily="18" charset="0"/>
                <a:cs typeface="Times New Roman" panose="02020603050405020304" pitchFamily="18" charset="0"/>
              </a:rPr>
              <a:t>. You can use this type to declare objects of that type. However, obtaining objects of a class is a </a:t>
            </a:r>
            <a:r>
              <a:rPr lang="en-US" sz="2000" b="1" dirty="0">
                <a:latin typeface="Times New Roman" panose="02020603050405020304" pitchFamily="18" charset="0"/>
                <a:cs typeface="Times New Roman" panose="02020603050405020304" pitchFamily="18" charset="0"/>
              </a:rPr>
              <a:t>two-step process</a:t>
            </a:r>
            <a:r>
              <a:rPr lang="en-US" sz="2000" dirty="0">
                <a:latin typeface="Times New Roman" panose="02020603050405020304" pitchFamily="18" charset="0"/>
                <a:cs typeface="Times New Roman" panose="02020603050405020304" pitchFamily="18" charset="0"/>
              </a:rPr>
              <a:t>. </a:t>
            </a:r>
          </a:p>
          <a:p>
            <a:pPr algn="just"/>
            <a:r>
              <a:rPr lang="en-US" sz="2000" dirty="0">
                <a:solidFill>
                  <a:srgbClr val="FF0000"/>
                </a:solidFill>
                <a:latin typeface="Times New Roman" panose="02020603050405020304" pitchFamily="18" charset="0"/>
                <a:cs typeface="Times New Roman" panose="02020603050405020304" pitchFamily="18" charset="0"/>
              </a:rPr>
              <a:t>First, you must declare a variable of the class type</a:t>
            </a:r>
            <a:r>
              <a:rPr lang="en-US" sz="2000" dirty="0">
                <a:latin typeface="Times New Roman" panose="02020603050405020304" pitchFamily="18" charset="0"/>
                <a:cs typeface="Times New Roman" panose="02020603050405020304" pitchFamily="18" charset="0"/>
              </a:rPr>
              <a:t>. This variable does not define an object. Instead, it is simply </a:t>
            </a:r>
            <a:r>
              <a:rPr lang="en-US" sz="2000" b="1" dirty="0">
                <a:latin typeface="Times New Roman" panose="02020603050405020304" pitchFamily="18" charset="0"/>
                <a:cs typeface="Times New Roman" panose="02020603050405020304" pitchFamily="18" charset="0"/>
              </a:rPr>
              <a:t>a variable that can refer to an object</a:t>
            </a:r>
            <a:r>
              <a:rPr lang="en-US" sz="2000" dirty="0">
                <a:latin typeface="Times New Roman" panose="02020603050405020304" pitchFamily="18" charset="0"/>
                <a:cs typeface="Times New Roman" panose="02020603050405020304" pitchFamily="18" charset="0"/>
              </a:rPr>
              <a:t>. </a:t>
            </a:r>
          </a:p>
          <a:p>
            <a:pPr algn="just"/>
            <a:r>
              <a:rPr lang="en-US" sz="2000" dirty="0">
                <a:latin typeface="Times New Roman" panose="02020603050405020304" pitchFamily="18" charset="0"/>
                <a:cs typeface="Times New Roman" panose="02020603050405020304" pitchFamily="18" charset="0"/>
              </a:rPr>
              <a:t>Second, you must acquire an actual, physical copy of the object and assign it to that variable. You can do this using the </a:t>
            </a:r>
            <a:r>
              <a:rPr lang="en-US" sz="2200" b="1" i="1" dirty="0">
                <a:solidFill>
                  <a:srgbClr val="FF0000"/>
                </a:solidFill>
                <a:latin typeface="Times New Roman" panose="02020603050405020304" pitchFamily="18" charset="0"/>
                <a:cs typeface="Times New Roman" panose="02020603050405020304" pitchFamily="18" charset="0"/>
              </a:rPr>
              <a:t>new operator</a:t>
            </a:r>
            <a:r>
              <a:rPr lang="en-US" sz="2000" dirty="0">
                <a:latin typeface="Times New Roman" panose="02020603050405020304" pitchFamily="18" charset="0"/>
                <a:cs typeface="Times New Roman" panose="02020603050405020304" pitchFamily="18" charset="0"/>
              </a:rPr>
              <a:t>. </a:t>
            </a:r>
          </a:p>
          <a:p>
            <a:pPr marL="0" indent="0" algn="just">
              <a:buNone/>
            </a:pPr>
            <a:endParaRPr lang="en-US" sz="2000" b="1" dirty="0">
              <a:latin typeface="Times New Roman" panose="02020603050405020304" pitchFamily="18" charset="0"/>
              <a:cs typeface="Times New Roman" panose="02020603050405020304" pitchFamily="18" charset="0"/>
            </a:endParaRPr>
          </a:p>
          <a:p>
            <a:pPr marL="0" indent="0" algn="ctr">
              <a:buNone/>
            </a:pPr>
            <a:r>
              <a:rPr lang="en-US" sz="2000" b="1" dirty="0">
                <a:latin typeface="Times New Roman" panose="02020603050405020304" pitchFamily="18" charset="0"/>
                <a:cs typeface="Times New Roman" panose="02020603050405020304" pitchFamily="18" charset="0"/>
              </a:rPr>
              <a:t>Syntax:- Demo d1 = new demo( ); </a:t>
            </a:r>
          </a:p>
          <a:p>
            <a:pPr algn="just"/>
            <a:endParaRPr lang="en-US" sz="2000" b="1"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class Student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int id;//field or data member or instance variable String name; </a:t>
            </a:r>
          </a:p>
          <a:p>
            <a:pPr marL="0" indent="0">
              <a:buNone/>
            </a:pPr>
            <a:r>
              <a:rPr lang="en-US" sz="2000" dirty="0">
                <a:latin typeface="Times New Roman" panose="02020603050405020304" pitchFamily="18" charset="0"/>
                <a:cs typeface="Times New Roman" panose="02020603050405020304" pitchFamily="18" charset="0"/>
              </a:rPr>
              <a:t>public static void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Student s1=new Student();//creating an object of Student </a:t>
            </a: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(s1.id);//accessing member through reference variable </a:t>
            </a: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(s1.name);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5011469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01ECAB-97C8-C030-6205-2E51C03018DE}"/>
              </a:ext>
            </a:extLst>
          </p:cNvPr>
          <p:cNvSpPr>
            <a:spLocks noGrp="1"/>
          </p:cNvSpPr>
          <p:nvPr>
            <p:ph idx="1"/>
          </p:nvPr>
        </p:nvSpPr>
        <p:spPr>
          <a:xfrm>
            <a:off x="457200" y="228600"/>
            <a:ext cx="8229600" cy="6126163"/>
          </a:xfrm>
        </p:spPr>
        <p:txBody>
          <a:bodyPr>
            <a:normAutofit fontScale="85000" lnSpcReduction="20000"/>
          </a:bodyPr>
          <a:lstStyle/>
          <a:p>
            <a:pPr marL="0" indent="0" algn="ctr">
              <a:buNone/>
            </a:pPr>
            <a:r>
              <a:rPr lang="en-US" sz="3300" b="1" i="1" dirty="0">
                <a:solidFill>
                  <a:srgbClr val="FF0000"/>
                </a:solidFill>
                <a:latin typeface="Times New Roman" panose="02020603050405020304" pitchFamily="18" charset="0"/>
                <a:cs typeface="Times New Roman" panose="02020603050405020304" pitchFamily="18" charset="0"/>
              </a:rPr>
              <a:t>Three Ways to initialize object </a:t>
            </a:r>
          </a:p>
          <a:p>
            <a:pPr marL="0" indent="0">
              <a:buNone/>
            </a:pPr>
            <a:r>
              <a:rPr lang="en-US" sz="2400" dirty="0">
                <a:latin typeface="Times New Roman" panose="02020603050405020304" pitchFamily="18" charset="0"/>
                <a:cs typeface="Times New Roman" panose="02020603050405020304" pitchFamily="18" charset="0"/>
              </a:rPr>
              <a:t>There are 3 ways to initialize object in java</a:t>
            </a:r>
          </a:p>
          <a:p>
            <a:pPr marL="514350" indent="-514350">
              <a:buFont typeface="+mj-lt"/>
              <a:buAutoNum type="arabicPeriod"/>
            </a:pPr>
            <a:r>
              <a:rPr lang="en-US" sz="2400" dirty="0">
                <a:latin typeface="Times New Roman" panose="02020603050405020304" pitchFamily="18" charset="0"/>
                <a:cs typeface="Times New Roman" panose="02020603050405020304" pitchFamily="18" charset="0"/>
              </a:rPr>
              <a:t>By reference variable </a:t>
            </a:r>
          </a:p>
          <a:p>
            <a:pPr marL="514350" indent="-514350">
              <a:buFont typeface="+mj-lt"/>
              <a:buAutoNum type="arabicPeriod"/>
            </a:pPr>
            <a:r>
              <a:rPr lang="en-US" sz="2400" dirty="0">
                <a:latin typeface="Times New Roman" panose="02020603050405020304" pitchFamily="18" charset="0"/>
                <a:cs typeface="Times New Roman" panose="02020603050405020304" pitchFamily="18" charset="0"/>
              </a:rPr>
              <a:t>By method </a:t>
            </a:r>
          </a:p>
          <a:p>
            <a:pPr marL="514350" indent="-514350">
              <a:buFont typeface="+mj-lt"/>
              <a:buAutoNum type="arabicPeriod"/>
            </a:pPr>
            <a:r>
              <a:rPr lang="en-US" sz="2400" dirty="0">
                <a:latin typeface="Times New Roman" panose="02020603050405020304" pitchFamily="18" charset="0"/>
                <a:cs typeface="Times New Roman" panose="02020603050405020304" pitchFamily="18" charset="0"/>
              </a:rPr>
              <a:t>By constructor </a:t>
            </a:r>
          </a:p>
          <a:p>
            <a:pPr marL="0" indent="0">
              <a:buNone/>
            </a:pPr>
            <a:r>
              <a:rPr lang="en-US" sz="2400" b="1" dirty="0">
                <a:latin typeface="Times New Roman" panose="02020603050405020304" pitchFamily="18" charset="0"/>
                <a:cs typeface="Times New Roman" panose="02020603050405020304" pitchFamily="18" charset="0"/>
              </a:rPr>
              <a:t>1) Object and Class Example: Initialization through reference </a:t>
            </a: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Initializing object simply means storing data into object. Let's see a simple example where we are going to initialize object through reference variable. </a:t>
            </a: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class Student{ int id; </a:t>
            </a:r>
          </a:p>
          <a:p>
            <a:pPr marL="0" indent="0">
              <a:buNone/>
            </a:pPr>
            <a:r>
              <a:rPr lang="en-US" sz="2400" dirty="0">
                <a:latin typeface="Times New Roman" panose="02020603050405020304" pitchFamily="18" charset="0"/>
                <a:cs typeface="Times New Roman" panose="02020603050405020304" pitchFamily="18" charset="0"/>
              </a:rPr>
              <a:t>String name; </a:t>
            </a:r>
          </a:p>
          <a:p>
            <a:pPr marL="0" indent="0">
              <a:buNone/>
            </a:pP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class TestStudent2{ </a:t>
            </a:r>
          </a:p>
          <a:p>
            <a:pPr marL="0" indent="0">
              <a:buNone/>
            </a:pPr>
            <a:r>
              <a:rPr lang="en-US" sz="2400" dirty="0">
                <a:latin typeface="Times New Roman" panose="02020603050405020304" pitchFamily="18" charset="0"/>
                <a:cs typeface="Times New Roman" panose="02020603050405020304" pitchFamily="18" charset="0"/>
              </a:rPr>
              <a:t>public static void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Student s1=new Student(); </a:t>
            </a:r>
          </a:p>
          <a:p>
            <a:pPr marL="0" indent="0">
              <a:buNone/>
            </a:pPr>
            <a:r>
              <a:rPr lang="en-US" sz="2400" dirty="0">
                <a:latin typeface="Times New Roman" panose="02020603050405020304" pitchFamily="18" charset="0"/>
                <a:cs typeface="Times New Roman" panose="02020603050405020304" pitchFamily="18" charset="0"/>
              </a:rPr>
              <a:t>s1.id=101; </a:t>
            </a:r>
          </a:p>
          <a:p>
            <a:pPr marL="0" indent="0">
              <a:buNone/>
            </a:pPr>
            <a:r>
              <a:rPr lang="en-US" sz="2400" dirty="0">
                <a:latin typeface="Times New Roman" panose="02020603050405020304" pitchFamily="18" charset="0"/>
                <a:cs typeface="Times New Roman" panose="02020603050405020304" pitchFamily="18" charset="0"/>
              </a:rPr>
              <a:t>s1.name=“</a:t>
            </a:r>
            <a:r>
              <a:rPr lang="en-US" sz="2400" dirty="0" err="1">
                <a:latin typeface="Times New Roman" panose="02020603050405020304" pitchFamily="18" charset="0"/>
                <a:cs typeface="Times New Roman" panose="02020603050405020304" pitchFamily="18" charset="0"/>
              </a:rPr>
              <a:t>Abc</a:t>
            </a:r>
            <a:r>
              <a:rPr lang="en-US" sz="2400" dirty="0">
                <a:latin typeface="Times New Roman" panose="02020603050405020304" pitchFamily="18" charset="0"/>
                <a:cs typeface="Times New Roman" panose="02020603050405020304" pitchFamily="18" charset="0"/>
              </a:rPr>
              <a:t>"; </a:t>
            </a:r>
          </a:p>
          <a:p>
            <a:pPr marL="0" indent="0">
              <a:buNone/>
            </a:pPr>
            <a:r>
              <a:rPr lang="en-US" sz="2400" dirty="0" err="1">
                <a:latin typeface="Times New Roman" panose="02020603050405020304" pitchFamily="18" charset="0"/>
                <a:cs typeface="Times New Roman" panose="02020603050405020304" pitchFamily="18" charset="0"/>
              </a:rPr>
              <a:t>System.out.println</a:t>
            </a:r>
            <a:r>
              <a:rPr lang="en-US" sz="2400" dirty="0">
                <a:latin typeface="Times New Roman" panose="02020603050405020304" pitchFamily="18" charset="0"/>
                <a:cs typeface="Times New Roman" panose="02020603050405020304" pitchFamily="18" charset="0"/>
              </a:rPr>
              <a:t>(s1.id+" "+s1.name);// printing members with a white space </a:t>
            </a:r>
          </a:p>
          <a:p>
            <a:pPr marL="0" indent="0">
              <a:buNone/>
            </a:pPr>
            <a:r>
              <a:rPr lang="en-US" sz="2400" dirty="0">
                <a:latin typeface="Times New Roman" panose="02020603050405020304" pitchFamily="18" charset="0"/>
                <a:cs typeface="Times New Roman" panose="02020603050405020304" pitchFamily="18" charset="0"/>
              </a:rPr>
              <a:t>} } </a:t>
            </a:r>
          </a:p>
        </p:txBody>
      </p:sp>
    </p:spTree>
    <p:extLst>
      <p:ext uri="{BB962C8B-B14F-4D97-AF65-F5344CB8AC3E}">
        <p14:creationId xmlns:p14="http://schemas.microsoft.com/office/powerpoint/2010/main" val="3620209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87AB3E-9076-7968-C743-45C039C54403}"/>
              </a:ext>
            </a:extLst>
          </p:cNvPr>
          <p:cNvSpPr>
            <a:spLocks noGrp="1"/>
          </p:cNvSpPr>
          <p:nvPr>
            <p:ph idx="1"/>
          </p:nvPr>
        </p:nvSpPr>
        <p:spPr>
          <a:xfrm>
            <a:off x="457200" y="152400"/>
            <a:ext cx="8229600" cy="5973763"/>
          </a:xfrm>
        </p:spPr>
        <p:txBody>
          <a:bodyPr>
            <a:normAutofit fontScale="70000" lnSpcReduction="20000"/>
          </a:bodyPr>
          <a:lstStyle/>
          <a:p>
            <a:pPr marL="0" indent="0">
              <a:buNone/>
            </a:pPr>
            <a:r>
              <a:rPr lang="en-US" b="1" dirty="0">
                <a:latin typeface="Times New Roman" panose="02020603050405020304" pitchFamily="18" charset="0"/>
                <a:cs typeface="Times New Roman" panose="02020603050405020304" pitchFamily="18" charset="0"/>
              </a:rPr>
              <a:t>TestStudent3.java </a:t>
            </a:r>
          </a:p>
          <a:p>
            <a:pPr marL="0" indent="0">
              <a:buNone/>
            </a:pPr>
            <a:r>
              <a:rPr lang="en-US" dirty="0">
                <a:latin typeface="Times New Roman" panose="02020603050405020304" pitchFamily="18" charset="0"/>
                <a:cs typeface="Times New Roman" panose="02020603050405020304" pitchFamily="18" charset="0"/>
              </a:rPr>
              <a:t>class Student{ </a:t>
            </a:r>
          </a:p>
          <a:p>
            <a:pPr marL="0" indent="0">
              <a:buNone/>
            </a:pPr>
            <a:r>
              <a:rPr lang="en-US" dirty="0">
                <a:latin typeface="Times New Roman" panose="02020603050405020304" pitchFamily="18" charset="0"/>
                <a:cs typeface="Times New Roman" panose="02020603050405020304" pitchFamily="18" charset="0"/>
              </a:rPr>
              <a:t>int id; </a:t>
            </a:r>
          </a:p>
          <a:p>
            <a:pPr marL="0" indent="0">
              <a:buNone/>
            </a:pPr>
            <a:r>
              <a:rPr lang="en-US" dirty="0">
                <a:latin typeface="Times New Roman" panose="02020603050405020304" pitchFamily="18" charset="0"/>
                <a:cs typeface="Times New Roman" panose="02020603050405020304" pitchFamily="18" charset="0"/>
              </a:rPr>
              <a:t>String name; } </a:t>
            </a:r>
          </a:p>
          <a:p>
            <a:pPr marL="0" indent="0">
              <a:buNone/>
            </a:pPr>
            <a:r>
              <a:rPr lang="en-US" dirty="0">
                <a:latin typeface="Times New Roman" panose="02020603050405020304" pitchFamily="18" charset="0"/>
                <a:cs typeface="Times New Roman" panose="02020603050405020304" pitchFamily="18" charset="0"/>
              </a:rPr>
              <a:t>class TestStudent3{ </a:t>
            </a:r>
          </a:p>
          <a:p>
            <a:pPr marL="0" indent="0">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 </a:t>
            </a:r>
          </a:p>
          <a:p>
            <a:pPr marL="0" indent="0">
              <a:buNone/>
            </a:pPr>
            <a:r>
              <a:rPr lang="en-US" dirty="0">
                <a:latin typeface="Times New Roman" panose="02020603050405020304" pitchFamily="18" charset="0"/>
                <a:cs typeface="Times New Roman" panose="02020603050405020304" pitchFamily="18" charset="0"/>
              </a:rPr>
              <a:t>Student s1=new Student(); </a:t>
            </a:r>
          </a:p>
          <a:p>
            <a:pPr marL="0" indent="0">
              <a:buNone/>
            </a:pPr>
            <a:r>
              <a:rPr lang="en-US" dirty="0">
                <a:latin typeface="Times New Roman" panose="02020603050405020304" pitchFamily="18" charset="0"/>
                <a:cs typeface="Times New Roman" panose="02020603050405020304" pitchFamily="18" charset="0"/>
              </a:rPr>
              <a:t>Student s2=new Student(); </a:t>
            </a:r>
          </a:p>
          <a:p>
            <a:pPr marL="0" indent="0">
              <a:buNone/>
            </a:pPr>
            <a:r>
              <a:rPr lang="en-US" dirty="0">
                <a:latin typeface="Times New Roman" panose="02020603050405020304" pitchFamily="18" charset="0"/>
                <a:cs typeface="Times New Roman" panose="02020603050405020304" pitchFamily="18" charset="0"/>
              </a:rPr>
              <a:t>s1.id=101; //Initializing object</a:t>
            </a:r>
          </a:p>
          <a:p>
            <a:pPr marL="0" indent="0">
              <a:buNone/>
            </a:pPr>
            <a:r>
              <a:rPr lang="en-US" dirty="0">
                <a:latin typeface="Times New Roman" panose="02020603050405020304" pitchFamily="18" charset="0"/>
                <a:cs typeface="Times New Roman" panose="02020603050405020304" pitchFamily="18" charset="0"/>
              </a:rPr>
              <a:t> s1.name=“</a:t>
            </a:r>
            <a:r>
              <a:rPr lang="en-US" dirty="0" err="1">
                <a:latin typeface="Times New Roman" panose="02020603050405020304" pitchFamily="18" charset="0"/>
                <a:cs typeface="Times New Roman" panose="02020603050405020304" pitchFamily="18" charset="0"/>
              </a:rPr>
              <a:t>abc</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s2.id=102; //Initializing object </a:t>
            </a:r>
          </a:p>
          <a:p>
            <a:pPr marL="0" indent="0">
              <a:buNone/>
            </a:pPr>
            <a:r>
              <a:rPr lang="en-US" dirty="0">
                <a:latin typeface="Times New Roman" panose="02020603050405020304" pitchFamily="18" charset="0"/>
                <a:cs typeface="Times New Roman" panose="02020603050405020304" pitchFamily="18" charset="0"/>
              </a:rPr>
              <a:t>s2.name="Amit";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(s1.id+" "+s1.name); </a:t>
            </a:r>
            <a:r>
              <a:rPr lang="en-US" dirty="0" err="1">
                <a:latin typeface="Times New Roman" panose="02020603050405020304" pitchFamily="18" charset="0"/>
                <a:cs typeface="Times New Roman" panose="02020603050405020304" pitchFamily="18" charset="0"/>
              </a:rPr>
              <a:t>System.out.print</a:t>
            </a:r>
            <a:r>
              <a:rPr lang="en-US" dirty="0">
                <a:latin typeface="Times New Roman" panose="02020603050405020304" pitchFamily="18" charset="0"/>
                <a:cs typeface="Times New Roman" panose="02020603050405020304" pitchFamily="18" charset="0"/>
              </a:rPr>
              <a:t>(s2.id+" "+s2.name); </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54870322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E23F0-AB29-A7E7-9D66-7CD7BD1F54A3}"/>
              </a:ext>
            </a:extLst>
          </p:cNvPr>
          <p:cNvSpPr>
            <a:spLocks noGrp="1"/>
          </p:cNvSpPr>
          <p:nvPr>
            <p:ph idx="1"/>
          </p:nvPr>
        </p:nvSpPr>
        <p:spPr>
          <a:xfrm>
            <a:off x="457200" y="304800"/>
            <a:ext cx="8229600" cy="5821363"/>
          </a:xfrm>
        </p:spPr>
        <p:txBody>
          <a:bodyPr>
            <a:normAutofit/>
          </a:bodyPr>
          <a:lstStyle/>
          <a:p>
            <a:r>
              <a:rPr lang="en-US" sz="2400" b="1" dirty="0">
                <a:latin typeface="Times New Roman" panose="02020603050405020304" pitchFamily="18" charset="0"/>
                <a:cs typeface="Times New Roman" panose="02020603050405020304" pitchFamily="18" charset="0"/>
              </a:rPr>
              <a:t>2) Object and Class Example: Initialization through method </a:t>
            </a:r>
          </a:p>
          <a:p>
            <a:pPr marL="0" indent="0">
              <a:buNone/>
            </a:pP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In this example, we are creating the two objects of Student class and initializing the value to these objects by invoking the </a:t>
            </a:r>
            <a:r>
              <a:rPr lang="en-US" sz="2400" b="1" i="1" dirty="0" err="1">
                <a:solidFill>
                  <a:srgbClr val="FF0000"/>
                </a:solidFill>
                <a:latin typeface="Times New Roman" panose="02020603050405020304" pitchFamily="18" charset="0"/>
                <a:cs typeface="Times New Roman" panose="02020603050405020304" pitchFamily="18" charset="0"/>
              </a:rPr>
              <a:t>insertRecord</a:t>
            </a:r>
            <a:r>
              <a:rPr lang="en-US" sz="2400" b="1" i="1" dirty="0">
                <a:solidFill>
                  <a:srgbClr val="FF000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method. Here, we are displaying the state (data) of the objects by invoking the </a:t>
            </a:r>
            <a:r>
              <a:rPr lang="en-US" sz="2400" b="1" i="1" dirty="0" err="1">
                <a:solidFill>
                  <a:srgbClr val="FF0000"/>
                </a:solidFill>
                <a:latin typeface="Times New Roman" panose="02020603050405020304" pitchFamily="18" charset="0"/>
                <a:cs typeface="Times New Roman" panose="02020603050405020304" pitchFamily="18" charset="0"/>
              </a:rPr>
              <a:t>displayInformation</a:t>
            </a:r>
            <a:r>
              <a:rPr lang="en-US" sz="2400" b="1" i="1" dirty="0">
                <a:solidFill>
                  <a:srgbClr val="FF000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method.</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object gets the memory in heap memory area. The reference variable refers to the object allocated in the heap memory area. Here, s1 and s2 both are reference variables that refer to the objects allocated in memory. </a:t>
            </a:r>
            <a:endParaRPr lang="en-US" sz="18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2953661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A60FAC-CEED-64A0-BE28-D0FCE914C1EB}"/>
              </a:ext>
            </a:extLst>
          </p:cNvPr>
          <p:cNvSpPr>
            <a:spLocks noGrp="1"/>
          </p:cNvSpPr>
          <p:nvPr>
            <p:ph idx="1"/>
          </p:nvPr>
        </p:nvSpPr>
        <p:spPr>
          <a:xfrm>
            <a:off x="457200" y="304800"/>
            <a:ext cx="8229600" cy="5821363"/>
          </a:xfrm>
        </p:spPr>
        <p:txBody>
          <a:bodyPr>
            <a:normAutofit/>
          </a:bodyPr>
          <a:lstStyle/>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class</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MethodUserdefined</a:t>
            </a:r>
            <a:r>
              <a:rPr lang="en-US" dirty="0">
                <a:latin typeface="Times New Roman" panose="02020603050405020304" pitchFamily="18" charset="0"/>
                <a:cs typeface="Times New Roman" panose="02020603050405020304" pitchFamily="18" charset="0"/>
              </a:rPr>
              <a:t> {</a:t>
            </a:r>
          </a:p>
          <a:p>
            <a:pPr marL="0" indent="0">
              <a:buNone/>
            </a:pP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display() {</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("User Defined Method");</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i="1" dirty="0">
                <a:latin typeface="Times New Roman" panose="02020603050405020304" pitchFamily="18" charset="0"/>
                <a:cs typeface="Times New Roman" panose="02020603050405020304" pitchFamily="18" charset="0"/>
              </a:rPr>
              <a:t>display</a:t>
            </a: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879229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1B9426-7E22-5D64-9637-9BE86D09DA23}"/>
              </a:ext>
            </a:extLst>
          </p:cNvPr>
          <p:cNvSpPr>
            <a:spLocks noGrp="1"/>
          </p:cNvSpPr>
          <p:nvPr>
            <p:ph idx="1"/>
          </p:nvPr>
        </p:nvSpPr>
        <p:spPr>
          <a:xfrm>
            <a:off x="457200" y="152400"/>
            <a:ext cx="8229600" cy="61261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MethodWithoutParameters</a:t>
            </a:r>
            <a:r>
              <a:rPr lang="en-US" dirty="0"/>
              <a:t> {</a:t>
            </a:r>
          </a:p>
          <a:p>
            <a:pPr marL="0" indent="0">
              <a:buNone/>
            </a:pPr>
            <a:r>
              <a:rPr lang="en-US" b="1" dirty="0"/>
              <a:t>static</a:t>
            </a:r>
            <a:r>
              <a:rPr lang="en-US" dirty="0"/>
              <a:t> </a:t>
            </a:r>
            <a:r>
              <a:rPr lang="en-US" b="1" dirty="0"/>
              <a:t>void</a:t>
            </a:r>
            <a:r>
              <a:rPr lang="en-US" dirty="0"/>
              <a:t> welcome() {</a:t>
            </a:r>
          </a:p>
          <a:p>
            <a:pPr marL="0" indent="0">
              <a:buNone/>
            </a:pPr>
            <a:r>
              <a:rPr lang="en-US" dirty="0" err="1"/>
              <a:t>System.</a:t>
            </a:r>
            <a:r>
              <a:rPr lang="en-US" b="1" i="1" dirty="0" err="1"/>
              <a:t>out</a:t>
            </a:r>
            <a:r>
              <a:rPr lang="en-US" dirty="0" err="1"/>
              <a:t>.println</a:t>
            </a:r>
            <a:r>
              <a:rPr lang="en-US" dirty="0"/>
              <a:t>("Method Without Parameters");</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welcome</a:t>
            </a:r>
            <a:r>
              <a:rPr lang="en-US" dirty="0"/>
              <a:t>();</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425499009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D8BE12-92EF-1A8B-D3EC-46EED39814C3}"/>
              </a:ext>
            </a:extLst>
          </p:cNvPr>
          <p:cNvSpPr>
            <a:spLocks noGrp="1"/>
          </p:cNvSpPr>
          <p:nvPr>
            <p:ph idx="1"/>
          </p:nvPr>
        </p:nvSpPr>
        <p:spPr>
          <a:xfrm>
            <a:off x="457200" y="228600"/>
            <a:ext cx="8229600" cy="58975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MethodWithParameters</a:t>
            </a:r>
            <a:r>
              <a:rPr lang="en-US" dirty="0"/>
              <a:t> {</a:t>
            </a:r>
          </a:p>
          <a:p>
            <a:pPr marL="0" indent="0">
              <a:buNone/>
            </a:pPr>
            <a:r>
              <a:rPr lang="en-US" b="1" dirty="0"/>
              <a:t>static</a:t>
            </a:r>
            <a:r>
              <a:rPr lang="en-US" dirty="0"/>
              <a:t> </a:t>
            </a:r>
            <a:r>
              <a:rPr lang="en-US" b="1" dirty="0"/>
              <a:t>void</a:t>
            </a:r>
            <a:r>
              <a:rPr lang="en-US" dirty="0"/>
              <a:t> add(</a:t>
            </a:r>
            <a:r>
              <a:rPr lang="en-US" b="1" dirty="0"/>
              <a:t>int</a:t>
            </a:r>
            <a:r>
              <a:rPr lang="en-US" dirty="0"/>
              <a:t> x, </a:t>
            </a:r>
            <a:r>
              <a:rPr lang="en-US" b="1" dirty="0"/>
              <a:t>int</a:t>
            </a:r>
            <a:r>
              <a:rPr lang="en-US" dirty="0"/>
              <a:t> y) {</a:t>
            </a:r>
          </a:p>
          <a:p>
            <a:pPr marL="0" indent="0">
              <a:buNone/>
            </a:pPr>
            <a:r>
              <a:rPr lang="en-US" dirty="0" err="1"/>
              <a:t>System.</a:t>
            </a:r>
            <a:r>
              <a:rPr lang="en-US" b="1" i="1" dirty="0" err="1"/>
              <a:t>out</a:t>
            </a:r>
            <a:r>
              <a:rPr lang="en-US" dirty="0" err="1"/>
              <a:t>.println</a:t>
            </a:r>
            <a:r>
              <a:rPr lang="en-US" dirty="0"/>
              <a:t>("</a:t>
            </a:r>
            <a:r>
              <a:rPr lang="en-US" dirty="0" err="1"/>
              <a:t>MethodWithParameters</a:t>
            </a:r>
            <a:r>
              <a:rPr lang="en-US" dirty="0"/>
              <a:t> Sum = " + (x + y));</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add</a:t>
            </a:r>
            <a:r>
              <a:rPr lang="en-US" dirty="0"/>
              <a:t>(15, 25);</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7217969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557A93-88AE-A25D-2AD0-5A60C1AB7E8F}"/>
              </a:ext>
            </a:extLst>
          </p:cNvPr>
          <p:cNvSpPr>
            <a:spLocks noGrp="1"/>
          </p:cNvSpPr>
          <p:nvPr>
            <p:ph idx="1"/>
          </p:nvPr>
        </p:nvSpPr>
        <p:spPr>
          <a:xfrm>
            <a:off x="457200" y="228600"/>
            <a:ext cx="8229600" cy="61261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MethodWithReturnValue</a:t>
            </a:r>
            <a:r>
              <a:rPr lang="en-US" dirty="0"/>
              <a:t> {</a:t>
            </a:r>
          </a:p>
          <a:p>
            <a:pPr marL="0" indent="0">
              <a:buNone/>
            </a:pPr>
            <a:r>
              <a:rPr lang="en-US" b="1" dirty="0"/>
              <a:t>static</a:t>
            </a:r>
            <a:r>
              <a:rPr lang="en-US" dirty="0"/>
              <a:t> </a:t>
            </a:r>
            <a:r>
              <a:rPr lang="en-US" b="1" dirty="0"/>
              <a:t>int</a:t>
            </a:r>
            <a:r>
              <a:rPr lang="en-US" dirty="0"/>
              <a:t> square(</a:t>
            </a:r>
            <a:r>
              <a:rPr lang="en-US" b="1" dirty="0"/>
              <a:t>int</a:t>
            </a:r>
            <a:r>
              <a:rPr lang="en-US" dirty="0"/>
              <a:t> n) {</a:t>
            </a:r>
          </a:p>
          <a:p>
            <a:pPr marL="0" indent="0">
              <a:buNone/>
            </a:pPr>
            <a:r>
              <a:rPr lang="en-US" b="1" dirty="0"/>
              <a:t>return</a:t>
            </a:r>
            <a:r>
              <a:rPr lang="en-US" dirty="0"/>
              <a:t> n * n;</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b="1" dirty="0"/>
              <a:t>int</a:t>
            </a:r>
            <a:r>
              <a:rPr lang="en-US" dirty="0"/>
              <a:t> answer = </a:t>
            </a:r>
            <a:r>
              <a:rPr lang="en-US" i="1" dirty="0"/>
              <a:t>square</a:t>
            </a:r>
            <a:r>
              <a:rPr lang="en-US" dirty="0"/>
              <a:t>(6);</a:t>
            </a:r>
          </a:p>
          <a:p>
            <a:pPr marL="0" indent="0">
              <a:buNone/>
            </a:pPr>
            <a:r>
              <a:rPr lang="en-US" dirty="0" err="1"/>
              <a:t>System.</a:t>
            </a:r>
            <a:r>
              <a:rPr lang="en-US" b="1" i="1" dirty="0" err="1"/>
              <a:t>out</a:t>
            </a:r>
            <a:r>
              <a:rPr lang="en-US" dirty="0" err="1"/>
              <a:t>.println</a:t>
            </a:r>
            <a:r>
              <a:rPr lang="en-US" dirty="0"/>
              <a:t>("Method With Return Type:"+answer);</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67891436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3B1F45-AC8D-298D-1F51-ED067130A8BF}"/>
              </a:ext>
            </a:extLst>
          </p:cNvPr>
          <p:cNvSpPr>
            <a:spLocks noGrp="1"/>
          </p:cNvSpPr>
          <p:nvPr>
            <p:ph idx="1"/>
          </p:nvPr>
        </p:nvSpPr>
        <p:spPr>
          <a:xfrm>
            <a:off x="457200" y="228600"/>
            <a:ext cx="8229600" cy="58975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MethodVoid</a:t>
            </a:r>
            <a:r>
              <a:rPr lang="en-US" dirty="0"/>
              <a:t> {</a:t>
            </a:r>
          </a:p>
          <a:p>
            <a:pPr marL="0" indent="0">
              <a:buNone/>
            </a:pPr>
            <a:r>
              <a:rPr lang="en-US" b="1" dirty="0"/>
              <a:t>static</a:t>
            </a:r>
            <a:r>
              <a:rPr lang="en-US" dirty="0"/>
              <a:t> </a:t>
            </a:r>
            <a:r>
              <a:rPr lang="en-US" b="1" dirty="0"/>
              <a:t>void</a:t>
            </a:r>
            <a:r>
              <a:rPr lang="en-US" dirty="0"/>
              <a:t> message() {</a:t>
            </a:r>
          </a:p>
          <a:p>
            <a:pPr marL="0" indent="0">
              <a:buNone/>
            </a:pPr>
            <a:r>
              <a:rPr lang="en-US" dirty="0" err="1"/>
              <a:t>System.</a:t>
            </a:r>
            <a:r>
              <a:rPr lang="en-US" b="1" i="1" dirty="0" err="1"/>
              <a:t>out</a:t>
            </a:r>
            <a:r>
              <a:rPr lang="en-US" dirty="0" err="1"/>
              <a:t>.println</a:t>
            </a:r>
            <a:r>
              <a:rPr lang="en-US" dirty="0"/>
              <a:t>("Method Void");</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message</a:t>
            </a:r>
            <a:r>
              <a:rPr lang="en-US" dirty="0"/>
              <a:t>();</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7879172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9BD6C5-96F5-4ED8-4A62-DFCC3C0C1589}"/>
              </a:ext>
            </a:extLst>
          </p:cNvPr>
          <p:cNvSpPr>
            <a:spLocks noGrp="1"/>
          </p:cNvSpPr>
          <p:nvPr>
            <p:ph idx="1"/>
          </p:nvPr>
        </p:nvSpPr>
        <p:spPr>
          <a:xfrm>
            <a:off x="457200" y="152400"/>
            <a:ext cx="8229600" cy="59737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MethodStatic</a:t>
            </a:r>
            <a:r>
              <a:rPr lang="en-US" dirty="0"/>
              <a:t> {</a:t>
            </a:r>
          </a:p>
          <a:p>
            <a:pPr marL="0" indent="0">
              <a:buNone/>
            </a:pPr>
            <a:r>
              <a:rPr lang="en-US" b="1" dirty="0"/>
              <a:t>static</a:t>
            </a:r>
            <a:r>
              <a:rPr lang="en-US" dirty="0"/>
              <a:t> </a:t>
            </a:r>
            <a:r>
              <a:rPr lang="en-US" b="1" dirty="0"/>
              <a:t>void</a:t>
            </a:r>
            <a:r>
              <a:rPr lang="en-US" dirty="0"/>
              <a:t> show() {</a:t>
            </a:r>
          </a:p>
          <a:p>
            <a:pPr marL="0" indent="0">
              <a:buNone/>
            </a:pPr>
            <a:r>
              <a:rPr lang="en-US" dirty="0" err="1"/>
              <a:t>System.</a:t>
            </a:r>
            <a:r>
              <a:rPr lang="en-US" b="1" i="1" dirty="0" err="1"/>
              <a:t>out</a:t>
            </a:r>
            <a:r>
              <a:rPr lang="en-US" dirty="0" err="1"/>
              <a:t>.println</a:t>
            </a:r>
            <a:r>
              <a:rPr lang="en-US" dirty="0"/>
              <a:t>("Static Method");</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show</a:t>
            </a:r>
            <a:r>
              <a:rPr lang="en-US" dirty="0"/>
              <a:t>(); // Calling a Static Method</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118709997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DD20A7-6E98-4C76-314B-D00D5A234F32}"/>
              </a:ext>
            </a:extLst>
          </p:cNvPr>
          <p:cNvSpPr>
            <a:spLocks noGrp="1"/>
          </p:cNvSpPr>
          <p:nvPr>
            <p:ph idx="1"/>
          </p:nvPr>
        </p:nvSpPr>
        <p:spPr>
          <a:xfrm>
            <a:off x="457200" y="457200"/>
            <a:ext cx="8229600" cy="5867400"/>
          </a:xfrm>
        </p:spPr>
        <p:txBody>
          <a:bodyPr>
            <a:normAutofit/>
          </a:bodyPr>
          <a:lstStyle/>
          <a:p>
            <a:pPr marL="0" indent="0">
              <a:buNone/>
            </a:pPr>
            <a:r>
              <a:rPr lang="en-US" b="1" dirty="0"/>
              <a:t>public</a:t>
            </a:r>
            <a:r>
              <a:rPr lang="en-US" dirty="0"/>
              <a:t> </a:t>
            </a:r>
            <a:r>
              <a:rPr lang="en-US" b="1" dirty="0"/>
              <a:t>class</a:t>
            </a:r>
            <a:r>
              <a:rPr lang="en-US" dirty="0"/>
              <a:t> </a:t>
            </a:r>
            <a:r>
              <a:rPr lang="en-US" dirty="0" err="1"/>
              <a:t>MethodInstance</a:t>
            </a:r>
            <a:r>
              <a:rPr lang="en-US" dirty="0"/>
              <a:t> { // Non static Method</a:t>
            </a:r>
          </a:p>
          <a:p>
            <a:pPr marL="0" indent="0">
              <a:buNone/>
            </a:pPr>
            <a:r>
              <a:rPr lang="en-US" b="1" dirty="0"/>
              <a:t>void</a:t>
            </a:r>
            <a:r>
              <a:rPr lang="en-US" dirty="0"/>
              <a:t> display() {</a:t>
            </a:r>
          </a:p>
          <a:p>
            <a:pPr marL="0" indent="0">
              <a:buNone/>
            </a:pPr>
            <a:r>
              <a:rPr lang="en-US" dirty="0" err="1"/>
              <a:t>System.</a:t>
            </a:r>
            <a:r>
              <a:rPr lang="en-US" b="1" i="1" dirty="0" err="1"/>
              <a:t>out</a:t>
            </a:r>
            <a:r>
              <a:rPr lang="en-US" dirty="0" err="1"/>
              <a:t>.println</a:t>
            </a:r>
            <a:r>
              <a:rPr lang="en-US" dirty="0"/>
              <a:t>("Instance Method");</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err="1"/>
              <a:t>MethodInstance</a:t>
            </a:r>
            <a:r>
              <a:rPr lang="en-US" dirty="0"/>
              <a:t> obj = </a:t>
            </a:r>
            <a:r>
              <a:rPr lang="en-US" b="1" dirty="0"/>
              <a:t>new</a:t>
            </a:r>
            <a:r>
              <a:rPr lang="en-US" dirty="0"/>
              <a:t> </a:t>
            </a:r>
            <a:r>
              <a:rPr lang="en-US" dirty="0" err="1"/>
              <a:t>MethodInstance</a:t>
            </a:r>
            <a:r>
              <a:rPr lang="en-US" dirty="0"/>
              <a:t>();</a:t>
            </a:r>
          </a:p>
          <a:p>
            <a:pPr marL="0" indent="0">
              <a:buNone/>
            </a:pPr>
            <a:r>
              <a:rPr lang="en-US" dirty="0" err="1"/>
              <a:t>obj.display</a:t>
            </a:r>
            <a:r>
              <a:rPr lang="en-US" dirty="0"/>
              <a:t>(); //Instance Method</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82061108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97164D-F8FE-EDC5-4386-C38FAD74D319}"/>
              </a:ext>
            </a:extLst>
          </p:cNvPr>
          <p:cNvSpPr>
            <a:spLocks noGrp="1"/>
          </p:cNvSpPr>
          <p:nvPr>
            <p:ph idx="1"/>
          </p:nvPr>
        </p:nvSpPr>
        <p:spPr>
          <a:xfrm>
            <a:off x="234746" y="261988"/>
            <a:ext cx="8229600" cy="5973763"/>
          </a:xfrm>
        </p:spPr>
        <p:txBody>
          <a:bodyPr>
            <a:normAutofit fontScale="92500" lnSpcReduction="10000"/>
          </a:bodyPr>
          <a:lstStyle/>
          <a:p>
            <a:pPr marL="0" indent="0">
              <a:buNone/>
            </a:pPr>
            <a:r>
              <a:rPr lang="en-US" dirty="0"/>
              <a:t>public class Demo {</a:t>
            </a:r>
          </a:p>
          <a:p>
            <a:pPr marL="0" indent="0">
              <a:buNone/>
            </a:pPr>
            <a:r>
              <a:rPr lang="en-US" dirty="0"/>
              <a:t>    static void first() {</a:t>
            </a:r>
          </a:p>
          <a:p>
            <a:pPr marL="0" indent="0">
              <a:buNone/>
            </a:pPr>
            <a:r>
              <a:rPr lang="en-US" dirty="0"/>
              <a:t>        </a:t>
            </a:r>
            <a:r>
              <a:rPr lang="en-US" dirty="0" err="1"/>
              <a:t>System.out.println</a:t>
            </a:r>
            <a:r>
              <a:rPr lang="en-US" dirty="0"/>
              <a:t>("Inside first()");</a:t>
            </a:r>
          </a:p>
          <a:p>
            <a:pPr marL="0" indent="0">
              <a:buNone/>
            </a:pPr>
            <a:r>
              <a:rPr lang="en-US" dirty="0"/>
              <a:t>    }</a:t>
            </a:r>
          </a:p>
          <a:p>
            <a:pPr marL="0" indent="0">
              <a:buNone/>
            </a:pPr>
            <a:r>
              <a:rPr lang="en-US" dirty="0"/>
              <a:t>    public static void main(String[] </a:t>
            </a:r>
            <a:r>
              <a:rPr lang="en-US" dirty="0" err="1"/>
              <a:t>args</a:t>
            </a:r>
            <a:r>
              <a:rPr lang="en-US" dirty="0"/>
              <a:t>) {</a:t>
            </a:r>
          </a:p>
          <a:p>
            <a:pPr marL="0" indent="0">
              <a:buNone/>
            </a:pPr>
            <a:r>
              <a:rPr lang="en-US" dirty="0"/>
              <a:t>        </a:t>
            </a:r>
            <a:r>
              <a:rPr lang="en-US" dirty="0" err="1"/>
              <a:t>System.out.println</a:t>
            </a:r>
            <a:r>
              <a:rPr lang="en-US" dirty="0"/>
              <a:t>("Program Starts");</a:t>
            </a:r>
          </a:p>
          <a:p>
            <a:pPr marL="0" indent="0">
              <a:buNone/>
            </a:pPr>
            <a:r>
              <a:rPr lang="en-US" dirty="0"/>
              <a:t>        first();</a:t>
            </a:r>
          </a:p>
          <a:p>
            <a:pPr marL="0" indent="0">
              <a:buNone/>
            </a:pPr>
            <a:r>
              <a:rPr lang="en-US" dirty="0"/>
              <a:t>        </a:t>
            </a:r>
            <a:r>
              <a:rPr lang="en-US" dirty="0" err="1"/>
              <a:t>System.out.println</a:t>
            </a:r>
            <a:r>
              <a:rPr lang="en-US" dirty="0"/>
              <a:t>("Program Ends");</a:t>
            </a:r>
          </a:p>
          <a:p>
            <a:pPr marL="0" indent="0">
              <a:buNone/>
            </a:pPr>
            <a:endParaRPr lang="en-US" dirty="0"/>
          </a:p>
          <a:p>
            <a:pPr marL="0" indent="0">
              <a:buNone/>
            </a:pPr>
            <a:r>
              <a:rPr lang="en-US" dirty="0"/>
              <a:t>    }</a:t>
            </a:r>
          </a:p>
          <a:p>
            <a:pPr marL="0" indent="0">
              <a:buNone/>
            </a:pPr>
            <a:r>
              <a:rPr lang="en-US" dirty="0"/>
              <a:t>}</a:t>
            </a:r>
          </a:p>
        </p:txBody>
      </p:sp>
      <p:sp>
        <p:nvSpPr>
          <p:cNvPr id="5" name="TextBox 4">
            <a:extLst>
              <a:ext uri="{FF2B5EF4-FFF2-40B4-BE49-F238E27FC236}">
                <a16:creationId xmlns:a16="http://schemas.microsoft.com/office/drawing/2014/main" id="{6A68C38D-A636-245D-469F-2FB34219350F}"/>
              </a:ext>
            </a:extLst>
          </p:cNvPr>
          <p:cNvSpPr txBox="1"/>
          <p:nvPr/>
        </p:nvSpPr>
        <p:spPr>
          <a:xfrm>
            <a:off x="6934200" y="709714"/>
            <a:ext cx="2004551" cy="5078313"/>
          </a:xfrm>
          <a:prstGeom prst="rect">
            <a:avLst/>
          </a:prstGeom>
          <a:noFill/>
        </p:spPr>
        <p:txBody>
          <a:bodyPr wrap="square">
            <a:spAutoFit/>
          </a:bodyPr>
          <a:lstStyle/>
          <a:p>
            <a:pPr algn="ctr"/>
            <a:r>
              <a:rPr lang="en-US" dirty="0"/>
              <a:t>main()</a:t>
            </a:r>
          </a:p>
          <a:p>
            <a:pPr algn="ctr"/>
            <a:r>
              <a:rPr lang="en-US" dirty="0"/>
              <a:t>   │</a:t>
            </a:r>
          </a:p>
          <a:p>
            <a:pPr algn="ctr"/>
            <a:r>
              <a:rPr lang="en-US" dirty="0"/>
              <a:t>   ▼</a:t>
            </a:r>
          </a:p>
          <a:p>
            <a:pPr algn="ctr"/>
            <a:r>
              <a:rPr lang="en-US" dirty="0"/>
              <a:t>Print "Program Starts"</a:t>
            </a:r>
          </a:p>
          <a:p>
            <a:pPr algn="ctr"/>
            <a:r>
              <a:rPr lang="en-US" dirty="0"/>
              <a:t>   │</a:t>
            </a:r>
          </a:p>
          <a:p>
            <a:pPr algn="ctr"/>
            <a:r>
              <a:rPr lang="en-US" dirty="0"/>
              <a:t>   ▼</a:t>
            </a:r>
          </a:p>
          <a:p>
            <a:pPr algn="ctr"/>
            <a:r>
              <a:rPr lang="en-US" dirty="0"/>
              <a:t>Call first()</a:t>
            </a:r>
          </a:p>
          <a:p>
            <a:pPr algn="ctr"/>
            <a:r>
              <a:rPr lang="en-US" dirty="0"/>
              <a:t>   │</a:t>
            </a:r>
          </a:p>
          <a:p>
            <a:pPr algn="ctr"/>
            <a:r>
              <a:rPr lang="en-US" dirty="0"/>
              <a:t>   ▼</a:t>
            </a:r>
          </a:p>
          <a:p>
            <a:pPr algn="ctr"/>
            <a:r>
              <a:rPr lang="en-US" dirty="0"/>
              <a:t>Print "Inside first()"</a:t>
            </a:r>
          </a:p>
          <a:p>
            <a:pPr algn="ctr"/>
            <a:r>
              <a:rPr lang="en-US" dirty="0"/>
              <a:t>   │</a:t>
            </a:r>
          </a:p>
          <a:p>
            <a:pPr algn="ctr"/>
            <a:r>
              <a:rPr lang="en-US" dirty="0"/>
              <a:t>   ▼</a:t>
            </a:r>
          </a:p>
          <a:p>
            <a:pPr algn="ctr"/>
            <a:r>
              <a:rPr lang="en-US" dirty="0"/>
              <a:t>Return to main()</a:t>
            </a:r>
          </a:p>
          <a:p>
            <a:pPr algn="ctr"/>
            <a:r>
              <a:rPr lang="en-US" dirty="0"/>
              <a:t>   │</a:t>
            </a:r>
          </a:p>
          <a:p>
            <a:pPr algn="ctr"/>
            <a:r>
              <a:rPr lang="en-US" dirty="0"/>
              <a:t>   ▼</a:t>
            </a:r>
          </a:p>
          <a:p>
            <a:pPr algn="ctr"/>
            <a:r>
              <a:rPr lang="en-US" dirty="0"/>
              <a:t>Print "Program Ends"</a:t>
            </a:r>
          </a:p>
        </p:txBody>
      </p:sp>
    </p:spTree>
    <p:extLst>
      <p:ext uri="{BB962C8B-B14F-4D97-AF65-F5344CB8AC3E}">
        <p14:creationId xmlns:p14="http://schemas.microsoft.com/office/powerpoint/2010/main" val="10163390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180F3B-8841-5FC3-0793-D1EE3E2179BC}"/>
              </a:ext>
            </a:extLst>
          </p:cNvPr>
          <p:cNvSpPr>
            <a:spLocks noGrp="1"/>
          </p:cNvSpPr>
          <p:nvPr>
            <p:ph idx="1"/>
          </p:nvPr>
        </p:nvSpPr>
        <p:spPr>
          <a:xfrm>
            <a:off x="457200" y="152400"/>
            <a:ext cx="8229600" cy="6705600"/>
          </a:xfrm>
        </p:spPr>
        <p:txBody>
          <a:bodyPr>
            <a:normAutofit fontScale="92500" lnSpcReduction="10000"/>
          </a:bodyPr>
          <a:lstStyle/>
          <a:p>
            <a:pPr marL="0" indent="0">
              <a:buNone/>
            </a:pPr>
            <a:r>
              <a:rPr lang="en-US" sz="1900" b="1" dirty="0">
                <a:latin typeface="Times New Roman" panose="02020603050405020304" pitchFamily="18" charset="0"/>
                <a:cs typeface="Times New Roman" panose="02020603050405020304" pitchFamily="18" charset="0"/>
              </a:rPr>
              <a:t>class</a:t>
            </a:r>
            <a:r>
              <a:rPr lang="en-US" sz="1900" dirty="0">
                <a:latin typeface="Times New Roman" panose="02020603050405020304" pitchFamily="18" charset="0"/>
                <a:cs typeface="Times New Roman" panose="02020603050405020304" pitchFamily="18" charset="0"/>
              </a:rPr>
              <a:t> Std {</a:t>
            </a:r>
          </a:p>
          <a:p>
            <a:pPr marL="0" indent="0">
              <a:buNone/>
            </a:pPr>
            <a:r>
              <a:rPr lang="en-US" sz="1900" b="1" dirty="0">
                <a:latin typeface="Times New Roman" panose="02020603050405020304" pitchFamily="18" charset="0"/>
                <a:cs typeface="Times New Roman" panose="02020603050405020304" pitchFamily="18" charset="0"/>
              </a:rPr>
              <a:t>int</a:t>
            </a:r>
            <a:r>
              <a:rPr lang="en-US" sz="1900" dirty="0">
                <a:latin typeface="Times New Roman" panose="02020603050405020304" pitchFamily="18" charset="0"/>
                <a:cs typeface="Times New Roman" panose="02020603050405020304" pitchFamily="18" charset="0"/>
              </a:rPr>
              <a:t> </a:t>
            </a:r>
            <a:r>
              <a:rPr lang="en-US" sz="1900" dirty="0" err="1">
                <a:latin typeface="Times New Roman" panose="02020603050405020304" pitchFamily="18" charset="0"/>
                <a:cs typeface="Times New Roman" panose="02020603050405020304" pitchFamily="18" charset="0"/>
              </a:rPr>
              <a:t>rollNo</a:t>
            </a:r>
            <a:r>
              <a:rPr lang="en-US" sz="1900" dirty="0">
                <a:latin typeface="Times New Roman" panose="02020603050405020304" pitchFamily="18" charset="0"/>
                <a:cs typeface="Times New Roman" panose="02020603050405020304" pitchFamily="18" charset="0"/>
              </a:rPr>
              <a:t>;</a:t>
            </a:r>
          </a:p>
          <a:p>
            <a:pPr marL="0" indent="0">
              <a:buNone/>
            </a:pPr>
            <a:r>
              <a:rPr lang="en-US" sz="1900" dirty="0">
                <a:latin typeface="Times New Roman" panose="02020603050405020304" pitchFamily="18" charset="0"/>
                <a:cs typeface="Times New Roman" panose="02020603050405020304" pitchFamily="18" charset="0"/>
              </a:rPr>
              <a:t>String name;</a:t>
            </a:r>
          </a:p>
          <a:p>
            <a:pPr marL="0" indent="0">
              <a:buNone/>
            </a:pPr>
            <a:r>
              <a:rPr lang="en-US" sz="1900" b="1" dirty="0">
                <a:latin typeface="Times New Roman" panose="02020603050405020304" pitchFamily="18" charset="0"/>
                <a:cs typeface="Times New Roman" panose="02020603050405020304" pitchFamily="18" charset="0"/>
              </a:rPr>
              <a:t>void</a:t>
            </a:r>
            <a:r>
              <a:rPr lang="en-US" sz="1900" dirty="0">
                <a:latin typeface="Times New Roman" panose="02020603050405020304" pitchFamily="18" charset="0"/>
                <a:cs typeface="Times New Roman" panose="02020603050405020304" pitchFamily="18" charset="0"/>
              </a:rPr>
              <a:t> insert(</a:t>
            </a:r>
            <a:r>
              <a:rPr lang="en-US" sz="1900" b="1" dirty="0">
                <a:latin typeface="Times New Roman" panose="02020603050405020304" pitchFamily="18" charset="0"/>
                <a:cs typeface="Times New Roman" panose="02020603050405020304" pitchFamily="18" charset="0"/>
              </a:rPr>
              <a:t>int</a:t>
            </a:r>
            <a:r>
              <a:rPr lang="en-US" sz="1900" dirty="0">
                <a:latin typeface="Times New Roman" panose="02020603050405020304" pitchFamily="18" charset="0"/>
                <a:cs typeface="Times New Roman" panose="02020603050405020304" pitchFamily="18" charset="0"/>
              </a:rPr>
              <a:t> r, String n) {</a:t>
            </a:r>
          </a:p>
          <a:p>
            <a:pPr marL="0" indent="0">
              <a:buNone/>
            </a:pPr>
            <a:r>
              <a:rPr lang="en-US" sz="1900" dirty="0" err="1">
                <a:latin typeface="Times New Roman" panose="02020603050405020304" pitchFamily="18" charset="0"/>
                <a:cs typeface="Times New Roman" panose="02020603050405020304" pitchFamily="18" charset="0"/>
              </a:rPr>
              <a:t>rollNo</a:t>
            </a:r>
            <a:r>
              <a:rPr lang="en-US" sz="1900" dirty="0">
                <a:latin typeface="Times New Roman" panose="02020603050405020304" pitchFamily="18" charset="0"/>
                <a:cs typeface="Times New Roman" panose="02020603050405020304" pitchFamily="18" charset="0"/>
              </a:rPr>
              <a:t> = r;</a:t>
            </a:r>
          </a:p>
          <a:p>
            <a:pPr marL="0" indent="0">
              <a:buNone/>
            </a:pPr>
            <a:r>
              <a:rPr lang="en-US" sz="1900" dirty="0">
                <a:latin typeface="Times New Roman" panose="02020603050405020304" pitchFamily="18" charset="0"/>
                <a:cs typeface="Times New Roman" panose="02020603050405020304" pitchFamily="18" charset="0"/>
              </a:rPr>
              <a:t>name = n;</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b="1" dirty="0">
                <a:latin typeface="Times New Roman" panose="02020603050405020304" pitchFamily="18" charset="0"/>
                <a:cs typeface="Times New Roman" panose="02020603050405020304" pitchFamily="18" charset="0"/>
              </a:rPr>
              <a:t>void</a:t>
            </a:r>
            <a:r>
              <a:rPr lang="en-US" sz="1900" dirty="0">
                <a:latin typeface="Times New Roman" panose="02020603050405020304" pitchFamily="18" charset="0"/>
                <a:cs typeface="Times New Roman" panose="02020603050405020304" pitchFamily="18" charset="0"/>
              </a:rPr>
              <a:t> display() {</a:t>
            </a:r>
          </a:p>
          <a:p>
            <a:pPr marL="0" indent="0">
              <a:buNone/>
            </a:pPr>
            <a:r>
              <a:rPr lang="en-US" sz="1900" dirty="0" err="1">
                <a:latin typeface="Times New Roman" panose="02020603050405020304" pitchFamily="18" charset="0"/>
                <a:cs typeface="Times New Roman" panose="02020603050405020304" pitchFamily="18" charset="0"/>
              </a:rPr>
              <a:t>System.</a:t>
            </a:r>
            <a:r>
              <a:rPr lang="en-US" sz="1900" b="1" i="1" dirty="0" err="1">
                <a:latin typeface="Times New Roman" panose="02020603050405020304" pitchFamily="18" charset="0"/>
                <a:cs typeface="Times New Roman" panose="02020603050405020304" pitchFamily="18" charset="0"/>
              </a:rPr>
              <a:t>out</a:t>
            </a:r>
            <a:r>
              <a:rPr lang="en-US" sz="1900" dirty="0" err="1">
                <a:latin typeface="Times New Roman" panose="02020603050405020304" pitchFamily="18" charset="0"/>
                <a:cs typeface="Times New Roman" panose="02020603050405020304" pitchFamily="18" charset="0"/>
              </a:rPr>
              <a:t>.println</a:t>
            </a:r>
            <a:r>
              <a:rPr lang="en-US" sz="1900" dirty="0">
                <a:latin typeface="Times New Roman" panose="02020603050405020304" pitchFamily="18" charset="0"/>
                <a:cs typeface="Times New Roman" panose="02020603050405020304" pitchFamily="18" charset="0"/>
              </a:rPr>
              <a:t>(</a:t>
            </a:r>
            <a:r>
              <a:rPr lang="en-US" sz="1900" dirty="0" err="1">
                <a:latin typeface="Times New Roman" panose="02020603050405020304" pitchFamily="18" charset="0"/>
                <a:cs typeface="Times New Roman" panose="02020603050405020304" pitchFamily="18" charset="0"/>
              </a:rPr>
              <a:t>rollNo</a:t>
            </a:r>
            <a:r>
              <a:rPr lang="en-US" sz="1900" dirty="0">
                <a:latin typeface="Times New Roman" panose="02020603050405020304" pitchFamily="18" charset="0"/>
                <a:cs typeface="Times New Roman" panose="02020603050405020304" pitchFamily="18" charset="0"/>
              </a:rPr>
              <a:t> + " " + name);</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b="1" dirty="0">
                <a:latin typeface="Times New Roman" panose="02020603050405020304" pitchFamily="18" charset="0"/>
                <a:cs typeface="Times New Roman" panose="02020603050405020304" pitchFamily="18" charset="0"/>
              </a:rPr>
              <a:t>public</a:t>
            </a:r>
            <a:r>
              <a:rPr lang="en-US" sz="1900"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class</a:t>
            </a:r>
            <a:r>
              <a:rPr lang="en-US" sz="1900" dirty="0">
                <a:latin typeface="Times New Roman" panose="02020603050405020304" pitchFamily="18" charset="0"/>
                <a:cs typeface="Times New Roman" panose="02020603050405020304" pitchFamily="18" charset="0"/>
              </a:rPr>
              <a:t> </a:t>
            </a:r>
            <a:r>
              <a:rPr lang="en-US" sz="1900" dirty="0" err="1">
                <a:latin typeface="Times New Roman" panose="02020603050405020304" pitchFamily="18" charset="0"/>
                <a:cs typeface="Times New Roman" panose="02020603050405020304" pitchFamily="18" charset="0"/>
              </a:rPr>
              <a:t>MethodInitialization</a:t>
            </a:r>
            <a:r>
              <a:rPr lang="en-US" sz="1900" dirty="0">
                <a:latin typeface="Times New Roman" panose="02020603050405020304" pitchFamily="18" charset="0"/>
                <a:cs typeface="Times New Roman" panose="02020603050405020304" pitchFamily="18" charset="0"/>
              </a:rPr>
              <a:t> {</a:t>
            </a:r>
          </a:p>
          <a:p>
            <a:pPr marL="0" indent="0">
              <a:buNone/>
            </a:pPr>
            <a:r>
              <a:rPr lang="en-US" sz="1900" b="1" dirty="0">
                <a:latin typeface="Times New Roman" panose="02020603050405020304" pitchFamily="18" charset="0"/>
                <a:cs typeface="Times New Roman" panose="02020603050405020304" pitchFamily="18" charset="0"/>
              </a:rPr>
              <a:t>public</a:t>
            </a:r>
            <a:r>
              <a:rPr lang="en-US" sz="1900"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static</a:t>
            </a:r>
            <a:r>
              <a:rPr lang="en-US" sz="1900"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void</a:t>
            </a:r>
            <a:r>
              <a:rPr lang="en-US" sz="1900" dirty="0">
                <a:latin typeface="Times New Roman" panose="02020603050405020304" pitchFamily="18" charset="0"/>
                <a:cs typeface="Times New Roman" panose="02020603050405020304" pitchFamily="18" charset="0"/>
              </a:rPr>
              <a:t> main(String[] </a:t>
            </a:r>
            <a:r>
              <a:rPr lang="en-US" sz="1900" dirty="0" err="1">
                <a:latin typeface="Times New Roman" panose="02020603050405020304" pitchFamily="18" charset="0"/>
                <a:cs typeface="Times New Roman" panose="02020603050405020304" pitchFamily="18" charset="0"/>
              </a:rPr>
              <a:t>args</a:t>
            </a:r>
            <a:r>
              <a:rPr lang="en-US" sz="1900" dirty="0">
                <a:latin typeface="Times New Roman" panose="02020603050405020304" pitchFamily="18" charset="0"/>
                <a:cs typeface="Times New Roman" panose="02020603050405020304" pitchFamily="18" charset="0"/>
              </a:rPr>
              <a:t>) {</a:t>
            </a:r>
          </a:p>
          <a:p>
            <a:pPr marL="0" indent="0">
              <a:buNone/>
            </a:pPr>
            <a:r>
              <a:rPr lang="en-US" sz="1900" dirty="0">
                <a:latin typeface="Times New Roman" panose="02020603050405020304" pitchFamily="18" charset="0"/>
                <a:cs typeface="Times New Roman" panose="02020603050405020304" pitchFamily="18" charset="0"/>
              </a:rPr>
              <a:t>Std s1 = </a:t>
            </a:r>
            <a:r>
              <a:rPr lang="en-US" sz="1900" b="1" dirty="0">
                <a:latin typeface="Times New Roman" panose="02020603050405020304" pitchFamily="18" charset="0"/>
                <a:cs typeface="Times New Roman" panose="02020603050405020304" pitchFamily="18" charset="0"/>
              </a:rPr>
              <a:t>new</a:t>
            </a:r>
            <a:r>
              <a:rPr lang="en-US" sz="1900" dirty="0">
                <a:latin typeface="Times New Roman" panose="02020603050405020304" pitchFamily="18" charset="0"/>
                <a:cs typeface="Times New Roman" panose="02020603050405020304" pitchFamily="18" charset="0"/>
              </a:rPr>
              <a:t> Std();</a:t>
            </a:r>
          </a:p>
          <a:p>
            <a:pPr marL="0" indent="0">
              <a:buNone/>
            </a:pPr>
            <a:r>
              <a:rPr lang="en-US" sz="1900" dirty="0">
                <a:latin typeface="Times New Roman" panose="02020603050405020304" pitchFamily="18" charset="0"/>
                <a:cs typeface="Times New Roman" panose="02020603050405020304" pitchFamily="18" charset="0"/>
              </a:rPr>
              <a:t>Std s2 = </a:t>
            </a:r>
            <a:r>
              <a:rPr lang="en-US" sz="1900" b="1" dirty="0">
                <a:latin typeface="Times New Roman" panose="02020603050405020304" pitchFamily="18" charset="0"/>
                <a:cs typeface="Times New Roman" panose="02020603050405020304" pitchFamily="18" charset="0"/>
              </a:rPr>
              <a:t>new</a:t>
            </a:r>
            <a:r>
              <a:rPr lang="en-US" sz="1900" dirty="0">
                <a:latin typeface="Times New Roman" panose="02020603050405020304" pitchFamily="18" charset="0"/>
                <a:cs typeface="Times New Roman" panose="02020603050405020304" pitchFamily="18" charset="0"/>
              </a:rPr>
              <a:t> Std();</a:t>
            </a:r>
          </a:p>
          <a:p>
            <a:pPr marL="0" indent="0">
              <a:buNone/>
            </a:pPr>
            <a:r>
              <a:rPr lang="en-US" sz="1900" dirty="0">
                <a:latin typeface="Times New Roman" panose="02020603050405020304" pitchFamily="18" charset="0"/>
                <a:cs typeface="Times New Roman" panose="02020603050405020304" pitchFamily="18" charset="0"/>
              </a:rPr>
              <a:t>s1.insert(101, "Rahul");</a:t>
            </a:r>
          </a:p>
          <a:p>
            <a:pPr marL="0" indent="0">
              <a:buNone/>
            </a:pPr>
            <a:r>
              <a:rPr lang="en-US" sz="1900" dirty="0">
                <a:latin typeface="Times New Roman" panose="02020603050405020304" pitchFamily="18" charset="0"/>
                <a:cs typeface="Times New Roman" panose="02020603050405020304" pitchFamily="18" charset="0"/>
              </a:rPr>
              <a:t>s2.insert(102, "Priya");</a:t>
            </a:r>
          </a:p>
          <a:p>
            <a:pPr marL="0" indent="0">
              <a:buNone/>
            </a:pPr>
            <a:r>
              <a:rPr lang="en-US" sz="1900" dirty="0">
                <a:latin typeface="Times New Roman" panose="02020603050405020304" pitchFamily="18" charset="0"/>
                <a:cs typeface="Times New Roman" panose="02020603050405020304" pitchFamily="18" charset="0"/>
              </a:rPr>
              <a:t>s1.display();</a:t>
            </a:r>
          </a:p>
          <a:p>
            <a:pPr marL="0" indent="0">
              <a:buNone/>
            </a:pPr>
            <a:r>
              <a:rPr lang="en-US" sz="1900" dirty="0">
                <a:latin typeface="Times New Roman" panose="02020603050405020304" pitchFamily="18" charset="0"/>
                <a:cs typeface="Times New Roman" panose="02020603050405020304" pitchFamily="18" charset="0"/>
              </a:rPr>
              <a:t>s2.display();</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14943073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648879-40D1-B518-F49F-231DAFBB170E}"/>
              </a:ext>
            </a:extLst>
          </p:cNvPr>
          <p:cNvSpPr>
            <a:spLocks noGrp="1"/>
          </p:cNvSpPr>
          <p:nvPr>
            <p:ph idx="1"/>
          </p:nvPr>
        </p:nvSpPr>
        <p:spPr>
          <a:xfrm>
            <a:off x="457200" y="152400"/>
            <a:ext cx="8229600" cy="6477000"/>
          </a:xfrm>
        </p:spPr>
        <p:txBody>
          <a:bodyPr>
            <a:normAutofit/>
          </a:bodyPr>
          <a:lstStyle/>
          <a:p>
            <a:pPr marL="0" indent="0" algn="just">
              <a:buNone/>
            </a:pPr>
            <a:r>
              <a:rPr lang="en-US" sz="2800" b="1" dirty="0">
                <a:latin typeface="Times New Roman" panose="02020603050405020304" pitchFamily="18" charset="0"/>
                <a:cs typeface="Times New Roman" panose="02020603050405020304" pitchFamily="18" charset="0"/>
              </a:rPr>
              <a:t>Static Variable</a:t>
            </a:r>
          </a:p>
          <a:p>
            <a:pPr algn="just"/>
            <a:r>
              <a:rPr lang="en-US" sz="2800" dirty="0">
                <a:latin typeface="Times New Roman" panose="02020603050405020304" pitchFamily="18" charset="0"/>
                <a:cs typeface="Times New Roman" panose="02020603050405020304" pitchFamily="18" charset="0"/>
              </a:rPr>
              <a:t>A </a:t>
            </a:r>
            <a:r>
              <a:rPr lang="en-US" sz="2800" b="1" dirty="0">
                <a:latin typeface="Times New Roman" panose="02020603050405020304" pitchFamily="18" charset="0"/>
                <a:cs typeface="Times New Roman" panose="02020603050405020304" pitchFamily="18" charset="0"/>
              </a:rPr>
              <a:t>static variable</a:t>
            </a:r>
            <a:r>
              <a:rPr lang="en-US" sz="2800" dirty="0">
                <a:latin typeface="Times New Roman" panose="02020603050405020304" pitchFamily="18" charset="0"/>
                <a:cs typeface="Times New Roman" panose="02020603050405020304" pitchFamily="18" charset="0"/>
              </a:rPr>
              <a:t> is a variable that </a:t>
            </a:r>
            <a:r>
              <a:rPr lang="en-US" sz="2800" dirty="0">
                <a:solidFill>
                  <a:srgbClr val="FF0000"/>
                </a:solidFill>
                <a:latin typeface="Times New Roman" panose="02020603050405020304" pitchFamily="18" charset="0"/>
                <a:cs typeface="Times New Roman" panose="02020603050405020304" pitchFamily="18" charset="0"/>
              </a:rPr>
              <a:t>belongs to the </a:t>
            </a:r>
            <a:r>
              <a:rPr lang="en-US" sz="2800" b="1" dirty="0">
                <a:solidFill>
                  <a:srgbClr val="FF0000"/>
                </a:solidFill>
                <a:latin typeface="Times New Roman" panose="02020603050405020304" pitchFamily="18" charset="0"/>
                <a:cs typeface="Times New Roman" panose="02020603050405020304" pitchFamily="18" charset="0"/>
              </a:rPr>
              <a:t>class</a:t>
            </a:r>
            <a:r>
              <a:rPr lang="en-US" sz="2800" dirty="0">
                <a:solidFill>
                  <a:srgbClr val="FF0000"/>
                </a:solidFill>
                <a:latin typeface="Times New Roman" panose="02020603050405020304" pitchFamily="18" charset="0"/>
                <a:cs typeface="Times New Roman" panose="02020603050405020304" pitchFamily="18" charset="0"/>
              </a:rPr>
              <a:t>, not to individual objects</a:t>
            </a:r>
            <a:r>
              <a:rPr lang="en-US" sz="2800" dirty="0">
                <a:latin typeface="Times New Roman" panose="02020603050405020304" pitchFamily="18" charset="0"/>
                <a:cs typeface="Times New Roman" panose="02020603050405020304" pitchFamily="18" charset="0"/>
              </a:rPr>
              <a:t>. Only </a:t>
            </a:r>
            <a:r>
              <a:rPr lang="en-US" sz="2800" b="1" dirty="0">
                <a:latin typeface="Times New Roman" panose="02020603050405020304" pitchFamily="18" charset="0"/>
                <a:cs typeface="Times New Roman" panose="02020603050405020304" pitchFamily="18" charset="0"/>
              </a:rPr>
              <a:t>one copy</a:t>
            </a:r>
            <a:r>
              <a:rPr lang="en-US" sz="2800" dirty="0">
                <a:latin typeface="Times New Roman" panose="02020603050405020304" pitchFamily="18" charset="0"/>
                <a:cs typeface="Times New Roman" panose="02020603050405020304" pitchFamily="18" charset="0"/>
              </a:rPr>
              <a:t> of a static variable exists, and all objects of the class share it.</a:t>
            </a:r>
          </a:p>
          <a:p>
            <a:pPr marL="0" indent="0" algn="just">
              <a:buNone/>
            </a:pPr>
            <a:r>
              <a:rPr lang="en-US" sz="2800" b="1" dirty="0">
                <a:latin typeface="Times New Roman" panose="02020603050405020304" pitchFamily="18" charset="0"/>
                <a:cs typeface="Times New Roman" panose="02020603050405020304" pitchFamily="18" charset="0"/>
              </a:rPr>
              <a:t>Syntax:- </a:t>
            </a:r>
            <a:r>
              <a:rPr lang="en-US" sz="2800" dirty="0">
                <a:latin typeface="Times New Roman" panose="02020603050405020304" pitchFamily="18" charset="0"/>
                <a:cs typeface="Times New Roman" panose="02020603050405020304" pitchFamily="18" charset="0"/>
              </a:rPr>
              <a:t>class </a:t>
            </a:r>
            <a:r>
              <a:rPr lang="en-US" sz="2800" dirty="0" err="1">
                <a:latin typeface="Times New Roman" panose="02020603050405020304" pitchFamily="18" charset="0"/>
                <a:cs typeface="Times New Roman" panose="02020603050405020304" pitchFamily="18" charset="0"/>
              </a:rPr>
              <a:t>ClassName</a:t>
            </a:r>
            <a:r>
              <a:rPr lang="en-US" sz="2800" dirty="0">
                <a:latin typeface="Times New Roman" panose="02020603050405020304" pitchFamily="18" charset="0"/>
                <a:cs typeface="Times New Roman" panose="02020603050405020304" pitchFamily="18" charset="0"/>
              </a:rPr>
              <a:t> {</a:t>
            </a:r>
          </a:p>
          <a:p>
            <a:pPr marL="0" indent="0" algn="just">
              <a:buNone/>
            </a:pPr>
            <a:r>
              <a:rPr lang="en-US" sz="2800" dirty="0">
                <a:latin typeface="Times New Roman" panose="02020603050405020304" pitchFamily="18" charset="0"/>
                <a:cs typeface="Times New Roman" panose="02020603050405020304" pitchFamily="18" charset="0"/>
              </a:rPr>
              <a:t>    static </a:t>
            </a:r>
            <a:r>
              <a:rPr lang="en-US" sz="2800" dirty="0" err="1">
                <a:latin typeface="Times New Roman" panose="02020603050405020304" pitchFamily="18" charset="0"/>
                <a:cs typeface="Times New Roman" panose="02020603050405020304" pitchFamily="18" charset="0"/>
              </a:rPr>
              <a:t>dataType</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variableName</a:t>
            </a:r>
            <a:r>
              <a:rPr lang="en-US" sz="2800" dirty="0">
                <a:latin typeface="Times New Roman" panose="02020603050405020304" pitchFamily="18" charset="0"/>
                <a:cs typeface="Times New Roman" panose="02020603050405020304" pitchFamily="18" charset="0"/>
              </a:rPr>
              <a:t>;</a:t>
            </a:r>
          </a:p>
          <a:p>
            <a:pPr marL="0" indent="0" algn="just">
              <a:buNone/>
            </a:pPr>
            <a:r>
              <a:rPr lang="en-US" sz="28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771379185"/>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743895-D75D-6F55-2518-6B6C4BAFFB62}"/>
              </a:ext>
            </a:extLst>
          </p:cNvPr>
          <p:cNvSpPr>
            <a:spLocks noGrp="1"/>
          </p:cNvSpPr>
          <p:nvPr>
            <p:ph idx="1"/>
          </p:nvPr>
        </p:nvSpPr>
        <p:spPr>
          <a:xfrm>
            <a:off x="228600" y="152400"/>
            <a:ext cx="8458200" cy="6553200"/>
          </a:xfrm>
        </p:spPr>
        <p:txBody>
          <a:bodyPr>
            <a:normAutofit fontScale="92500" lnSpcReduction="20000"/>
          </a:bodyPr>
          <a:lstStyle/>
          <a:p>
            <a:pPr marL="0" indent="0">
              <a:buNone/>
            </a:pPr>
            <a:r>
              <a:rPr lang="en-US" sz="2400" b="1" dirty="0">
                <a:latin typeface="Times New Roman" panose="02020603050405020304" pitchFamily="18" charset="0"/>
                <a:cs typeface="Times New Roman" panose="02020603050405020304" pitchFamily="18" charset="0"/>
              </a:rPr>
              <a:t>package</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oppsJavaProg</a:t>
            </a: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String name;</a:t>
            </a:r>
          </a:p>
          <a:p>
            <a:pPr marL="0" indent="0">
              <a:buNone/>
            </a:pP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String </a:t>
            </a:r>
            <a:r>
              <a:rPr lang="en-US" sz="2400" i="1" dirty="0">
                <a:latin typeface="Times New Roman" panose="02020603050405020304" pitchFamily="18" charset="0"/>
                <a:cs typeface="Times New Roman" panose="02020603050405020304" pitchFamily="18" charset="0"/>
              </a:rPr>
              <a:t>college</a:t>
            </a:r>
            <a:r>
              <a:rPr lang="en-US" sz="2400" dirty="0">
                <a:latin typeface="Times New Roman" panose="02020603050405020304" pitchFamily="18" charset="0"/>
                <a:cs typeface="Times New Roman" panose="02020603050405020304" pitchFamily="18" charset="0"/>
              </a:rPr>
              <a:t> = "ABC College";</a:t>
            </a:r>
          </a:p>
          <a:p>
            <a:pPr marL="0" indent="0">
              <a:buNone/>
            </a:pP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r, String n) {</a:t>
            </a:r>
          </a:p>
          <a:p>
            <a:pPr marL="0" indent="0">
              <a:buNone/>
            </a:pP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 = r;</a:t>
            </a:r>
          </a:p>
          <a:p>
            <a:pPr marL="0" indent="0">
              <a:buNone/>
            </a:pPr>
            <a:r>
              <a:rPr lang="en-US" sz="2400" dirty="0">
                <a:latin typeface="Times New Roman" panose="02020603050405020304" pitchFamily="18" charset="0"/>
                <a:cs typeface="Times New Roman" panose="02020603050405020304" pitchFamily="18" charset="0"/>
              </a:rPr>
              <a:t>name = n;</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display() {</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 + " " + name + " " + </a:t>
            </a:r>
            <a:r>
              <a:rPr lang="en-US" sz="2400" i="1" dirty="0">
                <a:latin typeface="Times New Roman" panose="02020603050405020304" pitchFamily="18" charset="0"/>
                <a:cs typeface="Times New Roman" panose="02020603050405020304" pitchFamily="18" charset="0"/>
              </a:rPr>
              <a:t>college</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buNone/>
            </a:pP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 s1 = </a:t>
            </a:r>
            <a:r>
              <a:rPr lang="en-US" sz="2400" b="1" dirty="0">
                <a:latin typeface="Times New Roman" panose="02020603050405020304" pitchFamily="18" charset="0"/>
                <a:cs typeface="Times New Roman" panose="02020603050405020304" pitchFamily="18" charset="0"/>
              </a:rPr>
              <a:t>new</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(10105, "DEF");</a:t>
            </a:r>
          </a:p>
          <a:p>
            <a:pPr marL="0" indent="0">
              <a:buNone/>
            </a:pP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 s2 = </a:t>
            </a:r>
            <a:r>
              <a:rPr lang="en-US" sz="2400" b="1" dirty="0">
                <a:latin typeface="Times New Roman" panose="02020603050405020304" pitchFamily="18" charset="0"/>
                <a:cs typeface="Times New Roman" panose="02020603050405020304" pitchFamily="18" charset="0"/>
              </a:rPr>
              <a:t>new</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(10205, "GHI");</a:t>
            </a:r>
          </a:p>
          <a:p>
            <a:pPr marL="0" indent="0">
              <a:buNone/>
            </a:pPr>
            <a:r>
              <a:rPr lang="en-US" sz="2400" dirty="0">
                <a:latin typeface="Times New Roman" panose="02020603050405020304" pitchFamily="18" charset="0"/>
                <a:cs typeface="Times New Roman" panose="02020603050405020304" pitchFamily="18" charset="0"/>
              </a:rPr>
              <a:t>s1.display();</a:t>
            </a:r>
          </a:p>
          <a:p>
            <a:pPr marL="0" indent="0">
              <a:buNone/>
            </a:pPr>
            <a:r>
              <a:rPr lang="en-US" sz="2400" dirty="0">
                <a:latin typeface="Times New Roman" panose="02020603050405020304" pitchFamily="18" charset="0"/>
                <a:cs typeface="Times New Roman" panose="02020603050405020304" pitchFamily="18" charset="0"/>
              </a:rPr>
              <a:t>s2.display();</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573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E5BC8C-AFFE-3201-0412-F40882DE04A8}"/>
              </a:ext>
            </a:extLst>
          </p:cNvPr>
          <p:cNvSpPr>
            <a:spLocks noGrp="1"/>
          </p:cNvSpPr>
          <p:nvPr>
            <p:ph idx="1"/>
          </p:nvPr>
        </p:nvSpPr>
        <p:spPr>
          <a:xfrm>
            <a:off x="457200" y="381000"/>
            <a:ext cx="8229600" cy="5745163"/>
          </a:xfrm>
        </p:spPr>
        <p:txBody>
          <a:bodyPr/>
          <a:lstStyle/>
          <a:p>
            <a:pPr marL="0" indent="0" algn="just">
              <a:buNone/>
            </a:pPr>
            <a:r>
              <a:rPr lang="en-US" sz="2800" dirty="0">
                <a:latin typeface="Times New Roman" panose="02020603050405020304" pitchFamily="18" charset="0"/>
                <a:cs typeface="Times New Roman" panose="02020603050405020304" pitchFamily="18" charset="0"/>
              </a:rPr>
              <a:t>2. </a:t>
            </a:r>
            <a:r>
              <a:rPr lang="en-US" sz="2800" b="1" dirty="0">
                <a:latin typeface="Times New Roman" panose="02020603050405020304" pitchFamily="18" charset="0"/>
                <a:cs typeface="Times New Roman" panose="02020603050405020304" pitchFamily="18" charset="0"/>
              </a:rPr>
              <a:t>Static Method</a:t>
            </a:r>
          </a:p>
          <a:p>
            <a:pPr algn="just"/>
            <a:r>
              <a:rPr lang="en-US" sz="2800" dirty="0">
                <a:latin typeface="Times New Roman" panose="02020603050405020304" pitchFamily="18" charset="0"/>
                <a:cs typeface="Times New Roman" panose="02020603050405020304" pitchFamily="18" charset="0"/>
              </a:rPr>
              <a:t>A static method </a:t>
            </a:r>
            <a:r>
              <a:rPr lang="en-US" sz="2800" dirty="0">
                <a:solidFill>
                  <a:srgbClr val="FF0000"/>
                </a:solidFill>
                <a:latin typeface="Times New Roman" panose="02020603050405020304" pitchFamily="18" charset="0"/>
                <a:cs typeface="Times New Roman" panose="02020603050405020304" pitchFamily="18" charset="0"/>
              </a:rPr>
              <a:t>belongs to the class </a:t>
            </a:r>
            <a:r>
              <a:rPr lang="en-US" sz="2800" dirty="0">
                <a:latin typeface="Times New Roman" panose="02020603050405020304" pitchFamily="18" charset="0"/>
                <a:cs typeface="Times New Roman" panose="02020603050405020304" pitchFamily="18" charset="0"/>
              </a:rPr>
              <a:t>and can be called </a:t>
            </a:r>
            <a:r>
              <a:rPr lang="en-US" sz="2800" dirty="0">
                <a:solidFill>
                  <a:srgbClr val="FF0000"/>
                </a:solidFill>
                <a:latin typeface="Times New Roman" panose="02020603050405020304" pitchFamily="18" charset="0"/>
                <a:cs typeface="Times New Roman" panose="02020603050405020304" pitchFamily="18" charset="0"/>
              </a:rPr>
              <a:t>without creating an object.</a:t>
            </a:r>
          </a:p>
          <a:p>
            <a:pPr marL="0" indent="0">
              <a:buNone/>
            </a:pPr>
            <a:endParaRPr lang="en-US" dirty="0"/>
          </a:p>
          <a:p>
            <a:pPr marL="0" indent="0">
              <a:buNone/>
            </a:pPr>
            <a:r>
              <a:rPr lang="en-US" dirty="0"/>
              <a:t>class Demo {</a:t>
            </a:r>
          </a:p>
          <a:p>
            <a:pPr marL="0" indent="0">
              <a:buNone/>
            </a:pPr>
            <a:r>
              <a:rPr lang="en-US" dirty="0"/>
              <a:t>    static void display() {</a:t>
            </a:r>
          </a:p>
          <a:p>
            <a:pPr marL="0" indent="0">
              <a:buNone/>
            </a:pPr>
            <a:r>
              <a:rPr lang="en-US" dirty="0"/>
              <a:t>    }</a:t>
            </a:r>
          </a:p>
          <a:p>
            <a:pPr marL="0" indent="0">
              <a:buNone/>
            </a:pPr>
            <a:r>
              <a:rPr lang="en-US" dirty="0"/>
              <a:t>}</a:t>
            </a:r>
          </a:p>
        </p:txBody>
      </p:sp>
    </p:spTree>
    <p:extLst>
      <p:ext uri="{BB962C8B-B14F-4D97-AF65-F5344CB8AC3E}">
        <p14:creationId xmlns:p14="http://schemas.microsoft.com/office/powerpoint/2010/main" val="417686990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56DA60-4628-7E51-7C31-F31F7528AF29}"/>
              </a:ext>
            </a:extLst>
          </p:cNvPr>
          <p:cNvSpPr>
            <a:spLocks noGrp="1"/>
          </p:cNvSpPr>
          <p:nvPr>
            <p:ph idx="1"/>
          </p:nvPr>
        </p:nvSpPr>
        <p:spPr>
          <a:xfrm>
            <a:off x="457200" y="228600"/>
            <a:ext cx="8229600" cy="6324600"/>
          </a:xfrm>
        </p:spPr>
        <p:txBody>
          <a:bodyPr>
            <a:normAutofit/>
          </a:bodyPr>
          <a:lstStyle/>
          <a:p>
            <a:pPr marL="0" indent="0">
              <a:buNone/>
            </a:pPr>
            <a:r>
              <a:rPr lang="en-US" dirty="0">
                <a:latin typeface="Times New Roman" panose="02020603050405020304" pitchFamily="18" charset="0"/>
                <a:cs typeface="Times New Roman" panose="02020603050405020304" pitchFamily="18" charset="0"/>
              </a:rPr>
              <a:t>public class Demo {</a:t>
            </a:r>
          </a:p>
          <a:p>
            <a:pPr marL="0" indent="0">
              <a:buNone/>
            </a:pPr>
            <a:r>
              <a:rPr lang="en-US" dirty="0">
                <a:latin typeface="Times New Roman" panose="02020603050405020304" pitchFamily="18" charset="0"/>
                <a:cs typeface="Times New Roman" panose="02020603050405020304" pitchFamily="18" charset="0"/>
              </a:rPr>
              <a:t>    static void message() {</a:t>
            </a: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("Welcome to Java");</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message();   //Static Method</a:t>
            </a:r>
          </a:p>
          <a:p>
            <a:pPr marL="0" indent="0">
              <a:buNone/>
            </a:pPr>
            <a:r>
              <a:rPr lang="en-US" dirty="0">
                <a:latin typeface="Times New Roman" panose="02020603050405020304" pitchFamily="18" charset="0"/>
                <a:cs typeface="Times New Roman" panose="02020603050405020304" pitchFamily="18" charset="0"/>
              </a:rPr>
              <a:t>        // or</a:t>
            </a: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Demo.message</a:t>
            </a:r>
            <a:r>
              <a:rPr lang="en-US" dirty="0">
                <a:latin typeface="Times New Roman" panose="02020603050405020304" pitchFamily="18" charset="0"/>
                <a:cs typeface="Times New Roman" panose="02020603050405020304" pitchFamily="18" charset="0"/>
              </a:rPr>
              <a:t>(); // Instance Method</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02370423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6CBFED-D967-2DDE-5592-37EE84329C5D}"/>
              </a:ext>
            </a:extLst>
          </p:cNvPr>
          <p:cNvSpPr>
            <a:spLocks noGrp="1"/>
          </p:cNvSpPr>
          <p:nvPr>
            <p:ph idx="1"/>
          </p:nvPr>
        </p:nvSpPr>
        <p:spPr>
          <a:xfrm>
            <a:off x="457200" y="304800"/>
            <a:ext cx="8229600" cy="5821363"/>
          </a:xfrm>
        </p:spPr>
        <p:txBody>
          <a:bodyPr/>
          <a:lstStyle/>
          <a:p>
            <a:r>
              <a:rPr lang="en-US" sz="2400" b="1" dirty="0">
                <a:latin typeface="Times New Roman" panose="02020603050405020304" pitchFamily="18" charset="0"/>
                <a:cs typeface="Times New Roman" panose="02020603050405020304" pitchFamily="18" charset="0"/>
              </a:rPr>
              <a:t>3. Static Block</a:t>
            </a:r>
          </a:p>
          <a:p>
            <a:r>
              <a:rPr lang="en-US" sz="2400" dirty="0">
                <a:latin typeface="Times New Roman" panose="02020603050405020304" pitchFamily="18" charset="0"/>
                <a:cs typeface="Times New Roman" panose="02020603050405020304" pitchFamily="18" charset="0"/>
              </a:rPr>
              <a:t>A </a:t>
            </a:r>
            <a:r>
              <a:rPr lang="en-US" sz="2400" b="1" dirty="0">
                <a:latin typeface="Times New Roman" panose="02020603050405020304" pitchFamily="18" charset="0"/>
                <a:cs typeface="Times New Roman" panose="02020603050405020304" pitchFamily="18" charset="0"/>
              </a:rPr>
              <a:t>static block</a:t>
            </a:r>
            <a:r>
              <a:rPr lang="en-US" sz="2400" dirty="0">
                <a:latin typeface="Times New Roman" panose="02020603050405020304" pitchFamily="18" charset="0"/>
                <a:cs typeface="Times New Roman" panose="02020603050405020304" pitchFamily="18" charset="0"/>
              </a:rPr>
              <a:t> is </a:t>
            </a:r>
            <a:r>
              <a:rPr lang="en-US" sz="2400" dirty="0">
                <a:solidFill>
                  <a:srgbClr val="FF0000"/>
                </a:solidFill>
                <a:latin typeface="Times New Roman" panose="02020603050405020304" pitchFamily="18" charset="0"/>
                <a:cs typeface="Times New Roman" panose="02020603050405020304" pitchFamily="18" charset="0"/>
              </a:rPr>
              <a:t>executed </a:t>
            </a:r>
            <a:r>
              <a:rPr lang="en-US" sz="2400" b="1" dirty="0">
                <a:solidFill>
                  <a:srgbClr val="FF0000"/>
                </a:solidFill>
                <a:latin typeface="Times New Roman" panose="02020603050405020304" pitchFamily="18" charset="0"/>
                <a:cs typeface="Times New Roman" panose="02020603050405020304" pitchFamily="18" charset="0"/>
              </a:rPr>
              <a:t>only once</a:t>
            </a:r>
            <a:r>
              <a:rPr lang="en-US" sz="2400" dirty="0">
                <a:latin typeface="Times New Roman" panose="02020603050405020304" pitchFamily="18" charset="0"/>
                <a:cs typeface="Times New Roman" panose="02020603050405020304" pitchFamily="18" charset="0"/>
              </a:rPr>
              <a:t>, when the </a:t>
            </a:r>
            <a:r>
              <a:rPr lang="en-US" sz="2400" i="1" dirty="0">
                <a:solidFill>
                  <a:srgbClr val="FF0000"/>
                </a:solidFill>
                <a:latin typeface="Times New Roman" panose="02020603050405020304" pitchFamily="18" charset="0"/>
                <a:cs typeface="Times New Roman" panose="02020603050405020304" pitchFamily="18" charset="0"/>
              </a:rPr>
              <a:t>class is loaded into memory, before the main() method.</a:t>
            </a:r>
          </a:p>
          <a:p>
            <a:r>
              <a:rPr lang="en-US" sz="2400" b="1" i="1" dirty="0">
                <a:latin typeface="Times New Roman" panose="02020603050405020304" pitchFamily="18" charset="0"/>
                <a:cs typeface="Times New Roman" panose="02020603050405020304" pitchFamily="18" charset="0"/>
              </a:rPr>
              <a:t>Syntax:-</a:t>
            </a:r>
          </a:p>
          <a:p>
            <a:pPr marL="0" indent="0">
              <a:buNone/>
            </a:pPr>
            <a:r>
              <a:rPr lang="en-US" sz="2400" dirty="0">
                <a:latin typeface="Times New Roman" panose="02020603050405020304" pitchFamily="18" charset="0"/>
                <a:cs typeface="Times New Roman" panose="02020603050405020304" pitchFamily="18" charset="0"/>
              </a:rPr>
              <a:t>			static {</a:t>
            </a:r>
          </a:p>
          <a:p>
            <a:pPr marL="0" indent="0">
              <a:buNone/>
            </a:pPr>
            <a:r>
              <a:rPr lang="en-US" sz="2400" dirty="0">
                <a:latin typeface="Times New Roman" panose="02020603050405020304" pitchFamily="18" charset="0"/>
                <a:cs typeface="Times New Roman" panose="02020603050405020304" pitchFamily="18" charset="0"/>
              </a:rPr>
              <a:t>    					// Initialization code</a:t>
            </a:r>
          </a:p>
          <a:p>
            <a:pPr marL="0" indent="0">
              <a:buNone/>
            </a:pPr>
            <a:r>
              <a:rPr lang="en-US" sz="2400" dirty="0">
                <a:latin typeface="Times New Roman" panose="02020603050405020304" pitchFamily="18" charset="0"/>
                <a:cs typeface="Times New Roman" panose="02020603050405020304" pitchFamily="18" charset="0"/>
              </a:rPr>
              <a:t>				}</a:t>
            </a:r>
          </a:p>
          <a:p>
            <a:endParaRPr lang="en-US" dirty="0"/>
          </a:p>
        </p:txBody>
      </p:sp>
    </p:spTree>
    <p:extLst>
      <p:ext uri="{BB962C8B-B14F-4D97-AF65-F5344CB8AC3E}">
        <p14:creationId xmlns:p14="http://schemas.microsoft.com/office/powerpoint/2010/main" val="82037342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8A8B636-A730-701C-EB69-01DAF0D1B69E}"/>
              </a:ext>
            </a:extLst>
          </p:cNvPr>
          <p:cNvSpPr>
            <a:spLocks noGrp="1"/>
          </p:cNvSpPr>
          <p:nvPr>
            <p:ph idx="1"/>
          </p:nvPr>
        </p:nvSpPr>
        <p:spPr>
          <a:xfrm>
            <a:off x="457200" y="457200"/>
            <a:ext cx="8229600" cy="5668963"/>
          </a:xfrm>
        </p:spPr>
        <p:txBody>
          <a:bodyPr>
            <a:normAutofit fontScale="77500" lnSpcReduction="20000"/>
          </a:bodyPr>
          <a:lstStyle/>
          <a:p>
            <a:pPr marL="0" indent="0">
              <a:buNone/>
            </a:pPr>
            <a:r>
              <a:rPr lang="en-US" dirty="0">
                <a:latin typeface="Times New Roman" panose="02020603050405020304" pitchFamily="18" charset="0"/>
                <a:cs typeface="Times New Roman" panose="02020603050405020304" pitchFamily="18" charset="0"/>
              </a:rPr>
              <a:t>public class </a:t>
            </a:r>
            <a:r>
              <a:rPr lang="en-US" dirty="0" err="1">
                <a:latin typeface="Times New Roman" panose="02020603050405020304" pitchFamily="18" charset="0"/>
                <a:cs typeface="Times New Roman" panose="02020603050405020304" pitchFamily="18" charset="0"/>
              </a:rPr>
              <a:t>StaticBlockDemo</a:t>
            </a: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static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("Static Block Executed");</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("Main Method Executed");</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86527336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4855AE-C0A0-FFE9-85E9-114AC158815E}"/>
              </a:ext>
            </a:extLst>
          </p:cNvPr>
          <p:cNvSpPr>
            <a:spLocks noGrp="1"/>
          </p:cNvSpPr>
          <p:nvPr>
            <p:ph idx="1"/>
          </p:nvPr>
        </p:nvSpPr>
        <p:spPr>
          <a:xfrm>
            <a:off x="457200" y="304800"/>
            <a:ext cx="8229600" cy="5821363"/>
          </a:xfrm>
        </p:spPr>
        <p:txBody>
          <a:bodyPr>
            <a:normAutofit/>
          </a:bodyPr>
          <a:lstStyle/>
          <a:p>
            <a:pPr marL="0" indent="0" algn="just">
              <a:buNone/>
            </a:pPr>
            <a:r>
              <a:rPr lang="en-US" sz="2800" b="1" dirty="0">
                <a:solidFill>
                  <a:srgbClr val="FF0000"/>
                </a:solidFill>
                <a:latin typeface="Times New Roman" panose="02020603050405020304" pitchFamily="18" charset="0"/>
                <a:cs typeface="Times New Roman" panose="02020603050405020304" pitchFamily="18" charset="0"/>
              </a:rPr>
              <a:t>4. Method Overloading</a:t>
            </a:r>
          </a:p>
          <a:p>
            <a:pPr algn="just"/>
            <a:r>
              <a:rPr lang="en-US" sz="2800" dirty="0">
                <a:latin typeface="Times New Roman" panose="02020603050405020304" pitchFamily="18" charset="0"/>
                <a:cs typeface="Times New Roman" panose="02020603050405020304" pitchFamily="18" charset="0"/>
              </a:rPr>
              <a:t>Method overloading means </a:t>
            </a:r>
            <a:r>
              <a:rPr lang="en-US" sz="2800" b="1" i="1" dirty="0">
                <a:solidFill>
                  <a:srgbClr val="FF0000"/>
                </a:solidFill>
                <a:latin typeface="Times New Roman" panose="02020603050405020304" pitchFamily="18" charset="0"/>
                <a:cs typeface="Times New Roman" panose="02020603050405020304" pitchFamily="18" charset="0"/>
              </a:rPr>
              <a:t>multiple methods with the same name </a:t>
            </a:r>
            <a:r>
              <a:rPr lang="en-US" sz="2800" b="1" i="1" dirty="0">
                <a:latin typeface="Times New Roman" panose="02020603050405020304" pitchFamily="18" charset="0"/>
                <a:cs typeface="Times New Roman" panose="02020603050405020304" pitchFamily="18" charset="0"/>
              </a:rPr>
              <a:t>but</a:t>
            </a:r>
            <a:r>
              <a:rPr lang="en-US" sz="2800" b="1" i="1" dirty="0">
                <a:solidFill>
                  <a:srgbClr val="FF0000"/>
                </a:solidFill>
                <a:latin typeface="Times New Roman" panose="02020603050405020304" pitchFamily="18" charset="0"/>
                <a:cs typeface="Times New Roman" panose="02020603050405020304" pitchFamily="18" charset="0"/>
              </a:rPr>
              <a:t> different parameter lists</a:t>
            </a:r>
            <a:r>
              <a:rPr lang="en-US" sz="2800" i="1" dirty="0">
                <a:solidFill>
                  <a:srgbClr val="FF0000"/>
                </a:solidFill>
                <a:latin typeface="Times New Roman" panose="02020603050405020304" pitchFamily="18" charset="0"/>
                <a:cs typeface="Times New Roman" panose="02020603050405020304" pitchFamily="18" charset="0"/>
              </a:rPr>
              <a:t> in the </a:t>
            </a:r>
            <a:r>
              <a:rPr lang="en-US" sz="2800" b="1" i="1" dirty="0">
                <a:solidFill>
                  <a:srgbClr val="FF0000"/>
                </a:solidFill>
                <a:latin typeface="Times New Roman" panose="02020603050405020304" pitchFamily="18" charset="0"/>
                <a:cs typeface="Times New Roman" panose="02020603050405020304" pitchFamily="18" charset="0"/>
              </a:rPr>
              <a:t>same class</a:t>
            </a:r>
            <a:r>
              <a:rPr lang="en-US" sz="2800" i="1" dirty="0">
                <a:solidFill>
                  <a:srgbClr val="FF0000"/>
                </a:solidFill>
                <a:latin typeface="Times New Roman" panose="02020603050405020304" pitchFamily="18" charset="0"/>
                <a:cs typeface="Times New Roman" panose="02020603050405020304" pitchFamily="18" charset="0"/>
              </a:rPr>
              <a:t>.</a:t>
            </a:r>
          </a:p>
          <a:p>
            <a:pPr algn="just"/>
            <a:endParaRPr lang="en-US" sz="2800" i="1" dirty="0">
              <a:solidFill>
                <a:srgbClr val="FF0000"/>
              </a:solidFill>
              <a:latin typeface="Times New Roman" panose="02020603050405020304" pitchFamily="18" charset="0"/>
              <a:cs typeface="Times New Roman" panose="02020603050405020304" pitchFamily="18" charset="0"/>
            </a:endParaRPr>
          </a:p>
          <a:p>
            <a:pPr marL="0" indent="0" algn="just">
              <a:buNone/>
            </a:pPr>
            <a:r>
              <a:rPr lang="en-US" sz="2800" b="1" dirty="0">
                <a:latin typeface="Times New Roman" panose="02020603050405020304" pitchFamily="18" charset="0"/>
                <a:cs typeface="Times New Roman" panose="02020603050405020304" pitchFamily="18" charset="0"/>
              </a:rPr>
              <a:t>Rules</a:t>
            </a:r>
          </a:p>
          <a:p>
            <a:pPr algn="just"/>
            <a:r>
              <a:rPr lang="en-US" sz="2800" dirty="0">
                <a:solidFill>
                  <a:srgbClr val="FF0000"/>
                </a:solidFill>
                <a:latin typeface="Times New Roman" panose="02020603050405020304" pitchFamily="18" charset="0"/>
                <a:cs typeface="Times New Roman" panose="02020603050405020304" pitchFamily="18" charset="0"/>
              </a:rPr>
              <a:t>Method </a:t>
            </a:r>
            <a:r>
              <a:rPr lang="en-US" sz="2800" dirty="0">
                <a:latin typeface="Times New Roman" panose="02020603050405020304" pitchFamily="18" charset="0"/>
                <a:cs typeface="Times New Roman" panose="02020603050405020304" pitchFamily="18" charset="0"/>
              </a:rPr>
              <a:t>name must be the </a:t>
            </a:r>
            <a:r>
              <a:rPr lang="en-US" sz="2800" dirty="0">
                <a:solidFill>
                  <a:srgbClr val="FF0000"/>
                </a:solidFill>
                <a:latin typeface="Times New Roman" panose="02020603050405020304" pitchFamily="18" charset="0"/>
                <a:cs typeface="Times New Roman" panose="02020603050405020304" pitchFamily="18" charset="0"/>
              </a:rPr>
              <a:t>same.</a:t>
            </a:r>
            <a:r>
              <a:rPr lang="en-US" sz="2800" dirty="0">
                <a:latin typeface="Times New Roman" panose="02020603050405020304" pitchFamily="18" charset="0"/>
                <a:cs typeface="Times New Roman" panose="02020603050405020304" pitchFamily="18" charset="0"/>
              </a:rPr>
              <a:t> </a:t>
            </a:r>
          </a:p>
          <a:p>
            <a:pPr algn="just"/>
            <a:r>
              <a:rPr lang="en-US" sz="2800" dirty="0">
                <a:solidFill>
                  <a:srgbClr val="FF0000"/>
                </a:solidFill>
                <a:latin typeface="Times New Roman" panose="02020603050405020304" pitchFamily="18" charset="0"/>
                <a:cs typeface="Times New Roman" panose="02020603050405020304" pitchFamily="18" charset="0"/>
              </a:rPr>
              <a:t>Parameters</a:t>
            </a:r>
            <a:r>
              <a:rPr lang="en-US" sz="2800" dirty="0">
                <a:latin typeface="Times New Roman" panose="02020603050405020304" pitchFamily="18" charset="0"/>
                <a:cs typeface="Times New Roman" panose="02020603050405020304" pitchFamily="18" charset="0"/>
              </a:rPr>
              <a:t> must be </a:t>
            </a:r>
            <a:r>
              <a:rPr lang="en-US" sz="2800" dirty="0">
                <a:solidFill>
                  <a:srgbClr val="FF0000"/>
                </a:solidFill>
                <a:latin typeface="Times New Roman" panose="02020603050405020304" pitchFamily="18" charset="0"/>
                <a:cs typeface="Times New Roman" panose="02020603050405020304" pitchFamily="18" charset="0"/>
              </a:rPr>
              <a:t>different </a:t>
            </a:r>
            <a:r>
              <a:rPr lang="en-US" sz="2800" dirty="0">
                <a:latin typeface="Times New Roman" panose="02020603050405020304" pitchFamily="18" charset="0"/>
                <a:cs typeface="Times New Roman" panose="02020603050405020304" pitchFamily="18" charset="0"/>
              </a:rPr>
              <a:t>(number, type, or order). </a:t>
            </a:r>
          </a:p>
          <a:p>
            <a:pPr algn="just"/>
            <a:r>
              <a:rPr lang="en-US" sz="2800" i="1" dirty="0">
                <a:solidFill>
                  <a:srgbClr val="0070C0"/>
                </a:solidFill>
                <a:latin typeface="Times New Roman" panose="02020603050405020304" pitchFamily="18" charset="0"/>
                <a:cs typeface="Times New Roman" panose="02020603050405020304" pitchFamily="18" charset="0"/>
              </a:rPr>
              <a:t>Return type alone cannot differentiate overloaded methods.</a:t>
            </a:r>
          </a:p>
          <a:p>
            <a:pPr algn="just"/>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4407235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2642B7D-509F-7963-1D98-AE0875B543DB}"/>
              </a:ext>
            </a:extLst>
          </p:cNvPr>
          <p:cNvSpPr>
            <a:spLocks noGrp="1"/>
          </p:cNvSpPr>
          <p:nvPr>
            <p:ph idx="1"/>
          </p:nvPr>
        </p:nvSpPr>
        <p:spPr>
          <a:xfrm>
            <a:off x="457200" y="152400"/>
            <a:ext cx="8229600" cy="6629400"/>
          </a:xfrm>
        </p:spPr>
        <p:txBody>
          <a:bodyPr>
            <a:normAutofit fontScale="77500" lnSpcReduction="20000"/>
          </a:bodyPr>
          <a:lstStyle/>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class</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MethodOverLoading</a:t>
            </a:r>
            <a:r>
              <a:rPr lang="en-US" dirty="0">
                <a:latin typeface="Times New Roman" panose="02020603050405020304" pitchFamily="18" charset="0"/>
                <a:cs typeface="Times New Roman" panose="02020603050405020304" pitchFamily="18" charset="0"/>
              </a:rPr>
              <a:t> {</a:t>
            </a:r>
          </a:p>
          <a:p>
            <a:pPr marL="0" indent="0">
              <a:buNone/>
            </a:pP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add(</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b) {</a:t>
            </a:r>
          </a:p>
          <a:p>
            <a:pPr marL="0" indent="0">
              <a:buNone/>
            </a:pPr>
            <a:r>
              <a:rPr lang="en-US" b="1" dirty="0">
                <a:latin typeface="Times New Roman" panose="02020603050405020304" pitchFamily="18" charset="0"/>
                <a:cs typeface="Times New Roman" panose="02020603050405020304" pitchFamily="18" charset="0"/>
              </a:rPr>
              <a:t>return</a:t>
            </a:r>
            <a:r>
              <a:rPr lang="en-US" dirty="0">
                <a:latin typeface="Times New Roman" panose="02020603050405020304" pitchFamily="18" charset="0"/>
                <a:cs typeface="Times New Roman" panose="02020603050405020304" pitchFamily="18" charset="0"/>
              </a:rPr>
              <a:t> a + b;</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add(</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b,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c) {</a:t>
            </a:r>
          </a:p>
          <a:p>
            <a:pPr marL="0" indent="0">
              <a:buNone/>
            </a:pPr>
            <a:r>
              <a:rPr lang="en-US" b="1" dirty="0">
                <a:latin typeface="Times New Roman" panose="02020603050405020304" pitchFamily="18" charset="0"/>
                <a:cs typeface="Times New Roman" panose="02020603050405020304" pitchFamily="18" charset="0"/>
              </a:rPr>
              <a:t>return</a:t>
            </a:r>
            <a:r>
              <a:rPr lang="en-US" dirty="0">
                <a:latin typeface="Times New Roman" panose="02020603050405020304" pitchFamily="18" charset="0"/>
                <a:cs typeface="Times New Roman" panose="02020603050405020304" pitchFamily="18" charset="0"/>
              </a:rPr>
              <a:t> a + b + c;</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double</a:t>
            </a:r>
            <a:r>
              <a:rPr lang="en-US" dirty="0">
                <a:latin typeface="Times New Roman" panose="02020603050405020304" pitchFamily="18" charset="0"/>
                <a:cs typeface="Times New Roman" panose="02020603050405020304" pitchFamily="18" charset="0"/>
              </a:rPr>
              <a:t> add(</a:t>
            </a:r>
            <a:r>
              <a:rPr lang="en-US" b="1" dirty="0">
                <a:latin typeface="Times New Roman" panose="02020603050405020304" pitchFamily="18" charset="0"/>
                <a:cs typeface="Times New Roman" panose="02020603050405020304" pitchFamily="18" charset="0"/>
              </a:rPr>
              <a:t>double</a:t>
            </a:r>
            <a:r>
              <a:rPr lang="en-US" dirty="0">
                <a:latin typeface="Times New Roman" panose="02020603050405020304" pitchFamily="18" charset="0"/>
                <a:cs typeface="Times New Roman" panose="02020603050405020304" pitchFamily="18" charset="0"/>
              </a:rPr>
              <a:t> a, </a:t>
            </a:r>
            <a:r>
              <a:rPr lang="en-US" b="1" dirty="0">
                <a:latin typeface="Times New Roman" panose="02020603050405020304" pitchFamily="18" charset="0"/>
                <a:cs typeface="Times New Roman" panose="02020603050405020304" pitchFamily="18" charset="0"/>
              </a:rPr>
              <a:t>double</a:t>
            </a:r>
            <a:r>
              <a:rPr lang="en-US" dirty="0">
                <a:latin typeface="Times New Roman" panose="02020603050405020304" pitchFamily="18" charset="0"/>
                <a:cs typeface="Times New Roman" panose="02020603050405020304" pitchFamily="18" charset="0"/>
              </a:rPr>
              <a:t> b) {</a:t>
            </a:r>
          </a:p>
          <a:p>
            <a:pPr marL="0" indent="0">
              <a:buNone/>
            </a:pPr>
            <a:r>
              <a:rPr lang="en-US" b="1" dirty="0">
                <a:latin typeface="Times New Roman" panose="02020603050405020304" pitchFamily="18" charset="0"/>
                <a:cs typeface="Times New Roman" panose="02020603050405020304" pitchFamily="18" charset="0"/>
              </a:rPr>
              <a:t>return</a:t>
            </a:r>
            <a:r>
              <a:rPr lang="en-US" dirty="0">
                <a:latin typeface="Times New Roman" panose="02020603050405020304" pitchFamily="18" charset="0"/>
                <a:cs typeface="Times New Roman" panose="02020603050405020304" pitchFamily="18" charset="0"/>
              </a:rPr>
              <a:t> a + b;</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err="1">
                <a:latin typeface="Times New Roman" panose="02020603050405020304" pitchFamily="18" charset="0"/>
                <a:cs typeface="Times New Roman" panose="02020603050405020304" pitchFamily="18" charset="0"/>
              </a:rPr>
              <a:t>MethodOverLoading</a:t>
            </a:r>
            <a:r>
              <a:rPr lang="en-US" dirty="0">
                <a:latin typeface="Times New Roman" panose="02020603050405020304" pitchFamily="18" charset="0"/>
                <a:cs typeface="Times New Roman" panose="02020603050405020304" pitchFamily="18" charset="0"/>
              </a:rPr>
              <a:t> obj = </a:t>
            </a:r>
            <a:r>
              <a:rPr lang="en-US" b="1" dirty="0">
                <a:latin typeface="Times New Roman" panose="02020603050405020304" pitchFamily="18" charset="0"/>
                <a:cs typeface="Times New Roman" panose="02020603050405020304" pitchFamily="18" charset="0"/>
              </a:rPr>
              <a:t>new</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MethodOverLoading</a:t>
            </a:r>
            <a:r>
              <a:rPr lang="en-US" dirty="0">
                <a:latin typeface="Times New Roman" panose="02020603050405020304" pitchFamily="18" charset="0"/>
                <a:cs typeface="Times New Roman" panose="02020603050405020304" pitchFamily="18" charset="0"/>
              </a:rPr>
              <a:t>();</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obj.add</a:t>
            </a:r>
            <a:r>
              <a:rPr lang="en-US" dirty="0">
                <a:latin typeface="Times New Roman" panose="02020603050405020304" pitchFamily="18" charset="0"/>
                <a:cs typeface="Times New Roman" panose="02020603050405020304" pitchFamily="18" charset="0"/>
              </a:rPr>
              <a:t>(10, 20));</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obj.add</a:t>
            </a:r>
            <a:r>
              <a:rPr lang="en-US" dirty="0">
                <a:latin typeface="Times New Roman" panose="02020603050405020304" pitchFamily="18" charset="0"/>
                <a:cs typeface="Times New Roman" panose="02020603050405020304" pitchFamily="18" charset="0"/>
              </a:rPr>
              <a:t>(10, 20, 30));</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obj.add</a:t>
            </a:r>
            <a:r>
              <a:rPr lang="en-US" dirty="0">
                <a:latin typeface="Times New Roman" panose="02020603050405020304" pitchFamily="18" charset="0"/>
                <a:cs typeface="Times New Roman" panose="02020603050405020304" pitchFamily="18" charset="0"/>
              </a:rPr>
              <a:t>(10.5, 20.5));</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2996063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C11A32-669D-686C-5433-F6426A0E7799}"/>
              </a:ext>
            </a:extLst>
          </p:cNvPr>
          <p:cNvSpPr>
            <a:spLocks noGrp="1"/>
          </p:cNvSpPr>
          <p:nvPr>
            <p:ph idx="1"/>
          </p:nvPr>
        </p:nvSpPr>
        <p:spPr>
          <a:xfrm>
            <a:off x="457200" y="228600"/>
            <a:ext cx="8229600" cy="5897563"/>
          </a:xfrm>
        </p:spPr>
        <p:txBody>
          <a:bodyPr>
            <a:normAutofit/>
          </a:bodyPr>
          <a:lstStyle/>
          <a:p>
            <a:pPr marL="0" indent="0" algn="just">
              <a:buNone/>
            </a:pPr>
            <a:r>
              <a:rPr lang="en-US" sz="2400" b="1" dirty="0">
                <a:solidFill>
                  <a:srgbClr val="FF0000"/>
                </a:solidFill>
                <a:latin typeface="Times New Roman" panose="02020603050405020304" pitchFamily="18" charset="0"/>
                <a:cs typeface="Times New Roman" panose="02020603050405020304" pitchFamily="18" charset="0"/>
              </a:rPr>
              <a:t>5. Method Overriding</a:t>
            </a:r>
          </a:p>
          <a:p>
            <a:pPr marL="0" indent="0" algn="just">
              <a:buNone/>
            </a:pPr>
            <a:r>
              <a:rPr lang="en-US" sz="2400" dirty="0">
                <a:latin typeface="Times New Roman" panose="02020603050405020304" pitchFamily="18" charset="0"/>
                <a:cs typeface="Times New Roman" panose="02020603050405020304" pitchFamily="18" charset="0"/>
              </a:rPr>
              <a:t>Method overriding means a </a:t>
            </a:r>
            <a:r>
              <a:rPr lang="en-US" sz="2400" b="1" i="1" dirty="0">
                <a:solidFill>
                  <a:srgbClr val="FF0000"/>
                </a:solidFill>
                <a:latin typeface="Times New Roman" panose="02020603050405020304" pitchFamily="18" charset="0"/>
                <a:cs typeface="Times New Roman" panose="02020603050405020304" pitchFamily="18" charset="0"/>
              </a:rPr>
              <a:t>subclass provides its own implementation</a:t>
            </a:r>
            <a:r>
              <a:rPr lang="en-US" sz="2400" i="1" dirty="0">
                <a:solidFill>
                  <a:srgbClr val="FF0000"/>
                </a:solidFill>
                <a:latin typeface="Times New Roman" panose="02020603050405020304" pitchFamily="18" charset="0"/>
                <a:cs typeface="Times New Roman" panose="02020603050405020304" pitchFamily="18" charset="0"/>
              </a:rPr>
              <a:t> </a:t>
            </a:r>
            <a:r>
              <a:rPr lang="en-US" sz="2400" i="1" dirty="0">
                <a:solidFill>
                  <a:srgbClr val="0070C0"/>
                </a:solidFill>
                <a:latin typeface="Times New Roman" panose="02020603050405020304" pitchFamily="18" charset="0"/>
                <a:cs typeface="Times New Roman" panose="02020603050405020304" pitchFamily="18" charset="0"/>
              </a:rPr>
              <a:t>of a method already defined in the superclass</a:t>
            </a:r>
            <a:r>
              <a:rPr lang="en-US" sz="2400" dirty="0">
                <a:latin typeface="Times New Roman" panose="02020603050405020304" pitchFamily="18" charset="0"/>
                <a:cs typeface="Times New Roman" panose="02020603050405020304" pitchFamily="18" charset="0"/>
              </a:rPr>
              <a:t>.</a:t>
            </a:r>
          </a:p>
          <a:p>
            <a:pPr marL="0" indent="0" algn="just">
              <a:buNone/>
            </a:pPr>
            <a:endParaRPr lang="en-US" sz="2400" b="1"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Rules</a:t>
            </a:r>
          </a:p>
          <a:p>
            <a:pPr algn="just"/>
            <a:r>
              <a:rPr lang="en-US" sz="2400" dirty="0">
                <a:latin typeface="Times New Roman" panose="02020603050405020304" pitchFamily="18" charset="0"/>
                <a:cs typeface="Times New Roman" panose="02020603050405020304" pitchFamily="18" charset="0"/>
              </a:rPr>
              <a:t>Method name must be the same. </a:t>
            </a:r>
          </a:p>
          <a:p>
            <a:pPr algn="just"/>
            <a:r>
              <a:rPr lang="en-US" sz="2400" dirty="0">
                <a:latin typeface="Times New Roman" panose="02020603050405020304" pitchFamily="18" charset="0"/>
                <a:cs typeface="Times New Roman" panose="02020603050405020304" pitchFamily="18" charset="0"/>
              </a:rPr>
              <a:t>Parameters must be the same. </a:t>
            </a:r>
          </a:p>
          <a:p>
            <a:pPr algn="just"/>
            <a:r>
              <a:rPr lang="en-US" sz="2400" dirty="0">
                <a:latin typeface="Times New Roman" panose="02020603050405020304" pitchFamily="18" charset="0"/>
                <a:cs typeface="Times New Roman" panose="02020603050405020304" pitchFamily="18" charset="0"/>
              </a:rPr>
              <a:t>Return type must be the same (or covariant). </a:t>
            </a:r>
          </a:p>
          <a:p>
            <a:pPr algn="just"/>
            <a:r>
              <a:rPr lang="en-US" sz="2400" dirty="0">
                <a:latin typeface="Times New Roman" panose="02020603050405020304" pitchFamily="18" charset="0"/>
                <a:cs typeface="Times New Roman" panose="02020603050405020304" pitchFamily="18" charset="0"/>
              </a:rPr>
              <a:t>Requires inheritance. </a:t>
            </a:r>
          </a:p>
          <a:p>
            <a:pPr algn="just"/>
            <a:r>
              <a:rPr lang="en-US" sz="2400" dirty="0">
                <a:latin typeface="Times New Roman" panose="02020603050405020304" pitchFamily="18" charset="0"/>
                <a:cs typeface="Times New Roman" panose="02020603050405020304" pitchFamily="18" charset="0"/>
              </a:rPr>
              <a:t>Cannot override final, static, or private methods.</a:t>
            </a:r>
          </a:p>
          <a:p>
            <a:pPr algn="just"/>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730934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5631D-FFCA-E0DB-4669-90DF294013B6}"/>
              </a:ext>
            </a:extLst>
          </p:cNvPr>
          <p:cNvSpPr>
            <a:spLocks noGrp="1"/>
          </p:cNvSpPr>
          <p:nvPr>
            <p:ph idx="1"/>
          </p:nvPr>
        </p:nvSpPr>
        <p:spPr>
          <a:xfrm>
            <a:off x="457200" y="76200"/>
            <a:ext cx="8229600" cy="6049963"/>
          </a:xfrm>
        </p:spPr>
        <p:txBody>
          <a:bodyPr>
            <a:normAutofit fontScale="85000" lnSpcReduction="20000"/>
          </a:bodyPr>
          <a:lstStyle/>
          <a:p>
            <a:pPr marL="0" indent="0">
              <a:buNone/>
            </a:pPr>
            <a:r>
              <a:rPr lang="en-US" sz="2400" b="1" dirty="0"/>
              <a:t>package</a:t>
            </a:r>
            <a:r>
              <a:rPr lang="en-US" sz="2400" dirty="0"/>
              <a:t> </a:t>
            </a:r>
            <a:r>
              <a:rPr lang="en-US" sz="2400" dirty="0" err="1"/>
              <a:t>oppsJavaProg</a:t>
            </a:r>
            <a:r>
              <a:rPr lang="en-US" sz="2400" dirty="0"/>
              <a:t>;</a:t>
            </a:r>
          </a:p>
          <a:p>
            <a:pPr marL="0" indent="0">
              <a:buNone/>
            </a:pPr>
            <a:r>
              <a:rPr lang="en-US" sz="2400" b="1" dirty="0"/>
              <a:t>class</a:t>
            </a:r>
            <a:r>
              <a:rPr lang="en-US" sz="2400" dirty="0"/>
              <a:t> Animal {</a:t>
            </a:r>
          </a:p>
          <a:p>
            <a:pPr marL="0" indent="0">
              <a:buNone/>
            </a:pPr>
            <a:r>
              <a:rPr lang="en-US" sz="2400" b="1" dirty="0"/>
              <a:t>void</a:t>
            </a:r>
            <a:r>
              <a:rPr lang="en-US" sz="2400" dirty="0"/>
              <a:t> sound() {</a:t>
            </a:r>
          </a:p>
          <a:p>
            <a:pPr marL="0" indent="0">
              <a:buNone/>
            </a:pPr>
            <a:r>
              <a:rPr lang="en-US" sz="2400" dirty="0" err="1"/>
              <a:t>System.</a:t>
            </a:r>
            <a:r>
              <a:rPr lang="en-US" sz="2400" b="1" i="1" dirty="0" err="1"/>
              <a:t>out</a:t>
            </a:r>
            <a:r>
              <a:rPr lang="en-US" sz="2400" dirty="0" err="1"/>
              <a:t>.println</a:t>
            </a:r>
            <a:r>
              <a:rPr lang="en-US" sz="2400" dirty="0"/>
              <a:t>("Animal makes a sound");</a:t>
            </a:r>
          </a:p>
          <a:p>
            <a:pPr marL="0" indent="0">
              <a:buNone/>
            </a:pPr>
            <a:r>
              <a:rPr lang="en-US" sz="2400" dirty="0"/>
              <a:t>}</a:t>
            </a:r>
          </a:p>
          <a:p>
            <a:pPr marL="0" indent="0">
              <a:buNone/>
            </a:pPr>
            <a:r>
              <a:rPr lang="en-US" sz="2400" dirty="0"/>
              <a:t>}</a:t>
            </a:r>
          </a:p>
          <a:p>
            <a:pPr marL="0" indent="0">
              <a:buNone/>
            </a:pPr>
            <a:r>
              <a:rPr lang="en-US" sz="2400" b="1" dirty="0"/>
              <a:t>class</a:t>
            </a:r>
            <a:r>
              <a:rPr lang="en-US" sz="2400" dirty="0"/>
              <a:t> Dog </a:t>
            </a:r>
            <a:r>
              <a:rPr lang="en-US" sz="2400" b="1" dirty="0"/>
              <a:t>extends</a:t>
            </a:r>
            <a:r>
              <a:rPr lang="en-US" sz="2400" dirty="0"/>
              <a:t> Animal {</a:t>
            </a:r>
          </a:p>
          <a:p>
            <a:pPr marL="0" indent="0">
              <a:buNone/>
            </a:pPr>
            <a:r>
              <a:rPr lang="en-US" sz="2400" dirty="0"/>
              <a:t>@Override</a:t>
            </a:r>
          </a:p>
          <a:p>
            <a:pPr marL="0" indent="0">
              <a:buNone/>
            </a:pPr>
            <a:r>
              <a:rPr lang="en-US" sz="2400" b="1" dirty="0"/>
              <a:t>void</a:t>
            </a:r>
            <a:r>
              <a:rPr lang="en-US" sz="2400" dirty="0"/>
              <a:t> sound() {</a:t>
            </a:r>
          </a:p>
          <a:p>
            <a:pPr marL="0" indent="0">
              <a:buNone/>
            </a:pPr>
            <a:r>
              <a:rPr lang="en-US" sz="2400" dirty="0" err="1"/>
              <a:t>System.</a:t>
            </a:r>
            <a:r>
              <a:rPr lang="en-US" sz="2400" b="1" i="1" dirty="0" err="1"/>
              <a:t>out</a:t>
            </a:r>
            <a:r>
              <a:rPr lang="en-US" sz="2400" dirty="0" err="1"/>
              <a:t>.println</a:t>
            </a:r>
            <a:r>
              <a:rPr lang="en-US" sz="2400" dirty="0"/>
              <a:t>("Dog barks");</a:t>
            </a:r>
          </a:p>
          <a:p>
            <a:pPr marL="0" indent="0">
              <a:buNone/>
            </a:pPr>
            <a:r>
              <a:rPr lang="en-US" sz="2400" dirty="0"/>
              <a:t>}</a:t>
            </a:r>
          </a:p>
          <a:p>
            <a:pPr marL="0" indent="0">
              <a:buNone/>
            </a:pPr>
            <a:r>
              <a:rPr lang="en-US" sz="2400" dirty="0"/>
              <a:t>}</a:t>
            </a:r>
          </a:p>
          <a:p>
            <a:pPr marL="0" indent="0">
              <a:buNone/>
            </a:pPr>
            <a:r>
              <a:rPr lang="en-US" sz="2400" b="1" dirty="0"/>
              <a:t>public</a:t>
            </a:r>
            <a:r>
              <a:rPr lang="en-US" sz="2400" dirty="0"/>
              <a:t> </a:t>
            </a:r>
            <a:r>
              <a:rPr lang="en-US" sz="2400" b="1" dirty="0"/>
              <a:t>class</a:t>
            </a:r>
            <a:r>
              <a:rPr lang="en-US" sz="2400" dirty="0"/>
              <a:t> </a:t>
            </a:r>
            <a:r>
              <a:rPr lang="en-US" sz="2400" dirty="0" err="1"/>
              <a:t>MethodOverriding</a:t>
            </a:r>
            <a:r>
              <a:rPr lang="en-US" sz="2400" dirty="0"/>
              <a:t> {</a:t>
            </a:r>
          </a:p>
          <a:p>
            <a:pPr marL="0" indent="0">
              <a:buNone/>
            </a:pPr>
            <a:r>
              <a:rPr lang="en-US" sz="2400" b="1" dirty="0"/>
              <a:t>public</a:t>
            </a:r>
            <a:r>
              <a:rPr lang="en-US" sz="2400" dirty="0"/>
              <a:t> </a:t>
            </a:r>
            <a:r>
              <a:rPr lang="en-US" sz="2400" b="1" dirty="0"/>
              <a:t>static</a:t>
            </a:r>
            <a:r>
              <a:rPr lang="en-US" sz="2400" dirty="0"/>
              <a:t> </a:t>
            </a:r>
            <a:r>
              <a:rPr lang="en-US" sz="2400" b="1" dirty="0"/>
              <a:t>void</a:t>
            </a:r>
            <a:r>
              <a:rPr lang="en-US" sz="2400" dirty="0"/>
              <a:t> main(String[] </a:t>
            </a:r>
            <a:r>
              <a:rPr lang="en-US" sz="2400" dirty="0" err="1"/>
              <a:t>args</a:t>
            </a:r>
            <a:r>
              <a:rPr lang="en-US" sz="2400" dirty="0"/>
              <a:t>) {</a:t>
            </a:r>
          </a:p>
          <a:p>
            <a:pPr marL="0" indent="0">
              <a:buNone/>
            </a:pPr>
            <a:r>
              <a:rPr lang="en-US" sz="2400" dirty="0"/>
              <a:t>Dog d = </a:t>
            </a:r>
            <a:r>
              <a:rPr lang="en-US" sz="2400" b="1" dirty="0"/>
              <a:t>new</a:t>
            </a:r>
            <a:r>
              <a:rPr lang="en-US" sz="2400" dirty="0"/>
              <a:t> Dog();</a:t>
            </a:r>
          </a:p>
          <a:p>
            <a:pPr marL="0" indent="0">
              <a:buNone/>
            </a:pPr>
            <a:r>
              <a:rPr lang="en-US" sz="2400" dirty="0" err="1"/>
              <a:t>d.sound</a:t>
            </a:r>
            <a:r>
              <a:rPr lang="en-US" sz="2400" dirty="0"/>
              <a:t>();</a:t>
            </a:r>
          </a:p>
          <a:p>
            <a:pPr marL="0" indent="0">
              <a:buNone/>
            </a:pPr>
            <a:r>
              <a:rPr lang="en-US" sz="2400" dirty="0"/>
              <a:t>}</a:t>
            </a:r>
          </a:p>
          <a:p>
            <a:pPr marL="0" indent="0">
              <a:buNone/>
            </a:pPr>
            <a:r>
              <a:rPr lang="en-US" sz="2400" dirty="0"/>
              <a:t>}</a:t>
            </a:r>
          </a:p>
          <a:p>
            <a:pPr marL="0" indent="0">
              <a:buNone/>
            </a:pPr>
            <a:endParaRPr lang="en-US" sz="2400" dirty="0"/>
          </a:p>
        </p:txBody>
      </p:sp>
    </p:spTree>
    <p:extLst>
      <p:ext uri="{BB962C8B-B14F-4D97-AF65-F5344CB8AC3E}">
        <p14:creationId xmlns:p14="http://schemas.microsoft.com/office/powerpoint/2010/main" val="357656962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F6198-C339-BDE5-6679-8D66D2E7F686}"/>
              </a:ext>
            </a:extLst>
          </p:cNvPr>
          <p:cNvSpPr>
            <a:spLocks noGrp="1"/>
          </p:cNvSpPr>
          <p:nvPr>
            <p:ph type="title"/>
          </p:nvPr>
        </p:nvSpPr>
        <p:spPr>
          <a:xfrm>
            <a:off x="457200" y="274638"/>
            <a:ext cx="8229600" cy="457199"/>
          </a:xfrm>
        </p:spPr>
        <p:txBody>
          <a:bodyPr>
            <a:normAutofit fontScale="90000"/>
          </a:bodyPr>
          <a:lstStyle/>
          <a:p>
            <a:r>
              <a:rPr lang="en-US" sz="3600" b="1" dirty="0">
                <a:solidFill>
                  <a:srgbClr val="FF0000"/>
                </a:solidFill>
                <a:latin typeface="Times New Roman" panose="02020603050405020304" pitchFamily="18" charset="0"/>
                <a:cs typeface="Times New Roman" panose="02020603050405020304" pitchFamily="18" charset="0"/>
              </a:rPr>
              <a:t>Constructors</a:t>
            </a:r>
            <a:endParaRPr lang="en-US" sz="2800" b="1"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B826779-089C-7563-51C9-3BFA8846422B}"/>
              </a:ext>
            </a:extLst>
          </p:cNvPr>
          <p:cNvSpPr>
            <a:spLocks noGrp="1"/>
          </p:cNvSpPr>
          <p:nvPr>
            <p:ph idx="1"/>
          </p:nvPr>
        </p:nvSpPr>
        <p:spPr>
          <a:xfrm>
            <a:off x="457200" y="731838"/>
            <a:ext cx="8229600" cy="5851524"/>
          </a:xfrm>
        </p:spPr>
        <p:txBody>
          <a:bodyPr>
            <a:normAutofit/>
          </a:bodyPr>
          <a:lstStyle/>
          <a:p>
            <a:pPr algn="just"/>
            <a:r>
              <a:rPr lang="en-US" sz="2800" dirty="0">
                <a:latin typeface="Times New Roman" panose="02020603050405020304" pitchFamily="18" charset="0"/>
                <a:cs typeface="Times New Roman" panose="02020603050405020304" pitchFamily="18" charset="0"/>
              </a:rPr>
              <a:t>A </a:t>
            </a:r>
            <a:r>
              <a:rPr lang="en-US" sz="2800" b="1" dirty="0">
                <a:latin typeface="Times New Roman" panose="02020603050405020304" pitchFamily="18" charset="0"/>
                <a:cs typeface="Times New Roman" panose="02020603050405020304" pitchFamily="18" charset="0"/>
              </a:rPr>
              <a:t>constructor</a:t>
            </a:r>
            <a:r>
              <a:rPr lang="en-US" sz="2800" dirty="0">
                <a:latin typeface="Times New Roman" panose="02020603050405020304" pitchFamily="18" charset="0"/>
                <a:cs typeface="Times New Roman" panose="02020603050405020304" pitchFamily="18" charset="0"/>
              </a:rPr>
              <a:t> is a special member of a class that is </a:t>
            </a:r>
            <a:r>
              <a:rPr lang="en-US" sz="2800" b="1" dirty="0">
                <a:latin typeface="Times New Roman" panose="02020603050405020304" pitchFamily="18" charset="0"/>
                <a:cs typeface="Times New Roman" panose="02020603050405020304" pitchFamily="18" charset="0"/>
              </a:rPr>
              <a:t>automatically called when an object is created</a:t>
            </a:r>
            <a:r>
              <a:rPr lang="en-US" sz="2800" dirty="0">
                <a:latin typeface="Times New Roman" panose="02020603050405020304" pitchFamily="18" charset="0"/>
                <a:cs typeface="Times New Roman" panose="02020603050405020304" pitchFamily="18" charset="0"/>
              </a:rPr>
              <a:t>. Its main purpose is to </a:t>
            </a:r>
            <a:r>
              <a:rPr lang="en-US" sz="2800" b="1" dirty="0">
                <a:latin typeface="Times New Roman" panose="02020603050405020304" pitchFamily="18" charset="0"/>
                <a:cs typeface="Times New Roman" panose="02020603050405020304" pitchFamily="18" charset="0"/>
              </a:rPr>
              <a:t>initialize the object's instance variables</a:t>
            </a:r>
            <a:r>
              <a:rPr lang="en-US" sz="2800" dirty="0">
                <a:latin typeface="Times New Roman" panose="02020603050405020304" pitchFamily="18" charset="0"/>
                <a:cs typeface="Times New Roman" panose="02020603050405020304" pitchFamily="18" charset="0"/>
              </a:rPr>
              <a:t>.</a:t>
            </a:r>
          </a:p>
          <a:p>
            <a:pPr algn="just"/>
            <a:r>
              <a:rPr lang="en-US" sz="2800" dirty="0">
                <a:latin typeface="Times New Roman" panose="02020603050405020304" pitchFamily="18" charset="0"/>
                <a:cs typeface="Times New Roman" panose="02020603050405020304" pitchFamily="18" charset="0"/>
              </a:rPr>
              <a:t> It has same name that of a class. </a:t>
            </a:r>
            <a:r>
              <a:rPr lang="en-US" sz="2800" i="1" dirty="0">
                <a:latin typeface="Times New Roman" panose="02020603050405020304" pitchFamily="18" charset="0"/>
                <a:cs typeface="Times New Roman" panose="02020603050405020304" pitchFamily="18" charset="0"/>
              </a:rPr>
              <a:t>A constructor initializes an object immediately upon creation. </a:t>
            </a:r>
          </a:p>
          <a:p>
            <a:pPr algn="just"/>
            <a:r>
              <a:rPr lang="en-US" sz="2800" dirty="0">
                <a:latin typeface="Times New Roman" panose="02020603050405020304" pitchFamily="18" charset="0"/>
                <a:cs typeface="Times New Roman" panose="02020603050405020304" pitchFamily="18" charset="0"/>
              </a:rPr>
              <a:t>A constructor has no return type; not even void.</a:t>
            </a:r>
          </a:p>
          <a:p>
            <a:pPr algn="just"/>
            <a:r>
              <a:rPr lang="en-US" sz="2800" dirty="0">
                <a:latin typeface="Times New Roman" panose="02020603050405020304" pitchFamily="18" charset="0"/>
                <a:cs typeface="Times New Roman" panose="02020603050405020304" pitchFamily="18" charset="0"/>
              </a:rPr>
              <a:t> It cannot be abstract, final, native ,static or synchronized.</a:t>
            </a:r>
          </a:p>
          <a:p>
            <a:pPr algn="just"/>
            <a:r>
              <a:rPr lang="en-US" sz="2800" b="1" dirty="0">
                <a:solidFill>
                  <a:srgbClr val="FF0000"/>
                </a:solidFill>
                <a:latin typeface="Times New Roman" panose="02020603050405020304" pitchFamily="18" charset="0"/>
                <a:cs typeface="Times New Roman" panose="02020603050405020304" pitchFamily="18" charset="0"/>
              </a:rPr>
              <a:t>this</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keyword refers another constructor in same class.</a:t>
            </a:r>
          </a:p>
          <a:p>
            <a:pPr algn="just"/>
            <a:r>
              <a:rPr lang="en-US" sz="2800" dirty="0">
                <a:latin typeface="Times New Roman" panose="02020603050405020304" pitchFamily="18" charset="0"/>
                <a:cs typeface="Times New Roman" panose="02020603050405020304" pitchFamily="18" charset="0"/>
              </a:rPr>
              <a:t> A </a:t>
            </a:r>
            <a:r>
              <a:rPr lang="en-US" sz="2800" b="1" dirty="0">
                <a:solidFill>
                  <a:srgbClr val="FF0000"/>
                </a:solidFill>
                <a:latin typeface="Times New Roman" panose="02020603050405020304" pitchFamily="18" charset="0"/>
                <a:cs typeface="Times New Roman" panose="02020603050405020304" pitchFamily="18" charset="0"/>
              </a:rPr>
              <a:t>super</a:t>
            </a:r>
            <a:r>
              <a:rPr lang="en-US" sz="2800" dirty="0">
                <a:latin typeface="Times New Roman" panose="02020603050405020304" pitchFamily="18" charset="0"/>
                <a:cs typeface="Times New Roman" panose="02020603050405020304" pitchFamily="18" charset="0"/>
              </a:rPr>
              <a:t> keyword will call constructor of super class constructors </a:t>
            </a:r>
          </a:p>
        </p:txBody>
      </p:sp>
    </p:spTree>
    <p:extLst>
      <p:ext uri="{BB962C8B-B14F-4D97-AF65-F5344CB8AC3E}">
        <p14:creationId xmlns:p14="http://schemas.microsoft.com/office/powerpoint/2010/main" val="198032005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62D16C-1144-4081-CFBC-2B82415EF48A}"/>
              </a:ext>
            </a:extLst>
          </p:cNvPr>
          <p:cNvSpPr>
            <a:spLocks noGrp="1"/>
          </p:cNvSpPr>
          <p:nvPr>
            <p:ph idx="1"/>
          </p:nvPr>
        </p:nvSpPr>
        <p:spPr>
          <a:xfrm>
            <a:off x="457200" y="0"/>
            <a:ext cx="8229600" cy="6858000"/>
          </a:xfrm>
        </p:spPr>
        <p:txBody>
          <a:bodyPr>
            <a:normAutofit fontScale="85000" lnSpcReduction="20000"/>
          </a:bodyPr>
          <a:lstStyle/>
          <a:p>
            <a:pPr marL="0" indent="0" algn="just">
              <a:buNone/>
            </a:pPr>
            <a:r>
              <a:rPr lang="en-US" dirty="0">
                <a:latin typeface="Times New Roman" panose="02020603050405020304" pitchFamily="18" charset="0"/>
                <a:cs typeface="Times New Roman" panose="02020603050405020304" pitchFamily="18" charset="0"/>
              </a:rPr>
              <a:t>Constructors are of two types:</a:t>
            </a:r>
          </a:p>
          <a:p>
            <a:pPr algn="just"/>
            <a:r>
              <a:rPr lang="en-US" i="1" dirty="0">
                <a:latin typeface="Times New Roman" panose="02020603050405020304" pitchFamily="18" charset="0"/>
                <a:cs typeface="Times New Roman" panose="02020603050405020304" pitchFamily="18" charset="0"/>
              </a:rPr>
              <a:t>1. Default constructor</a:t>
            </a:r>
          </a:p>
          <a:p>
            <a:pPr algn="just"/>
            <a:r>
              <a:rPr lang="en-US" i="1" dirty="0">
                <a:latin typeface="Times New Roman" panose="02020603050405020304" pitchFamily="18" charset="0"/>
                <a:cs typeface="Times New Roman" panose="02020603050405020304" pitchFamily="18" charset="0"/>
              </a:rPr>
              <a:t>2.Parameterised constructor</a:t>
            </a:r>
          </a:p>
          <a:p>
            <a:pPr marL="0" indent="0" algn="just">
              <a:buNone/>
            </a:pPr>
            <a:r>
              <a:rPr lang="en-US" b="1" dirty="0">
                <a:latin typeface="Times New Roman" panose="02020603050405020304" pitchFamily="18" charset="0"/>
                <a:cs typeface="Times New Roman" panose="02020603050405020304" pitchFamily="18" charset="0"/>
              </a:rPr>
              <a:t>1. Default constructor:</a:t>
            </a:r>
          </a:p>
          <a:p>
            <a:pPr algn="just"/>
            <a:r>
              <a:rPr lang="en-US" dirty="0">
                <a:latin typeface="Times New Roman" panose="02020603050405020304" pitchFamily="18" charset="0"/>
                <a:cs typeface="Times New Roman" panose="02020603050405020304" pitchFamily="18" charset="0"/>
              </a:rPr>
              <a:t>A constructor that accepts </a:t>
            </a:r>
            <a:r>
              <a:rPr lang="en-US" b="1" i="1" dirty="0">
                <a:solidFill>
                  <a:srgbClr val="FF0000"/>
                </a:solidFill>
                <a:latin typeface="Times New Roman" panose="02020603050405020304" pitchFamily="18" charset="0"/>
                <a:cs typeface="Times New Roman" panose="02020603050405020304" pitchFamily="18" charset="0"/>
              </a:rPr>
              <a:t>no parameters </a:t>
            </a:r>
            <a:r>
              <a:rPr lang="en-US" dirty="0">
                <a:latin typeface="Times New Roman" panose="02020603050405020304" pitchFamily="18" charset="0"/>
                <a:cs typeface="Times New Roman" panose="02020603050405020304" pitchFamily="18" charset="0"/>
              </a:rPr>
              <a:t>is called default constructor.</a:t>
            </a:r>
          </a:p>
          <a:p>
            <a:pPr algn="just"/>
            <a:r>
              <a:rPr lang="en-US" dirty="0">
                <a:latin typeface="Times New Roman" panose="02020603050405020304" pitchFamily="18" charset="0"/>
                <a:cs typeface="Times New Roman" panose="02020603050405020304" pitchFamily="18" charset="0"/>
              </a:rPr>
              <a:t> If no constructor is defined for a class, java system automatically generates the default constructor. </a:t>
            </a:r>
          </a:p>
          <a:p>
            <a:pPr algn="just"/>
            <a:r>
              <a:rPr lang="en-US" b="1" dirty="0">
                <a:latin typeface="Times New Roman" panose="02020603050405020304" pitchFamily="18" charset="0"/>
                <a:cs typeface="Times New Roman" panose="02020603050405020304" pitchFamily="18" charset="0"/>
              </a:rPr>
              <a:t>A default constructor is called when an instance is created for a class. </a:t>
            </a:r>
          </a:p>
          <a:p>
            <a:pPr algn="just"/>
            <a:r>
              <a:rPr lang="en-US" dirty="0">
                <a:latin typeface="Times New Roman" panose="02020603050405020304" pitchFamily="18" charset="0"/>
                <a:cs typeface="Times New Roman" panose="02020603050405020304" pitchFamily="18" charset="0"/>
              </a:rPr>
              <a:t>The default constructor automatically initializes all instance variables to zero.</a:t>
            </a:r>
          </a:p>
          <a:p>
            <a:pPr marL="0" indent="0" algn="ctr">
              <a:buNone/>
            </a:pPr>
            <a:r>
              <a:rPr lang="en-US" b="1" dirty="0">
                <a:latin typeface="Times New Roman" panose="02020603050405020304" pitchFamily="18" charset="0"/>
                <a:cs typeface="Times New Roman" panose="02020603050405020304" pitchFamily="18" charset="0"/>
              </a:rPr>
              <a:t>Syntax:- </a:t>
            </a: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a:t>
            </a:r>
          </a:p>
          <a:p>
            <a:pPr marL="0" indent="0" algn="ctr">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a:t>
            </a:r>
          </a:p>
          <a:p>
            <a:pPr marL="0" indent="0" algn="ctr">
              <a:buNone/>
            </a:pPr>
            <a:r>
              <a:rPr lang="en-US" dirty="0">
                <a:latin typeface="Times New Roman" panose="02020603050405020304" pitchFamily="18" charset="0"/>
                <a:cs typeface="Times New Roman" panose="02020603050405020304" pitchFamily="18" charset="0"/>
              </a:rPr>
              <a:t>        // Constructor body</a:t>
            </a:r>
          </a:p>
          <a:p>
            <a:pPr marL="0" indent="0" algn="ctr">
              <a:buNone/>
            </a:pPr>
            <a:r>
              <a:rPr lang="en-US" dirty="0">
                <a:latin typeface="Times New Roman" panose="02020603050405020304" pitchFamily="18" charset="0"/>
                <a:cs typeface="Times New Roman" panose="02020603050405020304" pitchFamily="18" charset="0"/>
              </a:rPr>
              <a:t>    }</a:t>
            </a:r>
          </a:p>
          <a:p>
            <a:pPr marL="0" indent="0" algn="ctr">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62524598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24038D-5676-8AC7-358A-387B7D2CA79F}"/>
              </a:ext>
            </a:extLst>
          </p:cNvPr>
          <p:cNvSpPr>
            <a:spLocks noGrp="1"/>
          </p:cNvSpPr>
          <p:nvPr>
            <p:ph idx="1"/>
          </p:nvPr>
        </p:nvSpPr>
        <p:spPr>
          <a:xfrm>
            <a:off x="457200" y="228600"/>
            <a:ext cx="8229600" cy="6477000"/>
          </a:xfrm>
        </p:spPr>
        <p:txBody>
          <a:bodyPr>
            <a:normAutofit fontScale="70000" lnSpcReduction="20000"/>
          </a:bodyPr>
          <a:lstStyle/>
          <a:p>
            <a:pPr marL="0" indent="0">
              <a:buNone/>
            </a:pPr>
            <a:r>
              <a:rPr lang="en-US" dirty="0">
                <a:latin typeface="Times New Roman" panose="02020603050405020304" pitchFamily="18" charset="0"/>
                <a:cs typeface="Times New Roman" panose="02020603050405020304" pitchFamily="18" charset="0"/>
              </a:rPr>
              <a:t>class Student {</a:t>
            </a:r>
          </a:p>
          <a:p>
            <a:pPr marL="0" indent="0">
              <a:buNone/>
            </a:pPr>
            <a:r>
              <a:rPr lang="en-US" b="1" i="1" dirty="0">
                <a:latin typeface="Times New Roman" panose="02020603050405020304" pitchFamily="18" charset="0"/>
                <a:cs typeface="Times New Roman" panose="02020603050405020304" pitchFamily="18" charset="0"/>
              </a:rPr>
              <a:t>    Student() {</a:t>
            </a:r>
          </a:p>
          <a:p>
            <a:pPr marL="0" indent="0">
              <a:buNone/>
            </a:pPr>
            <a:r>
              <a:rPr lang="en-US" b="1" i="1" dirty="0">
                <a:latin typeface="Times New Roman" panose="02020603050405020304" pitchFamily="18" charset="0"/>
                <a:cs typeface="Times New Roman" panose="02020603050405020304" pitchFamily="18" charset="0"/>
              </a:rPr>
              <a:t>        </a:t>
            </a:r>
            <a:r>
              <a:rPr lang="en-US" b="1" i="1" dirty="0" err="1">
                <a:latin typeface="Times New Roman" panose="02020603050405020304" pitchFamily="18" charset="0"/>
                <a:cs typeface="Times New Roman" panose="02020603050405020304" pitchFamily="18" charset="0"/>
              </a:rPr>
              <a:t>System.out.println</a:t>
            </a:r>
            <a:r>
              <a:rPr lang="en-US" b="1" i="1" dirty="0">
                <a:latin typeface="Times New Roman" panose="02020603050405020304" pitchFamily="18" charset="0"/>
                <a:cs typeface="Times New Roman" panose="02020603050405020304" pitchFamily="18" charset="0"/>
              </a:rPr>
              <a:t>("Constructor is called");</a:t>
            </a:r>
          </a:p>
          <a:p>
            <a:pPr marL="0" indent="0">
              <a:buNone/>
            </a:pPr>
            <a:r>
              <a:rPr lang="en-US" b="1" i="1"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solidFill>
                  <a:srgbClr val="FF0000"/>
                </a:solidFill>
                <a:latin typeface="Times New Roman" panose="02020603050405020304" pitchFamily="18" charset="0"/>
                <a:cs typeface="Times New Roman" panose="02020603050405020304" pitchFamily="18" charset="0"/>
              </a:rPr>
              <a:t>Characteristics of a Constructor</a:t>
            </a:r>
          </a:p>
          <a:p>
            <a:r>
              <a:rPr lang="en-US" dirty="0">
                <a:latin typeface="Times New Roman" panose="02020603050405020304" pitchFamily="18" charset="0"/>
                <a:cs typeface="Times New Roman" panose="02020603050405020304" pitchFamily="18" charset="0"/>
              </a:rPr>
              <a:t>The constructor name </a:t>
            </a:r>
            <a:r>
              <a:rPr lang="en-US" b="1" dirty="0">
                <a:latin typeface="Times New Roman" panose="02020603050405020304" pitchFamily="18" charset="0"/>
                <a:cs typeface="Times New Roman" panose="02020603050405020304" pitchFamily="18" charset="0"/>
              </a:rPr>
              <a:t>must be the same as the class name</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It </a:t>
            </a:r>
            <a:r>
              <a:rPr lang="en-US" b="1" dirty="0">
                <a:latin typeface="Times New Roman" panose="02020603050405020304" pitchFamily="18" charset="0"/>
                <a:cs typeface="Times New Roman" panose="02020603050405020304" pitchFamily="18" charset="0"/>
              </a:rPr>
              <a:t>does not have a return type</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It is called </a:t>
            </a:r>
            <a:r>
              <a:rPr lang="en-US" b="1" dirty="0">
                <a:latin typeface="Times New Roman" panose="02020603050405020304" pitchFamily="18" charset="0"/>
                <a:cs typeface="Times New Roman" panose="02020603050405020304" pitchFamily="18" charset="0"/>
              </a:rPr>
              <a:t>automatically</a:t>
            </a:r>
            <a:r>
              <a:rPr lang="en-US" dirty="0">
                <a:latin typeface="Times New Roman" panose="02020603050405020304" pitchFamily="18" charset="0"/>
                <a:cs typeface="Times New Roman" panose="02020603050405020304" pitchFamily="18" charset="0"/>
              </a:rPr>
              <a:t> when an object is created using new. </a:t>
            </a:r>
          </a:p>
          <a:p>
            <a:r>
              <a:rPr lang="en-US" dirty="0">
                <a:latin typeface="Times New Roman" panose="02020603050405020304" pitchFamily="18" charset="0"/>
                <a:cs typeface="Times New Roman" panose="02020603050405020304" pitchFamily="18" charset="0"/>
              </a:rPr>
              <a:t>It is mainly used to initialize objects. </a:t>
            </a:r>
          </a:p>
          <a:p>
            <a:r>
              <a:rPr lang="en-US" dirty="0">
                <a:latin typeface="Times New Roman" panose="02020603050405020304" pitchFamily="18" charset="0"/>
                <a:cs typeface="Times New Roman" panose="02020603050405020304" pitchFamily="18" charset="0"/>
              </a:rPr>
              <a:t>Constructors </a:t>
            </a:r>
            <a:r>
              <a:rPr lang="en-US" b="1" dirty="0">
                <a:latin typeface="Times New Roman" panose="02020603050405020304" pitchFamily="18" charset="0"/>
                <a:cs typeface="Times New Roman" panose="02020603050405020304" pitchFamily="18" charset="0"/>
              </a:rPr>
              <a:t>can be overloaded</a:t>
            </a:r>
            <a:r>
              <a:rPr lang="en-US" dirty="0">
                <a:latin typeface="Times New Roman" panose="02020603050405020304" pitchFamily="18" charset="0"/>
                <a:cs typeface="Times New Roman" panose="02020603050405020304" pitchFamily="18" charset="0"/>
              </a:rPr>
              <a:t> (multiple constructors with different parameter lists).</a:t>
            </a:r>
          </a:p>
          <a:p>
            <a:endParaRPr lang="en-US" dirty="0">
              <a:latin typeface="Times New Roman" panose="02020603050405020304" pitchFamily="18" charset="0"/>
              <a:cs typeface="Times New Roman" panose="02020603050405020304" pitchFamily="18" charset="0"/>
            </a:endParaRPr>
          </a:p>
          <a:p>
            <a:pPr marL="0" indent="0">
              <a:buNone/>
            </a:pPr>
            <a:r>
              <a:rPr lang="en-US" b="1" dirty="0">
                <a:solidFill>
                  <a:srgbClr val="FF0000"/>
                </a:solidFill>
                <a:latin typeface="Times New Roman" panose="02020603050405020304" pitchFamily="18" charset="0"/>
                <a:cs typeface="Times New Roman" panose="02020603050405020304" pitchFamily="18" charset="0"/>
              </a:rPr>
              <a:t>Constructors are used to:</a:t>
            </a:r>
          </a:p>
          <a:p>
            <a:r>
              <a:rPr lang="en-US" dirty="0">
                <a:latin typeface="Times New Roman" panose="02020603050405020304" pitchFamily="18" charset="0"/>
                <a:cs typeface="Times New Roman" panose="02020603050405020304" pitchFamily="18" charset="0"/>
              </a:rPr>
              <a:t>Initialize object data. </a:t>
            </a:r>
          </a:p>
          <a:p>
            <a:r>
              <a:rPr lang="en-US" dirty="0">
                <a:latin typeface="Times New Roman" panose="02020603050405020304" pitchFamily="18" charset="0"/>
                <a:cs typeface="Times New Roman" panose="02020603050405020304" pitchFamily="18" charset="0"/>
              </a:rPr>
              <a:t>Reduce repetitive code. </a:t>
            </a:r>
          </a:p>
          <a:p>
            <a:r>
              <a:rPr lang="en-US" dirty="0">
                <a:latin typeface="Times New Roman" panose="02020603050405020304" pitchFamily="18" charset="0"/>
                <a:cs typeface="Times New Roman" panose="02020603050405020304" pitchFamily="18" charset="0"/>
              </a:rPr>
              <a:t>Ensure every object starts with valid values. </a:t>
            </a:r>
          </a:p>
          <a:p>
            <a:r>
              <a:rPr lang="en-US" dirty="0">
                <a:latin typeface="Times New Roman" panose="02020603050405020304" pitchFamily="18" charset="0"/>
                <a:cs typeface="Times New Roman" panose="02020603050405020304" pitchFamily="18" charset="0"/>
              </a:rPr>
              <a:t>Allocate resources when an object is created.</a:t>
            </a:r>
          </a:p>
          <a:p>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25276544"/>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436A02-8421-095A-04B2-0BB1A8CFD120}"/>
              </a:ext>
            </a:extLst>
          </p:cNvPr>
          <p:cNvSpPr>
            <a:spLocks noGrp="1"/>
          </p:cNvSpPr>
          <p:nvPr>
            <p:ph idx="1"/>
          </p:nvPr>
        </p:nvSpPr>
        <p:spPr>
          <a:xfrm>
            <a:off x="457200" y="228600"/>
            <a:ext cx="4724400" cy="5897563"/>
          </a:xfrm>
        </p:spPr>
        <p:txBody>
          <a:bodyPr>
            <a:normAutofit fontScale="92500" lnSpcReduction="10000"/>
          </a:bodyPr>
          <a:lstStyle/>
          <a:p>
            <a:pPr marL="0" indent="0">
              <a:buNone/>
            </a:pPr>
            <a:r>
              <a:rPr lang="en-US" sz="2000" dirty="0">
                <a:latin typeface="Times New Roman" panose="02020603050405020304" pitchFamily="18" charset="0"/>
                <a:cs typeface="Times New Roman" panose="02020603050405020304" pitchFamily="18" charset="0"/>
              </a:rPr>
              <a:t>class Student {</a:t>
            </a:r>
          </a:p>
          <a:p>
            <a:pPr marL="0" indent="0">
              <a:buNone/>
            </a:pPr>
            <a:r>
              <a:rPr lang="en-US" sz="2000" dirty="0">
                <a:latin typeface="Times New Roman" panose="02020603050405020304" pitchFamily="18" charset="0"/>
                <a:cs typeface="Times New Roman" panose="02020603050405020304" pitchFamily="18" charset="0"/>
              </a:rPr>
              <a:t>    int </a:t>
            </a:r>
            <a:r>
              <a:rPr lang="en-US" sz="2000" dirty="0" err="1">
                <a:latin typeface="Times New Roman" panose="02020603050405020304" pitchFamily="18" charset="0"/>
                <a:cs typeface="Times New Roman" panose="02020603050405020304" pitchFamily="18" charset="0"/>
              </a:rPr>
              <a:t>rollNo</a:t>
            </a: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    String name;</a:t>
            </a:r>
          </a:p>
          <a:p>
            <a:pPr marL="0" indent="0">
              <a:buNone/>
            </a:pPr>
            <a:r>
              <a:rPr lang="en-US" sz="2000" dirty="0">
                <a:latin typeface="Times New Roman" panose="02020603050405020304" pitchFamily="18" charset="0"/>
                <a:cs typeface="Times New Roman" panose="02020603050405020304" pitchFamily="18" charset="0"/>
              </a:rPr>
              <a:t>    Student() { // Default Constructor</a:t>
            </a:r>
          </a:p>
          <a:p>
            <a:pPr marL="0" indent="0">
              <a:buNone/>
            </a:pP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rollNo</a:t>
            </a:r>
            <a:r>
              <a:rPr lang="en-US" sz="2000" dirty="0">
                <a:latin typeface="Times New Roman" panose="02020603050405020304" pitchFamily="18" charset="0"/>
                <a:cs typeface="Times New Roman" panose="02020603050405020304" pitchFamily="18" charset="0"/>
              </a:rPr>
              <a:t> = 05;</a:t>
            </a:r>
          </a:p>
          <a:p>
            <a:pPr marL="0" indent="0">
              <a:buNone/>
            </a:pPr>
            <a:r>
              <a:rPr lang="en-US" sz="2000" dirty="0">
                <a:latin typeface="Times New Roman" panose="02020603050405020304" pitchFamily="18" charset="0"/>
                <a:cs typeface="Times New Roman" panose="02020603050405020304" pitchFamily="18" charset="0"/>
              </a:rPr>
              <a:t>        name = “ASDF";</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void display() {</a:t>
            </a:r>
          </a:p>
          <a:p>
            <a:pPr marL="0" indent="0">
              <a:buNone/>
            </a:pP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a:t>
            </a:r>
            <a:r>
              <a:rPr lang="en-US" sz="2000" dirty="0" err="1">
                <a:latin typeface="Times New Roman" panose="02020603050405020304" pitchFamily="18" charset="0"/>
                <a:cs typeface="Times New Roman" panose="02020603050405020304" pitchFamily="18" charset="0"/>
              </a:rPr>
              <a:t>rollNo</a:t>
            </a:r>
            <a:r>
              <a:rPr lang="en-US" sz="2000" dirty="0">
                <a:latin typeface="Times New Roman" panose="02020603050405020304" pitchFamily="18" charset="0"/>
                <a:cs typeface="Times New Roman" panose="02020603050405020304" pitchFamily="18" charset="0"/>
              </a:rPr>
              <a:t> + " " + name);</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public class </a:t>
            </a:r>
            <a:r>
              <a:rPr lang="en-US" sz="2000" dirty="0" err="1">
                <a:latin typeface="Times New Roman" panose="02020603050405020304" pitchFamily="18" charset="0"/>
                <a:cs typeface="Times New Roman" panose="02020603050405020304" pitchFamily="18" charset="0"/>
              </a:rPr>
              <a:t>DefaultConstructorDemo</a:t>
            </a: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public static void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 {</a:t>
            </a: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        Student s1 = new Student();</a:t>
            </a:r>
          </a:p>
          <a:p>
            <a:pPr marL="0" indent="0">
              <a:buNone/>
            </a:pPr>
            <a:r>
              <a:rPr lang="en-US" sz="2000" dirty="0">
                <a:latin typeface="Times New Roman" panose="02020603050405020304" pitchFamily="18" charset="0"/>
                <a:cs typeface="Times New Roman" panose="02020603050405020304" pitchFamily="18" charset="0"/>
              </a:rPr>
              <a:t>        s1.display();</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a:t>
            </a:r>
          </a:p>
        </p:txBody>
      </p:sp>
      <p:sp>
        <p:nvSpPr>
          <p:cNvPr id="5" name="TextBox 4">
            <a:extLst>
              <a:ext uri="{FF2B5EF4-FFF2-40B4-BE49-F238E27FC236}">
                <a16:creationId xmlns:a16="http://schemas.microsoft.com/office/drawing/2014/main" id="{A0F51C7E-2526-0874-AB7D-39BEC38BAF5A}"/>
              </a:ext>
            </a:extLst>
          </p:cNvPr>
          <p:cNvSpPr txBox="1"/>
          <p:nvPr/>
        </p:nvSpPr>
        <p:spPr>
          <a:xfrm>
            <a:off x="6400800" y="258097"/>
            <a:ext cx="2286000" cy="5909310"/>
          </a:xfrm>
          <a:prstGeom prst="rect">
            <a:avLst/>
          </a:prstGeom>
          <a:noFill/>
        </p:spPr>
        <p:txBody>
          <a:bodyPr wrap="square">
            <a:spAutoFit/>
          </a:bodyPr>
          <a:lstStyle/>
          <a:p>
            <a:pPr algn="ctr"/>
            <a:r>
              <a:rPr lang="en-US" b="1" dirty="0"/>
              <a:t>main()</a:t>
            </a:r>
          </a:p>
          <a:p>
            <a:pPr algn="ctr"/>
            <a:endParaRPr lang="en-US" b="1" dirty="0"/>
          </a:p>
          <a:p>
            <a:pPr algn="ctr"/>
            <a:r>
              <a:rPr lang="en-US" b="1" dirty="0"/>
              <a:t>↓</a:t>
            </a:r>
          </a:p>
          <a:p>
            <a:pPr algn="ctr"/>
            <a:endParaRPr lang="en-US" b="1" dirty="0"/>
          </a:p>
          <a:p>
            <a:pPr algn="ctr"/>
            <a:r>
              <a:rPr lang="en-US" b="1" dirty="0"/>
              <a:t>new Student()</a:t>
            </a:r>
          </a:p>
          <a:p>
            <a:pPr algn="ctr"/>
            <a:endParaRPr lang="en-US" b="1" dirty="0"/>
          </a:p>
          <a:p>
            <a:pPr algn="ctr"/>
            <a:r>
              <a:rPr lang="en-US" b="1" dirty="0"/>
              <a:t>↓</a:t>
            </a:r>
          </a:p>
          <a:p>
            <a:pPr algn="ctr"/>
            <a:endParaRPr lang="en-US" b="1" dirty="0"/>
          </a:p>
          <a:p>
            <a:pPr algn="ctr"/>
            <a:r>
              <a:rPr lang="en-US" b="1" dirty="0"/>
              <a:t>Default Constructor</a:t>
            </a:r>
          </a:p>
          <a:p>
            <a:pPr algn="ctr"/>
            <a:endParaRPr lang="en-US" b="1" dirty="0"/>
          </a:p>
          <a:p>
            <a:pPr algn="ctr"/>
            <a:r>
              <a:rPr lang="en-US" b="1" dirty="0"/>
              <a:t>↓</a:t>
            </a:r>
          </a:p>
          <a:p>
            <a:pPr algn="ctr"/>
            <a:endParaRPr lang="en-US" b="1" dirty="0"/>
          </a:p>
          <a:p>
            <a:pPr algn="ctr"/>
            <a:r>
              <a:rPr lang="en-US" b="1" dirty="0"/>
              <a:t>Initialize Variables</a:t>
            </a:r>
          </a:p>
          <a:p>
            <a:pPr algn="ctr"/>
            <a:endParaRPr lang="en-US" b="1" dirty="0"/>
          </a:p>
          <a:p>
            <a:pPr algn="ctr"/>
            <a:r>
              <a:rPr lang="en-US" b="1" dirty="0"/>
              <a:t>↓</a:t>
            </a:r>
          </a:p>
          <a:p>
            <a:pPr algn="ctr"/>
            <a:endParaRPr lang="en-US" b="1" dirty="0"/>
          </a:p>
          <a:p>
            <a:pPr algn="ctr"/>
            <a:r>
              <a:rPr lang="en-US" b="1" dirty="0"/>
              <a:t>display()</a:t>
            </a:r>
          </a:p>
          <a:p>
            <a:pPr algn="ctr"/>
            <a:endParaRPr lang="en-US" b="1" dirty="0"/>
          </a:p>
          <a:p>
            <a:pPr algn="ctr"/>
            <a:r>
              <a:rPr lang="en-US" b="1" dirty="0"/>
              <a:t>↓</a:t>
            </a:r>
          </a:p>
          <a:p>
            <a:pPr algn="ctr"/>
            <a:endParaRPr lang="en-US" b="1" dirty="0"/>
          </a:p>
          <a:p>
            <a:pPr algn="ctr"/>
            <a:r>
              <a:rPr lang="en-US" b="1" dirty="0"/>
              <a:t>05 ASDF</a:t>
            </a:r>
          </a:p>
        </p:txBody>
      </p:sp>
    </p:spTree>
    <p:extLst>
      <p:ext uri="{BB962C8B-B14F-4D97-AF65-F5344CB8AC3E}">
        <p14:creationId xmlns:p14="http://schemas.microsoft.com/office/powerpoint/2010/main" val="234780603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15277D-3075-4159-4770-512B772B9794}"/>
              </a:ext>
            </a:extLst>
          </p:cNvPr>
          <p:cNvSpPr>
            <a:spLocks noGrp="1"/>
          </p:cNvSpPr>
          <p:nvPr>
            <p:ph idx="1"/>
          </p:nvPr>
        </p:nvSpPr>
        <p:spPr>
          <a:xfrm>
            <a:off x="457200" y="0"/>
            <a:ext cx="8229600" cy="6858000"/>
          </a:xfrm>
        </p:spPr>
        <p:txBody>
          <a:bodyPr>
            <a:normAutofit fontScale="92500" lnSpcReduction="10000"/>
          </a:bodyPr>
          <a:lstStyle/>
          <a:p>
            <a:pPr marL="0" indent="0">
              <a:buNone/>
            </a:pPr>
            <a:r>
              <a:rPr lang="en-US" sz="2400" b="1" dirty="0"/>
              <a:t>class</a:t>
            </a:r>
            <a:r>
              <a:rPr lang="en-US" sz="2400" dirty="0"/>
              <a:t> demo</a:t>
            </a:r>
          </a:p>
          <a:p>
            <a:pPr marL="0" indent="0">
              <a:buNone/>
            </a:pPr>
            <a:r>
              <a:rPr lang="en-US" sz="2400" dirty="0"/>
              <a:t>{</a:t>
            </a:r>
          </a:p>
          <a:p>
            <a:pPr marL="0" indent="0">
              <a:buNone/>
            </a:pPr>
            <a:r>
              <a:rPr lang="en-US" sz="2400" b="1" dirty="0"/>
              <a:t>int</a:t>
            </a:r>
            <a:r>
              <a:rPr lang="en-US" sz="2400" dirty="0"/>
              <a:t> </a:t>
            </a:r>
            <a:r>
              <a:rPr lang="en-US" sz="2400" dirty="0" err="1"/>
              <a:t>x,y</a:t>
            </a:r>
            <a:r>
              <a:rPr lang="en-US" sz="2400" dirty="0"/>
              <a:t>; </a:t>
            </a:r>
            <a:r>
              <a:rPr lang="en-US" sz="2400" b="1" dirty="0"/>
              <a:t>float</a:t>
            </a:r>
            <a:r>
              <a:rPr lang="en-US" sz="2400" dirty="0"/>
              <a:t> z; demo()</a:t>
            </a:r>
          </a:p>
          <a:p>
            <a:pPr marL="0" indent="0">
              <a:buNone/>
            </a:pPr>
            <a:r>
              <a:rPr lang="en-US" sz="2400" dirty="0"/>
              <a:t>{ x=1; y=2; z=3;</a:t>
            </a:r>
          </a:p>
          <a:p>
            <a:pPr marL="0" indent="0">
              <a:buNone/>
            </a:pPr>
            <a:r>
              <a:rPr lang="en-US" sz="2400" dirty="0"/>
              <a:t>}</a:t>
            </a:r>
          </a:p>
          <a:p>
            <a:pPr marL="0" indent="0">
              <a:buNone/>
            </a:pPr>
            <a:r>
              <a:rPr lang="en-US" sz="2400" b="1" dirty="0"/>
              <a:t>void</a:t>
            </a:r>
            <a:r>
              <a:rPr lang="en-US" sz="2400" dirty="0"/>
              <a:t> display()</a:t>
            </a:r>
          </a:p>
          <a:p>
            <a:pPr marL="0" indent="0">
              <a:buNone/>
            </a:pPr>
            <a:r>
              <a:rPr lang="en-US" sz="2400" dirty="0"/>
              <a:t>{</a:t>
            </a:r>
          </a:p>
          <a:p>
            <a:pPr marL="0" indent="0">
              <a:buNone/>
            </a:pPr>
            <a:r>
              <a:rPr lang="en-US" sz="2400" dirty="0" err="1"/>
              <a:t>System.</a:t>
            </a:r>
            <a:r>
              <a:rPr lang="en-US" sz="2400" b="1" i="1" dirty="0" err="1"/>
              <a:t>out</a:t>
            </a:r>
            <a:r>
              <a:rPr lang="en-US" sz="2400" dirty="0" err="1"/>
              <a:t>.println</a:t>
            </a:r>
            <a:r>
              <a:rPr lang="en-US" sz="2400" dirty="0"/>
              <a:t>("Values of x, y and z are:"+x+" "+y+" "+z);</a:t>
            </a:r>
          </a:p>
          <a:p>
            <a:pPr marL="0" indent="0">
              <a:buNone/>
            </a:pPr>
            <a:r>
              <a:rPr lang="en-US" sz="2400" dirty="0"/>
              <a:t>}</a:t>
            </a:r>
          </a:p>
          <a:p>
            <a:pPr marL="0" indent="0">
              <a:buNone/>
            </a:pPr>
            <a:r>
              <a:rPr lang="en-US" sz="2400" dirty="0"/>
              <a:t>}</a:t>
            </a:r>
          </a:p>
          <a:p>
            <a:pPr marL="0" indent="0">
              <a:buNone/>
            </a:pPr>
            <a:r>
              <a:rPr lang="en-US" sz="2400" b="1" dirty="0"/>
              <a:t>public</a:t>
            </a:r>
            <a:r>
              <a:rPr lang="en-US" sz="2400" dirty="0"/>
              <a:t> </a:t>
            </a:r>
            <a:r>
              <a:rPr lang="en-US" sz="2400" b="1" dirty="0"/>
              <a:t>class</a:t>
            </a:r>
            <a:r>
              <a:rPr lang="en-US" sz="2400" dirty="0"/>
              <a:t> </a:t>
            </a:r>
            <a:r>
              <a:rPr lang="en-US" sz="2400" dirty="0" err="1"/>
              <a:t>Demomain</a:t>
            </a:r>
            <a:endParaRPr lang="en-US" sz="2400" dirty="0"/>
          </a:p>
          <a:p>
            <a:pPr marL="0" indent="0">
              <a:buNone/>
            </a:pPr>
            <a:r>
              <a:rPr lang="en-US" sz="2400" dirty="0"/>
              <a:t>{</a:t>
            </a:r>
          </a:p>
          <a:p>
            <a:pPr marL="0" indent="0">
              <a:buNone/>
            </a:pPr>
            <a:r>
              <a:rPr lang="en-US" sz="2400" b="1" dirty="0"/>
              <a:t>public</a:t>
            </a:r>
            <a:r>
              <a:rPr lang="en-US" sz="2400" dirty="0"/>
              <a:t> </a:t>
            </a:r>
            <a:r>
              <a:rPr lang="en-US" sz="2400" b="1" dirty="0"/>
              <a:t>static</a:t>
            </a:r>
            <a:r>
              <a:rPr lang="en-US" sz="2400" dirty="0"/>
              <a:t> </a:t>
            </a:r>
            <a:r>
              <a:rPr lang="en-US" sz="2400" b="1" dirty="0"/>
              <a:t>void</a:t>
            </a:r>
            <a:r>
              <a:rPr lang="en-US" sz="2400" dirty="0"/>
              <a:t> main(String </a:t>
            </a:r>
            <a:r>
              <a:rPr lang="en-US" sz="2400" dirty="0" err="1"/>
              <a:t>args</a:t>
            </a:r>
            <a:r>
              <a:rPr lang="en-US" sz="2400" dirty="0"/>
              <a:t>[])</a:t>
            </a:r>
          </a:p>
          <a:p>
            <a:pPr marL="0" indent="0">
              <a:buNone/>
            </a:pPr>
            <a:r>
              <a:rPr lang="en-US" sz="2400" dirty="0"/>
              <a:t>{</a:t>
            </a:r>
          </a:p>
          <a:p>
            <a:pPr marL="0" indent="0">
              <a:buNone/>
            </a:pPr>
            <a:r>
              <a:rPr lang="en-US" sz="2400" dirty="0"/>
              <a:t>demo d1=</a:t>
            </a:r>
            <a:r>
              <a:rPr lang="en-US" sz="2400" b="1" dirty="0"/>
              <a:t>new</a:t>
            </a:r>
            <a:r>
              <a:rPr lang="en-US" sz="2400" dirty="0"/>
              <a:t> demo(); // this is a call for the above default</a:t>
            </a:r>
          </a:p>
          <a:p>
            <a:pPr marL="0" indent="0">
              <a:buNone/>
            </a:pPr>
            <a:r>
              <a:rPr lang="en-US" sz="2400" dirty="0"/>
              <a:t>d1.display();</a:t>
            </a:r>
          </a:p>
          <a:p>
            <a:pPr marL="0" indent="0">
              <a:buNone/>
            </a:pPr>
            <a:r>
              <a:rPr lang="en-US" sz="2400" dirty="0"/>
              <a:t>}</a:t>
            </a:r>
          </a:p>
          <a:p>
            <a:pPr marL="0" indent="0">
              <a:buNone/>
            </a:pPr>
            <a:r>
              <a:rPr lang="en-US" sz="2400" dirty="0"/>
              <a:t>}</a:t>
            </a:r>
          </a:p>
        </p:txBody>
      </p:sp>
    </p:spTree>
    <p:extLst>
      <p:ext uri="{BB962C8B-B14F-4D97-AF65-F5344CB8AC3E}">
        <p14:creationId xmlns:p14="http://schemas.microsoft.com/office/powerpoint/2010/main" val="358530013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8A9E60-8422-DB37-6E57-EB9E647AA00C}"/>
              </a:ext>
            </a:extLst>
          </p:cNvPr>
          <p:cNvSpPr>
            <a:spLocks noGrp="1"/>
          </p:cNvSpPr>
          <p:nvPr>
            <p:ph idx="1"/>
          </p:nvPr>
        </p:nvSpPr>
        <p:spPr>
          <a:xfrm>
            <a:off x="457200" y="152400"/>
            <a:ext cx="8229600" cy="6705600"/>
          </a:xfrm>
        </p:spPr>
        <p:txBody>
          <a:bodyPr>
            <a:normAutofit fontScale="92500" lnSpcReduction="20000"/>
          </a:bodyPr>
          <a:lstStyle/>
          <a:p>
            <a:pPr marL="0" indent="0">
              <a:buNone/>
            </a:pPr>
            <a:r>
              <a:rPr lang="en-US" sz="2800" b="1" dirty="0">
                <a:solidFill>
                  <a:srgbClr val="FF0000"/>
                </a:solidFill>
                <a:latin typeface="Times New Roman" panose="02020603050405020304" pitchFamily="18" charset="0"/>
                <a:cs typeface="Times New Roman" panose="02020603050405020304" pitchFamily="18" charset="0"/>
              </a:rPr>
              <a:t>Parameterized constructor</a:t>
            </a:r>
            <a:r>
              <a:rPr lang="en-US" sz="2000" b="1"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A constructor that takes arguments as parameters is called as parameterized constructor </a:t>
            </a:r>
          </a:p>
          <a:p>
            <a:pPr marL="0" indent="0">
              <a:buNone/>
            </a:pPr>
            <a:r>
              <a:rPr lang="en-US" sz="2000" b="1" dirty="0">
                <a:latin typeface="Times New Roman" panose="02020603050405020304" pitchFamily="18" charset="0"/>
                <a:cs typeface="Times New Roman" panose="02020603050405020304" pitchFamily="18" charset="0"/>
              </a:rPr>
              <a:t>class</a:t>
            </a:r>
            <a:r>
              <a:rPr lang="en-US" sz="2000" dirty="0">
                <a:latin typeface="Times New Roman" panose="02020603050405020304" pitchFamily="18" charset="0"/>
                <a:cs typeface="Times New Roman" panose="02020603050405020304" pitchFamily="18" charset="0"/>
              </a:rPr>
              <a:t> demonstration</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x; </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y; </a:t>
            </a:r>
            <a:r>
              <a:rPr lang="en-US" sz="2000" b="1" dirty="0">
                <a:latin typeface="Times New Roman" panose="02020603050405020304" pitchFamily="18" charset="0"/>
                <a:cs typeface="Times New Roman" panose="02020603050405020304" pitchFamily="18" charset="0"/>
              </a:rPr>
              <a:t>float</a:t>
            </a:r>
            <a:r>
              <a:rPr lang="en-US" sz="2000" dirty="0">
                <a:latin typeface="Times New Roman" panose="02020603050405020304" pitchFamily="18" charset="0"/>
                <a:cs typeface="Times New Roman" panose="02020603050405020304" pitchFamily="18" charset="0"/>
              </a:rPr>
              <a:t> z;</a:t>
            </a:r>
          </a:p>
          <a:p>
            <a:pPr marL="0" indent="0">
              <a:buNone/>
            </a:pPr>
            <a:r>
              <a:rPr lang="en-US" sz="2000" dirty="0">
                <a:latin typeface="Times New Roman" panose="02020603050405020304" pitchFamily="18" charset="0"/>
                <a:cs typeface="Times New Roman" panose="02020603050405020304" pitchFamily="18" charset="0"/>
              </a:rPr>
              <a:t>demonstration(</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x1,</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y1,</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z1)</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x=x1; y=y1; z=z1;</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void</a:t>
            </a:r>
            <a:r>
              <a:rPr lang="en-US" sz="2000" dirty="0">
                <a:latin typeface="Times New Roman" panose="02020603050405020304" pitchFamily="18" charset="0"/>
                <a:cs typeface="Times New Roman" panose="02020603050405020304" pitchFamily="18" charset="0"/>
              </a:rPr>
              <a:t> display()</a:t>
            </a:r>
          </a:p>
          <a:p>
            <a:pPr marL="0" indent="0">
              <a:buNone/>
            </a:pP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System.</a:t>
            </a:r>
            <a:r>
              <a:rPr lang="en-US" sz="2000" b="1" i="1" dirty="0" err="1">
                <a:latin typeface="Times New Roman" panose="02020603050405020304" pitchFamily="18" charset="0"/>
                <a:cs typeface="Times New Roman" panose="02020603050405020304" pitchFamily="18" charset="0"/>
              </a:rPr>
              <a:t>out</a:t>
            </a:r>
            <a:r>
              <a:rPr lang="en-US" sz="2000" dirty="0" err="1">
                <a:latin typeface="Times New Roman" panose="02020603050405020304" pitchFamily="18" charset="0"/>
                <a:cs typeface="Times New Roman" panose="02020603050405020304" pitchFamily="18" charset="0"/>
              </a:rPr>
              <a:t>.println</a:t>
            </a:r>
            <a:r>
              <a:rPr lang="en-US" sz="2000" dirty="0">
                <a:latin typeface="Times New Roman" panose="02020603050405020304" pitchFamily="18" charset="0"/>
                <a:cs typeface="Times New Roman" panose="02020603050405020304" pitchFamily="18" charset="0"/>
              </a:rPr>
              <a:t>("Values of x, y and z are:"+x+" "+y+" "+z);</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class</a:t>
            </a:r>
            <a:r>
              <a:rPr lang="en-US" sz="2000" dirty="0">
                <a:latin typeface="Times New Roman" panose="02020603050405020304" pitchFamily="18" charset="0"/>
                <a:cs typeface="Times New Roman" panose="02020603050405020304" pitchFamily="18" charset="0"/>
              </a:rPr>
              <a:t> Demomain1</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public</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static</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void</a:t>
            </a:r>
            <a:r>
              <a:rPr lang="en-US" sz="2000" dirty="0">
                <a:latin typeface="Times New Roman" panose="02020603050405020304" pitchFamily="18" charset="0"/>
                <a:cs typeface="Times New Roman" panose="02020603050405020304" pitchFamily="18" charset="0"/>
              </a:rPr>
              <a:t>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demonstration d1=</a:t>
            </a:r>
            <a:r>
              <a:rPr lang="en-US" sz="2000" b="1" dirty="0">
                <a:latin typeface="Times New Roman" panose="02020603050405020304" pitchFamily="18" charset="0"/>
                <a:cs typeface="Times New Roman" panose="02020603050405020304" pitchFamily="18" charset="0"/>
              </a:rPr>
              <a:t>new</a:t>
            </a:r>
            <a:r>
              <a:rPr lang="en-US" sz="2000" dirty="0">
                <a:latin typeface="Times New Roman" panose="02020603050405020304" pitchFamily="18" charset="0"/>
                <a:cs typeface="Times New Roman" panose="02020603050405020304" pitchFamily="18" charset="0"/>
              </a:rPr>
              <a:t> demonstration(1,2,3); </a:t>
            </a:r>
          </a:p>
          <a:p>
            <a:pPr marL="0" indent="0">
              <a:buNone/>
            </a:pPr>
            <a:r>
              <a:rPr lang="en-US" sz="2000" dirty="0">
                <a:latin typeface="Times New Roman" panose="02020603050405020304" pitchFamily="18" charset="0"/>
                <a:cs typeface="Times New Roman" panose="02020603050405020304" pitchFamily="18" charset="0"/>
              </a:rPr>
              <a:t>// this is a call for the above parameterized constructor</a:t>
            </a:r>
          </a:p>
          <a:p>
            <a:pPr marL="0" indent="0">
              <a:buNone/>
            </a:pPr>
            <a:r>
              <a:rPr lang="en-US" sz="2000" dirty="0">
                <a:latin typeface="Times New Roman" panose="02020603050405020304" pitchFamily="18" charset="0"/>
                <a:cs typeface="Times New Roman" panose="02020603050405020304" pitchFamily="18" charset="0"/>
              </a:rPr>
              <a:t>d1.display();</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557190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C55A0A6-3FD2-2C8D-0FCB-A3E9FEB5DCF5}"/>
              </a:ext>
            </a:extLst>
          </p:cNvPr>
          <p:cNvSpPr>
            <a:spLocks noGrp="1"/>
          </p:cNvSpPr>
          <p:nvPr>
            <p:ph idx="1"/>
          </p:nvPr>
        </p:nvSpPr>
        <p:spPr>
          <a:xfrm>
            <a:off x="0" y="0"/>
            <a:ext cx="9144000" cy="6858000"/>
          </a:xfrm>
        </p:spPr>
        <p:txBody>
          <a:bodyPr>
            <a:normAutofit fontScale="55000" lnSpcReduction="20000"/>
          </a:bodyPr>
          <a:lstStyle/>
          <a:p>
            <a:pPr marL="0" indent="0">
              <a:buNone/>
            </a:pPr>
            <a:r>
              <a:rPr lang="en-US" sz="3300" b="1" dirty="0">
                <a:solidFill>
                  <a:srgbClr val="FF0000"/>
                </a:solidFill>
                <a:latin typeface="Times New Roman" panose="02020603050405020304" pitchFamily="18" charset="0"/>
                <a:cs typeface="Times New Roman" panose="02020603050405020304" pitchFamily="18" charset="0"/>
              </a:rPr>
              <a:t>Constructor Overloading </a:t>
            </a:r>
            <a:r>
              <a:rPr lang="en-US" sz="2900" b="1" dirty="0">
                <a:latin typeface="Times New Roman" panose="02020603050405020304" pitchFamily="18" charset="0"/>
                <a:cs typeface="Times New Roman" panose="02020603050405020304" pitchFamily="18" charset="0"/>
              </a:rPr>
              <a:t>-</a:t>
            </a:r>
            <a:r>
              <a:rPr lang="en-US" sz="3600" dirty="0">
                <a:latin typeface="Times New Roman" panose="02020603050405020304" pitchFamily="18" charset="0"/>
                <a:cs typeface="Times New Roman" panose="02020603050405020304" pitchFamily="18" charset="0"/>
              </a:rPr>
              <a:t>A class can have multiple constructors with different parameter lists.</a:t>
            </a:r>
            <a:endParaRPr lang="en-US" sz="2900" dirty="0">
              <a:latin typeface="Times New Roman" panose="02020603050405020304" pitchFamily="18" charset="0"/>
              <a:cs typeface="Times New Roman" panose="02020603050405020304" pitchFamily="18" charset="0"/>
            </a:endParaRPr>
          </a:p>
          <a:p>
            <a:pPr marL="0" indent="0">
              <a:buNone/>
            </a:pPr>
            <a:r>
              <a:rPr lang="en-US" sz="3800" b="1" dirty="0">
                <a:latin typeface="Times New Roman" panose="02020603050405020304" pitchFamily="18" charset="0"/>
                <a:cs typeface="Times New Roman" panose="02020603050405020304" pitchFamily="18" charset="0"/>
              </a:rPr>
              <a:t>class</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a:t>
            </a:r>
          </a:p>
          <a:p>
            <a:pPr marL="0" indent="0">
              <a:buNone/>
            </a:pPr>
            <a:r>
              <a:rPr lang="en-US" sz="3800" b="1" dirty="0">
                <a:latin typeface="Times New Roman" panose="02020603050405020304" pitchFamily="18" charset="0"/>
                <a:cs typeface="Times New Roman" panose="02020603050405020304" pitchFamily="18" charset="0"/>
              </a:rPr>
              <a:t>int</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a:t>
            </a:r>
          </a:p>
          <a:p>
            <a:pPr marL="0" indent="0">
              <a:buNone/>
            </a:pPr>
            <a:r>
              <a:rPr lang="en-US" sz="3800" dirty="0">
                <a:latin typeface="Times New Roman" panose="02020603050405020304" pitchFamily="18" charset="0"/>
                <a:cs typeface="Times New Roman" panose="02020603050405020304" pitchFamily="18" charset="0"/>
              </a:rPr>
              <a:t>String name;</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a:t>
            </a:r>
          </a:p>
          <a:p>
            <a:pPr marL="0" indent="0">
              <a:buNone/>
            </a:pP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 = 0;</a:t>
            </a:r>
          </a:p>
          <a:p>
            <a:pPr marL="0" indent="0">
              <a:buNone/>
            </a:pPr>
            <a:r>
              <a:rPr lang="en-US" sz="3800" dirty="0">
                <a:latin typeface="Times New Roman" panose="02020603050405020304" pitchFamily="18" charset="0"/>
                <a:cs typeface="Times New Roman" panose="02020603050405020304" pitchFamily="18" charset="0"/>
              </a:rPr>
              <a:t>name = "Unknown"; }</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a:t>
            </a:r>
            <a:r>
              <a:rPr lang="en-US" sz="3800" b="1" dirty="0">
                <a:latin typeface="Times New Roman" panose="02020603050405020304" pitchFamily="18" charset="0"/>
                <a:cs typeface="Times New Roman" panose="02020603050405020304" pitchFamily="18" charset="0"/>
              </a:rPr>
              <a:t>int</a:t>
            </a:r>
            <a:r>
              <a:rPr lang="en-US" sz="3800" dirty="0">
                <a:latin typeface="Times New Roman" panose="02020603050405020304" pitchFamily="18" charset="0"/>
                <a:cs typeface="Times New Roman" panose="02020603050405020304" pitchFamily="18" charset="0"/>
              </a:rPr>
              <a:t> r, String n) {</a:t>
            </a:r>
          </a:p>
          <a:p>
            <a:pPr marL="0" indent="0">
              <a:buNone/>
            </a:pP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 = r;</a:t>
            </a:r>
          </a:p>
          <a:p>
            <a:pPr marL="0" indent="0">
              <a:buNone/>
            </a:pPr>
            <a:r>
              <a:rPr lang="en-US" sz="3800" dirty="0">
                <a:latin typeface="Times New Roman" panose="02020603050405020304" pitchFamily="18" charset="0"/>
                <a:cs typeface="Times New Roman" panose="02020603050405020304" pitchFamily="18" charset="0"/>
              </a:rPr>
              <a:t>name = n; }</a:t>
            </a:r>
          </a:p>
          <a:p>
            <a:pPr marL="0" indent="0">
              <a:buNone/>
            </a:pPr>
            <a:r>
              <a:rPr lang="en-US" sz="3800" b="1" dirty="0">
                <a:latin typeface="Times New Roman" panose="02020603050405020304" pitchFamily="18" charset="0"/>
                <a:cs typeface="Times New Roman" panose="02020603050405020304" pitchFamily="18" charset="0"/>
              </a:rPr>
              <a:t>void</a:t>
            </a:r>
            <a:r>
              <a:rPr lang="en-US" sz="3800" dirty="0">
                <a:latin typeface="Times New Roman" panose="02020603050405020304" pitchFamily="18" charset="0"/>
                <a:cs typeface="Times New Roman" panose="02020603050405020304" pitchFamily="18" charset="0"/>
              </a:rPr>
              <a:t> display() {</a:t>
            </a:r>
          </a:p>
          <a:p>
            <a:pPr marL="0" indent="0">
              <a:buNone/>
            </a:pPr>
            <a:r>
              <a:rPr lang="en-US" sz="3800" dirty="0" err="1">
                <a:latin typeface="Times New Roman" panose="02020603050405020304" pitchFamily="18" charset="0"/>
                <a:cs typeface="Times New Roman" panose="02020603050405020304" pitchFamily="18" charset="0"/>
              </a:rPr>
              <a:t>System.</a:t>
            </a:r>
            <a:r>
              <a:rPr lang="en-US" sz="3800" b="1" i="1" dirty="0" err="1">
                <a:latin typeface="Times New Roman" panose="02020603050405020304" pitchFamily="18" charset="0"/>
                <a:cs typeface="Times New Roman" panose="02020603050405020304" pitchFamily="18" charset="0"/>
              </a:rPr>
              <a:t>out</a:t>
            </a:r>
            <a:r>
              <a:rPr lang="en-US" sz="3800" dirty="0" err="1">
                <a:latin typeface="Times New Roman" panose="02020603050405020304" pitchFamily="18" charset="0"/>
                <a:cs typeface="Times New Roman" panose="02020603050405020304" pitchFamily="18" charset="0"/>
              </a:rPr>
              <a:t>.println</a:t>
            </a:r>
            <a:r>
              <a:rPr lang="en-US" sz="3800" dirty="0">
                <a:latin typeface="Times New Roman" panose="02020603050405020304" pitchFamily="18" charset="0"/>
                <a:cs typeface="Times New Roman" panose="02020603050405020304" pitchFamily="18" charset="0"/>
              </a:rPr>
              <a:t>(</a:t>
            </a: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 + " " + name); }</a:t>
            </a:r>
          </a:p>
          <a:p>
            <a:pPr marL="0" indent="0">
              <a:buNone/>
            </a:pPr>
            <a:r>
              <a:rPr lang="en-US" sz="3800" dirty="0">
                <a:latin typeface="Times New Roman" panose="02020603050405020304" pitchFamily="18" charset="0"/>
                <a:cs typeface="Times New Roman" panose="02020603050405020304" pitchFamily="18" charset="0"/>
              </a:rPr>
              <a:t>}</a:t>
            </a:r>
          </a:p>
          <a:p>
            <a:pPr marL="0" indent="0">
              <a:buNone/>
            </a:pPr>
            <a:r>
              <a:rPr lang="en-US" sz="3800" b="1" dirty="0">
                <a:latin typeface="Times New Roman" panose="02020603050405020304" pitchFamily="18" charset="0"/>
                <a:cs typeface="Times New Roman" panose="02020603050405020304" pitchFamily="18" charset="0"/>
              </a:rPr>
              <a:t>public</a:t>
            </a:r>
            <a:r>
              <a:rPr lang="en-US" sz="3800" dirty="0">
                <a:latin typeface="Times New Roman" panose="02020603050405020304" pitchFamily="18" charset="0"/>
                <a:cs typeface="Times New Roman" panose="02020603050405020304" pitchFamily="18" charset="0"/>
              </a:rPr>
              <a:t> </a:t>
            </a:r>
            <a:r>
              <a:rPr lang="en-US" sz="3800" b="1" dirty="0">
                <a:latin typeface="Times New Roman" panose="02020603050405020304" pitchFamily="18" charset="0"/>
                <a:cs typeface="Times New Roman" panose="02020603050405020304" pitchFamily="18" charset="0"/>
              </a:rPr>
              <a:t>class</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ConstructorOverloadingDemo</a:t>
            </a:r>
            <a:r>
              <a:rPr lang="en-US" sz="3800" dirty="0">
                <a:latin typeface="Times New Roman" panose="02020603050405020304" pitchFamily="18" charset="0"/>
                <a:cs typeface="Times New Roman" panose="02020603050405020304" pitchFamily="18" charset="0"/>
              </a:rPr>
              <a:t> {</a:t>
            </a:r>
          </a:p>
          <a:p>
            <a:pPr marL="0" indent="0">
              <a:buNone/>
            </a:pPr>
            <a:r>
              <a:rPr lang="en-US" sz="3800" b="1" dirty="0">
                <a:latin typeface="Times New Roman" panose="02020603050405020304" pitchFamily="18" charset="0"/>
                <a:cs typeface="Times New Roman" panose="02020603050405020304" pitchFamily="18" charset="0"/>
              </a:rPr>
              <a:t>public</a:t>
            </a:r>
            <a:r>
              <a:rPr lang="en-US" sz="3800" dirty="0">
                <a:latin typeface="Times New Roman" panose="02020603050405020304" pitchFamily="18" charset="0"/>
                <a:cs typeface="Times New Roman" panose="02020603050405020304" pitchFamily="18" charset="0"/>
              </a:rPr>
              <a:t> </a:t>
            </a:r>
            <a:r>
              <a:rPr lang="en-US" sz="3800" b="1" dirty="0">
                <a:latin typeface="Times New Roman" panose="02020603050405020304" pitchFamily="18" charset="0"/>
                <a:cs typeface="Times New Roman" panose="02020603050405020304" pitchFamily="18" charset="0"/>
              </a:rPr>
              <a:t>static</a:t>
            </a:r>
            <a:r>
              <a:rPr lang="en-US" sz="3800" dirty="0">
                <a:latin typeface="Times New Roman" panose="02020603050405020304" pitchFamily="18" charset="0"/>
                <a:cs typeface="Times New Roman" panose="02020603050405020304" pitchFamily="18" charset="0"/>
              </a:rPr>
              <a:t> </a:t>
            </a:r>
            <a:r>
              <a:rPr lang="en-US" sz="3800" b="1" dirty="0">
                <a:latin typeface="Times New Roman" panose="02020603050405020304" pitchFamily="18" charset="0"/>
                <a:cs typeface="Times New Roman" panose="02020603050405020304" pitchFamily="18" charset="0"/>
              </a:rPr>
              <a:t>void</a:t>
            </a:r>
            <a:r>
              <a:rPr lang="en-US" sz="3800" dirty="0">
                <a:latin typeface="Times New Roman" panose="02020603050405020304" pitchFamily="18" charset="0"/>
                <a:cs typeface="Times New Roman" panose="02020603050405020304" pitchFamily="18" charset="0"/>
              </a:rPr>
              <a:t> main(String[] </a:t>
            </a:r>
            <a:r>
              <a:rPr lang="en-US" sz="3800" dirty="0" err="1">
                <a:latin typeface="Times New Roman" panose="02020603050405020304" pitchFamily="18" charset="0"/>
                <a:cs typeface="Times New Roman" panose="02020603050405020304" pitchFamily="18" charset="0"/>
              </a:rPr>
              <a:t>args</a:t>
            </a:r>
            <a:r>
              <a:rPr lang="en-US" sz="3800" dirty="0">
                <a:latin typeface="Times New Roman" panose="02020603050405020304" pitchFamily="18" charset="0"/>
                <a:cs typeface="Times New Roman" panose="02020603050405020304" pitchFamily="18" charset="0"/>
              </a:rPr>
              <a:t>) {</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s1 = </a:t>
            </a:r>
            <a:r>
              <a:rPr lang="en-US" sz="3800" b="1" dirty="0">
                <a:latin typeface="Times New Roman" panose="02020603050405020304" pitchFamily="18" charset="0"/>
                <a:cs typeface="Times New Roman" panose="02020603050405020304" pitchFamily="18" charset="0"/>
              </a:rPr>
              <a:t>new</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s2 = </a:t>
            </a:r>
            <a:r>
              <a:rPr lang="en-US" sz="3800" b="1" dirty="0">
                <a:latin typeface="Times New Roman" panose="02020603050405020304" pitchFamily="18" charset="0"/>
                <a:cs typeface="Times New Roman" panose="02020603050405020304" pitchFamily="18" charset="0"/>
              </a:rPr>
              <a:t>new</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(101, "Rahul");</a:t>
            </a:r>
          </a:p>
          <a:p>
            <a:pPr marL="0" indent="0">
              <a:buNone/>
            </a:pPr>
            <a:r>
              <a:rPr lang="en-US" sz="3800" dirty="0">
                <a:latin typeface="Times New Roman" panose="02020603050405020304" pitchFamily="18" charset="0"/>
                <a:cs typeface="Times New Roman" panose="02020603050405020304" pitchFamily="18" charset="0"/>
              </a:rPr>
              <a:t>s1.display();</a:t>
            </a:r>
          </a:p>
          <a:p>
            <a:pPr marL="0" indent="0">
              <a:buNone/>
            </a:pPr>
            <a:r>
              <a:rPr lang="en-US" sz="3800" dirty="0">
                <a:latin typeface="Times New Roman" panose="02020603050405020304" pitchFamily="18" charset="0"/>
                <a:cs typeface="Times New Roman" panose="02020603050405020304" pitchFamily="18" charset="0"/>
              </a:rPr>
              <a:t>s2.display(); }</a:t>
            </a:r>
          </a:p>
          <a:p>
            <a:pPr marL="0" indent="0">
              <a:buNone/>
            </a:pPr>
            <a:r>
              <a:rPr lang="en-US" sz="3800" dirty="0">
                <a:latin typeface="Times New Roman" panose="02020603050405020304" pitchFamily="18" charset="0"/>
                <a:cs typeface="Times New Roman" panose="02020603050405020304" pitchFamily="18" charset="0"/>
              </a:rPr>
              <a:t>}</a:t>
            </a:r>
          </a:p>
          <a:p>
            <a:pPr marL="0" indent="0">
              <a:buNone/>
            </a:pP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6063758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7B01D-6F70-9501-6CD3-677AC1E04AD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859E61F-B17B-843F-4347-0C9DF9347A54}"/>
              </a:ext>
            </a:extLst>
          </p:cNvPr>
          <p:cNvSpPr>
            <a:spLocks noGrp="1"/>
          </p:cNvSpPr>
          <p:nvPr>
            <p:ph idx="1"/>
          </p:nvPr>
        </p:nvSpPr>
        <p:spPr>
          <a:xfrm>
            <a:off x="457200" y="152400"/>
            <a:ext cx="8229600" cy="6705600"/>
          </a:xfrm>
        </p:spPr>
        <p:txBody>
          <a:bodyPr>
            <a:normAutofit lnSpcReduction="10000"/>
          </a:bodyPr>
          <a:lstStyle/>
          <a:p>
            <a:pPr marL="0" indent="0">
              <a:buNone/>
            </a:pPr>
            <a:r>
              <a:rPr lang="en-US" sz="1800" b="1" dirty="0"/>
              <a:t>class</a:t>
            </a:r>
            <a:r>
              <a:rPr lang="en-US" sz="1800" dirty="0"/>
              <a:t> Student2 {</a:t>
            </a:r>
          </a:p>
          <a:p>
            <a:pPr marL="0" indent="0">
              <a:buNone/>
            </a:pPr>
            <a:r>
              <a:rPr lang="en-US" sz="1800" b="1" dirty="0"/>
              <a:t>int</a:t>
            </a:r>
            <a:r>
              <a:rPr lang="en-US" sz="1800" dirty="0"/>
              <a:t> id;</a:t>
            </a:r>
          </a:p>
          <a:p>
            <a:pPr marL="0" indent="0">
              <a:buNone/>
            </a:pPr>
            <a:r>
              <a:rPr lang="en-US" sz="1800" dirty="0"/>
              <a:t>String name;</a:t>
            </a:r>
          </a:p>
          <a:p>
            <a:pPr marL="0" indent="0">
              <a:buNone/>
            </a:pPr>
            <a:r>
              <a:rPr lang="en-US" sz="1800" b="1" dirty="0"/>
              <a:t>double</a:t>
            </a:r>
            <a:r>
              <a:rPr lang="en-US" sz="1800" dirty="0"/>
              <a:t> marks;</a:t>
            </a:r>
          </a:p>
          <a:p>
            <a:pPr marL="0" indent="0">
              <a:buNone/>
            </a:pPr>
            <a:r>
              <a:rPr lang="en-US" sz="1800" b="1" dirty="0">
                <a:solidFill>
                  <a:srgbClr val="FF0000"/>
                </a:solidFill>
              </a:rPr>
              <a:t>// Default Constructor</a:t>
            </a:r>
          </a:p>
          <a:p>
            <a:pPr marL="0" indent="0">
              <a:buNone/>
            </a:pPr>
            <a:r>
              <a:rPr lang="en-US" sz="1800" dirty="0"/>
              <a:t>Student2() {</a:t>
            </a:r>
          </a:p>
          <a:p>
            <a:pPr marL="0" indent="0">
              <a:buNone/>
            </a:pPr>
            <a:r>
              <a:rPr lang="en-US" sz="1800" dirty="0"/>
              <a:t>id = 0;</a:t>
            </a:r>
          </a:p>
          <a:p>
            <a:pPr marL="0" indent="0">
              <a:buNone/>
            </a:pPr>
            <a:r>
              <a:rPr lang="en-US" sz="1800" dirty="0"/>
              <a:t>name = "Unknown";</a:t>
            </a:r>
          </a:p>
          <a:p>
            <a:pPr marL="0" indent="0">
              <a:buNone/>
            </a:pPr>
            <a:r>
              <a:rPr lang="en-US" sz="1800" dirty="0"/>
              <a:t>marks = 0.0;</a:t>
            </a:r>
          </a:p>
          <a:p>
            <a:pPr marL="0" indent="0">
              <a:buNone/>
            </a:pPr>
            <a:r>
              <a:rPr lang="en-US" sz="1800" dirty="0"/>
              <a:t>}</a:t>
            </a:r>
          </a:p>
          <a:p>
            <a:pPr marL="0" indent="0">
              <a:buNone/>
            </a:pPr>
            <a:r>
              <a:rPr lang="en-US" sz="1800" b="1" dirty="0">
                <a:solidFill>
                  <a:srgbClr val="FF0000"/>
                </a:solidFill>
              </a:rPr>
              <a:t>// Constructor with two parameters</a:t>
            </a:r>
          </a:p>
          <a:p>
            <a:pPr marL="0" indent="0">
              <a:buNone/>
            </a:pPr>
            <a:r>
              <a:rPr lang="en-US" sz="1800" dirty="0"/>
              <a:t>Student2(</a:t>
            </a:r>
            <a:r>
              <a:rPr lang="en-US" sz="1800" b="1" dirty="0"/>
              <a:t>int</a:t>
            </a:r>
            <a:r>
              <a:rPr lang="en-US" sz="1800" dirty="0"/>
              <a:t> </a:t>
            </a:r>
            <a:r>
              <a:rPr lang="en-US" sz="1800" dirty="0" err="1"/>
              <a:t>i</a:t>
            </a:r>
            <a:r>
              <a:rPr lang="en-US" sz="1800" dirty="0"/>
              <a:t>, String n) {</a:t>
            </a:r>
          </a:p>
          <a:p>
            <a:pPr marL="0" indent="0">
              <a:buNone/>
            </a:pPr>
            <a:r>
              <a:rPr lang="en-US" sz="1800" dirty="0"/>
              <a:t>id = </a:t>
            </a:r>
            <a:r>
              <a:rPr lang="en-US" sz="1800" dirty="0" err="1"/>
              <a:t>i</a:t>
            </a:r>
            <a:r>
              <a:rPr lang="en-US" sz="1800" dirty="0"/>
              <a:t>;</a:t>
            </a:r>
          </a:p>
          <a:p>
            <a:pPr marL="0" indent="0">
              <a:buNone/>
            </a:pPr>
            <a:r>
              <a:rPr lang="en-US" sz="1800" dirty="0"/>
              <a:t>name = n;</a:t>
            </a:r>
          </a:p>
          <a:p>
            <a:pPr marL="0" indent="0">
              <a:buNone/>
            </a:pPr>
            <a:r>
              <a:rPr lang="en-US" sz="1800" dirty="0"/>
              <a:t>marks = 0.0;</a:t>
            </a:r>
          </a:p>
          <a:p>
            <a:pPr marL="0" indent="0">
              <a:buNone/>
            </a:pPr>
            <a:r>
              <a:rPr lang="en-US" sz="1800" dirty="0"/>
              <a:t>}</a:t>
            </a:r>
          </a:p>
          <a:p>
            <a:pPr marL="0" indent="0">
              <a:buNone/>
            </a:pPr>
            <a:r>
              <a:rPr lang="en-US" sz="1800" b="1" dirty="0">
                <a:solidFill>
                  <a:srgbClr val="FF0000"/>
                </a:solidFill>
              </a:rPr>
              <a:t>// Constructor with three parameters</a:t>
            </a:r>
          </a:p>
          <a:p>
            <a:pPr marL="0" indent="0">
              <a:buNone/>
            </a:pPr>
            <a:r>
              <a:rPr lang="en-US" sz="1800" dirty="0"/>
              <a:t>Student2(</a:t>
            </a:r>
            <a:r>
              <a:rPr lang="en-US" sz="1800" b="1" dirty="0"/>
              <a:t>int</a:t>
            </a:r>
            <a:r>
              <a:rPr lang="en-US" sz="1800" dirty="0"/>
              <a:t> </a:t>
            </a:r>
            <a:r>
              <a:rPr lang="en-US" sz="1800" dirty="0" err="1"/>
              <a:t>i</a:t>
            </a:r>
            <a:r>
              <a:rPr lang="en-US" sz="1800" dirty="0"/>
              <a:t>, String n, </a:t>
            </a:r>
            <a:r>
              <a:rPr lang="en-US" sz="1800" b="1" dirty="0"/>
              <a:t>double</a:t>
            </a:r>
            <a:r>
              <a:rPr lang="en-US" sz="1800" dirty="0"/>
              <a:t> m) {</a:t>
            </a:r>
          </a:p>
          <a:p>
            <a:pPr marL="0" indent="0">
              <a:buNone/>
            </a:pPr>
            <a:r>
              <a:rPr lang="en-US" sz="1800" dirty="0"/>
              <a:t>id = </a:t>
            </a:r>
            <a:r>
              <a:rPr lang="en-US" sz="1800" dirty="0" err="1"/>
              <a:t>i</a:t>
            </a:r>
            <a:r>
              <a:rPr lang="en-US" sz="1800" dirty="0"/>
              <a:t>;</a:t>
            </a:r>
          </a:p>
          <a:p>
            <a:pPr marL="0" indent="0">
              <a:buNone/>
            </a:pPr>
            <a:r>
              <a:rPr lang="en-US" sz="1800" dirty="0"/>
              <a:t>name = n;</a:t>
            </a:r>
          </a:p>
          <a:p>
            <a:pPr marL="0" indent="0">
              <a:buNone/>
            </a:pPr>
            <a:r>
              <a:rPr lang="en-US" sz="1800" dirty="0"/>
              <a:t>marks = m;</a:t>
            </a:r>
          </a:p>
          <a:p>
            <a:pPr marL="0" indent="0">
              <a:buNone/>
            </a:pPr>
            <a:r>
              <a:rPr lang="en-US" sz="1800" dirty="0"/>
              <a:t>}</a:t>
            </a:r>
          </a:p>
        </p:txBody>
      </p:sp>
    </p:spTree>
    <p:extLst>
      <p:ext uri="{BB962C8B-B14F-4D97-AF65-F5344CB8AC3E}">
        <p14:creationId xmlns:p14="http://schemas.microsoft.com/office/powerpoint/2010/main" val="198606624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CF543-5321-FCB8-ADF9-A45EE9351432}"/>
              </a:ext>
            </a:extLst>
          </p:cNvPr>
          <p:cNvSpPr>
            <a:spLocks noGrp="1"/>
          </p:cNvSpPr>
          <p:nvPr>
            <p:ph idx="1"/>
          </p:nvPr>
        </p:nvSpPr>
        <p:spPr>
          <a:xfrm>
            <a:off x="457200" y="0"/>
            <a:ext cx="8229600" cy="6858000"/>
          </a:xfrm>
        </p:spPr>
        <p:txBody>
          <a:bodyPr>
            <a:normAutofit fontScale="92500" lnSpcReduction="20000"/>
          </a:bodyPr>
          <a:lstStyle/>
          <a:p>
            <a:pPr marL="0" indent="0">
              <a:lnSpc>
                <a:spcPct val="120000"/>
              </a:lnSpc>
              <a:buNone/>
            </a:pPr>
            <a:r>
              <a:rPr lang="en-US" sz="1800" b="1" dirty="0">
                <a:solidFill>
                  <a:srgbClr val="FF0000"/>
                </a:solidFill>
                <a:latin typeface="Times New Roman" panose="02020603050405020304" pitchFamily="18" charset="0"/>
                <a:cs typeface="Times New Roman" panose="02020603050405020304" pitchFamily="18" charset="0"/>
              </a:rPr>
              <a:t>// Method to display student details</a:t>
            </a:r>
          </a:p>
          <a:p>
            <a:pPr marL="0" indent="0">
              <a:lnSpc>
                <a:spcPct val="120000"/>
              </a:lnSpc>
              <a:buNone/>
            </a:pPr>
            <a:r>
              <a:rPr lang="en-US" sz="1800" b="1" dirty="0">
                <a:latin typeface="Times New Roman" panose="02020603050405020304" pitchFamily="18" charset="0"/>
                <a:cs typeface="Times New Roman" panose="02020603050405020304" pitchFamily="18" charset="0"/>
              </a:rPr>
              <a:t>void</a:t>
            </a:r>
            <a:r>
              <a:rPr lang="en-US" sz="1800" dirty="0">
                <a:latin typeface="Times New Roman" panose="02020603050405020304" pitchFamily="18" charset="0"/>
                <a:cs typeface="Times New Roman" panose="02020603050405020304" pitchFamily="18" charset="0"/>
              </a:rPr>
              <a:t> display() {</a:t>
            </a:r>
          </a:p>
          <a:p>
            <a:pPr marL="0" indent="0">
              <a:lnSpc>
                <a:spcPct val="120000"/>
              </a:lnSpc>
              <a:buNone/>
            </a:pPr>
            <a:r>
              <a:rPr lang="en-US" sz="1800" dirty="0" err="1">
                <a:latin typeface="Times New Roman" panose="02020603050405020304" pitchFamily="18" charset="0"/>
                <a:cs typeface="Times New Roman" panose="02020603050405020304" pitchFamily="18" charset="0"/>
              </a:rPr>
              <a:t>System.</a:t>
            </a:r>
            <a:r>
              <a:rPr lang="en-US" sz="1800" b="1" i="1" dirty="0" err="1">
                <a:latin typeface="Times New Roman" panose="02020603050405020304" pitchFamily="18" charset="0"/>
                <a:cs typeface="Times New Roman" panose="02020603050405020304" pitchFamily="18" charset="0"/>
              </a:rPr>
              <a:t>out</a:t>
            </a:r>
            <a:r>
              <a:rPr lang="en-US" sz="1800" dirty="0" err="1">
                <a:latin typeface="Times New Roman" panose="02020603050405020304" pitchFamily="18" charset="0"/>
                <a:cs typeface="Times New Roman" panose="02020603050405020304" pitchFamily="18" charset="0"/>
              </a:rPr>
              <a:t>.println</a:t>
            </a:r>
            <a:r>
              <a:rPr lang="en-US" sz="1800" dirty="0">
                <a:latin typeface="Times New Roman" panose="02020603050405020304" pitchFamily="18" charset="0"/>
                <a:cs typeface="Times New Roman" panose="02020603050405020304" pitchFamily="18" charset="0"/>
              </a:rPr>
              <a:t>("ID : " + id);</a:t>
            </a:r>
          </a:p>
          <a:p>
            <a:pPr marL="0" indent="0">
              <a:lnSpc>
                <a:spcPct val="120000"/>
              </a:lnSpc>
              <a:buNone/>
            </a:pPr>
            <a:r>
              <a:rPr lang="en-US" sz="1800" dirty="0" err="1">
                <a:latin typeface="Times New Roman" panose="02020603050405020304" pitchFamily="18" charset="0"/>
                <a:cs typeface="Times New Roman" panose="02020603050405020304" pitchFamily="18" charset="0"/>
              </a:rPr>
              <a:t>System.</a:t>
            </a:r>
            <a:r>
              <a:rPr lang="en-US" sz="1800" b="1" i="1" dirty="0" err="1">
                <a:latin typeface="Times New Roman" panose="02020603050405020304" pitchFamily="18" charset="0"/>
                <a:cs typeface="Times New Roman" panose="02020603050405020304" pitchFamily="18" charset="0"/>
              </a:rPr>
              <a:t>out</a:t>
            </a:r>
            <a:r>
              <a:rPr lang="en-US" sz="1800" dirty="0" err="1">
                <a:latin typeface="Times New Roman" panose="02020603050405020304" pitchFamily="18" charset="0"/>
                <a:cs typeface="Times New Roman" panose="02020603050405020304" pitchFamily="18" charset="0"/>
              </a:rPr>
              <a:t>.println</a:t>
            </a:r>
            <a:r>
              <a:rPr lang="en-US" sz="1800" dirty="0">
                <a:latin typeface="Times New Roman" panose="02020603050405020304" pitchFamily="18" charset="0"/>
                <a:cs typeface="Times New Roman" panose="02020603050405020304" pitchFamily="18" charset="0"/>
              </a:rPr>
              <a:t>("Name : " + name);</a:t>
            </a:r>
          </a:p>
          <a:p>
            <a:pPr marL="0" indent="0">
              <a:lnSpc>
                <a:spcPct val="120000"/>
              </a:lnSpc>
              <a:buNone/>
            </a:pPr>
            <a:r>
              <a:rPr lang="en-US" sz="1800" dirty="0" err="1">
                <a:latin typeface="Times New Roman" panose="02020603050405020304" pitchFamily="18" charset="0"/>
                <a:cs typeface="Times New Roman" panose="02020603050405020304" pitchFamily="18" charset="0"/>
              </a:rPr>
              <a:t>System.</a:t>
            </a:r>
            <a:r>
              <a:rPr lang="en-US" sz="1800" b="1" i="1" dirty="0" err="1">
                <a:latin typeface="Times New Roman" panose="02020603050405020304" pitchFamily="18" charset="0"/>
                <a:cs typeface="Times New Roman" panose="02020603050405020304" pitchFamily="18" charset="0"/>
              </a:rPr>
              <a:t>out</a:t>
            </a:r>
            <a:r>
              <a:rPr lang="en-US" sz="1800" dirty="0" err="1">
                <a:latin typeface="Times New Roman" panose="02020603050405020304" pitchFamily="18" charset="0"/>
                <a:cs typeface="Times New Roman" panose="02020603050405020304" pitchFamily="18" charset="0"/>
              </a:rPr>
              <a:t>.println</a:t>
            </a:r>
            <a:r>
              <a:rPr lang="en-US" sz="1800" dirty="0">
                <a:latin typeface="Times New Roman" panose="02020603050405020304" pitchFamily="18" charset="0"/>
                <a:cs typeface="Times New Roman" panose="02020603050405020304" pitchFamily="18" charset="0"/>
              </a:rPr>
              <a:t>("Marks : " + marks);</a:t>
            </a:r>
          </a:p>
          <a:p>
            <a:pPr marL="0" indent="0">
              <a:lnSpc>
                <a:spcPct val="120000"/>
              </a:lnSpc>
              <a:buNone/>
            </a:pPr>
            <a:r>
              <a:rPr lang="en-US" sz="1800" dirty="0" err="1">
                <a:latin typeface="Times New Roman" panose="02020603050405020304" pitchFamily="18" charset="0"/>
                <a:cs typeface="Times New Roman" panose="02020603050405020304" pitchFamily="18" charset="0"/>
              </a:rPr>
              <a:t>System.</a:t>
            </a:r>
            <a:r>
              <a:rPr lang="en-US" sz="1800" b="1" i="1" dirty="0" err="1">
                <a:latin typeface="Times New Roman" panose="02020603050405020304" pitchFamily="18" charset="0"/>
                <a:cs typeface="Times New Roman" panose="02020603050405020304" pitchFamily="18" charset="0"/>
              </a:rPr>
              <a:t>out</a:t>
            </a:r>
            <a:r>
              <a:rPr lang="en-US" sz="1800" dirty="0" err="1">
                <a:latin typeface="Times New Roman" panose="02020603050405020304" pitchFamily="18" charset="0"/>
                <a:cs typeface="Times New Roman" panose="02020603050405020304" pitchFamily="18" charset="0"/>
              </a:rPr>
              <a:t>.println</a:t>
            </a:r>
            <a:r>
              <a:rPr lang="en-US" sz="1800" dirty="0">
                <a:latin typeface="Times New Roman" panose="02020603050405020304" pitchFamily="18" charset="0"/>
                <a:cs typeface="Times New Roman" panose="02020603050405020304" pitchFamily="18" charset="0"/>
              </a:rPr>
              <a:t>();</a:t>
            </a:r>
          </a:p>
          <a:p>
            <a:pPr marL="0" indent="0">
              <a:lnSpc>
                <a:spcPct val="120000"/>
              </a:lnSpc>
              <a:buNone/>
            </a:pPr>
            <a:r>
              <a:rPr lang="en-US" sz="1800" dirty="0">
                <a:latin typeface="Times New Roman" panose="02020603050405020304" pitchFamily="18" charset="0"/>
                <a:cs typeface="Times New Roman" panose="02020603050405020304" pitchFamily="18" charset="0"/>
              </a:rPr>
              <a:t>}</a:t>
            </a:r>
          </a:p>
          <a:p>
            <a:pPr marL="0" indent="0">
              <a:lnSpc>
                <a:spcPct val="120000"/>
              </a:lnSpc>
              <a:buNone/>
            </a:pPr>
            <a:r>
              <a:rPr lang="en-US" sz="1800" dirty="0">
                <a:latin typeface="Times New Roman" panose="02020603050405020304" pitchFamily="18" charset="0"/>
                <a:cs typeface="Times New Roman" panose="02020603050405020304" pitchFamily="18" charset="0"/>
              </a:rPr>
              <a:t>}</a:t>
            </a:r>
          </a:p>
          <a:p>
            <a:pPr marL="0" indent="0">
              <a:lnSpc>
                <a:spcPct val="120000"/>
              </a:lnSpc>
              <a:buNone/>
            </a:pPr>
            <a:r>
              <a:rPr lang="en-US" sz="1800" b="1" dirty="0">
                <a:latin typeface="Times New Roman" panose="02020603050405020304" pitchFamily="18" charset="0"/>
                <a:cs typeface="Times New Roman" panose="02020603050405020304" pitchFamily="18" charset="0"/>
              </a:rPr>
              <a:t>public</a:t>
            </a: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class</a:t>
            </a:r>
            <a:r>
              <a:rPr lang="en-US" sz="1800" dirty="0">
                <a:latin typeface="Times New Roman" panose="02020603050405020304" pitchFamily="18" charset="0"/>
                <a:cs typeface="Times New Roman" panose="02020603050405020304" pitchFamily="18" charset="0"/>
              </a:rPr>
              <a:t> ConstructorOverloadingDemo2 {</a:t>
            </a:r>
          </a:p>
          <a:p>
            <a:pPr marL="0" indent="0">
              <a:lnSpc>
                <a:spcPct val="120000"/>
              </a:lnSpc>
              <a:buNone/>
            </a:pPr>
            <a:r>
              <a:rPr lang="en-US" sz="1800" b="1" dirty="0">
                <a:latin typeface="Times New Roman" panose="02020603050405020304" pitchFamily="18" charset="0"/>
                <a:cs typeface="Times New Roman" panose="02020603050405020304" pitchFamily="18" charset="0"/>
              </a:rPr>
              <a:t>public</a:t>
            </a: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static</a:t>
            </a: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void</a:t>
            </a:r>
            <a:r>
              <a:rPr lang="en-US" sz="1800" dirty="0">
                <a:latin typeface="Times New Roman" panose="02020603050405020304" pitchFamily="18" charset="0"/>
                <a:cs typeface="Times New Roman" panose="02020603050405020304" pitchFamily="18" charset="0"/>
              </a:rPr>
              <a:t> main(String[] </a:t>
            </a:r>
            <a:r>
              <a:rPr lang="en-US" sz="1800" dirty="0" err="1">
                <a:latin typeface="Times New Roman" panose="02020603050405020304" pitchFamily="18" charset="0"/>
                <a:cs typeface="Times New Roman" panose="02020603050405020304" pitchFamily="18" charset="0"/>
              </a:rPr>
              <a:t>args</a:t>
            </a:r>
            <a:r>
              <a:rPr lang="en-US" sz="1800" dirty="0">
                <a:latin typeface="Times New Roman" panose="02020603050405020304" pitchFamily="18" charset="0"/>
                <a:cs typeface="Times New Roman" panose="02020603050405020304" pitchFamily="18" charset="0"/>
              </a:rPr>
              <a:t>) {</a:t>
            </a:r>
          </a:p>
          <a:p>
            <a:pPr marL="0" indent="0">
              <a:lnSpc>
                <a:spcPct val="120000"/>
              </a:lnSpc>
              <a:buNone/>
            </a:pPr>
            <a:r>
              <a:rPr lang="en-US" sz="1800" dirty="0">
                <a:solidFill>
                  <a:srgbClr val="FF0000"/>
                </a:solidFill>
                <a:latin typeface="Times New Roman" panose="02020603050405020304" pitchFamily="18" charset="0"/>
                <a:cs typeface="Times New Roman" panose="02020603050405020304" pitchFamily="18" charset="0"/>
              </a:rPr>
              <a:t>// Calls the default constructor</a:t>
            </a:r>
          </a:p>
          <a:p>
            <a:pPr marL="0" indent="0">
              <a:lnSpc>
                <a:spcPct val="120000"/>
              </a:lnSpc>
              <a:buNone/>
            </a:pPr>
            <a:r>
              <a:rPr lang="en-US" sz="1800" dirty="0">
                <a:latin typeface="Times New Roman" panose="02020603050405020304" pitchFamily="18" charset="0"/>
                <a:cs typeface="Times New Roman" panose="02020603050405020304" pitchFamily="18" charset="0"/>
              </a:rPr>
              <a:t>Student2 s1 = </a:t>
            </a:r>
            <a:r>
              <a:rPr lang="en-US" sz="1800" b="1" dirty="0">
                <a:latin typeface="Times New Roman" panose="02020603050405020304" pitchFamily="18" charset="0"/>
                <a:cs typeface="Times New Roman" panose="02020603050405020304" pitchFamily="18" charset="0"/>
              </a:rPr>
              <a:t>new</a:t>
            </a:r>
            <a:r>
              <a:rPr lang="en-US" sz="1800" dirty="0">
                <a:latin typeface="Times New Roman" panose="02020603050405020304" pitchFamily="18" charset="0"/>
                <a:cs typeface="Times New Roman" panose="02020603050405020304" pitchFamily="18" charset="0"/>
              </a:rPr>
              <a:t> Student2();</a:t>
            </a:r>
          </a:p>
          <a:p>
            <a:pPr marL="0" indent="0">
              <a:lnSpc>
                <a:spcPct val="120000"/>
              </a:lnSpc>
              <a:buNone/>
            </a:pPr>
            <a:r>
              <a:rPr lang="en-US" sz="1800" dirty="0">
                <a:solidFill>
                  <a:srgbClr val="FF0000"/>
                </a:solidFill>
                <a:latin typeface="Times New Roman" panose="02020603050405020304" pitchFamily="18" charset="0"/>
                <a:cs typeface="Times New Roman" panose="02020603050405020304" pitchFamily="18" charset="0"/>
              </a:rPr>
              <a:t>// Calls the constructor with two parameters</a:t>
            </a:r>
          </a:p>
          <a:p>
            <a:pPr marL="0" indent="0">
              <a:lnSpc>
                <a:spcPct val="120000"/>
              </a:lnSpc>
              <a:buNone/>
            </a:pPr>
            <a:r>
              <a:rPr lang="en-US" sz="1800" dirty="0">
                <a:latin typeface="Times New Roman" panose="02020603050405020304" pitchFamily="18" charset="0"/>
                <a:cs typeface="Times New Roman" panose="02020603050405020304" pitchFamily="18" charset="0"/>
              </a:rPr>
              <a:t>Student2 s2 = </a:t>
            </a:r>
            <a:r>
              <a:rPr lang="en-US" sz="1800" b="1" dirty="0">
                <a:latin typeface="Times New Roman" panose="02020603050405020304" pitchFamily="18" charset="0"/>
                <a:cs typeface="Times New Roman" panose="02020603050405020304" pitchFamily="18" charset="0"/>
              </a:rPr>
              <a:t>new</a:t>
            </a:r>
            <a:r>
              <a:rPr lang="en-US" sz="1800" dirty="0">
                <a:latin typeface="Times New Roman" panose="02020603050405020304" pitchFamily="18" charset="0"/>
                <a:cs typeface="Times New Roman" panose="02020603050405020304" pitchFamily="18" charset="0"/>
              </a:rPr>
              <a:t> Student2(101, "ABC");</a:t>
            </a:r>
          </a:p>
          <a:p>
            <a:pPr marL="0" indent="0">
              <a:lnSpc>
                <a:spcPct val="120000"/>
              </a:lnSpc>
              <a:buNone/>
            </a:pPr>
            <a:r>
              <a:rPr lang="en-US" sz="1800" dirty="0">
                <a:solidFill>
                  <a:srgbClr val="FF0000"/>
                </a:solidFill>
                <a:latin typeface="Times New Roman" panose="02020603050405020304" pitchFamily="18" charset="0"/>
                <a:cs typeface="Times New Roman" panose="02020603050405020304" pitchFamily="18" charset="0"/>
              </a:rPr>
              <a:t>// Calls the constructor with three parameters</a:t>
            </a:r>
          </a:p>
          <a:p>
            <a:pPr marL="0" indent="0">
              <a:lnSpc>
                <a:spcPct val="120000"/>
              </a:lnSpc>
              <a:buNone/>
            </a:pPr>
            <a:r>
              <a:rPr lang="en-US" sz="1800" dirty="0">
                <a:latin typeface="Times New Roman" panose="02020603050405020304" pitchFamily="18" charset="0"/>
                <a:cs typeface="Times New Roman" panose="02020603050405020304" pitchFamily="18" charset="0"/>
              </a:rPr>
              <a:t>Student2 s3 = </a:t>
            </a:r>
            <a:r>
              <a:rPr lang="en-US" sz="1800" b="1" dirty="0">
                <a:latin typeface="Times New Roman" panose="02020603050405020304" pitchFamily="18" charset="0"/>
                <a:cs typeface="Times New Roman" panose="02020603050405020304" pitchFamily="18" charset="0"/>
              </a:rPr>
              <a:t>new</a:t>
            </a:r>
            <a:r>
              <a:rPr lang="en-US" sz="1800" dirty="0">
                <a:latin typeface="Times New Roman" panose="02020603050405020304" pitchFamily="18" charset="0"/>
                <a:cs typeface="Times New Roman" panose="02020603050405020304" pitchFamily="18" charset="0"/>
              </a:rPr>
              <a:t> Student2(102, "DEF", 92.5);</a:t>
            </a:r>
          </a:p>
          <a:p>
            <a:pPr marL="0" indent="0">
              <a:lnSpc>
                <a:spcPct val="120000"/>
              </a:lnSpc>
              <a:buNone/>
            </a:pPr>
            <a:r>
              <a:rPr lang="en-US" sz="1800" dirty="0">
                <a:latin typeface="Times New Roman" panose="02020603050405020304" pitchFamily="18" charset="0"/>
                <a:cs typeface="Times New Roman" panose="02020603050405020304" pitchFamily="18" charset="0"/>
              </a:rPr>
              <a:t>s1.display();</a:t>
            </a:r>
          </a:p>
          <a:p>
            <a:pPr marL="0" indent="0">
              <a:lnSpc>
                <a:spcPct val="120000"/>
              </a:lnSpc>
              <a:buNone/>
            </a:pPr>
            <a:r>
              <a:rPr lang="en-US" sz="1800" dirty="0">
                <a:latin typeface="Times New Roman" panose="02020603050405020304" pitchFamily="18" charset="0"/>
                <a:cs typeface="Times New Roman" panose="02020603050405020304" pitchFamily="18" charset="0"/>
              </a:rPr>
              <a:t>s2.display();</a:t>
            </a:r>
          </a:p>
          <a:p>
            <a:pPr marL="0" indent="0">
              <a:lnSpc>
                <a:spcPct val="120000"/>
              </a:lnSpc>
              <a:buNone/>
            </a:pPr>
            <a:r>
              <a:rPr lang="en-US" sz="1800" dirty="0">
                <a:latin typeface="Times New Roman" panose="02020603050405020304" pitchFamily="18" charset="0"/>
                <a:cs typeface="Times New Roman" panose="02020603050405020304" pitchFamily="18" charset="0"/>
              </a:rPr>
              <a:t>s3.display();</a:t>
            </a:r>
          </a:p>
          <a:p>
            <a:pPr marL="0" indent="0">
              <a:lnSpc>
                <a:spcPct val="120000"/>
              </a:lnSpc>
              <a:buNone/>
            </a:pPr>
            <a:r>
              <a:rPr lang="en-US" sz="1800" dirty="0">
                <a:latin typeface="Times New Roman" panose="02020603050405020304" pitchFamily="18" charset="0"/>
                <a:cs typeface="Times New Roman" panose="02020603050405020304" pitchFamily="18" charset="0"/>
              </a:rPr>
              <a:t>}</a:t>
            </a:r>
          </a:p>
          <a:p>
            <a:pPr marL="0" indent="0">
              <a:lnSpc>
                <a:spcPct val="120000"/>
              </a:lnSpc>
              <a:buNone/>
            </a:pPr>
            <a:r>
              <a:rPr lang="en-US" sz="18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29536548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E6C002-CF03-A909-8DD8-4B10E8EEE807}"/>
              </a:ext>
            </a:extLst>
          </p:cNvPr>
          <p:cNvSpPr>
            <a:spLocks noGrp="1"/>
          </p:cNvSpPr>
          <p:nvPr>
            <p:ph idx="1"/>
          </p:nvPr>
        </p:nvSpPr>
        <p:spPr>
          <a:xfrm>
            <a:off x="457200" y="381000"/>
            <a:ext cx="8229600" cy="5715000"/>
          </a:xfrm>
        </p:spPr>
        <p:txBody>
          <a:bodyPr>
            <a:normAutofit fontScale="70000" lnSpcReduction="20000"/>
          </a:bodyPr>
          <a:lstStyle/>
          <a:p>
            <a:pPr marL="0" indent="0" algn="ctr">
              <a:buNone/>
            </a:pPr>
            <a:r>
              <a:rPr lang="en-US" b="1" dirty="0">
                <a:solidFill>
                  <a:srgbClr val="FF0000"/>
                </a:solidFill>
                <a:latin typeface="Times New Roman" panose="02020603050405020304" pitchFamily="18" charset="0"/>
                <a:cs typeface="Times New Roman" panose="02020603050405020304" pitchFamily="18" charset="0"/>
              </a:rPr>
              <a:t>METHODS</a:t>
            </a:r>
          </a:p>
          <a:p>
            <a:pPr lvl="0" algn="just"/>
            <a:r>
              <a:rPr lang="en-US" sz="3600" dirty="0">
                <a:latin typeface="Times New Roman" panose="02020603050405020304" pitchFamily="18" charset="0"/>
                <a:cs typeface="Times New Roman" panose="02020603050405020304" pitchFamily="18" charset="0"/>
              </a:rPr>
              <a:t>A method is a block of statements under a name that gets executes only when it is called.</a:t>
            </a:r>
          </a:p>
          <a:p>
            <a:pPr lvl="0" algn="just"/>
            <a:r>
              <a:rPr lang="en-US" sz="3600" dirty="0">
                <a:latin typeface="Times New Roman" panose="02020603050405020304" pitchFamily="18" charset="0"/>
                <a:cs typeface="Times New Roman" panose="02020603050405020304" pitchFamily="18" charset="0"/>
              </a:rPr>
              <a:t>Every method is used to perform a specific task. The major </a:t>
            </a:r>
            <a:r>
              <a:rPr lang="en-US" sz="3600" dirty="0">
                <a:solidFill>
                  <a:srgbClr val="FF0000"/>
                </a:solidFill>
                <a:latin typeface="Times New Roman" panose="02020603050405020304" pitchFamily="18" charset="0"/>
                <a:cs typeface="Times New Roman" panose="02020603050405020304" pitchFamily="18" charset="0"/>
              </a:rPr>
              <a:t>advantage of methods is code re-usability </a:t>
            </a:r>
            <a:r>
              <a:rPr lang="en-US" sz="3600" dirty="0">
                <a:latin typeface="Times New Roman" panose="02020603050405020304" pitchFamily="18" charset="0"/>
                <a:cs typeface="Times New Roman" panose="02020603050405020304" pitchFamily="18" charset="0"/>
              </a:rPr>
              <a:t>(define the code once, and use it many times).</a:t>
            </a:r>
          </a:p>
          <a:p>
            <a:pPr lvl="0" algn="just"/>
            <a:r>
              <a:rPr lang="en-US" sz="3600" dirty="0">
                <a:latin typeface="Times New Roman" panose="02020603050405020304" pitchFamily="18" charset="0"/>
                <a:cs typeface="Times New Roman" panose="02020603050405020304" pitchFamily="18" charset="0"/>
              </a:rPr>
              <a:t>In a java programming language, a method defined as a behavior of an object. That means, </a:t>
            </a:r>
            <a:r>
              <a:rPr lang="en-US" sz="3600" dirty="0">
                <a:solidFill>
                  <a:srgbClr val="FF0000"/>
                </a:solidFill>
                <a:latin typeface="Times New Roman" panose="02020603050405020304" pitchFamily="18" charset="0"/>
                <a:cs typeface="Times New Roman" panose="02020603050405020304" pitchFamily="18" charset="0"/>
              </a:rPr>
              <a:t>every method in java must belong to a class.</a:t>
            </a:r>
          </a:p>
          <a:p>
            <a:pPr lvl="0" algn="just"/>
            <a:r>
              <a:rPr lang="en-US" sz="3600" dirty="0">
                <a:solidFill>
                  <a:srgbClr val="FF0000"/>
                </a:solidFill>
                <a:latin typeface="Times New Roman" panose="02020603050405020304" pitchFamily="18" charset="0"/>
                <a:cs typeface="Times New Roman" panose="02020603050405020304" pitchFamily="18" charset="0"/>
              </a:rPr>
              <a:t>Every method in java must be declared inside a class.</a:t>
            </a:r>
          </a:p>
          <a:p>
            <a:pPr algn="just"/>
            <a:r>
              <a:rPr lang="en-US" sz="3600" b="1" dirty="0">
                <a:latin typeface="Times New Roman" panose="02020603050405020304" pitchFamily="18" charset="0"/>
                <a:cs typeface="Times New Roman" panose="02020603050405020304" pitchFamily="18" charset="0"/>
              </a:rPr>
              <a:t>Every method declaration has the following characteristics.</a:t>
            </a:r>
          </a:p>
          <a:p>
            <a:pPr marL="514350" lvl="0" indent="-514350" algn="just">
              <a:buFont typeface="+mj-lt"/>
              <a:buAutoNum type="arabicParenR"/>
            </a:pPr>
            <a:r>
              <a:rPr lang="en-US" sz="3600" b="1" dirty="0">
                <a:latin typeface="Times New Roman" panose="02020603050405020304" pitchFamily="18" charset="0"/>
                <a:cs typeface="Times New Roman" panose="02020603050405020304" pitchFamily="18" charset="0"/>
              </a:rPr>
              <a:t>returnType </a:t>
            </a:r>
            <a:r>
              <a:rPr lang="en-US" sz="3600" dirty="0">
                <a:latin typeface="Times New Roman" panose="02020603050405020304" pitchFamily="18" charset="0"/>
                <a:cs typeface="Times New Roman" panose="02020603050405020304" pitchFamily="18" charset="0"/>
              </a:rPr>
              <a:t>- Specifies the data type of a return value.</a:t>
            </a:r>
          </a:p>
          <a:p>
            <a:pPr marL="514350" lvl="0" indent="-514350" algn="just">
              <a:buFont typeface="+mj-lt"/>
              <a:buAutoNum type="arabicParenR"/>
            </a:pPr>
            <a:r>
              <a:rPr lang="en-US" sz="3600" b="1" dirty="0">
                <a:latin typeface="Times New Roman" panose="02020603050405020304" pitchFamily="18" charset="0"/>
                <a:cs typeface="Times New Roman" panose="02020603050405020304" pitchFamily="18" charset="0"/>
              </a:rPr>
              <a:t>name </a:t>
            </a:r>
            <a:r>
              <a:rPr lang="en-US" sz="3600" dirty="0">
                <a:latin typeface="Times New Roman" panose="02020603050405020304" pitchFamily="18" charset="0"/>
                <a:cs typeface="Times New Roman" panose="02020603050405020304" pitchFamily="18" charset="0"/>
              </a:rPr>
              <a:t>- Specifies a unique name to identify it.</a:t>
            </a:r>
          </a:p>
          <a:p>
            <a:pPr marL="514350" lvl="0" indent="-514350" algn="just">
              <a:buFont typeface="+mj-lt"/>
              <a:buAutoNum type="arabicParenR"/>
            </a:pPr>
            <a:r>
              <a:rPr lang="en-US" sz="3600" b="1" dirty="0">
                <a:latin typeface="Times New Roman" panose="02020603050405020304" pitchFamily="18" charset="0"/>
                <a:cs typeface="Times New Roman" panose="02020603050405020304" pitchFamily="18" charset="0"/>
              </a:rPr>
              <a:t>parameters </a:t>
            </a:r>
            <a:r>
              <a:rPr lang="en-US" sz="3600" dirty="0">
                <a:latin typeface="Times New Roman" panose="02020603050405020304" pitchFamily="18" charset="0"/>
                <a:cs typeface="Times New Roman" panose="02020603050405020304" pitchFamily="18" charset="0"/>
              </a:rPr>
              <a:t>- The data values it may accept or receive.</a:t>
            </a:r>
          </a:p>
          <a:p>
            <a:pPr marL="514350" lvl="0" indent="-514350" algn="just">
              <a:buFont typeface="+mj-lt"/>
              <a:buAutoNum type="arabicParenR"/>
            </a:pPr>
            <a:r>
              <a:rPr lang="en-US" sz="3600" b="1" dirty="0">
                <a:latin typeface="Times New Roman" panose="02020603050405020304" pitchFamily="18" charset="0"/>
                <a:cs typeface="Times New Roman" panose="02020603050405020304" pitchFamily="18" charset="0"/>
              </a:rPr>
              <a:t>{ } </a:t>
            </a:r>
            <a:r>
              <a:rPr lang="en-US" sz="3600" dirty="0">
                <a:latin typeface="Times New Roman" panose="02020603050405020304" pitchFamily="18" charset="0"/>
                <a:cs typeface="Times New Roman" panose="02020603050405020304" pitchFamily="18" charset="0"/>
              </a:rPr>
              <a:t>- Defines the block belongs to the method.</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8579436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5DFE18-84BC-2BBD-4BB5-DEBD15F8ADC8}"/>
              </a:ext>
            </a:extLst>
          </p:cNvPr>
          <p:cNvSpPr>
            <a:spLocks noGrp="1"/>
          </p:cNvSpPr>
          <p:nvPr>
            <p:ph idx="1"/>
          </p:nvPr>
        </p:nvSpPr>
        <p:spPr>
          <a:xfrm>
            <a:off x="457200" y="190500"/>
            <a:ext cx="8229600" cy="6477000"/>
          </a:xfrm>
        </p:spPr>
        <p:txBody>
          <a:bodyPr>
            <a:normAutofit/>
          </a:bodyPr>
          <a:lstStyle/>
          <a:p>
            <a:pPr marL="0" indent="0">
              <a:buNone/>
            </a:pPr>
            <a:r>
              <a:rPr lang="en-US" b="1" dirty="0"/>
              <a:t>Creating a method</a:t>
            </a:r>
          </a:p>
          <a:p>
            <a:pPr marL="0" indent="0">
              <a:buNone/>
            </a:pPr>
            <a:r>
              <a:rPr lang="en-US" dirty="0"/>
              <a:t>A method is created inside the class</a:t>
            </a:r>
          </a:p>
          <a:p>
            <a:pPr marL="0" indent="0">
              <a:buNone/>
            </a:pPr>
            <a:r>
              <a:rPr lang="en-US" b="1" dirty="0"/>
              <a:t>Syntax</a:t>
            </a:r>
          </a:p>
          <a:p>
            <a:pPr marL="0" indent="0">
              <a:buNone/>
            </a:pPr>
            <a:r>
              <a:rPr lang="en-US" dirty="0"/>
              <a:t>class </a:t>
            </a:r>
            <a:r>
              <a:rPr lang="en-US" dirty="0" err="1"/>
              <a:t>ClassName</a:t>
            </a:r>
            <a:endParaRPr lang="en-US" dirty="0"/>
          </a:p>
          <a:p>
            <a:pPr marL="0" indent="0">
              <a:buNone/>
            </a:pPr>
            <a:r>
              <a:rPr lang="en-US" dirty="0"/>
              <a:t>{</a:t>
            </a:r>
          </a:p>
          <a:p>
            <a:pPr marL="0" indent="0">
              <a:buNone/>
            </a:pPr>
            <a:r>
              <a:rPr lang="en-US" dirty="0"/>
              <a:t>returnType </a:t>
            </a:r>
            <a:r>
              <a:rPr lang="en-US" dirty="0" err="1"/>
              <a:t>methodName</a:t>
            </a:r>
            <a:r>
              <a:rPr lang="en-US" dirty="0"/>
              <a:t>( parameters )</a:t>
            </a:r>
          </a:p>
          <a:p>
            <a:pPr marL="0" indent="0">
              <a:buNone/>
            </a:pPr>
            <a:r>
              <a:rPr lang="en-US" dirty="0"/>
              <a:t>{</a:t>
            </a:r>
          </a:p>
          <a:p>
            <a:pPr marL="0" indent="0">
              <a:buNone/>
            </a:pPr>
            <a:r>
              <a:rPr lang="en-US" dirty="0"/>
              <a:t>// body of method</a:t>
            </a:r>
          </a:p>
          <a:p>
            <a:pPr marL="0" indent="0">
              <a:buNone/>
            </a:pPr>
            <a:r>
              <a:rPr lang="en-US" dirty="0"/>
              <a:t>}</a:t>
            </a:r>
          </a:p>
          <a:p>
            <a:pPr marL="0" indent="0">
              <a:buNone/>
            </a:pPr>
            <a:r>
              <a:rPr lang="en-US" dirty="0"/>
              <a:t>}</a:t>
            </a:r>
          </a:p>
        </p:txBody>
      </p:sp>
    </p:spTree>
    <p:extLst>
      <p:ext uri="{BB962C8B-B14F-4D97-AF65-F5344CB8AC3E}">
        <p14:creationId xmlns:p14="http://schemas.microsoft.com/office/powerpoint/2010/main" val="130766674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E8700C-374C-E1A5-E738-8A111E6C2392}"/>
              </a:ext>
            </a:extLst>
          </p:cNvPr>
          <p:cNvSpPr>
            <a:spLocks noGrp="1"/>
          </p:cNvSpPr>
          <p:nvPr>
            <p:ph idx="1"/>
          </p:nvPr>
        </p:nvSpPr>
        <p:spPr>
          <a:xfrm>
            <a:off x="457200" y="304800"/>
            <a:ext cx="8229600" cy="5821363"/>
          </a:xfrm>
        </p:spPr>
        <p:txBody>
          <a:bodyPr>
            <a:normAutofit lnSpcReduction="10000"/>
          </a:bodyPr>
          <a:lstStyle/>
          <a:p>
            <a:pPr marL="0" indent="0" algn="just">
              <a:buNone/>
            </a:pPr>
            <a:r>
              <a:rPr lang="en-US" b="1" dirty="0">
                <a:latin typeface="Times New Roman" panose="02020603050405020304" pitchFamily="18" charset="0"/>
                <a:cs typeface="Times New Roman" panose="02020603050405020304" pitchFamily="18" charset="0"/>
              </a:rPr>
              <a:t>Calling a method</a:t>
            </a:r>
          </a:p>
          <a:p>
            <a:pPr lvl="0" algn="just"/>
            <a:r>
              <a:rPr lang="en-US" dirty="0">
                <a:latin typeface="Times New Roman" panose="02020603050405020304" pitchFamily="18" charset="0"/>
                <a:cs typeface="Times New Roman" panose="02020603050405020304" pitchFamily="18" charset="0"/>
              </a:rPr>
              <a:t>In java, a method call precedes with the object name of the class to which it belongs and a dot operator.</a:t>
            </a:r>
          </a:p>
          <a:p>
            <a:pPr lvl="0" algn="just"/>
            <a:r>
              <a:rPr lang="en-US" dirty="0">
                <a:latin typeface="Times New Roman" panose="02020603050405020304" pitchFamily="18" charset="0"/>
                <a:cs typeface="Times New Roman" panose="02020603050405020304" pitchFamily="18" charset="0"/>
              </a:rPr>
              <a:t>It may call directly if the method defined with the static modifier.</a:t>
            </a:r>
          </a:p>
          <a:p>
            <a:pPr lvl="0" algn="just"/>
            <a:r>
              <a:rPr lang="en-US" dirty="0">
                <a:latin typeface="Times New Roman" panose="02020603050405020304" pitchFamily="18" charset="0"/>
                <a:cs typeface="Times New Roman" panose="02020603050405020304" pitchFamily="18" charset="0"/>
              </a:rPr>
              <a:t>Every method call must be made, as to the method name with parentheses (), and it must terminate with a semicolon.</a:t>
            </a:r>
          </a:p>
          <a:p>
            <a:pPr marL="0" lvl="0" indent="0" algn="just">
              <a:buNone/>
            </a:pPr>
            <a:r>
              <a:rPr lang="en-US" b="1" dirty="0">
                <a:solidFill>
                  <a:srgbClr val="FF0000"/>
                </a:solidFill>
                <a:latin typeface="Times New Roman" panose="02020603050405020304" pitchFamily="18" charset="0"/>
                <a:cs typeface="Times New Roman" panose="02020603050405020304" pitchFamily="18" charset="0"/>
              </a:rPr>
              <a:t>Syntax:- </a:t>
            </a:r>
            <a:r>
              <a:rPr lang="en-US" dirty="0" err="1">
                <a:latin typeface="Times New Roman" panose="02020603050405020304" pitchFamily="18" charset="0"/>
                <a:cs typeface="Times New Roman" panose="02020603050405020304" pitchFamily="18" charset="0"/>
              </a:rPr>
              <a:t>objectName.methodName</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actualArguments</a:t>
            </a:r>
            <a:r>
              <a:rPr lang="en-US" dirty="0">
                <a:latin typeface="Times New Roman" panose="02020603050405020304" pitchFamily="18" charset="0"/>
                <a:cs typeface="Times New Roman" panose="02020603050405020304" pitchFamily="18" charset="0"/>
              </a:rPr>
              <a:t> );</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4422344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CAF5A5-4FDE-1F4F-6DA2-C3B49353BAB7}"/>
              </a:ext>
            </a:extLst>
          </p:cNvPr>
          <p:cNvSpPr>
            <a:spLocks noGrp="1"/>
          </p:cNvSpPr>
          <p:nvPr>
            <p:ph idx="1"/>
          </p:nvPr>
        </p:nvSpPr>
        <p:spPr>
          <a:xfrm>
            <a:off x="457200" y="228600"/>
            <a:ext cx="8229600" cy="6400800"/>
          </a:xfrm>
        </p:spPr>
        <p:txBody>
          <a:bodyPr>
            <a:normAutofit/>
          </a:bodyPr>
          <a:lstStyle/>
          <a:p>
            <a:pPr marL="0" indent="0" algn="ctr">
              <a:buNone/>
            </a:pPr>
            <a:r>
              <a:rPr lang="en-US" sz="2000" b="1" dirty="0">
                <a:latin typeface="Times New Roman" panose="02020603050405020304" pitchFamily="18" charset="0"/>
                <a:cs typeface="Times New Roman" panose="02020603050405020304" pitchFamily="18" charset="0"/>
              </a:rPr>
              <a:t>ACCESS CONTROL(MEMBER ACCESS)</a:t>
            </a:r>
          </a:p>
          <a:p>
            <a:pPr algn="just"/>
            <a:r>
              <a:rPr lang="en-US" sz="2000" dirty="0">
                <a:latin typeface="Times New Roman" panose="02020603050405020304" pitchFamily="18" charset="0"/>
                <a:cs typeface="Times New Roman" panose="02020603050405020304" pitchFamily="18" charset="0"/>
              </a:rPr>
              <a:t>In Java, </a:t>
            </a:r>
            <a:r>
              <a:rPr lang="en-US" sz="2000" dirty="0">
                <a:solidFill>
                  <a:srgbClr val="FF0000"/>
                </a:solidFill>
                <a:latin typeface="Times New Roman" panose="02020603050405020304" pitchFamily="18" charset="0"/>
                <a:cs typeface="Times New Roman" panose="02020603050405020304" pitchFamily="18" charset="0"/>
              </a:rPr>
              <a:t>Access modifiers help to restrict the scope of a class, constructor, variable, method, or data member.</a:t>
            </a:r>
            <a:r>
              <a:rPr lang="en-US" sz="2000" dirty="0">
                <a:latin typeface="Times New Roman" panose="02020603050405020304" pitchFamily="18" charset="0"/>
                <a:cs typeface="Times New Roman" panose="02020603050405020304" pitchFamily="18" charset="0"/>
              </a:rPr>
              <a:t> It provides security, accessibility, </a:t>
            </a:r>
            <a:r>
              <a:rPr lang="en-US" sz="2000" dirty="0" err="1">
                <a:latin typeface="Times New Roman" panose="02020603050405020304" pitchFamily="18" charset="0"/>
                <a:cs typeface="Times New Roman" panose="02020603050405020304" pitchFamily="18" charset="0"/>
              </a:rPr>
              <a:t>etc</a:t>
            </a:r>
            <a:r>
              <a:rPr lang="en-US" sz="2000" dirty="0">
                <a:latin typeface="Times New Roman" panose="02020603050405020304" pitchFamily="18" charset="0"/>
                <a:cs typeface="Times New Roman" panose="02020603050405020304" pitchFamily="18" charset="0"/>
              </a:rPr>
              <a:t> to the user depending upon the access modifier used with the element.</a:t>
            </a:r>
          </a:p>
          <a:p>
            <a:pPr algn="just"/>
            <a:r>
              <a:rPr lang="en-US" sz="2000" b="1" dirty="0">
                <a:latin typeface="Times New Roman" panose="02020603050405020304" pitchFamily="18" charset="0"/>
                <a:cs typeface="Times New Roman" panose="02020603050405020304" pitchFamily="18" charset="0"/>
              </a:rPr>
              <a:t>Types of Access Modifiers in Java</a:t>
            </a:r>
          </a:p>
          <a:p>
            <a:pPr algn="just"/>
            <a:r>
              <a:rPr lang="en-US" sz="2000" dirty="0">
                <a:latin typeface="Times New Roman" panose="02020603050405020304" pitchFamily="18" charset="0"/>
                <a:cs typeface="Times New Roman" panose="02020603050405020304" pitchFamily="18" charset="0"/>
              </a:rPr>
              <a:t>There are four types of access modifiers available in Java:</a:t>
            </a:r>
          </a:p>
          <a:p>
            <a:pPr lvl="0" algn="just"/>
            <a:r>
              <a:rPr lang="en-US" sz="2000" dirty="0">
                <a:latin typeface="Times New Roman" panose="02020603050405020304" pitchFamily="18" charset="0"/>
                <a:cs typeface="Times New Roman" panose="02020603050405020304" pitchFamily="18" charset="0"/>
              </a:rPr>
              <a:t>Default – No keyword required</a:t>
            </a:r>
          </a:p>
          <a:p>
            <a:pPr lvl="0" algn="just"/>
            <a:r>
              <a:rPr lang="en-US" sz="2000" dirty="0">
                <a:latin typeface="Times New Roman" panose="02020603050405020304" pitchFamily="18" charset="0"/>
                <a:cs typeface="Times New Roman" panose="02020603050405020304" pitchFamily="18" charset="0"/>
              </a:rPr>
              <a:t>Private</a:t>
            </a:r>
          </a:p>
          <a:p>
            <a:pPr lvl="0" algn="just"/>
            <a:r>
              <a:rPr lang="en-US" sz="2000" dirty="0">
                <a:latin typeface="Times New Roman" panose="02020603050405020304" pitchFamily="18" charset="0"/>
                <a:cs typeface="Times New Roman" panose="02020603050405020304" pitchFamily="18" charset="0"/>
              </a:rPr>
              <a:t>Protected</a:t>
            </a:r>
          </a:p>
          <a:p>
            <a:pPr lvl="0" algn="just"/>
            <a:r>
              <a:rPr lang="en-US" sz="2000" dirty="0">
                <a:latin typeface="Times New Roman" panose="02020603050405020304" pitchFamily="18" charset="0"/>
                <a:cs typeface="Times New Roman" panose="02020603050405020304" pitchFamily="18" charset="0"/>
              </a:rPr>
              <a:t>Public</a:t>
            </a:r>
          </a:p>
          <a:p>
            <a:pPr marL="0" lvl="0" indent="0">
              <a:buNone/>
            </a:pPr>
            <a:r>
              <a:rPr lang="en-US" sz="2400" b="1" dirty="0">
                <a:latin typeface="Times New Roman" panose="02020603050405020304" pitchFamily="18" charset="0"/>
                <a:cs typeface="Times New Roman" panose="02020603050405020304" pitchFamily="18" charset="0"/>
              </a:rPr>
              <a:t>1) Default Access Modifier</a:t>
            </a:r>
          </a:p>
          <a:p>
            <a:pPr lvl="1"/>
            <a:r>
              <a:rPr lang="en-US" sz="2000" dirty="0">
                <a:latin typeface="Times New Roman" panose="02020603050405020304" pitchFamily="18" charset="0"/>
                <a:cs typeface="Times New Roman" panose="02020603050405020304" pitchFamily="18" charset="0"/>
              </a:rPr>
              <a:t>When no access modifier is specified for a class, method, or data member – It is said to be having the </a:t>
            </a:r>
            <a:r>
              <a:rPr lang="en-US" sz="2000" b="1" dirty="0">
                <a:latin typeface="Times New Roman" panose="02020603050405020304" pitchFamily="18" charset="0"/>
                <a:cs typeface="Times New Roman" panose="02020603050405020304" pitchFamily="18" charset="0"/>
              </a:rPr>
              <a:t>default </a:t>
            </a:r>
            <a:r>
              <a:rPr lang="en-US" sz="2000" dirty="0">
                <a:latin typeface="Times New Roman" panose="02020603050405020304" pitchFamily="18" charset="0"/>
                <a:cs typeface="Times New Roman" panose="02020603050405020304" pitchFamily="18" charset="0"/>
              </a:rPr>
              <a:t>access modifier by default.</a:t>
            </a:r>
            <a:endParaRPr lang="en-US" sz="3600" dirty="0">
              <a:latin typeface="Times New Roman" panose="02020603050405020304" pitchFamily="18" charset="0"/>
              <a:cs typeface="Times New Roman" panose="02020603050405020304" pitchFamily="18" charset="0"/>
            </a:endParaRPr>
          </a:p>
          <a:p>
            <a:pPr lvl="1"/>
            <a:r>
              <a:rPr lang="en-US" sz="2000" dirty="0">
                <a:latin typeface="Times New Roman" panose="02020603050405020304" pitchFamily="18" charset="0"/>
                <a:cs typeface="Times New Roman" panose="02020603050405020304" pitchFamily="18" charset="0"/>
              </a:rPr>
              <a:t>The default modifier is </a:t>
            </a:r>
            <a:r>
              <a:rPr lang="en-US" sz="2000" b="1" dirty="0">
                <a:solidFill>
                  <a:srgbClr val="FF0000"/>
                </a:solidFill>
                <a:latin typeface="Times New Roman" panose="02020603050405020304" pitchFamily="18" charset="0"/>
                <a:cs typeface="Times New Roman" panose="02020603050405020304" pitchFamily="18" charset="0"/>
              </a:rPr>
              <a:t>accessible only within package.</a:t>
            </a:r>
            <a:endParaRPr lang="en-US" sz="3600" b="1" dirty="0">
              <a:solidFill>
                <a:srgbClr val="FF0000"/>
              </a:solidFill>
              <a:latin typeface="Times New Roman" panose="02020603050405020304" pitchFamily="18" charset="0"/>
              <a:cs typeface="Times New Roman" panose="02020603050405020304" pitchFamily="18" charset="0"/>
            </a:endParaRPr>
          </a:p>
          <a:p>
            <a:pPr lvl="1"/>
            <a:r>
              <a:rPr lang="en-US" sz="2000" dirty="0">
                <a:latin typeface="Times New Roman" panose="02020603050405020304" pitchFamily="18" charset="0"/>
                <a:cs typeface="Times New Roman" panose="02020603050405020304" pitchFamily="18" charset="0"/>
              </a:rPr>
              <a:t>It </a:t>
            </a:r>
            <a:r>
              <a:rPr lang="en-US" sz="2000" b="1" dirty="0">
                <a:solidFill>
                  <a:srgbClr val="FF0000"/>
                </a:solidFill>
                <a:latin typeface="Times New Roman" panose="02020603050405020304" pitchFamily="18" charset="0"/>
                <a:cs typeface="Times New Roman" panose="02020603050405020304" pitchFamily="18" charset="0"/>
              </a:rPr>
              <a:t>cannot be accessed from outside the package</a:t>
            </a:r>
            <a:r>
              <a:rPr lang="en-US" sz="2000" dirty="0">
                <a:latin typeface="Times New Roman" panose="02020603050405020304" pitchFamily="18" charset="0"/>
                <a:cs typeface="Times New Roman" panose="02020603050405020304" pitchFamily="18" charset="0"/>
              </a:rPr>
              <a:t>.</a:t>
            </a:r>
            <a:endParaRPr lang="en-US" sz="3600" dirty="0">
              <a:latin typeface="Times New Roman" panose="02020603050405020304" pitchFamily="18" charset="0"/>
              <a:cs typeface="Times New Roman" panose="02020603050405020304" pitchFamily="18" charset="0"/>
            </a:endParaRPr>
          </a:p>
          <a:p>
            <a:pPr lvl="1"/>
            <a:r>
              <a:rPr lang="en-US" sz="2000" dirty="0">
                <a:latin typeface="Times New Roman" panose="02020603050405020304" pitchFamily="18" charset="0"/>
                <a:cs typeface="Times New Roman" panose="02020603050405020304" pitchFamily="18" charset="0"/>
              </a:rPr>
              <a:t>It </a:t>
            </a:r>
            <a:r>
              <a:rPr lang="en-US" sz="2000" dirty="0">
                <a:solidFill>
                  <a:srgbClr val="FF0000"/>
                </a:solidFill>
                <a:latin typeface="Times New Roman" panose="02020603050405020304" pitchFamily="18" charset="0"/>
                <a:cs typeface="Times New Roman" panose="02020603050405020304" pitchFamily="18" charset="0"/>
              </a:rPr>
              <a:t>provides more accessibility than private</a:t>
            </a:r>
            <a:r>
              <a:rPr lang="en-US" sz="2000" dirty="0">
                <a:latin typeface="Times New Roman" panose="02020603050405020304" pitchFamily="18" charset="0"/>
                <a:cs typeface="Times New Roman" panose="02020603050405020304" pitchFamily="18" charset="0"/>
              </a:rPr>
              <a:t>. But, it is </a:t>
            </a:r>
            <a:r>
              <a:rPr lang="en-US" sz="2000" dirty="0">
                <a:solidFill>
                  <a:srgbClr val="FF0000"/>
                </a:solidFill>
                <a:latin typeface="Times New Roman" panose="02020603050405020304" pitchFamily="18" charset="0"/>
                <a:cs typeface="Times New Roman" panose="02020603050405020304" pitchFamily="18" charset="0"/>
              </a:rPr>
              <a:t>more restrictive than protected, and public.</a:t>
            </a:r>
            <a:endParaRPr lang="en-US" sz="3600" dirty="0">
              <a:solidFill>
                <a:srgbClr val="FF0000"/>
              </a:solidFill>
              <a:latin typeface="Times New Roman" panose="02020603050405020304" pitchFamily="18" charset="0"/>
              <a:cs typeface="Times New Roman" panose="02020603050405020304" pitchFamily="18" charset="0"/>
            </a:endParaRPr>
          </a:p>
          <a:p>
            <a:pPr marL="0" lvl="0" indent="0" algn="just">
              <a:buNone/>
            </a:pPr>
            <a:endParaRPr lang="en-US" sz="2000" dirty="0">
              <a:latin typeface="Times New Roman" panose="02020603050405020304" pitchFamily="18" charset="0"/>
              <a:cs typeface="Times New Roman" panose="02020603050405020304" pitchFamily="18" charset="0"/>
            </a:endParaRP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838785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4BF799-C817-C0CE-C80A-C2D6FCA4A722}"/>
              </a:ext>
            </a:extLst>
          </p:cNvPr>
          <p:cNvSpPr>
            <a:spLocks noGrp="1"/>
          </p:cNvSpPr>
          <p:nvPr>
            <p:ph idx="1"/>
          </p:nvPr>
        </p:nvSpPr>
        <p:spPr>
          <a:xfrm>
            <a:off x="457200" y="0"/>
            <a:ext cx="8229600" cy="6858000"/>
          </a:xfrm>
        </p:spPr>
        <p:txBody>
          <a:bodyPr>
            <a:normAutofit fontScale="85000" lnSpcReduction="20000"/>
          </a:bodyPr>
          <a:lstStyle/>
          <a:p>
            <a:pPr marL="0" indent="0">
              <a:buNone/>
            </a:pPr>
            <a:r>
              <a:rPr lang="en-US" dirty="0">
                <a:solidFill>
                  <a:srgbClr val="FF0000"/>
                </a:solidFill>
              </a:rPr>
              <a:t>DefaultModifierStudent.java</a:t>
            </a:r>
            <a:endParaRPr lang="en-US" b="1" dirty="0">
              <a:solidFill>
                <a:srgbClr val="FF0000"/>
              </a:solidFill>
            </a:endParaRPr>
          </a:p>
          <a:p>
            <a:pPr marL="0" indent="0">
              <a:buNone/>
            </a:pPr>
            <a:r>
              <a:rPr lang="en-US" b="1" dirty="0"/>
              <a:t>package</a:t>
            </a:r>
            <a:r>
              <a:rPr lang="en-US" dirty="0"/>
              <a:t> </a:t>
            </a:r>
            <a:r>
              <a:rPr lang="en-US" dirty="0" err="1"/>
              <a:t>oppsJavaProg</a:t>
            </a:r>
            <a:r>
              <a:rPr lang="en-US" dirty="0"/>
              <a:t>;</a:t>
            </a:r>
          </a:p>
          <a:p>
            <a:pPr marL="0" indent="0">
              <a:buNone/>
            </a:pPr>
            <a:r>
              <a:rPr lang="en-US" b="1" dirty="0"/>
              <a:t>class</a:t>
            </a:r>
            <a:r>
              <a:rPr lang="en-US" dirty="0"/>
              <a:t> </a:t>
            </a:r>
            <a:r>
              <a:rPr lang="en-US" dirty="0" err="1"/>
              <a:t>DefaultModifierStudent</a:t>
            </a:r>
            <a:r>
              <a:rPr lang="en-US" dirty="0"/>
              <a:t> {</a:t>
            </a:r>
          </a:p>
          <a:p>
            <a:pPr marL="0" indent="0">
              <a:buNone/>
            </a:pPr>
            <a:r>
              <a:rPr lang="en-US" b="1" dirty="0"/>
              <a:t>void</a:t>
            </a:r>
            <a:r>
              <a:rPr lang="en-US" dirty="0"/>
              <a:t> display() {</a:t>
            </a:r>
          </a:p>
          <a:p>
            <a:pPr marL="0" indent="0">
              <a:buNone/>
            </a:pPr>
            <a:r>
              <a:rPr lang="en-US" dirty="0" err="1"/>
              <a:t>System.</a:t>
            </a:r>
            <a:r>
              <a:rPr lang="en-US" b="1" i="1" dirty="0" err="1"/>
              <a:t>out</a:t>
            </a:r>
            <a:r>
              <a:rPr lang="en-US" dirty="0" err="1"/>
              <a:t>.println</a:t>
            </a:r>
            <a:r>
              <a:rPr lang="en-US" dirty="0"/>
              <a:t>("Default Access Modifier");</a:t>
            </a:r>
          </a:p>
          <a:p>
            <a:pPr marL="0" indent="0">
              <a:buNone/>
            </a:pPr>
            <a:r>
              <a:rPr lang="en-US" dirty="0"/>
              <a:t>}</a:t>
            </a:r>
          </a:p>
          <a:p>
            <a:pPr marL="0" indent="0">
              <a:buNone/>
            </a:pPr>
            <a:r>
              <a:rPr lang="en-US" dirty="0"/>
              <a:t>}</a:t>
            </a:r>
          </a:p>
          <a:p>
            <a:pPr marL="0" indent="0">
              <a:buNone/>
            </a:pPr>
            <a:endParaRPr lang="en-US" dirty="0"/>
          </a:p>
          <a:p>
            <a:pPr marL="0" indent="0">
              <a:buNone/>
            </a:pPr>
            <a:r>
              <a:rPr lang="en-US" dirty="0">
                <a:solidFill>
                  <a:srgbClr val="FF0000"/>
                </a:solidFill>
              </a:rPr>
              <a:t>DefaultModifierTest.java</a:t>
            </a:r>
          </a:p>
          <a:p>
            <a:pPr marL="0" indent="0">
              <a:buNone/>
            </a:pPr>
            <a:r>
              <a:rPr lang="en-US" b="1" dirty="0"/>
              <a:t>package</a:t>
            </a:r>
            <a:r>
              <a:rPr lang="en-US" dirty="0"/>
              <a:t> </a:t>
            </a:r>
            <a:r>
              <a:rPr lang="en-US" dirty="0" err="1"/>
              <a:t>oppsJavaProg</a:t>
            </a:r>
            <a:r>
              <a:rPr lang="en-US" dirty="0"/>
              <a:t>;</a:t>
            </a:r>
          </a:p>
          <a:p>
            <a:pPr marL="0" indent="0">
              <a:buNone/>
            </a:pPr>
            <a:r>
              <a:rPr lang="en-US" b="1" dirty="0"/>
              <a:t>public</a:t>
            </a:r>
            <a:r>
              <a:rPr lang="en-US" dirty="0"/>
              <a:t> </a:t>
            </a:r>
            <a:r>
              <a:rPr lang="en-US" b="1" dirty="0"/>
              <a:t>class</a:t>
            </a:r>
            <a:r>
              <a:rPr lang="en-US" dirty="0"/>
              <a:t> </a:t>
            </a:r>
            <a:r>
              <a:rPr lang="en-US" dirty="0" err="1"/>
              <a:t>DefaultModifierTest</a:t>
            </a:r>
            <a:r>
              <a:rPr lang="en-US" dirty="0"/>
              <a:t>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a:t>Student s = </a:t>
            </a:r>
            <a:r>
              <a:rPr lang="en-US" b="1" dirty="0"/>
              <a:t>new</a:t>
            </a:r>
            <a:r>
              <a:rPr lang="en-US" dirty="0"/>
              <a:t> Student();</a:t>
            </a:r>
          </a:p>
          <a:p>
            <a:pPr marL="0" indent="0">
              <a:buNone/>
            </a:pPr>
            <a:r>
              <a:rPr lang="en-US" dirty="0" err="1"/>
              <a:t>s.</a:t>
            </a:r>
            <a:r>
              <a:rPr lang="en-US" u="sng" dirty="0" err="1"/>
              <a:t>display</a:t>
            </a:r>
            <a:r>
              <a:rPr lang="en-US" dirty="0"/>
              <a:t>();</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134400728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1F5CDB-DD30-9956-939D-C6B5FFBF7C01}"/>
              </a:ext>
            </a:extLst>
          </p:cNvPr>
          <p:cNvSpPr>
            <a:spLocks noGrp="1"/>
          </p:cNvSpPr>
          <p:nvPr>
            <p:ph idx="1"/>
          </p:nvPr>
        </p:nvSpPr>
        <p:spPr>
          <a:xfrm>
            <a:off x="457200" y="381000"/>
            <a:ext cx="8229600" cy="6172200"/>
          </a:xfrm>
        </p:spPr>
        <p:txBody>
          <a:bodyPr>
            <a:normAutofit/>
          </a:bodyPr>
          <a:lstStyle/>
          <a:p>
            <a:pPr marL="0" lvl="0" indent="0" algn="just">
              <a:buNone/>
            </a:pPr>
            <a:r>
              <a:rPr lang="en-US" b="1" dirty="0">
                <a:latin typeface="Times New Roman" panose="02020603050405020304" pitchFamily="18" charset="0"/>
                <a:cs typeface="Times New Roman" panose="02020603050405020304" pitchFamily="18" charset="0"/>
              </a:rPr>
              <a:t>2) Private</a:t>
            </a:r>
          </a:p>
          <a:p>
            <a:pPr marL="971550" lvl="1" indent="-514350" algn="just">
              <a:buFont typeface="+mj-lt"/>
              <a:buAutoNum type="arabicPeriod"/>
            </a:pPr>
            <a:r>
              <a:rPr lang="en-US" dirty="0">
                <a:latin typeface="Times New Roman" panose="02020603050405020304" pitchFamily="18" charset="0"/>
                <a:cs typeface="Times New Roman" panose="02020603050405020304" pitchFamily="18" charset="0"/>
              </a:rPr>
              <a:t>The private access modifier is </a:t>
            </a:r>
            <a:r>
              <a:rPr lang="en-US" dirty="0">
                <a:solidFill>
                  <a:srgbClr val="FF0000"/>
                </a:solidFill>
                <a:latin typeface="Times New Roman" panose="02020603050405020304" pitchFamily="18" charset="0"/>
                <a:cs typeface="Times New Roman" panose="02020603050405020304" pitchFamily="18" charset="0"/>
              </a:rPr>
              <a:t>accessible only within the class.</a:t>
            </a:r>
            <a:endParaRPr lang="en-US" sz="4400" dirty="0">
              <a:solidFill>
                <a:srgbClr val="FF0000"/>
              </a:solidFill>
              <a:latin typeface="Times New Roman" panose="02020603050405020304" pitchFamily="18" charset="0"/>
              <a:cs typeface="Times New Roman" panose="02020603050405020304" pitchFamily="18" charset="0"/>
            </a:endParaRPr>
          </a:p>
          <a:p>
            <a:pPr marL="971550" lvl="1" indent="-514350" algn="just">
              <a:buFont typeface="+mj-lt"/>
              <a:buAutoNum type="arabicPeriod"/>
            </a:pPr>
            <a:r>
              <a:rPr lang="en-US" dirty="0">
                <a:latin typeface="Times New Roman" panose="02020603050405020304" pitchFamily="18" charset="0"/>
                <a:cs typeface="Times New Roman" panose="02020603050405020304" pitchFamily="18" charset="0"/>
              </a:rPr>
              <a:t>The private access modifier is specified using the </a:t>
            </a:r>
            <a:r>
              <a:rPr lang="en-US" dirty="0">
                <a:solidFill>
                  <a:srgbClr val="FF0000"/>
                </a:solidFill>
                <a:latin typeface="Times New Roman" panose="02020603050405020304" pitchFamily="18" charset="0"/>
                <a:cs typeface="Times New Roman" panose="02020603050405020304" pitchFamily="18" charset="0"/>
              </a:rPr>
              <a:t>keyword </a:t>
            </a:r>
            <a:r>
              <a:rPr lang="en-US" b="1" dirty="0">
                <a:solidFill>
                  <a:srgbClr val="FF0000"/>
                </a:solidFill>
                <a:latin typeface="Times New Roman" panose="02020603050405020304" pitchFamily="18" charset="0"/>
                <a:cs typeface="Times New Roman" panose="02020603050405020304" pitchFamily="18" charset="0"/>
              </a:rPr>
              <a:t>private</a:t>
            </a:r>
            <a:r>
              <a:rPr lang="en-US" dirty="0">
                <a:solidFill>
                  <a:srgbClr val="FF0000"/>
                </a:solidFill>
                <a:latin typeface="Times New Roman" panose="02020603050405020304" pitchFamily="18" charset="0"/>
                <a:cs typeface="Times New Roman" panose="02020603050405020304" pitchFamily="18" charset="0"/>
              </a:rPr>
              <a:t>.</a:t>
            </a:r>
            <a:endParaRPr lang="en-US" sz="4400" dirty="0">
              <a:solidFill>
                <a:srgbClr val="FF0000"/>
              </a:solidFill>
              <a:latin typeface="Times New Roman" panose="02020603050405020304" pitchFamily="18" charset="0"/>
              <a:cs typeface="Times New Roman" panose="02020603050405020304" pitchFamily="18" charset="0"/>
            </a:endParaRPr>
          </a:p>
          <a:p>
            <a:pPr marL="971550" lvl="1" indent="-514350" algn="just">
              <a:buFont typeface="+mj-lt"/>
              <a:buAutoNum type="arabicPeriod"/>
            </a:pPr>
            <a:r>
              <a:rPr lang="en-US" dirty="0">
                <a:latin typeface="Times New Roman" panose="02020603050405020304" pitchFamily="18" charset="0"/>
                <a:cs typeface="Times New Roman" panose="02020603050405020304" pitchFamily="18" charset="0"/>
              </a:rPr>
              <a:t>The methods or data members declared as private are accessible only </a:t>
            </a:r>
            <a:r>
              <a:rPr lang="en-US" b="1" dirty="0">
                <a:latin typeface="Times New Roman" panose="02020603050405020304" pitchFamily="18" charset="0"/>
                <a:cs typeface="Times New Roman" panose="02020603050405020304" pitchFamily="18" charset="0"/>
              </a:rPr>
              <a:t>within the class </a:t>
            </a:r>
            <a:r>
              <a:rPr lang="en-US" dirty="0">
                <a:latin typeface="Times New Roman" panose="02020603050405020304" pitchFamily="18" charset="0"/>
                <a:cs typeface="Times New Roman" panose="02020603050405020304" pitchFamily="18" charset="0"/>
              </a:rPr>
              <a:t>in which they are declared.</a:t>
            </a:r>
            <a:endParaRPr lang="en-US" sz="4400" dirty="0">
              <a:latin typeface="Times New Roman" panose="02020603050405020304" pitchFamily="18" charset="0"/>
              <a:cs typeface="Times New Roman" panose="02020603050405020304" pitchFamily="18" charset="0"/>
            </a:endParaRPr>
          </a:p>
          <a:p>
            <a:pPr marL="971550" lvl="1" indent="-514350" algn="just">
              <a:buFont typeface="+mj-lt"/>
              <a:buAutoNum type="arabicPeriod"/>
            </a:pPr>
            <a:r>
              <a:rPr lang="en-US" dirty="0">
                <a:latin typeface="Times New Roman" panose="02020603050405020304" pitchFamily="18" charset="0"/>
                <a:cs typeface="Times New Roman" panose="02020603050405020304" pitchFamily="18" charset="0"/>
              </a:rPr>
              <a:t>Any </a:t>
            </a:r>
            <a:r>
              <a:rPr lang="en-US" b="1" dirty="0">
                <a:solidFill>
                  <a:srgbClr val="FF0000"/>
                </a:solidFill>
                <a:latin typeface="Times New Roman" panose="02020603050405020304" pitchFamily="18" charset="0"/>
                <a:cs typeface="Times New Roman" panose="02020603050405020304" pitchFamily="18" charset="0"/>
              </a:rPr>
              <a:t>other class of the same package will not be able to access </a:t>
            </a:r>
            <a:r>
              <a:rPr lang="en-US" dirty="0">
                <a:latin typeface="Times New Roman" panose="02020603050405020304" pitchFamily="18" charset="0"/>
                <a:cs typeface="Times New Roman" panose="02020603050405020304" pitchFamily="18" charset="0"/>
              </a:rPr>
              <a:t>these members.</a:t>
            </a:r>
            <a:endParaRPr lang="en-US" sz="4400" dirty="0">
              <a:latin typeface="Times New Roman" panose="02020603050405020304" pitchFamily="18" charset="0"/>
              <a:cs typeface="Times New Roman" panose="02020603050405020304" pitchFamily="18" charset="0"/>
            </a:endParaRPr>
          </a:p>
          <a:p>
            <a:pPr marL="971550" lvl="1" indent="-514350" algn="just">
              <a:buFont typeface="+mj-lt"/>
              <a:buAutoNum type="arabicPeriod"/>
            </a:pPr>
            <a:r>
              <a:rPr lang="en-US" dirty="0">
                <a:latin typeface="Times New Roman" panose="02020603050405020304" pitchFamily="18" charset="0"/>
                <a:cs typeface="Times New Roman" panose="02020603050405020304" pitchFamily="18" charset="0"/>
              </a:rPr>
              <a:t>Top-level </a:t>
            </a:r>
            <a:r>
              <a:rPr lang="en-US" b="1" dirty="0">
                <a:solidFill>
                  <a:srgbClr val="FF0000"/>
                </a:solidFill>
                <a:latin typeface="Times New Roman" panose="02020603050405020304" pitchFamily="18" charset="0"/>
                <a:cs typeface="Times New Roman" panose="02020603050405020304" pitchFamily="18" charset="0"/>
              </a:rPr>
              <a:t>classes or interfaces can not be declared as private </a:t>
            </a:r>
            <a:r>
              <a:rPr lang="en-US" dirty="0">
                <a:latin typeface="Times New Roman" panose="02020603050405020304" pitchFamily="18" charset="0"/>
                <a:cs typeface="Times New Roman" panose="02020603050405020304" pitchFamily="18" charset="0"/>
              </a:rPr>
              <a:t>because private means “only visible within the enclosing class”.</a:t>
            </a:r>
            <a:endParaRPr lang="en-US" sz="4400"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66324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7C920C-5827-8FC1-CA46-61549AE4C2F9}"/>
              </a:ext>
            </a:extLst>
          </p:cNvPr>
          <p:cNvSpPr>
            <a:spLocks noGrp="1"/>
          </p:cNvSpPr>
          <p:nvPr>
            <p:ph idx="1"/>
          </p:nvPr>
        </p:nvSpPr>
        <p:spPr>
          <a:xfrm>
            <a:off x="457200" y="228600"/>
            <a:ext cx="8229600" cy="6400800"/>
          </a:xfrm>
        </p:spPr>
        <p:txBody>
          <a:bodyPr>
            <a:normAutofit fontScale="70000" lnSpcReduction="20000"/>
          </a:bodyPr>
          <a:lstStyle/>
          <a:p>
            <a:pPr marL="0" indent="0">
              <a:buNone/>
            </a:pPr>
            <a:r>
              <a:rPr lang="en-US" b="1" dirty="0"/>
              <a:t>package</a:t>
            </a:r>
            <a:r>
              <a:rPr lang="en-US" dirty="0"/>
              <a:t> </a:t>
            </a:r>
            <a:r>
              <a:rPr lang="en-US" dirty="0" err="1"/>
              <a:t>oppsJavaProg</a:t>
            </a:r>
            <a:r>
              <a:rPr lang="en-US" dirty="0"/>
              <a:t>;</a:t>
            </a:r>
          </a:p>
          <a:p>
            <a:pPr marL="0" indent="0">
              <a:buNone/>
            </a:pPr>
            <a:r>
              <a:rPr lang="en-US" b="1" dirty="0"/>
              <a:t>class</a:t>
            </a:r>
            <a:r>
              <a:rPr lang="en-US" dirty="0"/>
              <a:t> Student4 {</a:t>
            </a:r>
          </a:p>
          <a:p>
            <a:pPr marL="0" indent="0">
              <a:buNone/>
            </a:pPr>
            <a:r>
              <a:rPr lang="en-US" b="1" dirty="0"/>
              <a:t>private</a:t>
            </a:r>
            <a:r>
              <a:rPr lang="en-US" dirty="0"/>
              <a:t> </a:t>
            </a:r>
            <a:r>
              <a:rPr lang="en-US" b="1" dirty="0"/>
              <a:t>int</a:t>
            </a:r>
            <a:r>
              <a:rPr lang="en-US" dirty="0"/>
              <a:t> age = 20;</a:t>
            </a:r>
          </a:p>
          <a:p>
            <a:pPr marL="0" indent="0">
              <a:buNone/>
            </a:pPr>
            <a:r>
              <a:rPr lang="en-US" b="1" dirty="0"/>
              <a:t>private</a:t>
            </a:r>
            <a:r>
              <a:rPr lang="en-US" dirty="0"/>
              <a:t> </a:t>
            </a:r>
            <a:r>
              <a:rPr lang="en-US" b="1" dirty="0"/>
              <a:t>void</a:t>
            </a:r>
            <a:r>
              <a:rPr lang="en-US" dirty="0"/>
              <a:t> </a:t>
            </a:r>
            <a:r>
              <a:rPr lang="en-US" dirty="0" err="1"/>
              <a:t>showAge</a:t>
            </a:r>
            <a:r>
              <a:rPr lang="en-US" dirty="0"/>
              <a:t>() {</a:t>
            </a:r>
          </a:p>
          <a:p>
            <a:pPr marL="0" indent="0">
              <a:buNone/>
            </a:pPr>
            <a:r>
              <a:rPr lang="en-US" dirty="0" err="1"/>
              <a:t>System.</a:t>
            </a:r>
            <a:r>
              <a:rPr lang="en-US" b="1" i="1" dirty="0" err="1"/>
              <a:t>out</a:t>
            </a:r>
            <a:r>
              <a:rPr lang="en-US" dirty="0" err="1"/>
              <a:t>.println</a:t>
            </a:r>
            <a:r>
              <a:rPr lang="en-US" dirty="0"/>
              <a:t>("Age = " + age);</a:t>
            </a:r>
          </a:p>
          <a:p>
            <a:pPr marL="0" indent="0">
              <a:buNone/>
            </a:pPr>
            <a:r>
              <a:rPr lang="en-US" dirty="0"/>
              <a:t>}</a:t>
            </a:r>
          </a:p>
          <a:p>
            <a:pPr marL="0" indent="0">
              <a:buNone/>
            </a:pPr>
            <a:r>
              <a:rPr lang="en-US" b="1" dirty="0"/>
              <a:t>public</a:t>
            </a:r>
            <a:r>
              <a:rPr lang="en-US" dirty="0"/>
              <a:t> </a:t>
            </a:r>
            <a:r>
              <a:rPr lang="en-US" b="1" dirty="0"/>
              <a:t>void</a:t>
            </a:r>
            <a:r>
              <a:rPr lang="en-US" dirty="0"/>
              <a:t> display() {</a:t>
            </a:r>
          </a:p>
          <a:p>
            <a:pPr marL="0" indent="0">
              <a:buNone/>
            </a:pPr>
            <a:r>
              <a:rPr lang="en-US" dirty="0" err="1"/>
              <a:t>showAge</a:t>
            </a:r>
            <a:r>
              <a:rPr lang="en-US" dirty="0"/>
              <a:t>();</a:t>
            </a:r>
          </a:p>
          <a:p>
            <a:pPr marL="0" indent="0">
              <a:buNone/>
            </a:pPr>
            <a:r>
              <a:rPr lang="en-US" dirty="0"/>
              <a:t>}</a:t>
            </a:r>
          </a:p>
          <a:p>
            <a:pPr marL="0" indent="0">
              <a:buNone/>
            </a:pPr>
            <a:r>
              <a:rPr lang="en-US" dirty="0"/>
              <a:t>}</a:t>
            </a:r>
          </a:p>
          <a:p>
            <a:pPr marL="0" indent="0">
              <a:buNone/>
            </a:pPr>
            <a:r>
              <a:rPr lang="en-US" b="1" dirty="0"/>
              <a:t>public</a:t>
            </a:r>
            <a:r>
              <a:rPr lang="en-US" dirty="0"/>
              <a:t> </a:t>
            </a:r>
            <a:r>
              <a:rPr lang="en-US" b="1" dirty="0"/>
              <a:t>class</a:t>
            </a:r>
            <a:r>
              <a:rPr lang="en-US" dirty="0"/>
              <a:t> </a:t>
            </a:r>
            <a:r>
              <a:rPr lang="en-US" dirty="0" err="1"/>
              <a:t>PrivateModifier</a:t>
            </a:r>
            <a:r>
              <a:rPr lang="en-US" dirty="0"/>
              <a:t>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a:t>Student4 s = </a:t>
            </a:r>
            <a:r>
              <a:rPr lang="en-US" b="1" dirty="0"/>
              <a:t>new</a:t>
            </a:r>
            <a:r>
              <a:rPr lang="en-US" dirty="0"/>
              <a:t> Student4();</a:t>
            </a:r>
          </a:p>
          <a:p>
            <a:pPr marL="0" indent="0">
              <a:buNone/>
            </a:pPr>
            <a:r>
              <a:rPr lang="en-US" dirty="0" err="1"/>
              <a:t>s.display</a:t>
            </a:r>
            <a:r>
              <a:rPr lang="en-US" dirty="0"/>
              <a:t>(); //Public</a:t>
            </a:r>
          </a:p>
          <a:p>
            <a:pPr marL="0" indent="0">
              <a:buNone/>
            </a:pPr>
            <a:r>
              <a:rPr lang="en-US" dirty="0"/>
              <a:t>//</a:t>
            </a:r>
            <a:r>
              <a:rPr lang="en-US" dirty="0" err="1"/>
              <a:t>System.out.println</a:t>
            </a:r>
            <a:r>
              <a:rPr lang="en-US" dirty="0"/>
              <a:t>(</a:t>
            </a:r>
            <a:r>
              <a:rPr lang="en-US" dirty="0" err="1"/>
              <a:t>s.age</a:t>
            </a:r>
            <a:r>
              <a:rPr lang="en-US" dirty="0"/>
              <a:t>); // Error</a:t>
            </a:r>
          </a:p>
          <a:p>
            <a:pPr marL="0" indent="0">
              <a:buNone/>
            </a:pPr>
            <a:r>
              <a:rPr lang="en-US" dirty="0"/>
              <a:t>// </a:t>
            </a:r>
            <a:r>
              <a:rPr lang="en-US" dirty="0" err="1"/>
              <a:t>s.showAge</a:t>
            </a:r>
            <a:r>
              <a:rPr lang="en-US" dirty="0"/>
              <a:t>(); // Error</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278579667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16FB7E9-CB05-04DF-2C6E-AA390567BA7A}"/>
              </a:ext>
            </a:extLst>
          </p:cNvPr>
          <p:cNvSpPr>
            <a:spLocks noGrp="1"/>
          </p:cNvSpPr>
          <p:nvPr>
            <p:ph idx="1"/>
          </p:nvPr>
        </p:nvSpPr>
        <p:spPr>
          <a:xfrm>
            <a:off x="457200" y="304800"/>
            <a:ext cx="8229600" cy="5821363"/>
          </a:xfrm>
        </p:spPr>
        <p:txBody>
          <a:bodyPr>
            <a:normAutofit fontScale="92500" lnSpcReduction="10000"/>
          </a:bodyPr>
          <a:lstStyle/>
          <a:p>
            <a:pPr marL="0" lvl="0" indent="0">
              <a:buNone/>
            </a:pPr>
            <a:r>
              <a:rPr lang="en-US" sz="2800" b="1" dirty="0">
                <a:latin typeface="Times New Roman" panose="02020603050405020304" pitchFamily="18" charset="0"/>
                <a:cs typeface="Times New Roman" panose="02020603050405020304" pitchFamily="18" charset="0"/>
              </a:rPr>
              <a:t>3) Protected</a:t>
            </a:r>
          </a:p>
          <a:p>
            <a:pPr lvl="0"/>
            <a:r>
              <a:rPr lang="en-US" sz="2400" b="1" dirty="0">
                <a:latin typeface="Times New Roman" panose="02020603050405020304" pitchFamily="18" charset="0"/>
                <a:cs typeface="Times New Roman" panose="02020603050405020304" pitchFamily="18" charset="0"/>
              </a:rPr>
              <a:t>The protected access modifier is accessible within package and outside the package </a:t>
            </a:r>
            <a:r>
              <a:rPr lang="en-US" sz="2400" b="1" i="1" dirty="0">
                <a:solidFill>
                  <a:srgbClr val="FF0000"/>
                </a:solidFill>
                <a:latin typeface="Times New Roman" panose="02020603050405020304" pitchFamily="18" charset="0"/>
                <a:cs typeface="Times New Roman" panose="02020603050405020304" pitchFamily="18" charset="0"/>
              </a:rPr>
              <a:t>but through inheritance only.</a:t>
            </a:r>
            <a:endParaRPr lang="en-US" sz="4000" b="1" i="1" dirty="0">
              <a:solidFill>
                <a:srgbClr val="FF0000"/>
              </a:solidFill>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The protected access modifier is specified using the keyword </a:t>
            </a:r>
            <a:r>
              <a:rPr lang="en-US" sz="2800" b="1" dirty="0">
                <a:latin typeface="Times New Roman" panose="02020603050405020304" pitchFamily="18" charset="0"/>
                <a:cs typeface="Times New Roman" panose="02020603050405020304" pitchFamily="18" charset="0"/>
              </a:rPr>
              <a:t>protected</a:t>
            </a:r>
            <a:r>
              <a:rPr lang="en-US" sz="2800" dirty="0">
                <a:latin typeface="Times New Roman" panose="02020603050405020304" pitchFamily="18" charset="0"/>
                <a:cs typeface="Times New Roman" panose="02020603050405020304" pitchFamily="18" charset="0"/>
              </a:rPr>
              <a:t>.</a:t>
            </a:r>
          </a:p>
          <a:p>
            <a:endParaRPr lang="en-US" sz="2800" dirty="0">
              <a:latin typeface="Times New Roman" panose="02020603050405020304" pitchFamily="18" charset="0"/>
              <a:cs typeface="Times New Roman" panose="02020603050405020304" pitchFamily="18" charset="0"/>
            </a:endParaRPr>
          </a:p>
          <a:p>
            <a:pPr marL="0" indent="0">
              <a:buNone/>
            </a:pPr>
            <a:r>
              <a:rPr lang="en-US" sz="2800" dirty="0">
                <a:solidFill>
                  <a:srgbClr val="FF0000"/>
                </a:solidFill>
                <a:latin typeface="Times New Roman" panose="02020603050405020304" pitchFamily="18" charset="0"/>
                <a:cs typeface="Times New Roman" panose="02020603050405020304" pitchFamily="18" charset="0"/>
              </a:rPr>
              <a:t>ProtectedAnimal.java</a:t>
            </a:r>
          </a:p>
          <a:p>
            <a:pPr marL="0" indent="0">
              <a:buNone/>
            </a:pPr>
            <a:r>
              <a:rPr lang="en-US" b="1" dirty="0"/>
              <a:t>package</a:t>
            </a:r>
            <a:r>
              <a:rPr lang="en-US" dirty="0"/>
              <a:t> animals;</a:t>
            </a:r>
          </a:p>
          <a:p>
            <a:pPr marL="0" indent="0">
              <a:buNone/>
            </a:pPr>
            <a:r>
              <a:rPr lang="en-US" b="1" dirty="0"/>
              <a:t>public</a:t>
            </a:r>
            <a:r>
              <a:rPr lang="en-US" dirty="0"/>
              <a:t> </a:t>
            </a:r>
            <a:r>
              <a:rPr lang="en-US" b="1" dirty="0"/>
              <a:t>class</a:t>
            </a:r>
            <a:r>
              <a:rPr lang="en-US" dirty="0"/>
              <a:t> </a:t>
            </a:r>
            <a:r>
              <a:rPr lang="en-US" dirty="0" err="1"/>
              <a:t>ProtectedAnimal</a:t>
            </a:r>
            <a:r>
              <a:rPr lang="en-US" dirty="0"/>
              <a:t> {</a:t>
            </a:r>
          </a:p>
          <a:p>
            <a:pPr marL="0" indent="0">
              <a:buNone/>
            </a:pPr>
            <a:r>
              <a:rPr lang="en-US" b="1" dirty="0"/>
              <a:t>protected</a:t>
            </a:r>
            <a:r>
              <a:rPr lang="en-US" dirty="0"/>
              <a:t> </a:t>
            </a:r>
            <a:r>
              <a:rPr lang="en-US" b="1" dirty="0"/>
              <a:t>void</a:t>
            </a:r>
            <a:r>
              <a:rPr lang="en-US" dirty="0"/>
              <a:t> sound() {</a:t>
            </a:r>
          </a:p>
          <a:p>
            <a:pPr marL="0" indent="0">
              <a:buNone/>
            </a:pPr>
            <a:r>
              <a:rPr lang="en-US" dirty="0" err="1"/>
              <a:t>System.</a:t>
            </a:r>
            <a:r>
              <a:rPr lang="en-US" b="1" i="1" dirty="0" err="1"/>
              <a:t>out</a:t>
            </a:r>
            <a:r>
              <a:rPr lang="en-US" dirty="0" err="1"/>
              <a:t>.println</a:t>
            </a:r>
            <a:r>
              <a:rPr lang="en-US" dirty="0"/>
              <a:t>("Animal makes sound");</a:t>
            </a:r>
          </a:p>
          <a:p>
            <a:pPr marL="0" indent="0">
              <a:buNone/>
            </a:pPr>
            <a:r>
              <a:rPr lang="en-US" dirty="0"/>
              <a:t>}</a:t>
            </a:r>
          </a:p>
          <a:p>
            <a:pPr marL="0" indent="0">
              <a:buNone/>
            </a:pPr>
            <a:r>
              <a:rPr lang="en-US" dirty="0"/>
              <a:t>}</a:t>
            </a: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940789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07A2FB-C4BF-899D-4BEB-B9860C951217}"/>
              </a:ext>
            </a:extLst>
          </p:cNvPr>
          <p:cNvSpPr>
            <a:spLocks noGrp="1"/>
          </p:cNvSpPr>
          <p:nvPr>
            <p:ph idx="1"/>
          </p:nvPr>
        </p:nvSpPr>
        <p:spPr>
          <a:xfrm>
            <a:off x="457200" y="152400"/>
            <a:ext cx="8229600" cy="6629400"/>
          </a:xfrm>
        </p:spPr>
        <p:txBody>
          <a:bodyPr>
            <a:normAutofit fontScale="77500" lnSpcReduction="20000"/>
          </a:bodyPr>
          <a:lstStyle/>
          <a:p>
            <a:pPr marL="0" indent="0">
              <a:buNone/>
            </a:pPr>
            <a:r>
              <a:rPr lang="en-US" sz="2800" dirty="0">
                <a:solidFill>
                  <a:srgbClr val="FF0000"/>
                </a:solidFill>
                <a:latin typeface="Times New Roman" panose="02020603050405020304" pitchFamily="18" charset="0"/>
                <a:cs typeface="Times New Roman" panose="02020603050405020304" pitchFamily="18" charset="0"/>
              </a:rPr>
              <a:t>ProtectedAnimal.java</a:t>
            </a:r>
          </a:p>
          <a:p>
            <a:pPr marL="0" indent="0">
              <a:buNone/>
            </a:pPr>
            <a:r>
              <a:rPr lang="en-US" sz="3100" b="1" dirty="0">
                <a:latin typeface="Times New Roman" panose="02020603050405020304" pitchFamily="18" charset="0"/>
                <a:cs typeface="Times New Roman" panose="02020603050405020304" pitchFamily="18" charset="0"/>
              </a:rPr>
              <a:t>package</a:t>
            </a:r>
            <a:r>
              <a:rPr lang="en-US" sz="3100" dirty="0">
                <a:latin typeface="Times New Roman" panose="02020603050405020304" pitchFamily="18" charset="0"/>
                <a:cs typeface="Times New Roman" panose="02020603050405020304" pitchFamily="18" charset="0"/>
              </a:rPr>
              <a:t> pets;</a:t>
            </a:r>
          </a:p>
          <a:p>
            <a:pPr marL="0" indent="0">
              <a:buNone/>
            </a:pPr>
            <a:r>
              <a:rPr lang="en-US" sz="3100" b="1" dirty="0">
                <a:latin typeface="Times New Roman" panose="02020603050405020304" pitchFamily="18" charset="0"/>
                <a:cs typeface="Times New Roman" panose="02020603050405020304" pitchFamily="18" charset="0"/>
              </a:rPr>
              <a:t>import</a:t>
            </a:r>
            <a:r>
              <a:rPr lang="en-US" sz="3100" dirty="0">
                <a:latin typeface="Times New Roman" panose="02020603050405020304" pitchFamily="18" charset="0"/>
                <a:cs typeface="Times New Roman" panose="02020603050405020304" pitchFamily="18" charset="0"/>
              </a:rPr>
              <a:t> </a:t>
            </a:r>
            <a:r>
              <a:rPr lang="en-US" sz="3100" dirty="0" err="1">
                <a:latin typeface="Times New Roman" panose="02020603050405020304" pitchFamily="18" charset="0"/>
                <a:cs typeface="Times New Roman" panose="02020603050405020304" pitchFamily="18" charset="0"/>
              </a:rPr>
              <a:t>animals.ProtectedAnimal</a:t>
            </a:r>
            <a:r>
              <a:rPr lang="en-US" sz="3100" dirty="0">
                <a:latin typeface="Times New Roman" panose="02020603050405020304" pitchFamily="18" charset="0"/>
                <a:cs typeface="Times New Roman" panose="02020603050405020304" pitchFamily="18" charset="0"/>
              </a:rPr>
              <a:t>;</a:t>
            </a:r>
          </a:p>
          <a:p>
            <a:pPr marL="0" indent="0">
              <a:buNone/>
            </a:pPr>
            <a:r>
              <a:rPr lang="en-US" sz="3100" b="1" dirty="0">
                <a:latin typeface="Times New Roman" panose="02020603050405020304" pitchFamily="18" charset="0"/>
                <a:cs typeface="Times New Roman" panose="02020603050405020304" pitchFamily="18" charset="0"/>
              </a:rPr>
              <a:t>class</a:t>
            </a:r>
            <a:r>
              <a:rPr lang="en-US" sz="3100" dirty="0">
                <a:latin typeface="Times New Roman" panose="02020603050405020304" pitchFamily="18" charset="0"/>
                <a:cs typeface="Times New Roman" panose="02020603050405020304" pitchFamily="18" charset="0"/>
              </a:rPr>
              <a:t> </a:t>
            </a:r>
            <a:r>
              <a:rPr lang="en-US" sz="3100" dirty="0" err="1">
                <a:latin typeface="Times New Roman" panose="02020603050405020304" pitchFamily="18" charset="0"/>
                <a:cs typeface="Times New Roman" panose="02020603050405020304" pitchFamily="18" charset="0"/>
              </a:rPr>
              <a:t>ProtectedPets</a:t>
            </a:r>
            <a:r>
              <a:rPr lang="en-US" sz="3100" dirty="0">
                <a:latin typeface="Times New Roman" panose="02020603050405020304" pitchFamily="18" charset="0"/>
                <a:cs typeface="Times New Roman" panose="02020603050405020304" pitchFamily="18" charset="0"/>
              </a:rPr>
              <a:t> </a:t>
            </a:r>
            <a:r>
              <a:rPr lang="en-US" sz="3100" b="1" dirty="0">
                <a:latin typeface="Times New Roman" panose="02020603050405020304" pitchFamily="18" charset="0"/>
                <a:cs typeface="Times New Roman" panose="02020603050405020304" pitchFamily="18" charset="0"/>
              </a:rPr>
              <a:t>extends</a:t>
            </a:r>
            <a:r>
              <a:rPr lang="en-US" sz="3100" dirty="0">
                <a:latin typeface="Times New Roman" panose="02020603050405020304" pitchFamily="18" charset="0"/>
                <a:cs typeface="Times New Roman" panose="02020603050405020304" pitchFamily="18" charset="0"/>
              </a:rPr>
              <a:t> </a:t>
            </a:r>
            <a:r>
              <a:rPr lang="en-US" sz="3100" dirty="0" err="1">
                <a:latin typeface="Times New Roman" panose="02020603050405020304" pitchFamily="18" charset="0"/>
                <a:cs typeface="Times New Roman" panose="02020603050405020304" pitchFamily="18" charset="0"/>
              </a:rPr>
              <a:t>ProtectedAnimal</a:t>
            </a:r>
            <a:r>
              <a:rPr lang="en-US" sz="3100" dirty="0">
                <a:latin typeface="Times New Roman" panose="02020603050405020304" pitchFamily="18" charset="0"/>
                <a:cs typeface="Times New Roman" panose="02020603050405020304" pitchFamily="18" charset="0"/>
              </a:rPr>
              <a:t> {</a:t>
            </a:r>
          </a:p>
          <a:p>
            <a:pPr marL="0" indent="0">
              <a:buNone/>
            </a:pPr>
            <a:r>
              <a:rPr lang="en-US" sz="3100" b="1" dirty="0">
                <a:latin typeface="Times New Roman" panose="02020603050405020304" pitchFamily="18" charset="0"/>
                <a:cs typeface="Times New Roman" panose="02020603050405020304" pitchFamily="18" charset="0"/>
              </a:rPr>
              <a:t>void</a:t>
            </a:r>
            <a:r>
              <a:rPr lang="en-US" sz="3100" dirty="0">
                <a:latin typeface="Times New Roman" panose="02020603050405020304" pitchFamily="18" charset="0"/>
                <a:cs typeface="Times New Roman" panose="02020603050405020304" pitchFamily="18" charset="0"/>
              </a:rPr>
              <a:t> display() {</a:t>
            </a:r>
          </a:p>
          <a:p>
            <a:pPr marL="0" indent="0">
              <a:buNone/>
            </a:pPr>
            <a:r>
              <a:rPr lang="en-US" sz="3100" dirty="0">
                <a:latin typeface="Times New Roman" panose="02020603050405020304" pitchFamily="18" charset="0"/>
                <a:cs typeface="Times New Roman" panose="02020603050405020304" pitchFamily="18" charset="0"/>
              </a:rPr>
              <a:t>sound();</a:t>
            </a:r>
          </a:p>
          <a:p>
            <a:pPr marL="0" indent="0">
              <a:buNone/>
            </a:pPr>
            <a:r>
              <a:rPr lang="en-US" sz="3100" dirty="0">
                <a:latin typeface="Times New Roman" panose="02020603050405020304" pitchFamily="18" charset="0"/>
                <a:cs typeface="Times New Roman" panose="02020603050405020304" pitchFamily="18" charset="0"/>
              </a:rPr>
              <a:t>}</a:t>
            </a:r>
          </a:p>
          <a:p>
            <a:pPr marL="0" indent="0">
              <a:buNone/>
            </a:pPr>
            <a:r>
              <a:rPr lang="en-US" sz="31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r>
              <a:rPr lang="en-US" sz="2800" dirty="0">
                <a:solidFill>
                  <a:srgbClr val="FF0000"/>
                </a:solidFill>
                <a:latin typeface="Times New Roman" panose="02020603050405020304" pitchFamily="18" charset="0"/>
                <a:cs typeface="Times New Roman" panose="02020603050405020304" pitchFamily="18" charset="0"/>
              </a:rPr>
              <a:t>ProctectedModifier.java</a:t>
            </a:r>
          </a:p>
          <a:p>
            <a:pPr marL="0" indent="0">
              <a:buNone/>
            </a:pPr>
            <a:r>
              <a:rPr lang="en-US" b="1" dirty="0"/>
              <a:t>package</a:t>
            </a:r>
            <a:r>
              <a:rPr lang="en-US" dirty="0"/>
              <a:t> pets;</a:t>
            </a:r>
          </a:p>
          <a:p>
            <a:pPr marL="0" indent="0">
              <a:buNone/>
            </a:pPr>
            <a:r>
              <a:rPr lang="en-US" b="1" dirty="0"/>
              <a:t>public</a:t>
            </a:r>
            <a:r>
              <a:rPr lang="en-US" dirty="0"/>
              <a:t> </a:t>
            </a:r>
            <a:r>
              <a:rPr lang="en-US" b="1" dirty="0"/>
              <a:t>class</a:t>
            </a:r>
            <a:r>
              <a:rPr lang="en-US" dirty="0"/>
              <a:t> </a:t>
            </a:r>
            <a:r>
              <a:rPr lang="en-US" dirty="0" err="1"/>
              <a:t>ProctectedModifier</a:t>
            </a:r>
            <a:r>
              <a:rPr lang="en-US" dirty="0"/>
              <a:t>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err="1"/>
              <a:t>ProtectedPets</a:t>
            </a:r>
            <a:r>
              <a:rPr lang="en-US" dirty="0"/>
              <a:t> d = </a:t>
            </a:r>
            <a:r>
              <a:rPr lang="en-US" b="1" dirty="0"/>
              <a:t>new</a:t>
            </a:r>
            <a:r>
              <a:rPr lang="en-US" dirty="0"/>
              <a:t> </a:t>
            </a:r>
            <a:r>
              <a:rPr lang="en-US" dirty="0" err="1"/>
              <a:t>ProtectedPets</a:t>
            </a:r>
            <a:r>
              <a:rPr lang="en-US" dirty="0"/>
              <a:t>();</a:t>
            </a:r>
          </a:p>
          <a:p>
            <a:pPr marL="0" indent="0">
              <a:buNone/>
            </a:pPr>
            <a:r>
              <a:rPr lang="en-US" dirty="0" err="1"/>
              <a:t>d.display</a:t>
            </a:r>
            <a:r>
              <a:rPr lang="en-US" dirty="0"/>
              <a:t>();</a:t>
            </a:r>
          </a:p>
          <a:p>
            <a:pPr marL="0" indent="0">
              <a:buNone/>
            </a:pPr>
            <a:r>
              <a:rPr lang="en-US" dirty="0"/>
              <a:t>}</a:t>
            </a:r>
          </a:p>
          <a:p>
            <a:pPr marL="0" indent="0">
              <a:buNone/>
            </a:pPr>
            <a:r>
              <a:rPr lang="en-US" dirty="0"/>
              <a: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6580998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F5CAA5-9553-9E55-E987-11484F441C3C}"/>
              </a:ext>
            </a:extLst>
          </p:cNvPr>
          <p:cNvSpPr>
            <a:spLocks noGrp="1"/>
          </p:cNvSpPr>
          <p:nvPr>
            <p:ph idx="1"/>
          </p:nvPr>
        </p:nvSpPr>
        <p:spPr>
          <a:xfrm>
            <a:off x="457200" y="228600"/>
            <a:ext cx="8229600" cy="5897563"/>
          </a:xfrm>
        </p:spPr>
        <p:txBody>
          <a:bodyPr>
            <a:normAutofit/>
          </a:bodyPr>
          <a:lstStyle/>
          <a:p>
            <a:pPr marL="0" lvl="0" indent="0">
              <a:buNone/>
            </a:pPr>
            <a:r>
              <a:rPr lang="en-US" sz="2200" b="1" dirty="0">
                <a:latin typeface="Times New Roman" panose="02020603050405020304" pitchFamily="18" charset="0"/>
                <a:cs typeface="Times New Roman" panose="02020603050405020304" pitchFamily="18" charset="0"/>
              </a:rPr>
              <a:t>4) Public</a:t>
            </a:r>
          </a:p>
          <a:p>
            <a:pPr lvl="1"/>
            <a:r>
              <a:rPr lang="en-US" sz="2200" dirty="0">
                <a:latin typeface="Times New Roman" panose="02020603050405020304" pitchFamily="18" charset="0"/>
                <a:cs typeface="Times New Roman" panose="02020603050405020304" pitchFamily="18" charset="0"/>
              </a:rPr>
              <a:t>The </a:t>
            </a:r>
            <a:r>
              <a:rPr lang="en-US" sz="2200" b="1" dirty="0">
                <a:latin typeface="Times New Roman" panose="02020603050405020304" pitchFamily="18" charset="0"/>
                <a:cs typeface="Times New Roman" panose="02020603050405020304" pitchFamily="18" charset="0"/>
              </a:rPr>
              <a:t>public access modifier </a:t>
            </a:r>
            <a:r>
              <a:rPr lang="en-US" sz="2200" dirty="0">
                <a:latin typeface="Times New Roman" panose="02020603050405020304" pitchFamily="18" charset="0"/>
                <a:cs typeface="Times New Roman" panose="02020603050405020304" pitchFamily="18" charset="0"/>
              </a:rPr>
              <a:t>is </a:t>
            </a:r>
            <a:r>
              <a:rPr lang="en-US" sz="2200" b="1" i="1" dirty="0">
                <a:solidFill>
                  <a:srgbClr val="FF0000"/>
                </a:solidFill>
                <a:latin typeface="Times New Roman" panose="02020603050405020304" pitchFamily="18" charset="0"/>
                <a:cs typeface="Times New Roman" panose="02020603050405020304" pitchFamily="18" charset="0"/>
              </a:rPr>
              <a:t>accessible everywhere</a:t>
            </a:r>
            <a:r>
              <a:rPr lang="en-US" sz="2200" dirty="0">
                <a:latin typeface="Times New Roman" panose="02020603050405020304" pitchFamily="18" charset="0"/>
                <a:cs typeface="Times New Roman" panose="02020603050405020304" pitchFamily="18" charset="0"/>
              </a:rPr>
              <a:t>. It has the widest scope among all other modifiers.</a:t>
            </a:r>
          </a:p>
          <a:p>
            <a:r>
              <a:rPr lang="en-US" sz="2200" dirty="0">
                <a:latin typeface="Times New Roman" panose="02020603050405020304" pitchFamily="18" charset="0"/>
                <a:cs typeface="Times New Roman" panose="02020603050405020304" pitchFamily="18" charset="0"/>
              </a:rPr>
              <a:t>The public access modifier is specified using the keyword </a:t>
            </a:r>
            <a:r>
              <a:rPr lang="en-US" sz="2200" b="1" dirty="0">
                <a:latin typeface="Times New Roman" panose="02020603050405020304" pitchFamily="18" charset="0"/>
                <a:cs typeface="Times New Roman" panose="02020603050405020304" pitchFamily="18" charset="0"/>
              </a:rPr>
              <a:t>public</a:t>
            </a:r>
            <a:r>
              <a:rPr lang="en-US" sz="2200" dirty="0">
                <a:latin typeface="Times New Roman" panose="02020603050405020304" pitchFamily="18" charset="0"/>
                <a:cs typeface="Times New Roman" panose="02020603050405020304" pitchFamily="18" charset="0"/>
              </a:rPr>
              <a:t>.</a:t>
            </a:r>
          </a:p>
          <a:p>
            <a:endParaRPr lang="en-US" sz="2200" dirty="0">
              <a:latin typeface="Times New Roman" panose="02020603050405020304" pitchFamily="18" charset="0"/>
              <a:cs typeface="Times New Roman" panose="02020603050405020304" pitchFamily="18" charset="0"/>
            </a:endParaRPr>
          </a:p>
          <a:p>
            <a:pPr marL="0" indent="0">
              <a:buNone/>
            </a:pPr>
            <a:r>
              <a:rPr lang="en-US" sz="2800" dirty="0">
                <a:solidFill>
                  <a:srgbClr val="FF0000"/>
                </a:solidFill>
                <a:latin typeface="Times New Roman" panose="02020603050405020304" pitchFamily="18" charset="0"/>
                <a:cs typeface="Times New Roman" panose="02020603050405020304" pitchFamily="18" charset="0"/>
              </a:rPr>
              <a:t>PubliceModifierStudent.java</a:t>
            </a:r>
          </a:p>
          <a:p>
            <a:pPr marL="0" indent="0">
              <a:buNone/>
            </a:pPr>
            <a:r>
              <a:rPr lang="en-US" sz="2400" b="1" dirty="0">
                <a:latin typeface="Times New Roman" panose="02020603050405020304" pitchFamily="18" charset="0"/>
                <a:cs typeface="Times New Roman" panose="02020603050405020304" pitchFamily="18" charset="0"/>
              </a:rPr>
              <a:t>package</a:t>
            </a:r>
            <a:r>
              <a:rPr lang="en-US" sz="2400" dirty="0">
                <a:latin typeface="Times New Roman" panose="02020603050405020304" pitchFamily="18" charset="0"/>
                <a:cs typeface="Times New Roman" panose="02020603050405020304" pitchFamily="18" charset="0"/>
              </a:rPr>
              <a:t> pack1;</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PubliceModifierStudent</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String name = "ABC";</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display() {</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("Student Name: " + name);</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5792927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723B4C5-EFC1-0E24-46C7-F4B45D668BD9}"/>
              </a:ext>
            </a:extLst>
          </p:cNvPr>
          <p:cNvSpPr>
            <a:spLocks noGrp="1"/>
          </p:cNvSpPr>
          <p:nvPr>
            <p:ph idx="1"/>
          </p:nvPr>
        </p:nvSpPr>
        <p:spPr>
          <a:xfrm>
            <a:off x="457200" y="228600"/>
            <a:ext cx="8229600" cy="5897563"/>
          </a:xfrm>
        </p:spPr>
        <p:txBody>
          <a:bodyPr>
            <a:normAutofit lnSpcReduction="10000"/>
          </a:bodyPr>
          <a:lstStyle/>
          <a:p>
            <a:pPr marL="0" indent="0">
              <a:buNone/>
            </a:pPr>
            <a:r>
              <a:rPr lang="en-US" sz="2800" dirty="0">
                <a:solidFill>
                  <a:srgbClr val="FF0000"/>
                </a:solidFill>
                <a:latin typeface="Times New Roman" panose="02020603050405020304" pitchFamily="18" charset="0"/>
                <a:cs typeface="Times New Roman" panose="02020603050405020304" pitchFamily="18" charset="0"/>
              </a:rPr>
              <a:t>PublicModifierTest.java</a:t>
            </a:r>
            <a:endParaRPr lang="en-US" sz="2800" b="1" dirty="0">
              <a:solidFill>
                <a:srgbClr val="FF0000"/>
              </a:solidFill>
              <a:latin typeface="Times New Roman" panose="02020603050405020304" pitchFamily="18" charset="0"/>
              <a:cs typeface="Times New Roman" panose="02020603050405020304" pitchFamily="18" charset="0"/>
            </a:endParaRPr>
          </a:p>
          <a:p>
            <a:pPr marL="0" indent="0">
              <a:buNone/>
            </a:pPr>
            <a:endParaRPr lang="en-US" sz="2800" b="1" dirty="0">
              <a:latin typeface="Times New Roman" panose="02020603050405020304" pitchFamily="18" charset="0"/>
              <a:cs typeface="Times New Roman" panose="02020603050405020304" pitchFamily="18" charset="0"/>
            </a:endParaRPr>
          </a:p>
          <a:p>
            <a:pPr marL="0" indent="0">
              <a:buNone/>
            </a:pPr>
            <a:r>
              <a:rPr lang="en-US" sz="2800" b="1" dirty="0">
                <a:latin typeface="Times New Roman" panose="02020603050405020304" pitchFamily="18" charset="0"/>
                <a:cs typeface="Times New Roman" panose="02020603050405020304" pitchFamily="18" charset="0"/>
              </a:rPr>
              <a:t>package</a:t>
            </a:r>
            <a:r>
              <a:rPr lang="en-US" sz="2800" dirty="0">
                <a:latin typeface="Times New Roman" panose="02020603050405020304" pitchFamily="18" charset="0"/>
                <a:cs typeface="Times New Roman" panose="02020603050405020304" pitchFamily="18" charset="0"/>
              </a:rPr>
              <a:t> pack2;</a:t>
            </a:r>
          </a:p>
          <a:p>
            <a:pPr marL="0" indent="0">
              <a:buNone/>
            </a:pPr>
            <a:r>
              <a:rPr lang="en-US" sz="2800" b="1" dirty="0">
                <a:latin typeface="Times New Roman" panose="02020603050405020304" pitchFamily="18" charset="0"/>
                <a:cs typeface="Times New Roman" panose="02020603050405020304" pitchFamily="18" charset="0"/>
              </a:rPr>
              <a:t>import</a:t>
            </a:r>
            <a:r>
              <a:rPr lang="en-US" sz="2800" dirty="0">
                <a:latin typeface="Times New Roman" panose="02020603050405020304" pitchFamily="18" charset="0"/>
                <a:cs typeface="Times New Roman" panose="02020603050405020304" pitchFamily="18" charset="0"/>
              </a:rPr>
              <a:t> pack1.PubliceModifierStudent;</a:t>
            </a:r>
          </a:p>
          <a:p>
            <a:pPr marL="0" indent="0">
              <a:buNone/>
            </a:pPr>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class</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PublicModifierTest</a:t>
            </a:r>
            <a:r>
              <a:rPr lang="en-US" sz="2800" dirty="0">
                <a:latin typeface="Times New Roman" panose="02020603050405020304" pitchFamily="18" charset="0"/>
                <a:cs typeface="Times New Roman" panose="02020603050405020304" pitchFamily="18" charset="0"/>
              </a:rPr>
              <a:t> {</a:t>
            </a:r>
          </a:p>
          <a:p>
            <a:pPr marL="0" indent="0">
              <a:buNone/>
            </a:pPr>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static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void</a:t>
            </a:r>
            <a:r>
              <a:rPr lang="en-US" sz="2800" dirty="0">
                <a:latin typeface="Times New Roman" panose="02020603050405020304" pitchFamily="18" charset="0"/>
                <a:cs typeface="Times New Roman" panose="02020603050405020304" pitchFamily="18" charset="0"/>
              </a:rPr>
              <a:t> main(String[] </a:t>
            </a:r>
            <a:r>
              <a:rPr lang="en-US" sz="2800" dirty="0" err="1">
                <a:latin typeface="Times New Roman" panose="02020603050405020304" pitchFamily="18" charset="0"/>
                <a:cs typeface="Times New Roman" panose="02020603050405020304" pitchFamily="18" charset="0"/>
              </a:rPr>
              <a:t>args</a:t>
            </a:r>
            <a:r>
              <a:rPr lang="en-US" sz="2800" dirty="0">
                <a:latin typeface="Times New Roman" panose="02020603050405020304" pitchFamily="18" charset="0"/>
                <a:cs typeface="Times New Roman" panose="02020603050405020304" pitchFamily="18" charset="0"/>
              </a:rPr>
              <a:t>) {</a:t>
            </a:r>
          </a:p>
          <a:p>
            <a:pPr marL="0" indent="0">
              <a:buNone/>
            </a:pPr>
            <a:r>
              <a:rPr lang="en-US" sz="2800" dirty="0" err="1">
                <a:latin typeface="Times New Roman" panose="02020603050405020304" pitchFamily="18" charset="0"/>
                <a:cs typeface="Times New Roman" panose="02020603050405020304" pitchFamily="18" charset="0"/>
              </a:rPr>
              <a:t>PubliceModifierStudent</a:t>
            </a:r>
            <a:r>
              <a:rPr lang="en-US" sz="2800" dirty="0">
                <a:latin typeface="Times New Roman" panose="02020603050405020304" pitchFamily="18" charset="0"/>
                <a:cs typeface="Times New Roman" panose="02020603050405020304" pitchFamily="18" charset="0"/>
              </a:rPr>
              <a:t> s = </a:t>
            </a:r>
            <a:r>
              <a:rPr lang="en-US" sz="2800" b="1" dirty="0">
                <a:latin typeface="Times New Roman" panose="02020603050405020304" pitchFamily="18" charset="0"/>
                <a:cs typeface="Times New Roman" panose="02020603050405020304" pitchFamily="18" charset="0"/>
              </a:rPr>
              <a:t>new</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PubliceModifierStudent</a:t>
            </a:r>
            <a:r>
              <a:rPr lang="en-US" sz="2800" dirty="0">
                <a:latin typeface="Times New Roman" panose="02020603050405020304" pitchFamily="18" charset="0"/>
                <a:cs typeface="Times New Roman" panose="02020603050405020304" pitchFamily="18" charset="0"/>
              </a:rPr>
              <a:t>();</a:t>
            </a:r>
          </a:p>
          <a:p>
            <a:pPr marL="0" indent="0">
              <a:buNone/>
            </a:pPr>
            <a:r>
              <a:rPr lang="en-US" sz="2800" dirty="0" err="1">
                <a:latin typeface="Times New Roman" panose="02020603050405020304" pitchFamily="18" charset="0"/>
                <a:cs typeface="Times New Roman" panose="02020603050405020304" pitchFamily="18" charset="0"/>
              </a:rPr>
              <a:t>s.display</a:t>
            </a:r>
            <a:r>
              <a:rPr lang="en-US" sz="2800" dirty="0">
                <a:latin typeface="Times New Roman" panose="02020603050405020304" pitchFamily="18" charset="0"/>
                <a:cs typeface="Times New Roman" panose="02020603050405020304" pitchFamily="18" charset="0"/>
              </a:rPr>
              <a:t>();</a:t>
            </a:r>
          </a:p>
          <a:p>
            <a:pPr marL="0" indent="0">
              <a:buNone/>
            </a:pPr>
            <a:r>
              <a:rPr lang="en-US" sz="2800" dirty="0" err="1">
                <a:latin typeface="Times New Roman" panose="02020603050405020304" pitchFamily="18" charset="0"/>
                <a:cs typeface="Times New Roman" panose="02020603050405020304" pitchFamily="18" charset="0"/>
              </a:rPr>
              <a:t>System.</a:t>
            </a:r>
            <a:r>
              <a:rPr lang="en-US" sz="2800" b="1" i="1" dirty="0" err="1">
                <a:latin typeface="Times New Roman" panose="02020603050405020304" pitchFamily="18" charset="0"/>
                <a:cs typeface="Times New Roman" panose="02020603050405020304" pitchFamily="18" charset="0"/>
              </a:rPr>
              <a:t>out</a:t>
            </a:r>
            <a:r>
              <a:rPr lang="en-US" sz="2800" dirty="0" err="1">
                <a:latin typeface="Times New Roman" panose="02020603050405020304" pitchFamily="18" charset="0"/>
                <a:cs typeface="Times New Roman" panose="02020603050405020304" pitchFamily="18" charset="0"/>
              </a:rPr>
              <a:t>.println</a:t>
            </a:r>
            <a:r>
              <a:rPr lang="en-US" sz="2800" dirty="0">
                <a:latin typeface="Times New Roman" panose="02020603050405020304" pitchFamily="18" charset="0"/>
                <a:cs typeface="Times New Roman" panose="02020603050405020304" pitchFamily="18" charset="0"/>
              </a:rPr>
              <a:t>(s.name);</a:t>
            </a:r>
          </a:p>
          <a:p>
            <a:pPr marL="0" indent="0">
              <a:buNone/>
            </a:pPr>
            <a:r>
              <a:rPr lang="en-US" sz="2800" dirty="0">
                <a:latin typeface="Times New Roman" panose="02020603050405020304" pitchFamily="18" charset="0"/>
                <a:cs typeface="Times New Roman" panose="02020603050405020304" pitchFamily="18" charset="0"/>
              </a:rPr>
              <a:t>}</a:t>
            </a:r>
          </a:p>
          <a:p>
            <a:pPr marL="0" indent="0">
              <a:buNone/>
            </a:pPr>
            <a:r>
              <a:rPr lang="en-US" sz="2800" dirty="0">
                <a:latin typeface="Times New Roman" panose="02020603050405020304" pitchFamily="18" charset="0"/>
                <a:cs typeface="Times New Roman" panose="02020603050405020304" pitchFamily="18" charset="0"/>
              </a:rPr>
              <a:t>}</a:t>
            </a:r>
          </a:p>
          <a:p>
            <a:pPr marL="0" indent="0">
              <a:buNone/>
            </a:pP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7597723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11C5F4EA-BE6B-9C04-B7A3-8B82BA598DCD}"/>
              </a:ext>
            </a:extLst>
          </p:cNvPr>
          <p:cNvGraphicFramePr>
            <a:graphicFrameLocks noGrp="1"/>
          </p:cNvGraphicFramePr>
          <p:nvPr>
            <p:ph idx="1"/>
            <p:extLst>
              <p:ext uri="{D42A27DB-BD31-4B8C-83A1-F6EECF244321}">
                <p14:modId xmlns:p14="http://schemas.microsoft.com/office/powerpoint/2010/main" val="2852570923"/>
              </p:ext>
            </p:extLst>
          </p:nvPr>
        </p:nvGraphicFramePr>
        <p:xfrm>
          <a:off x="228600" y="1828800"/>
          <a:ext cx="8763000" cy="2451280"/>
        </p:xfrm>
        <a:graphic>
          <a:graphicData uri="http://schemas.openxmlformats.org/drawingml/2006/table">
            <a:tbl>
              <a:tblPr/>
              <a:tblGrid>
                <a:gridCol w="1752600">
                  <a:extLst>
                    <a:ext uri="{9D8B030D-6E8A-4147-A177-3AD203B41FA5}">
                      <a16:colId xmlns:a16="http://schemas.microsoft.com/office/drawing/2014/main" val="2640789267"/>
                    </a:ext>
                  </a:extLst>
                </a:gridCol>
                <a:gridCol w="1752600">
                  <a:extLst>
                    <a:ext uri="{9D8B030D-6E8A-4147-A177-3AD203B41FA5}">
                      <a16:colId xmlns:a16="http://schemas.microsoft.com/office/drawing/2014/main" val="2872062078"/>
                    </a:ext>
                  </a:extLst>
                </a:gridCol>
                <a:gridCol w="1752600">
                  <a:extLst>
                    <a:ext uri="{9D8B030D-6E8A-4147-A177-3AD203B41FA5}">
                      <a16:colId xmlns:a16="http://schemas.microsoft.com/office/drawing/2014/main" val="3710564078"/>
                    </a:ext>
                  </a:extLst>
                </a:gridCol>
                <a:gridCol w="1752600">
                  <a:extLst>
                    <a:ext uri="{9D8B030D-6E8A-4147-A177-3AD203B41FA5}">
                      <a16:colId xmlns:a16="http://schemas.microsoft.com/office/drawing/2014/main" val="3181316250"/>
                    </a:ext>
                  </a:extLst>
                </a:gridCol>
                <a:gridCol w="1752600">
                  <a:extLst>
                    <a:ext uri="{9D8B030D-6E8A-4147-A177-3AD203B41FA5}">
                      <a16:colId xmlns:a16="http://schemas.microsoft.com/office/drawing/2014/main" val="2076836710"/>
                    </a:ext>
                  </a:extLst>
                </a:gridCol>
              </a:tblGrid>
              <a:tr h="962480">
                <a:tc>
                  <a:txBody>
                    <a:bodyPr/>
                    <a:lstStyle/>
                    <a:p>
                      <a:pPr>
                        <a:buNone/>
                      </a:pPr>
                      <a:r>
                        <a:rPr lang="en-US"/>
                        <a:t>Access Modifier</a:t>
                      </a:r>
                    </a:p>
                  </a:txBody>
                  <a:tcPr anchor="ctr">
                    <a:lnL>
                      <a:noFill/>
                    </a:lnL>
                    <a:lnR>
                      <a:noFill/>
                    </a:lnR>
                    <a:lnT>
                      <a:noFill/>
                    </a:lnT>
                    <a:lnB>
                      <a:noFill/>
                    </a:lnB>
                    <a:noFill/>
                  </a:tcPr>
                </a:tc>
                <a:tc>
                  <a:txBody>
                    <a:bodyPr/>
                    <a:lstStyle/>
                    <a:p>
                      <a:pPr algn="ctr">
                        <a:buNone/>
                      </a:pPr>
                      <a:r>
                        <a:rPr lang="en-US"/>
                        <a:t>Same Class</a:t>
                      </a:r>
                    </a:p>
                  </a:txBody>
                  <a:tcPr anchor="ctr">
                    <a:lnL>
                      <a:noFill/>
                    </a:lnL>
                    <a:lnR>
                      <a:noFill/>
                    </a:lnR>
                    <a:lnT>
                      <a:noFill/>
                    </a:lnT>
                    <a:lnB>
                      <a:noFill/>
                    </a:lnB>
                    <a:noFill/>
                  </a:tcPr>
                </a:tc>
                <a:tc>
                  <a:txBody>
                    <a:bodyPr/>
                    <a:lstStyle/>
                    <a:p>
                      <a:pPr algn="ctr">
                        <a:buNone/>
                      </a:pPr>
                      <a:r>
                        <a:rPr lang="en-US" dirty="0"/>
                        <a:t>Same Package</a:t>
                      </a:r>
                    </a:p>
                  </a:txBody>
                  <a:tcPr anchor="ctr">
                    <a:lnL>
                      <a:noFill/>
                    </a:lnL>
                    <a:lnR>
                      <a:noFill/>
                    </a:lnR>
                    <a:lnT>
                      <a:noFill/>
                    </a:lnT>
                    <a:lnB>
                      <a:noFill/>
                    </a:lnB>
                    <a:noFill/>
                  </a:tcPr>
                </a:tc>
                <a:tc>
                  <a:txBody>
                    <a:bodyPr/>
                    <a:lstStyle/>
                    <a:p>
                      <a:r>
                        <a:rPr lang="en-US" sz="1800" b="1" kern="1200" dirty="0">
                          <a:solidFill>
                            <a:schemeClr val="tx1"/>
                          </a:solidFill>
                          <a:effectLst/>
                          <a:latin typeface="+mn-lt"/>
                          <a:ea typeface="+mn-ea"/>
                          <a:cs typeface="+mn-cs"/>
                        </a:rPr>
                        <a:t>outside package</a:t>
                      </a:r>
                      <a:endParaRPr lang="en-US" sz="1800" kern="1200" dirty="0">
                        <a:solidFill>
                          <a:schemeClr val="tx1"/>
                        </a:solidFill>
                        <a:effectLst/>
                        <a:latin typeface="+mn-lt"/>
                        <a:ea typeface="+mn-ea"/>
                        <a:cs typeface="+mn-cs"/>
                      </a:endParaRPr>
                    </a:p>
                    <a:p>
                      <a:r>
                        <a:rPr lang="en-US" sz="1800" b="1" kern="1200" dirty="0">
                          <a:solidFill>
                            <a:schemeClr val="tx1"/>
                          </a:solidFill>
                          <a:effectLst/>
                          <a:latin typeface="+mn-lt"/>
                          <a:ea typeface="+mn-ea"/>
                          <a:cs typeface="+mn-cs"/>
                        </a:rPr>
                        <a:t>by subclass only</a:t>
                      </a:r>
                      <a:endParaRPr lang="en-US" dirty="0"/>
                    </a:p>
                  </a:txBody>
                  <a:tcPr anchor="ctr">
                    <a:lnL>
                      <a:noFill/>
                    </a:lnL>
                    <a:lnR>
                      <a:noFill/>
                    </a:lnR>
                    <a:lnT>
                      <a:noFill/>
                    </a:lnT>
                    <a:lnB>
                      <a:noFill/>
                    </a:lnB>
                    <a:noFill/>
                  </a:tcPr>
                </a:tc>
                <a:tc>
                  <a:txBody>
                    <a:bodyPr/>
                    <a:lstStyle/>
                    <a:p>
                      <a:r>
                        <a:rPr lang="en-US" sz="2000" b="0" kern="1200" dirty="0">
                          <a:solidFill>
                            <a:schemeClr val="tx1"/>
                          </a:solidFill>
                          <a:effectLst/>
                          <a:latin typeface="+mn-lt"/>
                          <a:ea typeface="+mn-ea"/>
                          <a:cs typeface="+mn-cs"/>
                        </a:rPr>
                        <a:t>outside</a:t>
                      </a:r>
                    </a:p>
                    <a:p>
                      <a:r>
                        <a:rPr lang="en-US" sz="2000" b="0" kern="1200" dirty="0">
                          <a:solidFill>
                            <a:schemeClr val="tx1"/>
                          </a:solidFill>
                          <a:effectLst/>
                          <a:latin typeface="+mn-lt"/>
                          <a:ea typeface="+mn-ea"/>
                          <a:cs typeface="+mn-cs"/>
                        </a:rPr>
                        <a:t>Package </a:t>
                      </a:r>
                    </a:p>
                    <a:p>
                      <a:r>
                        <a:rPr lang="en-US" dirty="0"/>
                        <a:t>(Non-Subclass)</a:t>
                      </a:r>
                    </a:p>
                  </a:txBody>
                  <a:tcPr anchor="ctr">
                    <a:lnL>
                      <a:noFill/>
                    </a:lnL>
                    <a:lnR>
                      <a:noFill/>
                    </a:lnR>
                    <a:lnT>
                      <a:noFill/>
                    </a:lnT>
                    <a:lnB>
                      <a:noFill/>
                    </a:lnB>
                    <a:noFill/>
                  </a:tcPr>
                </a:tc>
                <a:extLst>
                  <a:ext uri="{0D108BD9-81ED-4DB2-BD59-A6C34878D82A}">
                    <a16:rowId xmlns:a16="http://schemas.microsoft.com/office/drawing/2014/main" val="2448889772"/>
                  </a:ext>
                </a:extLst>
              </a:tr>
              <a:tr h="368980">
                <a:tc>
                  <a:txBody>
                    <a:bodyPr/>
                    <a:lstStyle/>
                    <a:p>
                      <a:pPr>
                        <a:buNone/>
                      </a:pPr>
                      <a:r>
                        <a:rPr lang="en-US" b="1"/>
                        <a:t>private</a:t>
                      </a:r>
                      <a:endParaRPr lang="en-US"/>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dirty="0"/>
                        <a:t>❌</a:t>
                      </a:r>
                    </a:p>
                  </a:txBody>
                  <a:tcPr anchor="ctr">
                    <a:lnL>
                      <a:noFill/>
                    </a:lnL>
                    <a:lnR>
                      <a:noFill/>
                    </a:lnR>
                    <a:lnT>
                      <a:noFill/>
                    </a:lnT>
                    <a:lnB>
                      <a:noFill/>
                    </a:lnB>
                    <a:noFill/>
                  </a:tcPr>
                </a:tc>
                <a:tc>
                  <a:txBody>
                    <a:bodyPr/>
                    <a:lstStyle/>
                    <a:p>
                      <a:pPr algn="ctr">
                        <a:buNone/>
                      </a:pPr>
                      <a:r>
                        <a:rPr lang="en-US" dirty="0"/>
                        <a:t>❌</a:t>
                      </a:r>
                    </a:p>
                  </a:txBody>
                  <a:tcPr anchor="ctr">
                    <a:lnL>
                      <a:noFill/>
                    </a:lnL>
                    <a:lnR>
                      <a:noFill/>
                    </a:lnR>
                    <a:lnT>
                      <a:noFill/>
                    </a:lnT>
                    <a:lnB>
                      <a:noFill/>
                    </a:lnB>
                    <a:noFill/>
                  </a:tcPr>
                </a:tc>
                <a:extLst>
                  <a:ext uri="{0D108BD9-81ED-4DB2-BD59-A6C34878D82A}">
                    <a16:rowId xmlns:a16="http://schemas.microsoft.com/office/drawing/2014/main" val="2531126991"/>
                  </a:ext>
                </a:extLst>
              </a:tr>
              <a:tr h="368980">
                <a:tc>
                  <a:txBody>
                    <a:bodyPr/>
                    <a:lstStyle/>
                    <a:p>
                      <a:pPr>
                        <a:buNone/>
                      </a:pPr>
                      <a:r>
                        <a:rPr lang="en-US" b="1"/>
                        <a:t>default</a:t>
                      </a:r>
                      <a:endParaRPr lang="en-US"/>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extLst>
                  <a:ext uri="{0D108BD9-81ED-4DB2-BD59-A6C34878D82A}">
                    <a16:rowId xmlns:a16="http://schemas.microsoft.com/office/drawing/2014/main" val="3350742812"/>
                  </a:ext>
                </a:extLst>
              </a:tr>
              <a:tr h="368980">
                <a:tc>
                  <a:txBody>
                    <a:bodyPr/>
                    <a:lstStyle/>
                    <a:p>
                      <a:pPr>
                        <a:buNone/>
                      </a:pPr>
                      <a:r>
                        <a:rPr lang="en-US" b="1"/>
                        <a:t>protected</a:t>
                      </a:r>
                      <a:endParaRPr lang="en-US"/>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extLst>
                  <a:ext uri="{0D108BD9-81ED-4DB2-BD59-A6C34878D82A}">
                    <a16:rowId xmlns:a16="http://schemas.microsoft.com/office/drawing/2014/main" val="2360427596"/>
                  </a:ext>
                </a:extLst>
              </a:tr>
              <a:tr h="368980">
                <a:tc>
                  <a:txBody>
                    <a:bodyPr/>
                    <a:lstStyle/>
                    <a:p>
                      <a:pPr>
                        <a:buNone/>
                      </a:pPr>
                      <a:r>
                        <a:rPr lang="en-US" b="1"/>
                        <a:t>public</a:t>
                      </a:r>
                      <a:endParaRPr lang="en-US"/>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a:t>✅</a:t>
                      </a:r>
                    </a:p>
                  </a:txBody>
                  <a:tcPr anchor="ctr">
                    <a:lnL>
                      <a:noFill/>
                    </a:lnL>
                    <a:lnR>
                      <a:noFill/>
                    </a:lnR>
                    <a:lnT>
                      <a:noFill/>
                    </a:lnT>
                    <a:lnB>
                      <a:noFill/>
                    </a:lnB>
                    <a:noFill/>
                  </a:tcPr>
                </a:tc>
                <a:tc>
                  <a:txBody>
                    <a:bodyPr/>
                    <a:lstStyle/>
                    <a:p>
                      <a:pPr algn="ctr">
                        <a:buNone/>
                      </a:pPr>
                      <a:r>
                        <a:rPr lang="en-US" dirty="0"/>
                        <a:t>✅</a:t>
                      </a:r>
                    </a:p>
                  </a:txBody>
                  <a:tcPr anchor="ctr">
                    <a:lnL>
                      <a:noFill/>
                    </a:lnL>
                    <a:lnR>
                      <a:noFill/>
                    </a:lnR>
                    <a:lnT>
                      <a:noFill/>
                    </a:lnT>
                    <a:lnB>
                      <a:noFill/>
                    </a:lnB>
                    <a:noFill/>
                  </a:tcPr>
                </a:tc>
                <a:extLst>
                  <a:ext uri="{0D108BD9-81ED-4DB2-BD59-A6C34878D82A}">
                    <a16:rowId xmlns:a16="http://schemas.microsoft.com/office/drawing/2014/main" val="3356837814"/>
                  </a:ext>
                </a:extLst>
              </a:tr>
            </a:tbl>
          </a:graphicData>
        </a:graphic>
      </p:graphicFrame>
    </p:spTree>
    <p:extLst>
      <p:ext uri="{BB962C8B-B14F-4D97-AF65-F5344CB8AC3E}">
        <p14:creationId xmlns:p14="http://schemas.microsoft.com/office/powerpoint/2010/main" val="64173185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FE3FD9-42D0-D0E2-5772-6CD491271C57}"/>
              </a:ext>
            </a:extLst>
          </p:cNvPr>
          <p:cNvSpPr>
            <a:spLocks noGrp="1"/>
          </p:cNvSpPr>
          <p:nvPr>
            <p:ph idx="1"/>
          </p:nvPr>
        </p:nvSpPr>
        <p:spPr>
          <a:xfrm>
            <a:off x="457200" y="304800"/>
            <a:ext cx="8229600" cy="6324600"/>
          </a:xfrm>
        </p:spPr>
        <p:txBody>
          <a:bodyPr>
            <a:normAutofit/>
          </a:bodyPr>
          <a:lstStyle/>
          <a:p>
            <a:pPr marL="0" indent="0" algn="ctr">
              <a:buNone/>
            </a:pPr>
            <a:r>
              <a:rPr lang="en-US" sz="2400" b="1" dirty="0">
                <a:solidFill>
                  <a:srgbClr val="FF0000"/>
                </a:solidFill>
                <a:latin typeface="Times New Roman" panose="02020603050405020304" pitchFamily="18" charset="0"/>
                <a:cs typeface="Times New Roman" panose="02020603050405020304" pitchFamily="18" charset="0"/>
              </a:rPr>
              <a:t>‘this’ KEYWORD IN JAVA</a:t>
            </a:r>
          </a:p>
          <a:p>
            <a:pPr algn="just"/>
            <a:r>
              <a:rPr lang="en-US" sz="2200" b="1" dirty="0">
                <a:latin typeface="Times New Roman" panose="02020603050405020304" pitchFamily="18" charset="0"/>
                <a:cs typeface="Times New Roman" panose="02020603050405020304" pitchFamily="18" charset="0"/>
              </a:rPr>
              <a:t>this </a:t>
            </a:r>
            <a:r>
              <a:rPr lang="en-US" sz="2200" dirty="0">
                <a:latin typeface="Times New Roman" panose="02020603050405020304" pitchFamily="18" charset="0"/>
                <a:cs typeface="Times New Roman" panose="02020603050405020304" pitchFamily="18" charset="0"/>
              </a:rPr>
              <a:t>is a reference variable that refers to the current object. It is a keyword in java language represents current class object</a:t>
            </a:r>
          </a:p>
          <a:p>
            <a:pPr algn="just"/>
            <a:r>
              <a:rPr lang="en-US" sz="2200" b="1" dirty="0">
                <a:latin typeface="Times New Roman" panose="02020603050405020304" pitchFamily="18" charset="0"/>
                <a:cs typeface="Times New Roman" panose="02020603050405020304" pitchFamily="18" charset="0"/>
              </a:rPr>
              <a:t>Why use this keyword in java ?</a:t>
            </a:r>
          </a:p>
          <a:p>
            <a:pPr lvl="1" algn="just"/>
            <a:r>
              <a:rPr lang="en-US" sz="2200" dirty="0">
                <a:latin typeface="Times New Roman" panose="02020603050405020304" pitchFamily="18" charset="0"/>
                <a:cs typeface="Times New Roman" panose="02020603050405020304" pitchFamily="18" charset="0"/>
              </a:rPr>
              <a:t>The main purpose of </a:t>
            </a:r>
            <a:r>
              <a:rPr lang="en-US" sz="2200" b="1" dirty="0">
                <a:latin typeface="Times New Roman" panose="02020603050405020304" pitchFamily="18" charset="0"/>
                <a:cs typeface="Times New Roman" panose="02020603050405020304" pitchFamily="18" charset="0"/>
              </a:rPr>
              <a:t>using this keyword </a:t>
            </a:r>
            <a:r>
              <a:rPr lang="en-US" sz="2200" dirty="0">
                <a:latin typeface="Times New Roman" panose="02020603050405020304" pitchFamily="18" charset="0"/>
                <a:cs typeface="Times New Roman" panose="02020603050405020304" pitchFamily="18" charset="0"/>
              </a:rPr>
              <a:t>is to differentiate the formal parameter and data members of class, whenever the formal parameter and data members of the class are similar then JVM get ambiguity (no clarity between formal parameter and member of the class).</a:t>
            </a:r>
          </a:p>
          <a:p>
            <a:pPr lvl="1" algn="just"/>
            <a:r>
              <a:rPr lang="en-US" sz="2200" b="1" i="1" dirty="0">
                <a:solidFill>
                  <a:srgbClr val="FF0000"/>
                </a:solidFill>
                <a:latin typeface="Times New Roman" panose="02020603050405020304" pitchFamily="18" charset="0"/>
                <a:cs typeface="Times New Roman" panose="02020603050405020304" pitchFamily="18" charset="0"/>
              </a:rPr>
              <a:t>To differentiate between formal parameter and data member </a:t>
            </a:r>
            <a:r>
              <a:rPr lang="en-US" sz="2200" dirty="0">
                <a:latin typeface="Times New Roman" panose="02020603050405020304" pitchFamily="18" charset="0"/>
                <a:cs typeface="Times New Roman" panose="02020603050405020304" pitchFamily="18" charset="0"/>
              </a:rPr>
              <a:t>of the class, the data member of the class must be preceded by "this".</a:t>
            </a:r>
          </a:p>
          <a:p>
            <a:pPr algn="just"/>
            <a:r>
              <a:rPr lang="en-US" sz="2200" b="1" dirty="0">
                <a:latin typeface="Times New Roman" panose="02020603050405020304" pitchFamily="18" charset="0"/>
                <a:cs typeface="Times New Roman" panose="02020603050405020304" pitchFamily="18" charset="0"/>
              </a:rPr>
              <a:t>Syntax: </a:t>
            </a:r>
            <a:r>
              <a:rPr lang="en-US" sz="2200" dirty="0" err="1">
                <a:latin typeface="Times New Roman" panose="02020603050405020304" pitchFamily="18" charset="0"/>
                <a:cs typeface="Times New Roman" panose="02020603050405020304" pitchFamily="18" charset="0"/>
              </a:rPr>
              <a:t>this.data</a:t>
            </a:r>
            <a:r>
              <a:rPr lang="en-US" sz="2200" dirty="0">
                <a:latin typeface="Times New Roman" panose="02020603050405020304" pitchFamily="18" charset="0"/>
                <a:cs typeface="Times New Roman" panose="02020603050405020304" pitchFamily="18" charset="0"/>
              </a:rPr>
              <a:t> member of current class.</a:t>
            </a:r>
          </a:p>
          <a:p>
            <a:pPr algn="just"/>
            <a:r>
              <a:rPr lang="en-US" sz="2200" dirty="0" err="1">
                <a:latin typeface="Times New Roman" panose="02020603050405020304" pitchFamily="18" charset="0"/>
                <a:cs typeface="Times New Roman" panose="02020603050405020304" pitchFamily="18" charset="0"/>
              </a:rPr>
              <a:t>this.variableName</a:t>
            </a:r>
            <a:r>
              <a:rPr lang="en-US" sz="2200" dirty="0">
                <a:latin typeface="Times New Roman" panose="02020603050405020304" pitchFamily="18" charset="0"/>
                <a:cs typeface="Times New Roman" panose="02020603050405020304" pitchFamily="18" charset="0"/>
              </a:rPr>
              <a:t>;</a:t>
            </a:r>
          </a:p>
          <a:p>
            <a:pPr algn="just"/>
            <a:r>
              <a:rPr lang="en-US" sz="2200" dirty="0" err="1">
                <a:latin typeface="Times New Roman" panose="02020603050405020304" pitchFamily="18" charset="0"/>
                <a:cs typeface="Times New Roman" panose="02020603050405020304" pitchFamily="18" charset="0"/>
              </a:rPr>
              <a:t>this.methodName</a:t>
            </a:r>
            <a:r>
              <a:rPr lang="en-US" sz="2200" dirty="0">
                <a:latin typeface="Times New Roman" panose="02020603050405020304" pitchFamily="18" charset="0"/>
                <a:cs typeface="Times New Roman" panose="02020603050405020304" pitchFamily="18" charset="0"/>
              </a:rPr>
              <a:t>();</a:t>
            </a:r>
          </a:p>
          <a:p>
            <a:pPr algn="just"/>
            <a:r>
              <a:rPr lang="en-US" sz="2200" dirty="0">
                <a:latin typeface="Times New Roman" panose="02020603050405020304" pitchFamily="18" charset="0"/>
                <a:cs typeface="Times New Roman" panose="02020603050405020304" pitchFamily="18" charset="0"/>
              </a:rPr>
              <a:t>this();</a:t>
            </a:r>
          </a:p>
          <a:p>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598402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42909F1-8C95-6033-BA80-2C9CC258DF59}"/>
              </a:ext>
            </a:extLst>
          </p:cNvPr>
          <p:cNvSpPr>
            <a:spLocks noGrp="1"/>
          </p:cNvSpPr>
          <p:nvPr>
            <p:ph idx="1"/>
          </p:nvPr>
        </p:nvSpPr>
        <p:spPr>
          <a:xfrm>
            <a:off x="457200" y="152400"/>
            <a:ext cx="8229600" cy="5973763"/>
          </a:xfrm>
        </p:spPr>
        <p:txBody>
          <a:bodyPr>
            <a:normAutofit/>
          </a:bodyPr>
          <a:lstStyle/>
          <a:p>
            <a:pPr marL="0" indent="0">
              <a:buNone/>
            </a:pPr>
            <a:r>
              <a:rPr lang="en-US" b="1" dirty="0"/>
              <a:t>Uses of </a:t>
            </a:r>
            <a:r>
              <a:rPr lang="en-US" b="1" dirty="0">
                <a:solidFill>
                  <a:srgbClr val="FF0000"/>
                </a:solidFill>
              </a:rPr>
              <a:t>this</a:t>
            </a:r>
            <a:r>
              <a:rPr lang="en-US" b="1" dirty="0"/>
              <a:t> Keyword</a:t>
            </a:r>
          </a:p>
          <a:p>
            <a:pPr lvl="0" algn="just"/>
            <a:r>
              <a:rPr lang="en-US" sz="2800" dirty="0">
                <a:latin typeface="Times New Roman" panose="02020603050405020304" pitchFamily="18" charset="0"/>
                <a:cs typeface="Times New Roman" panose="02020603050405020304" pitchFamily="18" charset="0"/>
              </a:rPr>
              <a:t>Refer to the </a:t>
            </a:r>
            <a:r>
              <a:rPr lang="en-US" sz="2800" i="1" dirty="0">
                <a:solidFill>
                  <a:srgbClr val="FF0000"/>
                </a:solidFill>
                <a:latin typeface="Times New Roman" panose="02020603050405020304" pitchFamily="18" charset="0"/>
                <a:cs typeface="Times New Roman" panose="02020603050405020304" pitchFamily="18" charset="0"/>
              </a:rPr>
              <a:t>current object's instance variables. </a:t>
            </a:r>
          </a:p>
          <a:p>
            <a:pPr lvl="0" algn="just"/>
            <a:r>
              <a:rPr lang="en-US" sz="2800" dirty="0">
                <a:latin typeface="Times New Roman" panose="02020603050405020304" pitchFamily="18" charset="0"/>
                <a:cs typeface="Times New Roman" panose="02020603050405020304" pitchFamily="18" charset="0"/>
              </a:rPr>
              <a:t>Invoke the </a:t>
            </a:r>
            <a:r>
              <a:rPr lang="en-US" sz="2800" b="1" i="1" dirty="0">
                <a:solidFill>
                  <a:srgbClr val="FF0000"/>
                </a:solidFill>
                <a:latin typeface="Times New Roman" panose="02020603050405020304" pitchFamily="18" charset="0"/>
                <a:cs typeface="Times New Roman" panose="02020603050405020304" pitchFamily="18" charset="0"/>
              </a:rPr>
              <a:t>current class method. </a:t>
            </a:r>
          </a:p>
          <a:p>
            <a:pPr lvl="0" algn="just"/>
            <a:r>
              <a:rPr lang="en-US" sz="2800" dirty="0">
                <a:latin typeface="Times New Roman" panose="02020603050405020304" pitchFamily="18" charset="0"/>
                <a:cs typeface="Times New Roman" panose="02020603050405020304" pitchFamily="18" charset="0"/>
              </a:rPr>
              <a:t>Invoke the </a:t>
            </a:r>
            <a:r>
              <a:rPr lang="en-US" sz="2800" i="1" dirty="0">
                <a:solidFill>
                  <a:srgbClr val="FF0000"/>
                </a:solidFill>
                <a:latin typeface="Times New Roman" panose="02020603050405020304" pitchFamily="18" charset="0"/>
                <a:cs typeface="Times New Roman" panose="02020603050405020304" pitchFamily="18" charset="0"/>
              </a:rPr>
              <a:t>current class constructor </a:t>
            </a:r>
            <a:r>
              <a:rPr lang="en-US" sz="2800" dirty="0">
                <a:latin typeface="Times New Roman" panose="02020603050405020304" pitchFamily="18" charset="0"/>
                <a:cs typeface="Times New Roman" panose="02020603050405020304" pitchFamily="18" charset="0"/>
              </a:rPr>
              <a:t>(constructor chaining). </a:t>
            </a:r>
          </a:p>
          <a:p>
            <a:pPr lvl="0" algn="just"/>
            <a:r>
              <a:rPr lang="en-US" sz="2800" dirty="0">
                <a:latin typeface="Times New Roman" panose="02020603050405020304" pitchFamily="18" charset="0"/>
                <a:cs typeface="Times New Roman" panose="02020603050405020304" pitchFamily="18" charset="0"/>
              </a:rPr>
              <a:t>Pass the </a:t>
            </a:r>
            <a:r>
              <a:rPr lang="en-US" sz="2800" b="1" i="1" dirty="0">
                <a:solidFill>
                  <a:srgbClr val="FF0000"/>
                </a:solidFill>
                <a:latin typeface="Times New Roman" panose="02020603050405020304" pitchFamily="18" charset="0"/>
                <a:cs typeface="Times New Roman" panose="02020603050405020304" pitchFamily="18" charset="0"/>
              </a:rPr>
              <a:t>current object as an argument</a:t>
            </a:r>
            <a:r>
              <a:rPr lang="en-US" sz="2800" dirty="0">
                <a:latin typeface="Times New Roman" panose="02020603050405020304" pitchFamily="18" charset="0"/>
                <a:cs typeface="Times New Roman" panose="02020603050405020304" pitchFamily="18" charset="0"/>
              </a:rPr>
              <a:t>. </a:t>
            </a:r>
          </a:p>
          <a:p>
            <a:pPr lvl="0" algn="just"/>
            <a:r>
              <a:rPr lang="en-US" sz="2800" dirty="0">
                <a:latin typeface="Times New Roman" panose="02020603050405020304" pitchFamily="18" charset="0"/>
                <a:cs typeface="Times New Roman" panose="02020603050405020304" pitchFamily="18" charset="0"/>
              </a:rPr>
              <a:t>Return the </a:t>
            </a:r>
            <a:r>
              <a:rPr lang="en-US" sz="2800" b="1" i="1" dirty="0">
                <a:solidFill>
                  <a:srgbClr val="FF0000"/>
                </a:solidFill>
                <a:latin typeface="Times New Roman" panose="02020603050405020304" pitchFamily="18" charset="0"/>
                <a:cs typeface="Times New Roman" panose="02020603050405020304" pitchFamily="18" charset="0"/>
              </a:rPr>
              <a:t>current object from a method.</a:t>
            </a:r>
          </a:p>
          <a:p>
            <a:pPr lvl="0" algn="just"/>
            <a:endParaRPr lang="en-US" sz="2800" b="1" i="1" dirty="0">
              <a:solidFill>
                <a:srgbClr val="FF0000"/>
              </a:solidFill>
              <a:latin typeface="Times New Roman" panose="02020603050405020304" pitchFamily="18" charset="0"/>
              <a:cs typeface="Times New Roman" panose="02020603050405020304" pitchFamily="18" charset="0"/>
            </a:endParaRPr>
          </a:p>
          <a:p>
            <a:pPr marL="0" indent="0" algn="just">
              <a:buNone/>
            </a:pPr>
            <a:r>
              <a:rPr lang="en-US" sz="2200" dirty="0"/>
              <a:t>It is mainly used to distinguish </a:t>
            </a:r>
            <a:r>
              <a:rPr lang="en-US" sz="2200" b="1" dirty="0">
                <a:solidFill>
                  <a:srgbClr val="FF0000"/>
                </a:solidFill>
              </a:rPr>
              <a:t>instance variables</a:t>
            </a:r>
            <a:r>
              <a:rPr lang="en-US" sz="2200" dirty="0">
                <a:solidFill>
                  <a:srgbClr val="FF0000"/>
                </a:solidFill>
              </a:rPr>
              <a:t> </a:t>
            </a:r>
            <a:r>
              <a:rPr lang="en-US" sz="2200" dirty="0"/>
              <a:t>from </a:t>
            </a:r>
            <a:r>
              <a:rPr lang="en-US" sz="2200" b="1" dirty="0">
                <a:solidFill>
                  <a:srgbClr val="FF0000"/>
                </a:solidFill>
              </a:rPr>
              <a:t>local variables</a:t>
            </a:r>
            <a:r>
              <a:rPr lang="en-US" sz="2200" dirty="0"/>
              <a:t>, call constructors, pass the current object, and return the current object.</a:t>
            </a:r>
          </a:p>
        </p:txBody>
      </p:sp>
    </p:spTree>
    <p:extLst>
      <p:ext uri="{BB962C8B-B14F-4D97-AF65-F5344CB8AC3E}">
        <p14:creationId xmlns:p14="http://schemas.microsoft.com/office/powerpoint/2010/main" val="416591165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00D134-0D28-97C5-93FA-B3E2120249BC}"/>
              </a:ext>
            </a:extLst>
          </p:cNvPr>
          <p:cNvSpPr>
            <a:spLocks noGrp="1"/>
          </p:cNvSpPr>
          <p:nvPr>
            <p:ph idx="1"/>
          </p:nvPr>
        </p:nvSpPr>
        <p:spPr>
          <a:xfrm>
            <a:off x="457200" y="76200"/>
            <a:ext cx="8229600" cy="6629400"/>
          </a:xfrm>
        </p:spPr>
        <p:txBody>
          <a:bodyPr>
            <a:normAutofit fontScale="92500" lnSpcReduction="20000"/>
          </a:bodyPr>
          <a:lstStyle/>
          <a:p>
            <a:pPr marL="0" indent="0" algn="just">
              <a:buNone/>
            </a:pPr>
            <a:r>
              <a:rPr lang="en-US" sz="2200" b="1" dirty="0">
                <a:solidFill>
                  <a:srgbClr val="FF0000"/>
                </a:solidFill>
                <a:latin typeface="Times New Roman" panose="02020603050405020304" pitchFamily="18" charset="0"/>
                <a:cs typeface="Times New Roman" panose="02020603050405020304" pitchFamily="18" charset="0"/>
              </a:rPr>
              <a:t>1. Referring to Instance Variables</a:t>
            </a:r>
          </a:p>
          <a:p>
            <a:pPr marL="0" indent="0" algn="just">
              <a:buNone/>
            </a:pPr>
            <a:r>
              <a:rPr lang="en-US" sz="2200" dirty="0">
                <a:latin typeface="Times New Roman" panose="02020603050405020304" pitchFamily="18" charset="0"/>
                <a:cs typeface="Times New Roman" panose="02020603050405020304" pitchFamily="18" charset="0"/>
              </a:rPr>
              <a:t>When local variables and instance variables have the same name, this is used to refer to the instance variables.</a:t>
            </a:r>
          </a:p>
          <a:p>
            <a:pPr marL="0" indent="0" algn="just">
              <a:buNone/>
            </a:pPr>
            <a:endParaRPr lang="en-US" sz="2200" dirty="0">
              <a:latin typeface="Times New Roman" panose="02020603050405020304" pitchFamily="18" charset="0"/>
              <a:cs typeface="Times New Roman" panose="02020603050405020304" pitchFamily="18" charset="0"/>
            </a:endParaRPr>
          </a:p>
          <a:p>
            <a:pPr marL="0" indent="0">
              <a:buNone/>
            </a:pP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ThisInstancevariables</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String name;</a:t>
            </a:r>
          </a:p>
          <a:p>
            <a:pPr marL="0" indent="0">
              <a:buNone/>
            </a:pPr>
            <a:r>
              <a:rPr lang="en-US" sz="2400" dirty="0" err="1">
                <a:latin typeface="Times New Roman" panose="02020603050405020304" pitchFamily="18" charset="0"/>
                <a:cs typeface="Times New Roman" panose="02020603050405020304" pitchFamily="18" charset="0"/>
              </a:rPr>
              <a:t>ThisInstancevariables</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 String name) {</a:t>
            </a:r>
          </a:p>
          <a:p>
            <a:pPr marL="0" indent="0">
              <a:buNone/>
            </a:pPr>
            <a:r>
              <a:rPr lang="en-US" sz="2400" b="1" dirty="0" err="1">
                <a:latin typeface="Times New Roman" panose="02020603050405020304" pitchFamily="18" charset="0"/>
                <a:cs typeface="Times New Roman" panose="02020603050405020304" pitchFamily="18" charset="0"/>
              </a:rPr>
              <a:t>this</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this</a:t>
            </a:r>
            <a:r>
              <a:rPr lang="en-US" sz="2400" dirty="0">
                <a:latin typeface="Times New Roman" panose="02020603050405020304" pitchFamily="18" charset="0"/>
                <a:cs typeface="Times New Roman" panose="02020603050405020304" pitchFamily="18" charset="0"/>
              </a:rPr>
              <a:t>.name = name;</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display() {</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("Roll Number : " + </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("Name : " + name);</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buNone/>
            </a:pPr>
            <a:r>
              <a:rPr lang="en-US" sz="2400" dirty="0" err="1">
                <a:latin typeface="Times New Roman" panose="02020603050405020304" pitchFamily="18" charset="0"/>
                <a:cs typeface="Times New Roman" panose="02020603050405020304" pitchFamily="18" charset="0"/>
              </a:rPr>
              <a:t>ThisInstancevariables</a:t>
            </a:r>
            <a:r>
              <a:rPr lang="en-US" sz="2400" dirty="0">
                <a:latin typeface="Times New Roman" panose="02020603050405020304" pitchFamily="18" charset="0"/>
                <a:cs typeface="Times New Roman" panose="02020603050405020304" pitchFamily="18" charset="0"/>
              </a:rPr>
              <a:t> s = </a:t>
            </a:r>
            <a:r>
              <a:rPr lang="en-US" sz="2400" b="1" dirty="0">
                <a:latin typeface="Times New Roman" panose="02020603050405020304" pitchFamily="18" charset="0"/>
                <a:cs typeface="Times New Roman" panose="02020603050405020304" pitchFamily="18" charset="0"/>
              </a:rPr>
              <a:t>new</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ThisInstancevariables</a:t>
            </a:r>
            <a:r>
              <a:rPr lang="en-US" sz="2400" dirty="0">
                <a:latin typeface="Times New Roman" panose="02020603050405020304" pitchFamily="18" charset="0"/>
                <a:cs typeface="Times New Roman" panose="02020603050405020304" pitchFamily="18" charset="0"/>
              </a:rPr>
              <a:t>(1001, "ABCD");</a:t>
            </a:r>
          </a:p>
          <a:p>
            <a:pPr marL="0" indent="0">
              <a:buNone/>
            </a:pPr>
            <a:r>
              <a:rPr lang="en-US" sz="2400" dirty="0" err="1">
                <a:latin typeface="Times New Roman" panose="02020603050405020304" pitchFamily="18" charset="0"/>
                <a:cs typeface="Times New Roman" panose="02020603050405020304" pitchFamily="18" charset="0"/>
              </a:rPr>
              <a:t>s.display</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7383173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4A6FF8-965A-12FC-B537-90561BC30744}"/>
              </a:ext>
            </a:extLst>
          </p:cNvPr>
          <p:cNvSpPr>
            <a:spLocks noGrp="1"/>
          </p:cNvSpPr>
          <p:nvPr>
            <p:ph idx="1"/>
          </p:nvPr>
        </p:nvSpPr>
        <p:spPr>
          <a:xfrm>
            <a:off x="457200" y="0"/>
            <a:ext cx="8229600" cy="6126163"/>
          </a:xfrm>
        </p:spPr>
        <p:txBody>
          <a:bodyPr>
            <a:normAutofit fontScale="77500" lnSpcReduction="20000"/>
          </a:bodyPr>
          <a:lstStyle/>
          <a:p>
            <a:pPr marL="0" indent="0">
              <a:buNone/>
            </a:pPr>
            <a:r>
              <a:rPr lang="en-US" b="1" dirty="0">
                <a:solidFill>
                  <a:srgbClr val="FF0000"/>
                </a:solidFill>
              </a:rPr>
              <a:t>2. Calling Current Class Method</a:t>
            </a:r>
          </a:p>
          <a:p>
            <a:pPr marL="0" indent="0">
              <a:buNone/>
            </a:pPr>
            <a:endParaRPr lang="en-US" b="1" dirty="0">
              <a:solidFill>
                <a:srgbClr val="FF0000"/>
              </a:solidFill>
            </a:endParaRPr>
          </a:p>
          <a:p>
            <a:pPr marL="0" indent="0">
              <a:buNone/>
            </a:pPr>
            <a:r>
              <a:rPr lang="en-US" b="1" dirty="0"/>
              <a:t>class</a:t>
            </a:r>
            <a:r>
              <a:rPr lang="en-US" dirty="0"/>
              <a:t> </a:t>
            </a:r>
            <a:r>
              <a:rPr lang="en-US" dirty="0" err="1"/>
              <a:t>ThisCurrentClassMethod</a:t>
            </a:r>
            <a:r>
              <a:rPr lang="en-US" dirty="0"/>
              <a:t> {</a:t>
            </a:r>
          </a:p>
          <a:p>
            <a:pPr marL="0" indent="0">
              <a:buNone/>
            </a:pPr>
            <a:r>
              <a:rPr lang="en-US" b="1" dirty="0"/>
              <a:t>void</a:t>
            </a:r>
            <a:r>
              <a:rPr lang="en-US" dirty="0"/>
              <a:t> display() {</a:t>
            </a:r>
          </a:p>
          <a:p>
            <a:pPr marL="0" indent="0">
              <a:buNone/>
            </a:pPr>
            <a:r>
              <a:rPr lang="en-US" dirty="0"/>
              <a:t>// </a:t>
            </a:r>
            <a:r>
              <a:rPr lang="en-US" dirty="0" err="1"/>
              <a:t>System.out.println</a:t>
            </a:r>
            <a:r>
              <a:rPr lang="en-US" dirty="0"/>
              <a:t>("Display Method");</a:t>
            </a:r>
          </a:p>
          <a:p>
            <a:pPr marL="0" indent="0">
              <a:buNone/>
            </a:pPr>
            <a:r>
              <a:rPr lang="en-US" b="1" dirty="0" err="1"/>
              <a:t>this</a:t>
            </a:r>
            <a:r>
              <a:rPr lang="en-US" dirty="0" err="1"/>
              <a:t>.show</a:t>
            </a:r>
            <a:r>
              <a:rPr lang="en-US" dirty="0"/>
              <a:t>();</a:t>
            </a:r>
          </a:p>
          <a:p>
            <a:pPr marL="0" indent="0">
              <a:buNone/>
            </a:pPr>
            <a:r>
              <a:rPr lang="en-US" dirty="0"/>
              <a:t>}</a:t>
            </a:r>
          </a:p>
          <a:p>
            <a:pPr marL="0" indent="0">
              <a:buNone/>
            </a:pPr>
            <a:r>
              <a:rPr lang="en-US" b="1" dirty="0"/>
              <a:t>void</a:t>
            </a:r>
            <a:r>
              <a:rPr lang="en-US" dirty="0"/>
              <a:t> show() {</a:t>
            </a:r>
          </a:p>
          <a:p>
            <a:pPr marL="0" indent="0">
              <a:buNone/>
            </a:pPr>
            <a:r>
              <a:rPr lang="en-US" dirty="0" err="1"/>
              <a:t>System.</a:t>
            </a:r>
            <a:r>
              <a:rPr lang="en-US" b="1" i="1" dirty="0" err="1"/>
              <a:t>out</a:t>
            </a:r>
            <a:r>
              <a:rPr lang="en-US" dirty="0" err="1"/>
              <a:t>.println</a:t>
            </a:r>
            <a:r>
              <a:rPr lang="en-US" dirty="0"/>
              <a:t>("Show Method");</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err="1"/>
              <a:t>ThisCurrentClassMethod</a:t>
            </a:r>
            <a:r>
              <a:rPr lang="en-US" dirty="0"/>
              <a:t> d = </a:t>
            </a:r>
            <a:r>
              <a:rPr lang="en-US" b="1" dirty="0"/>
              <a:t>new</a:t>
            </a:r>
            <a:r>
              <a:rPr lang="en-US" dirty="0"/>
              <a:t> </a:t>
            </a:r>
            <a:r>
              <a:rPr lang="en-US" dirty="0" err="1"/>
              <a:t>ThisCurrentClassMethod</a:t>
            </a:r>
            <a:r>
              <a:rPr lang="en-US" dirty="0"/>
              <a:t>();</a:t>
            </a:r>
          </a:p>
          <a:p>
            <a:pPr marL="0" indent="0">
              <a:buNone/>
            </a:pPr>
            <a:r>
              <a:rPr lang="en-US" dirty="0" err="1"/>
              <a:t>d.display</a:t>
            </a:r>
            <a:r>
              <a:rPr lang="en-US" dirty="0"/>
              <a:t>();</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142800980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2883DA2-EFEE-3B60-CF4C-4D8F43C51A8C}"/>
              </a:ext>
            </a:extLst>
          </p:cNvPr>
          <p:cNvSpPr>
            <a:spLocks noGrp="1"/>
          </p:cNvSpPr>
          <p:nvPr>
            <p:ph idx="1"/>
          </p:nvPr>
        </p:nvSpPr>
        <p:spPr>
          <a:xfrm>
            <a:off x="457200" y="0"/>
            <a:ext cx="8229600" cy="6126163"/>
          </a:xfrm>
        </p:spPr>
        <p:txBody>
          <a:bodyPr>
            <a:normAutofit fontScale="92500"/>
          </a:bodyPr>
          <a:lstStyle/>
          <a:p>
            <a:pPr marL="0" indent="0">
              <a:buNone/>
            </a:pPr>
            <a:r>
              <a:rPr lang="en-US" sz="2200" b="1" dirty="0">
                <a:solidFill>
                  <a:srgbClr val="FF0000"/>
                </a:solidFill>
                <a:latin typeface="Times New Roman" panose="02020603050405020304" pitchFamily="18" charset="0"/>
                <a:cs typeface="Times New Roman" panose="02020603050405020304" pitchFamily="18" charset="0"/>
              </a:rPr>
              <a:t>3. Constructor Chaining Using this()</a:t>
            </a:r>
          </a:p>
          <a:p>
            <a:pPr marL="0" indent="0">
              <a:buNone/>
            </a:pPr>
            <a:r>
              <a:rPr lang="en-US" sz="2200" dirty="0">
                <a:latin typeface="Times New Roman" panose="02020603050405020304" pitchFamily="18" charset="0"/>
                <a:cs typeface="Times New Roman" panose="02020603050405020304" pitchFamily="18" charset="0"/>
              </a:rPr>
              <a:t>One constructor can call another constructor of the same class using this().</a:t>
            </a:r>
          </a:p>
          <a:p>
            <a:pPr marL="0" indent="0">
              <a:buNone/>
            </a:pPr>
            <a:endParaRPr lang="en-US" sz="2200" dirty="0">
              <a:latin typeface="Times New Roman" panose="02020603050405020304" pitchFamily="18" charset="0"/>
              <a:cs typeface="Times New Roman" panose="02020603050405020304" pitchFamily="18" charset="0"/>
            </a:endParaRPr>
          </a:p>
          <a:p>
            <a:pPr marL="0" indent="0">
              <a:buNone/>
            </a:pPr>
            <a:r>
              <a:rPr lang="en-US" sz="2200" b="1" dirty="0">
                <a:latin typeface="Times New Roman" panose="02020603050405020304" pitchFamily="18" charset="0"/>
                <a:cs typeface="Times New Roman" panose="02020603050405020304" pitchFamily="18" charset="0"/>
              </a:rPr>
              <a:t>class</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ThisConstructorChain</a:t>
            </a:r>
            <a:r>
              <a:rPr lang="en-US" sz="2200" dirty="0">
                <a:latin typeface="Times New Roman" panose="02020603050405020304" pitchFamily="18" charset="0"/>
                <a:cs typeface="Times New Roman" panose="02020603050405020304" pitchFamily="18" charset="0"/>
              </a:rPr>
              <a:t> {</a:t>
            </a:r>
          </a:p>
          <a:p>
            <a:pPr marL="0" indent="0">
              <a:buNone/>
            </a:pPr>
            <a:r>
              <a:rPr lang="en-US" sz="2200" dirty="0" err="1">
                <a:latin typeface="Times New Roman" panose="02020603050405020304" pitchFamily="18" charset="0"/>
                <a:cs typeface="Times New Roman" panose="02020603050405020304" pitchFamily="18" charset="0"/>
              </a:rPr>
              <a:t>ThisConstructorChain</a:t>
            </a:r>
            <a:r>
              <a:rPr lang="en-US" sz="2200" dirty="0">
                <a:latin typeface="Times New Roman" panose="02020603050405020304" pitchFamily="18" charset="0"/>
                <a:cs typeface="Times New Roman" panose="02020603050405020304" pitchFamily="18" charset="0"/>
              </a:rPr>
              <a:t>() {</a:t>
            </a:r>
          </a:p>
          <a:p>
            <a:pPr marL="0" indent="0">
              <a:buNone/>
            </a:pPr>
            <a:r>
              <a:rPr lang="en-US" sz="2200" b="1" dirty="0">
                <a:latin typeface="Times New Roman" panose="02020603050405020304" pitchFamily="18" charset="0"/>
                <a:cs typeface="Times New Roman" panose="02020603050405020304" pitchFamily="18" charset="0"/>
              </a:rPr>
              <a:t>this</a:t>
            </a:r>
            <a:r>
              <a:rPr lang="en-US" sz="2200" dirty="0">
                <a:latin typeface="Times New Roman" panose="02020603050405020304" pitchFamily="18" charset="0"/>
                <a:cs typeface="Times New Roman" panose="02020603050405020304" pitchFamily="18" charset="0"/>
              </a:rPr>
              <a:t>(101);</a:t>
            </a:r>
          </a:p>
          <a:p>
            <a:pPr marL="0" indent="0">
              <a:buNone/>
            </a:pPr>
            <a:r>
              <a:rPr lang="en-US" sz="2200" dirty="0" err="1">
                <a:latin typeface="Times New Roman" panose="02020603050405020304" pitchFamily="18" charset="0"/>
                <a:cs typeface="Times New Roman" panose="02020603050405020304" pitchFamily="18" charset="0"/>
              </a:rPr>
              <a:t>System.</a:t>
            </a:r>
            <a:r>
              <a:rPr lang="en-US" sz="2200" b="1" i="1" dirty="0" err="1">
                <a:latin typeface="Times New Roman" panose="02020603050405020304" pitchFamily="18" charset="0"/>
                <a:cs typeface="Times New Roman" panose="02020603050405020304" pitchFamily="18" charset="0"/>
              </a:rPr>
              <a:t>out</a:t>
            </a:r>
            <a:r>
              <a:rPr lang="en-US" sz="2200" dirty="0" err="1">
                <a:latin typeface="Times New Roman" panose="02020603050405020304" pitchFamily="18" charset="0"/>
                <a:cs typeface="Times New Roman" panose="02020603050405020304" pitchFamily="18" charset="0"/>
              </a:rPr>
              <a:t>.println</a:t>
            </a:r>
            <a:r>
              <a:rPr lang="en-US" sz="2200" dirty="0">
                <a:latin typeface="Times New Roman" panose="02020603050405020304" pitchFamily="18" charset="0"/>
                <a:cs typeface="Times New Roman" panose="02020603050405020304" pitchFamily="18" charset="0"/>
              </a:rPr>
              <a:t>("Default Constructor");</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err="1">
                <a:latin typeface="Times New Roman" panose="02020603050405020304" pitchFamily="18" charset="0"/>
                <a:cs typeface="Times New Roman" panose="02020603050405020304" pitchFamily="18" charset="0"/>
              </a:rPr>
              <a:t>ThisConstructorChain</a:t>
            </a:r>
            <a:r>
              <a:rPr lang="en-US" sz="2200" dirty="0">
                <a:latin typeface="Times New Roman" panose="02020603050405020304" pitchFamily="18" charset="0"/>
                <a:cs typeface="Times New Roman" panose="02020603050405020304" pitchFamily="18" charset="0"/>
              </a:rPr>
              <a:t>(</a:t>
            </a:r>
            <a:r>
              <a:rPr lang="en-US" sz="2200" b="1" dirty="0">
                <a:latin typeface="Times New Roman" panose="02020603050405020304" pitchFamily="18" charset="0"/>
                <a:cs typeface="Times New Roman" panose="02020603050405020304" pitchFamily="18" charset="0"/>
              </a:rPr>
              <a:t>int</a:t>
            </a:r>
            <a:r>
              <a:rPr lang="en-US" sz="2200" dirty="0">
                <a:latin typeface="Times New Roman" panose="02020603050405020304" pitchFamily="18" charset="0"/>
                <a:cs typeface="Times New Roman" panose="02020603050405020304" pitchFamily="18" charset="0"/>
              </a:rPr>
              <a:t> id) {</a:t>
            </a:r>
          </a:p>
          <a:p>
            <a:pPr marL="0" indent="0">
              <a:buNone/>
            </a:pPr>
            <a:r>
              <a:rPr lang="en-US" sz="2200" dirty="0" err="1">
                <a:latin typeface="Times New Roman" panose="02020603050405020304" pitchFamily="18" charset="0"/>
                <a:cs typeface="Times New Roman" panose="02020603050405020304" pitchFamily="18" charset="0"/>
              </a:rPr>
              <a:t>System.</a:t>
            </a:r>
            <a:r>
              <a:rPr lang="en-US" sz="2200" b="1" i="1" dirty="0" err="1">
                <a:latin typeface="Times New Roman" panose="02020603050405020304" pitchFamily="18" charset="0"/>
                <a:cs typeface="Times New Roman" panose="02020603050405020304" pitchFamily="18" charset="0"/>
              </a:rPr>
              <a:t>out</a:t>
            </a:r>
            <a:r>
              <a:rPr lang="en-US" sz="2200" dirty="0" err="1">
                <a:latin typeface="Times New Roman" panose="02020603050405020304" pitchFamily="18" charset="0"/>
                <a:cs typeface="Times New Roman" panose="02020603050405020304" pitchFamily="18" charset="0"/>
              </a:rPr>
              <a:t>.println</a:t>
            </a:r>
            <a:r>
              <a:rPr lang="en-US" sz="2200" dirty="0">
                <a:latin typeface="Times New Roman" panose="02020603050405020304" pitchFamily="18" charset="0"/>
                <a:cs typeface="Times New Roman" panose="02020603050405020304" pitchFamily="18" charset="0"/>
              </a:rPr>
              <a:t>("Parameterized Constructor");</a:t>
            </a:r>
          </a:p>
          <a:p>
            <a:pPr marL="0" indent="0">
              <a:buNone/>
            </a:pPr>
            <a:r>
              <a:rPr lang="en-US" sz="2200" dirty="0" err="1">
                <a:latin typeface="Times New Roman" panose="02020603050405020304" pitchFamily="18" charset="0"/>
                <a:cs typeface="Times New Roman" panose="02020603050405020304" pitchFamily="18" charset="0"/>
              </a:rPr>
              <a:t>System.</a:t>
            </a:r>
            <a:r>
              <a:rPr lang="en-US" sz="2200" b="1" i="1" dirty="0" err="1">
                <a:latin typeface="Times New Roman" panose="02020603050405020304" pitchFamily="18" charset="0"/>
                <a:cs typeface="Times New Roman" panose="02020603050405020304" pitchFamily="18" charset="0"/>
              </a:rPr>
              <a:t>out</a:t>
            </a:r>
            <a:r>
              <a:rPr lang="en-US" sz="2200" dirty="0" err="1">
                <a:latin typeface="Times New Roman" panose="02020603050405020304" pitchFamily="18" charset="0"/>
                <a:cs typeface="Times New Roman" panose="02020603050405020304" pitchFamily="18" charset="0"/>
              </a:rPr>
              <a:t>.println</a:t>
            </a:r>
            <a:r>
              <a:rPr lang="en-US" sz="2200" dirty="0">
                <a:latin typeface="Times New Roman" panose="02020603050405020304" pitchFamily="18" charset="0"/>
                <a:cs typeface="Times New Roman" panose="02020603050405020304" pitchFamily="18" charset="0"/>
              </a:rPr>
              <a:t>("ID = " + id);</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b="1" dirty="0">
                <a:latin typeface="Times New Roman" panose="02020603050405020304" pitchFamily="18" charset="0"/>
                <a:cs typeface="Times New Roman" panose="02020603050405020304" pitchFamily="18" charset="0"/>
              </a:rPr>
              <a:t>public</a:t>
            </a:r>
            <a:r>
              <a:rPr lang="en-US" sz="2200" dirty="0">
                <a:latin typeface="Times New Roman" panose="02020603050405020304" pitchFamily="18" charset="0"/>
                <a:cs typeface="Times New Roman" panose="02020603050405020304" pitchFamily="18" charset="0"/>
              </a:rPr>
              <a:t> </a:t>
            </a:r>
            <a:r>
              <a:rPr lang="en-US" sz="2200" b="1" dirty="0">
                <a:latin typeface="Times New Roman" panose="02020603050405020304" pitchFamily="18" charset="0"/>
                <a:cs typeface="Times New Roman" panose="02020603050405020304" pitchFamily="18" charset="0"/>
              </a:rPr>
              <a:t>static</a:t>
            </a:r>
            <a:r>
              <a:rPr lang="en-US" sz="2200" dirty="0">
                <a:latin typeface="Times New Roman" panose="02020603050405020304" pitchFamily="18" charset="0"/>
                <a:cs typeface="Times New Roman" panose="02020603050405020304" pitchFamily="18" charset="0"/>
              </a:rPr>
              <a:t> </a:t>
            </a:r>
            <a:r>
              <a:rPr lang="en-US" sz="2200" b="1" dirty="0">
                <a:latin typeface="Times New Roman" panose="02020603050405020304" pitchFamily="18" charset="0"/>
                <a:cs typeface="Times New Roman" panose="02020603050405020304" pitchFamily="18" charset="0"/>
              </a:rPr>
              <a:t>void</a:t>
            </a:r>
            <a:r>
              <a:rPr lang="en-US" sz="2200" dirty="0">
                <a:latin typeface="Times New Roman" panose="02020603050405020304" pitchFamily="18" charset="0"/>
                <a:cs typeface="Times New Roman" panose="02020603050405020304" pitchFamily="18" charset="0"/>
              </a:rPr>
              <a:t> main(String </a:t>
            </a:r>
            <a:r>
              <a:rPr lang="en-US" sz="2200" dirty="0" err="1">
                <a:latin typeface="Times New Roman" panose="02020603050405020304" pitchFamily="18" charset="0"/>
                <a:cs typeface="Times New Roman" panose="02020603050405020304" pitchFamily="18" charset="0"/>
              </a:rPr>
              <a:t>args</a:t>
            </a:r>
            <a:r>
              <a:rPr lang="en-US" sz="2200" dirty="0">
                <a:latin typeface="Times New Roman" panose="02020603050405020304" pitchFamily="18" charset="0"/>
                <a:cs typeface="Times New Roman" panose="02020603050405020304" pitchFamily="18" charset="0"/>
              </a:rPr>
              <a:t>[]) {</a:t>
            </a:r>
          </a:p>
          <a:p>
            <a:pPr marL="0" indent="0">
              <a:buNone/>
            </a:pPr>
            <a:r>
              <a:rPr lang="en-US" sz="2200" dirty="0" err="1">
                <a:latin typeface="Times New Roman" panose="02020603050405020304" pitchFamily="18" charset="0"/>
                <a:cs typeface="Times New Roman" panose="02020603050405020304" pitchFamily="18" charset="0"/>
              </a:rPr>
              <a:t>ThisConstructorChain</a:t>
            </a:r>
            <a:r>
              <a:rPr lang="en-US" sz="2200" dirty="0">
                <a:latin typeface="Times New Roman" panose="02020603050405020304" pitchFamily="18" charset="0"/>
                <a:cs typeface="Times New Roman" panose="02020603050405020304" pitchFamily="18" charset="0"/>
              </a:rPr>
              <a:t> </a:t>
            </a:r>
            <a:r>
              <a:rPr lang="en-US" sz="2200" u="sng" dirty="0">
                <a:latin typeface="Times New Roman" panose="02020603050405020304" pitchFamily="18" charset="0"/>
                <a:cs typeface="Times New Roman" panose="02020603050405020304" pitchFamily="18" charset="0"/>
              </a:rPr>
              <a:t>s</a:t>
            </a:r>
            <a:r>
              <a:rPr lang="en-US" sz="2200" dirty="0">
                <a:latin typeface="Times New Roman" panose="02020603050405020304" pitchFamily="18" charset="0"/>
                <a:cs typeface="Times New Roman" panose="02020603050405020304" pitchFamily="18" charset="0"/>
              </a:rPr>
              <a:t> = </a:t>
            </a:r>
            <a:r>
              <a:rPr lang="en-US" sz="2200" b="1" dirty="0">
                <a:latin typeface="Times New Roman" panose="02020603050405020304" pitchFamily="18" charset="0"/>
                <a:cs typeface="Times New Roman" panose="02020603050405020304" pitchFamily="18" charset="0"/>
              </a:rPr>
              <a:t>new</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ThisConstructorChain</a:t>
            </a: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89450405"/>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FF24AB-5C37-3617-1433-BA8A8BAF5CC9}"/>
              </a:ext>
            </a:extLst>
          </p:cNvPr>
          <p:cNvSpPr>
            <a:spLocks noGrp="1"/>
          </p:cNvSpPr>
          <p:nvPr>
            <p:ph idx="1"/>
          </p:nvPr>
        </p:nvSpPr>
        <p:spPr>
          <a:xfrm>
            <a:off x="457200" y="228600"/>
            <a:ext cx="8229600" cy="5897563"/>
          </a:xfrm>
        </p:spPr>
        <p:txBody>
          <a:bodyPr>
            <a:normAutofit lnSpcReduction="10000"/>
          </a:bodyPr>
          <a:lstStyle/>
          <a:p>
            <a:pPr marL="0" indent="0">
              <a:buNone/>
            </a:pPr>
            <a:r>
              <a:rPr lang="en-US" sz="2200" b="1" dirty="0">
                <a:solidFill>
                  <a:srgbClr val="FF0000"/>
                </a:solidFill>
              </a:rPr>
              <a:t>4. Passing the Current Object</a:t>
            </a:r>
          </a:p>
          <a:p>
            <a:pPr marL="0" indent="0">
              <a:buNone/>
            </a:pPr>
            <a:endParaRPr lang="en-US" sz="2200" b="1" dirty="0">
              <a:solidFill>
                <a:srgbClr val="FF0000"/>
              </a:solidFill>
            </a:endParaRPr>
          </a:p>
          <a:p>
            <a:pPr marL="0" indent="0">
              <a:buNone/>
            </a:pPr>
            <a:r>
              <a:rPr lang="en-US" sz="2400" b="1" dirty="0"/>
              <a:t>class</a:t>
            </a:r>
            <a:r>
              <a:rPr lang="en-US" sz="2400" dirty="0"/>
              <a:t> </a:t>
            </a:r>
            <a:r>
              <a:rPr lang="en-US" sz="2400" dirty="0" err="1"/>
              <a:t>ThisCurrentobject</a:t>
            </a:r>
            <a:r>
              <a:rPr lang="en-US" sz="2400" dirty="0"/>
              <a:t> {</a:t>
            </a:r>
          </a:p>
          <a:p>
            <a:pPr marL="0" indent="0">
              <a:buNone/>
            </a:pPr>
            <a:r>
              <a:rPr lang="en-US" sz="2400" b="1" dirty="0"/>
              <a:t>void</a:t>
            </a:r>
            <a:r>
              <a:rPr lang="en-US" sz="2400" dirty="0"/>
              <a:t> display(</a:t>
            </a:r>
            <a:r>
              <a:rPr lang="en-US" sz="2400" dirty="0" err="1"/>
              <a:t>ThisCurrentobject</a:t>
            </a:r>
            <a:r>
              <a:rPr lang="en-US" sz="2400" dirty="0"/>
              <a:t> s) {</a:t>
            </a:r>
          </a:p>
          <a:p>
            <a:pPr marL="0" indent="0">
              <a:buNone/>
            </a:pPr>
            <a:r>
              <a:rPr lang="en-US" sz="2400" dirty="0" err="1"/>
              <a:t>System.</a:t>
            </a:r>
            <a:r>
              <a:rPr lang="en-US" sz="2400" b="1" i="1" dirty="0" err="1"/>
              <a:t>out</a:t>
            </a:r>
            <a:r>
              <a:rPr lang="en-US" sz="2400" dirty="0" err="1"/>
              <a:t>.println</a:t>
            </a:r>
            <a:r>
              <a:rPr lang="en-US" sz="2400" dirty="0"/>
              <a:t>("Current object passed");</a:t>
            </a:r>
          </a:p>
          <a:p>
            <a:pPr marL="0" indent="0">
              <a:buNone/>
            </a:pPr>
            <a:r>
              <a:rPr lang="en-US" sz="2400" dirty="0"/>
              <a:t>}</a:t>
            </a:r>
          </a:p>
          <a:p>
            <a:pPr marL="0" indent="0">
              <a:buNone/>
            </a:pPr>
            <a:r>
              <a:rPr lang="en-US" sz="2400" b="1" dirty="0"/>
              <a:t>void</a:t>
            </a:r>
            <a:r>
              <a:rPr lang="en-US" sz="2400" dirty="0"/>
              <a:t> show() {</a:t>
            </a:r>
          </a:p>
          <a:p>
            <a:pPr marL="0" indent="0">
              <a:buNone/>
            </a:pPr>
            <a:r>
              <a:rPr lang="en-US" sz="2400" dirty="0"/>
              <a:t>display(</a:t>
            </a:r>
            <a:r>
              <a:rPr lang="en-US" sz="2400" b="1" dirty="0"/>
              <a:t>this</a:t>
            </a:r>
            <a:r>
              <a:rPr lang="en-US" sz="2400" dirty="0"/>
              <a:t>);</a:t>
            </a:r>
          </a:p>
          <a:p>
            <a:pPr marL="0" indent="0">
              <a:buNone/>
            </a:pPr>
            <a:r>
              <a:rPr lang="en-US" sz="2400" dirty="0"/>
              <a:t>}</a:t>
            </a:r>
          </a:p>
          <a:p>
            <a:pPr marL="0" indent="0">
              <a:buNone/>
            </a:pPr>
            <a:r>
              <a:rPr lang="en-US" sz="2400" b="1" dirty="0"/>
              <a:t>public</a:t>
            </a:r>
            <a:r>
              <a:rPr lang="en-US" sz="2400" dirty="0"/>
              <a:t> </a:t>
            </a:r>
            <a:r>
              <a:rPr lang="en-US" sz="2400" b="1" dirty="0"/>
              <a:t>static</a:t>
            </a:r>
            <a:r>
              <a:rPr lang="en-US" sz="2400" dirty="0"/>
              <a:t> </a:t>
            </a:r>
            <a:r>
              <a:rPr lang="en-US" sz="2400" b="1" dirty="0"/>
              <a:t>void</a:t>
            </a:r>
            <a:r>
              <a:rPr lang="en-US" sz="2400" dirty="0"/>
              <a:t> main(String </a:t>
            </a:r>
            <a:r>
              <a:rPr lang="en-US" sz="2400" dirty="0" err="1"/>
              <a:t>args</a:t>
            </a:r>
            <a:r>
              <a:rPr lang="en-US" sz="2400" dirty="0"/>
              <a:t>[]) {</a:t>
            </a:r>
          </a:p>
          <a:p>
            <a:pPr marL="0" indent="0">
              <a:buNone/>
            </a:pPr>
            <a:r>
              <a:rPr lang="en-US" sz="2400" dirty="0" err="1"/>
              <a:t>ThisCurrentobject</a:t>
            </a:r>
            <a:r>
              <a:rPr lang="en-US" sz="2400" dirty="0"/>
              <a:t> s = </a:t>
            </a:r>
            <a:r>
              <a:rPr lang="en-US" sz="2400" b="1" dirty="0"/>
              <a:t>new</a:t>
            </a:r>
            <a:r>
              <a:rPr lang="en-US" sz="2400" dirty="0"/>
              <a:t> </a:t>
            </a:r>
            <a:r>
              <a:rPr lang="en-US" sz="2400" dirty="0" err="1"/>
              <a:t>ThisCurrentobject</a:t>
            </a:r>
            <a:r>
              <a:rPr lang="en-US" sz="2400" dirty="0"/>
              <a:t>();</a:t>
            </a:r>
          </a:p>
          <a:p>
            <a:pPr marL="0" indent="0">
              <a:buNone/>
            </a:pPr>
            <a:r>
              <a:rPr lang="en-US" sz="2400" dirty="0" err="1"/>
              <a:t>s.show</a:t>
            </a:r>
            <a:r>
              <a:rPr lang="en-US" sz="2400" dirty="0"/>
              <a:t>();</a:t>
            </a:r>
          </a:p>
          <a:p>
            <a:pPr marL="0" indent="0">
              <a:buNone/>
            </a:pPr>
            <a:r>
              <a:rPr lang="en-US" sz="2400" dirty="0"/>
              <a:t>}</a:t>
            </a:r>
          </a:p>
          <a:p>
            <a:pPr marL="0" indent="0">
              <a:buNone/>
            </a:pPr>
            <a:r>
              <a:rPr lang="en-US" sz="2400" dirty="0"/>
              <a:t>}</a:t>
            </a:r>
          </a:p>
          <a:p>
            <a:pPr marL="0" indent="0">
              <a:buNone/>
            </a:pPr>
            <a:endParaRPr lang="en-US" sz="2200" dirty="0"/>
          </a:p>
        </p:txBody>
      </p:sp>
    </p:spTree>
    <p:extLst>
      <p:ext uri="{BB962C8B-B14F-4D97-AF65-F5344CB8AC3E}">
        <p14:creationId xmlns:p14="http://schemas.microsoft.com/office/powerpoint/2010/main" val="34769598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004F18-D31B-308B-ADA6-AF00C5DE5701}"/>
              </a:ext>
            </a:extLst>
          </p:cNvPr>
          <p:cNvSpPr>
            <a:spLocks noGrp="1"/>
          </p:cNvSpPr>
          <p:nvPr>
            <p:ph idx="1"/>
          </p:nvPr>
        </p:nvSpPr>
        <p:spPr>
          <a:xfrm>
            <a:off x="457200" y="304800"/>
            <a:ext cx="8229600" cy="5821363"/>
          </a:xfrm>
        </p:spPr>
        <p:txBody>
          <a:bodyPr>
            <a:normAutofit lnSpcReduction="10000"/>
          </a:bodyPr>
          <a:lstStyle/>
          <a:p>
            <a:pPr marL="0" indent="0">
              <a:buNone/>
            </a:pPr>
            <a:r>
              <a:rPr lang="en-US" sz="2200" b="1" dirty="0">
                <a:solidFill>
                  <a:srgbClr val="FF0000"/>
                </a:solidFill>
                <a:latin typeface="Times New Roman" panose="02020603050405020304" pitchFamily="18" charset="0"/>
                <a:cs typeface="Times New Roman" panose="02020603050405020304" pitchFamily="18" charset="0"/>
              </a:rPr>
              <a:t>5. Returning the Current Object</a:t>
            </a:r>
          </a:p>
          <a:p>
            <a:pPr marL="0" indent="0">
              <a:buNone/>
            </a:pPr>
            <a:endParaRPr lang="en-US" sz="2200" b="1" dirty="0">
              <a:latin typeface="Times New Roman" panose="02020603050405020304" pitchFamily="18" charset="0"/>
              <a:cs typeface="Times New Roman" panose="02020603050405020304" pitchFamily="18" charset="0"/>
            </a:endParaRPr>
          </a:p>
          <a:p>
            <a:pPr marL="0" indent="0">
              <a:buNone/>
            </a:pPr>
            <a:r>
              <a:rPr lang="en-US" sz="2200" b="1" dirty="0">
                <a:latin typeface="Times New Roman" panose="02020603050405020304" pitchFamily="18" charset="0"/>
                <a:cs typeface="Times New Roman" panose="02020603050405020304" pitchFamily="18" charset="0"/>
              </a:rPr>
              <a:t>class</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ThisReturningobject</a:t>
            </a:r>
            <a:r>
              <a:rPr lang="en-US" sz="2200" dirty="0">
                <a:latin typeface="Times New Roman" panose="02020603050405020304" pitchFamily="18" charset="0"/>
                <a:cs typeface="Times New Roman" panose="02020603050405020304" pitchFamily="18" charset="0"/>
              </a:rPr>
              <a:t> {</a:t>
            </a:r>
          </a:p>
          <a:p>
            <a:pPr marL="0" indent="0">
              <a:buNone/>
            </a:pPr>
            <a:r>
              <a:rPr lang="en-US" sz="2200" dirty="0" err="1">
                <a:latin typeface="Times New Roman" panose="02020603050405020304" pitchFamily="18" charset="0"/>
                <a:cs typeface="Times New Roman" panose="02020603050405020304" pitchFamily="18" charset="0"/>
              </a:rPr>
              <a:t>ThisReturningobject</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getObject</a:t>
            </a:r>
            <a:r>
              <a:rPr lang="en-US" sz="2200" dirty="0">
                <a:latin typeface="Times New Roman" panose="02020603050405020304" pitchFamily="18" charset="0"/>
                <a:cs typeface="Times New Roman" panose="02020603050405020304" pitchFamily="18" charset="0"/>
              </a:rPr>
              <a:t>() {</a:t>
            </a:r>
          </a:p>
          <a:p>
            <a:pPr marL="0" indent="0">
              <a:buNone/>
            </a:pPr>
            <a:r>
              <a:rPr lang="en-US" sz="2200" b="1" dirty="0">
                <a:latin typeface="Times New Roman" panose="02020603050405020304" pitchFamily="18" charset="0"/>
                <a:cs typeface="Times New Roman" panose="02020603050405020304" pitchFamily="18" charset="0"/>
              </a:rPr>
              <a:t>return</a:t>
            </a:r>
            <a:r>
              <a:rPr lang="en-US" sz="2200" dirty="0">
                <a:latin typeface="Times New Roman" panose="02020603050405020304" pitchFamily="18" charset="0"/>
                <a:cs typeface="Times New Roman" panose="02020603050405020304" pitchFamily="18" charset="0"/>
              </a:rPr>
              <a:t> </a:t>
            </a:r>
            <a:r>
              <a:rPr lang="en-US" sz="2200" b="1" dirty="0">
                <a:latin typeface="Times New Roman" panose="02020603050405020304" pitchFamily="18" charset="0"/>
                <a:cs typeface="Times New Roman" panose="02020603050405020304" pitchFamily="18" charset="0"/>
              </a:rPr>
              <a:t>this</a:t>
            </a: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b="1" dirty="0">
                <a:latin typeface="Times New Roman" panose="02020603050405020304" pitchFamily="18" charset="0"/>
                <a:cs typeface="Times New Roman" panose="02020603050405020304" pitchFamily="18" charset="0"/>
              </a:rPr>
              <a:t>void</a:t>
            </a:r>
            <a:r>
              <a:rPr lang="en-US" sz="2200" dirty="0">
                <a:latin typeface="Times New Roman" panose="02020603050405020304" pitchFamily="18" charset="0"/>
                <a:cs typeface="Times New Roman" panose="02020603050405020304" pitchFamily="18" charset="0"/>
              </a:rPr>
              <a:t> display() {</a:t>
            </a:r>
          </a:p>
          <a:p>
            <a:pPr marL="0" indent="0">
              <a:buNone/>
            </a:pPr>
            <a:r>
              <a:rPr lang="en-US" sz="2200" dirty="0" err="1">
                <a:latin typeface="Times New Roman" panose="02020603050405020304" pitchFamily="18" charset="0"/>
                <a:cs typeface="Times New Roman" panose="02020603050405020304" pitchFamily="18" charset="0"/>
              </a:rPr>
              <a:t>System.</a:t>
            </a:r>
            <a:r>
              <a:rPr lang="en-US" sz="2200" b="1" i="1" dirty="0" err="1">
                <a:latin typeface="Times New Roman" panose="02020603050405020304" pitchFamily="18" charset="0"/>
                <a:cs typeface="Times New Roman" panose="02020603050405020304" pitchFamily="18" charset="0"/>
              </a:rPr>
              <a:t>out</a:t>
            </a:r>
            <a:r>
              <a:rPr lang="en-US" sz="2200" dirty="0" err="1">
                <a:latin typeface="Times New Roman" panose="02020603050405020304" pitchFamily="18" charset="0"/>
                <a:cs typeface="Times New Roman" panose="02020603050405020304" pitchFamily="18" charset="0"/>
              </a:rPr>
              <a:t>.println</a:t>
            </a:r>
            <a:r>
              <a:rPr lang="en-US" sz="2200" dirty="0">
                <a:latin typeface="Times New Roman" panose="02020603050405020304" pitchFamily="18" charset="0"/>
                <a:cs typeface="Times New Roman" panose="02020603050405020304" pitchFamily="18" charset="0"/>
              </a:rPr>
              <a:t>("Current object returned");</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b="1" dirty="0">
                <a:latin typeface="Times New Roman" panose="02020603050405020304" pitchFamily="18" charset="0"/>
                <a:cs typeface="Times New Roman" panose="02020603050405020304" pitchFamily="18" charset="0"/>
              </a:rPr>
              <a:t>public</a:t>
            </a:r>
            <a:r>
              <a:rPr lang="en-US" sz="2200" dirty="0">
                <a:latin typeface="Times New Roman" panose="02020603050405020304" pitchFamily="18" charset="0"/>
                <a:cs typeface="Times New Roman" panose="02020603050405020304" pitchFamily="18" charset="0"/>
              </a:rPr>
              <a:t> </a:t>
            </a:r>
            <a:r>
              <a:rPr lang="en-US" sz="2200" b="1" dirty="0">
                <a:latin typeface="Times New Roman" panose="02020603050405020304" pitchFamily="18" charset="0"/>
                <a:cs typeface="Times New Roman" panose="02020603050405020304" pitchFamily="18" charset="0"/>
              </a:rPr>
              <a:t>static</a:t>
            </a:r>
            <a:r>
              <a:rPr lang="en-US" sz="2200" dirty="0">
                <a:latin typeface="Times New Roman" panose="02020603050405020304" pitchFamily="18" charset="0"/>
                <a:cs typeface="Times New Roman" panose="02020603050405020304" pitchFamily="18" charset="0"/>
              </a:rPr>
              <a:t> </a:t>
            </a:r>
            <a:r>
              <a:rPr lang="en-US" sz="2200" b="1" dirty="0">
                <a:latin typeface="Times New Roman" panose="02020603050405020304" pitchFamily="18" charset="0"/>
                <a:cs typeface="Times New Roman" panose="02020603050405020304" pitchFamily="18" charset="0"/>
              </a:rPr>
              <a:t>void</a:t>
            </a:r>
            <a:r>
              <a:rPr lang="en-US" sz="2200" dirty="0">
                <a:latin typeface="Times New Roman" panose="02020603050405020304" pitchFamily="18" charset="0"/>
                <a:cs typeface="Times New Roman" panose="02020603050405020304" pitchFamily="18" charset="0"/>
              </a:rPr>
              <a:t> main(String </a:t>
            </a:r>
            <a:r>
              <a:rPr lang="en-US" sz="2200" dirty="0" err="1">
                <a:latin typeface="Times New Roman" panose="02020603050405020304" pitchFamily="18" charset="0"/>
                <a:cs typeface="Times New Roman" panose="02020603050405020304" pitchFamily="18" charset="0"/>
              </a:rPr>
              <a:t>args</a:t>
            </a:r>
            <a:r>
              <a:rPr lang="en-US" sz="2200" dirty="0">
                <a:latin typeface="Times New Roman" panose="02020603050405020304" pitchFamily="18" charset="0"/>
                <a:cs typeface="Times New Roman" panose="02020603050405020304" pitchFamily="18" charset="0"/>
              </a:rPr>
              <a:t>[]) {</a:t>
            </a:r>
          </a:p>
          <a:p>
            <a:pPr marL="0" indent="0">
              <a:buNone/>
            </a:pPr>
            <a:r>
              <a:rPr lang="en-US" sz="2200" dirty="0" err="1">
                <a:latin typeface="Times New Roman" panose="02020603050405020304" pitchFamily="18" charset="0"/>
                <a:cs typeface="Times New Roman" panose="02020603050405020304" pitchFamily="18" charset="0"/>
              </a:rPr>
              <a:t>ThisReturningobject</a:t>
            </a:r>
            <a:r>
              <a:rPr lang="en-US" sz="2200" dirty="0">
                <a:latin typeface="Times New Roman" panose="02020603050405020304" pitchFamily="18" charset="0"/>
                <a:cs typeface="Times New Roman" panose="02020603050405020304" pitchFamily="18" charset="0"/>
              </a:rPr>
              <a:t> s = </a:t>
            </a:r>
            <a:r>
              <a:rPr lang="en-US" sz="2200" b="1" dirty="0">
                <a:latin typeface="Times New Roman" panose="02020603050405020304" pitchFamily="18" charset="0"/>
                <a:cs typeface="Times New Roman" panose="02020603050405020304" pitchFamily="18" charset="0"/>
              </a:rPr>
              <a:t>new</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ThisReturningobject</a:t>
            </a:r>
            <a:r>
              <a:rPr lang="en-US" sz="2200" dirty="0">
                <a:latin typeface="Times New Roman" panose="02020603050405020304" pitchFamily="18" charset="0"/>
                <a:cs typeface="Times New Roman" panose="02020603050405020304" pitchFamily="18" charset="0"/>
              </a:rPr>
              <a:t>();</a:t>
            </a:r>
          </a:p>
          <a:p>
            <a:pPr marL="0" indent="0">
              <a:buNone/>
            </a:pPr>
            <a:r>
              <a:rPr lang="en-US" sz="2200" dirty="0" err="1">
                <a:latin typeface="Times New Roman" panose="02020603050405020304" pitchFamily="18" charset="0"/>
                <a:cs typeface="Times New Roman" panose="02020603050405020304" pitchFamily="18" charset="0"/>
              </a:rPr>
              <a:t>ThisReturningobject</a:t>
            </a:r>
            <a:r>
              <a:rPr lang="en-US" sz="2200" dirty="0">
                <a:latin typeface="Times New Roman" panose="02020603050405020304" pitchFamily="18" charset="0"/>
                <a:cs typeface="Times New Roman" panose="02020603050405020304" pitchFamily="18" charset="0"/>
              </a:rPr>
              <a:t> obj = </a:t>
            </a:r>
            <a:r>
              <a:rPr lang="en-US" sz="2200" dirty="0" err="1">
                <a:latin typeface="Times New Roman" panose="02020603050405020304" pitchFamily="18" charset="0"/>
                <a:cs typeface="Times New Roman" panose="02020603050405020304" pitchFamily="18" charset="0"/>
              </a:rPr>
              <a:t>s.getObject</a:t>
            </a:r>
            <a:r>
              <a:rPr lang="en-US" sz="2200" dirty="0">
                <a:latin typeface="Times New Roman" panose="02020603050405020304" pitchFamily="18" charset="0"/>
                <a:cs typeface="Times New Roman" panose="02020603050405020304" pitchFamily="18" charset="0"/>
              </a:rPr>
              <a:t>();</a:t>
            </a:r>
          </a:p>
          <a:p>
            <a:pPr marL="0" indent="0">
              <a:buNone/>
            </a:pPr>
            <a:r>
              <a:rPr lang="en-US" sz="2200" dirty="0" err="1">
                <a:latin typeface="Times New Roman" panose="02020603050405020304" pitchFamily="18" charset="0"/>
                <a:cs typeface="Times New Roman" panose="02020603050405020304" pitchFamily="18" charset="0"/>
              </a:rPr>
              <a:t>obj.display</a:t>
            </a: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a:latin typeface="Times New Roman" panose="02020603050405020304" pitchFamily="18" charset="0"/>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39310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074DBF-0858-4819-4E37-776665320D30}"/>
              </a:ext>
            </a:extLst>
          </p:cNvPr>
          <p:cNvSpPr>
            <a:spLocks noGrp="1"/>
          </p:cNvSpPr>
          <p:nvPr>
            <p:ph idx="1"/>
          </p:nvPr>
        </p:nvSpPr>
        <p:spPr>
          <a:xfrm>
            <a:off x="457200" y="152400"/>
            <a:ext cx="8229600" cy="5973763"/>
          </a:xfrm>
        </p:spPr>
        <p:txBody>
          <a:bodyPr>
            <a:normAutofit/>
          </a:bodyPr>
          <a:lstStyle/>
          <a:p>
            <a:pPr marL="0" indent="0" algn="just">
              <a:buNone/>
            </a:pPr>
            <a:r>
              <a:rPr lang="en-US" sz="2200" b="1" dirty="0">
                <a:solidFill>
                  <a:srgbClr val="FF0000"/>
                </a:solidFill>
                <a:latin typeface="Times New Roman" panose="02020603050405020304" pitchFamily="18" charset="0"/>
                <a:cs typeface="Times New Roman" panose="02020603050405020304" pitchFamily="18" charset="0"/>
              </a:rPr>
              <a:t>GARBAGE COLLECTION IN JAVA</a:t>
            </a:r>
          </a:p>
          <a:p>
            <a:pPr algn="just"/>
            <a:r>
              <a:rPr lang="en-US" sz="2200" dirty="0">
                <a:latin typeface="Times New Roman" panose="02020603050405020304" pitchFamily="18" charset="0"/>
                <a:cs typeface="Times New Roman" panose="02020603050405020304" pitchFamily="18" charset="0"/>
              </a:rPr>
              <a:t>Garbage collection in Java is the process by which Java programs perform automatic memory management.</a:t>
            </a:r>
          </a:p>
          <a:p>
            <a:pPr algn="just"/>
            <a:r>
              <a:rPr lang="en-US" sz="2200" b="1" dirty="0">
                <a:latin typeface="Times New Roman" panose="02020603050405020304" pitchFamily="18" charset="0"/>
                <a:cs typeface="Times New Roman" panose="02020603050405020304" pitchFamily="18" charset="0"/>
              </a:rPr>
              <a:t>How Does Garbage Collection in Java works?</a:t>
            </a:r>
          </a:p>
          <a:p>
            <a:pPr lvl="1" algn="just"/>
            <a:r>
              <a:rPr lang="en-US" sz="2200" dirty="0">
                <a:latin typeface="Times New Roman" panose="02020603050405020304" pitchFamily="18" charset="0"/>
                <a:cs typeface="Times New Roman" panose="02020603050405020304" pitchFamily="18" charset="0"/>
              </a:rPr>
              <a:t>Java garbage collection is an automatic process.</a:t>
            </a:r>
          </a:p>
          <a:p>
            <a:pPr lvl="1" algn="just"/>
            <a:r>
              <a:rPr lang="en-US" sz="2200" dirty="0">
                <a:latin typeface="Times New Roman" panose="02020603050405020304" pitchFamily="18" charset="0"/>
                <a:cs typeface="Times New Roman" panose="02020603050405020304" pitchFamily="18" charset="0"/>
              </a:rPr>
              <a:t>Automatic garbage collection is the process of looking at heap memory, identifying which objects are in use and which are not, and deleting the unused objects.</a:t>
            </a:r>
          </a:p>
          <a:p>
            <a:pPr lvl="1" algn="just"/>
            <a:r>
              <a:rPr lang="en-US" sz="2200" dirty="0">
                <a:latin typeface="Times New Roman" panose="02020603050405020304" pitchFamily="18" charset="0"/>
                <a:cs typeface="Times New Roman" panose="02020603050405020304" pitchFamily="18" charset="0"/>
              </a:rPr>
              <a:t>An unused or unreferenced object is no longer referenced by any part of your program.</a:t>
            </a:r>
          </a:p>
          <a:p>
            <a:pPr lvl="1" algn="just"/>
            <a:r>
              <a:rPr lang="en-US" sz="2200" dirty="0">
                <a:latin typeface="Times New Roman" panose="02020603050405020304" pitchFamily="18" charset="0"/>
                <a:cs typeface="Times New Roman" panose="02020603050405020304" pitchFamily="18" charset="0"/>
              </a:rPr>
              <a:t>So the memory used by an unreferenced object can be reclaimed.</a:t>
            </a:r>
          </a:p>
          <a:p>
            <a:pPr lvl="1" algn="just"/>
            <a:r>
              <a:rPr lang="en-US" sz="2200" dirty="0">
                <a:latin typeface="Times New Roman" panose="02020603050405020304" pitchFamily="18" charset="0"/>
                <a:cs typeface="Times New Roman" panose="02020603050405020304" pitchFamily="18" charset="0"/>
              </a:rPr>
              <a:t>The programmer does not need to mark objects to be deleted explicitly.</a:t>
            </a:r>
          </a:p>
          <a:p>
            <a:pPr lvl="1" algn="just"/>
            <a:r>
              <a:rPr lang="en-US" sz="2200" dirty="0">
                <a:latin typeface="Times New Roman" panose="02020603050405020304" pitchFamily="18" charset="0"/>
                <a:cs typeface="Times New Roman" panose="02020603050405020304" pitchFamily="18" charset="0"/>
              </a:rPr>
              <a:t>The garbage collection implementation lives in the JVM.</a:t>
            </a:r>
          </a:p>
          <a:p>
            <a:pPr algn="just"/>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48932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559FC7-4C24-1DE3-87F6-AC4F99A3E5CD}"/>
              </a:ext>
            </a:extLst>
          </p:cNvPr>
          <p:cNvSpPr>
            <a:spLocks noGrp="1"/>
          </p:cNvSpPr>
          <p:nvPr>
            <p:ph idx="1"/>
          </p:nvPr>
        </p:nvSpPr>
        <p:spPr>
          <a:xfrm>
            <a:off x="457200" y="381000"/>
            <a:ext cx="8229600" cy="5745163"/>
          </a:xfrm>
        </p:spPr>
        <p:txBody>
          <a:bodyPr>
            <a:noAutofit/>
          </a:bodyPr>
          <a:lstStyle/>
          <a:p>
            <a:pPr marL="0" indent="0" algn="just">
              <a:buNone/>
            </a:pPr>
            <a:r>
              <a:rPr lang="en-US" sz="2200" b="1" dirty="0">
                <a:solidFill>
                  <a:srgbClr val="FF0000"/>
                </a:solidFill>
                <a:latin typeface="Times New Roman" panose="02020603050405020304" pitchFamily="18" charset="0"/>
                <a:cs typeface="Times New Roman" panose="02020603050405020304" pitchFamily="18" charset="0"/>
              </a:rPr>
              <a:t>How Can an Object be Unreferenced? There are many ways:</a:t>
            </a:r>
          </a:p>
          <a:p>
            <a:pPr algn="just"/>
            <a:r>
              <a:rPr lang="en-US" sz="2200" dirty="0">
                <a:latin typeface="Times New Roman" panose="02020603050405020304" pitchFamily="18" charset="0"/>
                <a:cs typeface="Times New Roman" panose="02020603050405020304" pitchFamily="18" charset="0"/>
              </a:rPr>
              <a:t>1.  By nulling the reference</a:t>
            </a:r>
          </a:p>
          <a:p>
            <a:pPr algn="just"/>
            <a:r>
              <a:rPr lang="en-US" sz="2200" dirty="0">
                <a:latin typeface="Times New Roman" panose="02020603050405020304" pitchFamily="18" charset="0"/>
                <a:cs typeface="Times New Roman" panose="02020603050405020304" pitchFamily="18" charset="0"/>
              </a:rPr>
              <a:t>2.  By assigning a reference to another</a:t>
            </a:r>
          </a:p>
          <a:p>
            <a:pPr algn="just"/>
            <a:r>
              <a:rPr lang="en-US" sz="2200" dirty="0">
                <a:latin typeface="Times New Roman" panose="02020603050405020304" pitchFamily="18" charset="0"/>
                <a:cs typeface="Times New Roman" panose="02020603050405020304" pitchFamily="18" charset="0"/>
              </a:rPr>
              <a:t>3. By anonymous object etc.</a:t>
            </a:r>
          </a:p>
          <a:p>
            <a:pPr lvl="0" algn="just"/>
            <a:r>
              <a:rPr lang="en-US" sz="2200" b="1" dirty="0">
                <a:latin typeface="Times New Roman" panose="02020603050405020304" pitchFamily="18" charset="0"/>
                <a:cs typeface="Times New Roman" panose="02020603050405020304" pitchFamily="18" charset="0"/>
              </a:rPr>
              <a:t>By nulling a reference:</a:t>
            </a:r>
          </a:p>
          <a:p>
            <a:pPr lvl="1" algn="just"/>
            <a:r>
              <a:rPr lang="en-US" sz="2200" dirty="0">
                <a:latin typeface="Times New Roman" panose="02020603050405020304" pitchFamily="18" charset="0"/>
                <a:cs typeface="Times New Roman" panose="02020603050405020304" pitchFamily="18" charset="0"/>
              </a:rPr>
              <a:t>Employee e=new Employee();</a:t>
            </a:r>
          </a:p>
          <a:p>
            <a:pPr lvl="1" algn="just"/>
            <a:r>
              <a:rPr lang="en-US" sz="2200" dirty="0">
                <a:latin typeface="Times New Roman" panose="02020603050405020304" pitchFamily="18" charset="0"/>
                <a:cs typeface="Times New Roman" panose="02020603050405020304" pitchFamily="18" charset="0"/>
              </a:rPr>
              <a:t>e=null;</a:t>
            </a:r>
          </a:p>
          <a:p>
            <a:pPr lvl="0" algn="just"/>
            <a:r>
              <a:rPr lang="en-US" sz="2200" b="1" dirty="0">
                <a:latin typeface="Times New Roman" panose="02020603050405020304" pitchFamily="18" charset="0"/>
                <a:cs typeface="Times New Roman" panose="02020603050405020304" pitchFamily="18" charset="0"/>
              </a:rPr>
              <a:t>By assigning a reference to another:</a:t>
            </a:r>
          </a:p>
          <a:p>
            <a:pPr lvl="1" algn="just"/>
            <a:r>
              <a:rPr lang="en-US" sz="2200" dirty="0">
                <a:latin typeface="Times New Roman" panose="02020603050405020304" pitchFamily="18" charset="0"/>
                <a:cs typeface="Times New Roman" panose="02020603050405020304" pitchFamily="18" charset="0"/>
              </a:rPr>
              <a:t>Employee e1=new Employee();</a:t>
            </a:r>
          </a:p>
          <a:p>
            <a:pPr lvl="1" algn="just"/>
            <a:r>
              <a:rPr lang="en-US" sz="2200" dirty="0">
                <a:latin typeface="Times New Roman" panose="02020603050405020304" pitchFamily="18" charset="0"/>
                <a:cs typeface="Times New Roman" panose="02020603050405020304" pitchFamily="18" charset="0"/>
              </a:rPr>
              <a:t>Employee e2=new Employee();</a:t>
            </a:r>
          </a:p>
          <a:p>
            <a:pPr lvl="1" algn="just"/>
            <a:r>
              <a:rPr lang="en-US" sz="2200" dirty="0">
                <a:latin typeface="Times New Roman" panose="02020603050405020304" pitchFamily="18" charset="0"/>
                <a:cs typeface="Times New Roman" panose="02020603050405020304" pitchFamily="18" charset="0"/>
              </a:rPr>
              <a:t>e1=e2;//now the first object referred by e1 is available for garbage collection</a:t>
            </a:r>
          </a:p>
          <a:p>
            <a:pPr lvl="0" algn="just"/>
            <a:r>
              <a:rPr lang="en-US" sz="2200" b="1" dirty="0">
                <a:latin typeface="Times New Roman" panose="02020603050405020304" pitchFamily="18" charset="0"/>
                <a:cs typeface="Times New Roman" panose="02020603050405020304" pitchFamily="18" charset="0"/>
              </a:rPr>
              <a:t>By anonymous object:</a:t>
            </a:r>
          </a:p>
          <a:p>
            <a:pPr lvl="1" algn="just"/>
            <a:r>
              <a:rPr lang="en-US" sz="2200" dirty="0">
                <a:latin typeface="Times New Roman" panose="02020603050405020304" pitchFamily="18" charset="0"/>
                <a:cs typeface="Times New Roman" panose="02020603050405020304" pitchFamily="18" charset="0"/>
              </a:rPr>
              <a:t>new Employee();</a:t>
            </a:r>
          </a:p>
          <a:p>
            <a:pPr algn="just"/>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0039167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1D51CD-05DE-EC44-DBEE-CC5D0F4F049E}"/>
              </a:ext>
            </a:extLst>
          </p:cNvPr>
          <p:cNvSpPr>
            <a:spLocks noGrp="1"/>
          </p:cNvSpPr>
          <p:nvPr>
            <p:ph idx="1"/>
          </p:nvPr>
        </p:nvSpPr>
        <p:spPr>
          <a:xfrm>
            <a:off x="457200" y="228600"/>
            <a:ext cx="8229600" cy="5897563"/>
          </a:xfrm>
        </p:spPr>
        <p:txBody>
          <a:bodyPr>
            <a:normAutofit fontScale="70000" lnSpcReduction="20000"/>
          </a:bodyPr>
          <a:lstStyle/>
          <a:p>
            <a:pPr marL="0" indent="0" algn="ctr">
              <a:buNone/>
            </a:pPr>
            <a:r>
              <a:rPr lang="en-US" b="1" dirty="0">
                <a:solidFill>
                  <a:srgbClr val="FF0000"/>
                </a:solidFill>
                <a:latin typeface="Times New Roman" panose="02020603050405020304" pitchFamily="18" charset="0"/>
                <a:cs typeface="Times New Roman" panose="02020603050405020304" pitchFamily="18" charset="0"/>
              </a:rPr>
              <a:t>METHOD BINDING</a:t>
            </a:r>
          </a:p>
          <a:p>
            <a:pPr marL="0" indent="0">
              <a:buNone/>
            </a:pPr>
            <a:r>
              <a:rPr lang="en-US" dirty="0">
                <a:latin typeface="Times New Roman" panose="02020603050405020304" pitchFamily="18" charset="0"/>
                <a:cs typeface="Times New Roman" panose="02020603050405020304" pitchFamily="18" charset="0"/>
              </a:rPr>
              <a:t>Connecting a method call to the method body is known as binding. There are two types of binding</a:t>
            </a:r>
          </a:p>
          <a:p>
            <a:pPr marL="0" lvl="0" indent="0">
              <a:buNone/>
            </a:pPr>
            <a:r>
              <a:rPr lang="en-US" dirty="0">
                <a:latin typeface="Times New Roman" panose="02020603050405020304" pitchFamily="18" charset="0"/>
                <a:cs typeface="Times New Roman" panose="02020603050405020304" pitchFamily="18" charset="0"/>
              </a:rPr>
              <a:t>Static Binding (also known as Early Binding).</a:t>
            </a:r>
          </a:p>
          <a:p>
            <a:pPr marL="0" lvl="0" indent="0">
              <a:buNone/>
            </a:pPr>
            <a:r>
              <a:rPr lang="en-US" dirty="0">
                <a:latin typeface="Times New Roman" panose="02020603050405020304" pitchFamily="18" charset="0"/>
                <a:cs typeface="Times New Roman" panose="02020603050405020304" pitchFamily="18" charset="0"/>
              </a:rPr>
              <a:t>Dynamic Binding (also known as Late Binding).</a:t>
            </a:r>
          </a:p>
          <a:p>
            <a:pPr marL="0" indent="0">
              <a:buNone/>
            </a:pPr>
            <a:r>
              <a:rPr lang="en-US" b="1" dirty="0">
                <a:solidFill>
                  <a:srgbClr val="FF0000"/>
                </a:solidFill>
                <a:latin typeface="Times New Roman" panose="02020603050405020304" pitchFamily="18" charset="0"/>
                <a:cs typeface="Times New Roman" panose="02020603050405020304" pitchFamily="18" charset="0"/>
              </a:rPr>
              <a:t>Static Binding</a:t>
            </a:r>
          </a:p>
          <a:p>
            <a:pPr marL="0" indent="0">
              <a:buNone/>
            </a:pPr>
            <a:r>
              <a:rPr lang="en-US" dirty="0">
                <a:latin typeface="Times New Roman" panose="02020603050405020304" pitchFamily="18" charset="0"/>
                <a:cs typeface="Times New Roman" panose="02020603050405020304" pitchFamily="18" charset="0"/>
              </a:rPr>
              <a:t>When type of the object is determined at compiled time(by the compiler), it is known as static binding. If there is any private, final or static method in a class, there is static binding.</a:t>
            </a:r>
          </a:p>
          <a:p>
            <a:pPr marL="0" indent="0">
              <a:buNone/>
            </a:pPr>
            <a:r>
              <a:rPr lang="en-US" b="1" dirty="0">
                <a:latin typeface="Times New Roman" panose="02020603050405020304" pitchFamily="18" charset="0"/>
                <a:cs typeface="Times New Roman" panose="02020603050405020304" pitchFamily="18" charset="0"/>
              </a:rPr>
              <a:t>Example</a:t>
            </a:r>
          </a:p>
          <a:p>
            <a:pPr marL="0" indent="0">
              <a:buNone/>
            </a:pPr>
            <a:r>
              <a:rPr lang="en-US" dirty="0">
                <a:latin typeface="Times New Roman" panose="02020603050405020304" pitchFamily="18" charset="0"/>
                <a:cs typeface="Times New Roman" panose="02020603050405020304" pitchFamily="18" charset="0"/>
              </a:rPr>
              <a:t>class Dog</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private void eat(){</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("dog is eating...");}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Dog d1=new Dog(); d1.eat();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3040588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2D10B1B-8460-9B58-134E-B14086C4D622}"/>
              </a:ext>
            </a:extLst>
          </p:cNvPr>
          <p:cNvSpPr>
            <a:spLocks noGrp="1"/>
          </p:cNvSpPr>
          <p:nvPr>
            <p:ph idx="1"/>
          </p:nvPr>
        </p:nvSpPr>
        <p:spPr>
          <a:xfrm>
            <a:off x="457200" y="304800"/>
            <a:ext cx="8229600" cy="5821363"/>
          </a:xfrm>
        </p:spPr>
        <p:txBody>
          <a:bodyPr>
            <a:normAutofit fontScale="70000" lnSpcReduction="20000"/>
          </a:bodyPr>
          <a:lstStyle/>
          <a:p>
            <a:pPr marL="0" indent="0">
              <a:buNone/>
            </a:pPr>
            <a:r>
              <a:rPr lang="en-US" sz="2900" b="1" dirty="0">
                <a:solidFill>
                  <a:srgbClr val="FF0000"/>
                </a:solidFill>
                <a:latin typeface="Times New Roman" panose="02020603050405020304" pitchFamily="18" charset="0"/>
                <a:cs typeface="Times New Roman" panose="02020603050405020304" pitchFamily="18" charset="0"/>
              </a:rPr>
              <a:t>Dynamic binding</a:t>
            </a:r>
          </a:p>
          <a:p>
            <a:pPr marL="0" indent="0">
              <a:buNone/>
            </a:pPr>
            <a:r>
              <a:rPr lang="en-US" sz="2600" dirty="0">
                <a:latin typeface="Times New Roman" panose="02020603050405020304" pitchFamily="18" charset="0"/>
                <a:cs typeface="Times New Roman" panose="02020603050405020304" pitchFamily="18" charset="0"/>
              </a:rPr>
              <a:t>When type of the object is determined at run-time, it is known as dynamic binding.</a:t>
            </a:r>
          </a:p>
          <a:p>
            <a:pPr marL="0" indent="0">
              <a:buNone/>
            </a:pPr>
            <a:r>
              <a:rPr lang="en-US" sz="2200" dirty="0">
                <a:latin typeface="Times New Roman" panose="02020603050405020304" pitchFamily="18" charset="0"/>
                <a:cs typeface="Times New Roman" panose="02020603050405020304" pitchFamily="18" charset="0"/>
              </a:rPr>
              <a:t>class Animal</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void eat()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err="1">
                <a:latin typeface="Times New Roman" panose="02020603050405020304" pitchFamily="18" charset="0"/>
                <a:cs typeface="Times New Roman" panose="02020603050405020304" pitchFamily="18" charset="0"/>
              </a:rPr>
              <a:t>System.out.println</a:t>
            </a:r>
            <a:r>
              <a:rPr lang="en-US" sz="2200" dirty="0">
                <a:latin typeface="Times New Roman" panose="02020603050405020304" pitchFamily="18" charset="0"/>
                <a:cs typeface="Times New Roman" panose="02020603050405020304" pitchFamily="18" charset="0"/>
              </a:rPr>
              <a:t>("animal is eating...");</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class Dog extends Animal</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void eat()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err="1">
                <a:latin typeface="Times New Roman" panose="02020603050405020304" pitchFamily="18" charset="0"/>
                <a:cs typeface="Times New Roman" panose="02020603050405020304" pitchFamily="18" charset="0"/>
              </a:rPr>
              <a:t>System.out.println</a:t>
            </a:r>
            <a:r>
              <a:rPr lang="en-US" sz="2200" dirty="0">
                <a:latin typeface="Times New Roman" panose="02020603050405020304" pitchFamily="18" charset="0"/>
                <a:cs typeface="Times New Roman" panose="02020603050405020304" pitchFamily="18" charset="0"/>
              </a:rPr>
              <a:t>("dog is eating...");</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public static void main(String </a:t>
            </a:r>
            <a:r>
              <a:rPr lang="en-US" sz="2200" dirty="0" err="1">
                <a:latin typeface="Times New Roman" panose="02020603050405020304" pitchFamily="18" charset="0"/>
                <a:cs typeface="Times New Roman" panose="02020603050405020304" pitchFamily="18" charset="0"/>
              </a:rPr>
              <a:t>args</a:t>
            </a: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Animal a=new Dog(); </a:t>
            </a:r>
            <a:r>
              <a:rPr lang="en-US" sz="2200" dirty="0" err="1">
                <a:latin typeface="Times New Roman" panose="02020603050405020304" pitchFamily="18" charset="0"/>
                <a:cs typeface="Times New Roman" panose="02020603050405020304" pitchFamily="18" charset="0"/>
              </a:rPr>
              <a:t>a.eat</a:t>
            </a: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a:t>
            </a:r>
          </a:p>
          <a:p>
            <a:pPr marL="0" indent="0">
              <a:buNone/>
            </a:pPr>
            <a:r>
              <a:rPr lang="en-US" sz="2200" dirty="0">
                <a:latin typeface="Times New Roman" panose="02020603050405020304" pitchFamily="18" charset="0"/>
                <a:cs typeface="Times New Roman" panose="02020603050405020304" pitchFamily="18" charset="0"/>
              </a:rPr>
              <a:t>In the above example object type cannot be determined by the compiler, because the instance of Dog is also an instance of Animal. So compiler doesn't know its type, only its base type.</a:t>
            </a:r>
          </a:p>
          <a:p>
            <a:pPr marL="0" indent="0">
              <a:buNone/>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729726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2AB45B-AC60-3771-499C-09C6ABD65FEA}"/>
              </a:ext>
            </a:extLst>
          </p:cNvPr>
          <p:cNvSpPr>
            <a:spLocks noGrp="1"/>
          </p:cNvSpPr>
          <p:nvPr>
            <p:ph idx="1"/>
          </p:nvPr>
        </p:nvSpPr>
        <p:spPr>
          <a:xfrm>
            <a:off x="457200" y="0"/>
            <a:ext cx="8229600" cy="6126163"/>
          </a:xfrm>
        </p:spPr>
        <p:txBody>
          <a:bodyPr>
            <a:normAutofit fontScale="85000" lnSpcReduction="10000"/>
          </a:bodyPr>
          <a:lstStyle/>
          <a:p>
            <a:pPr marL="0" indent="0">
              <a:buNone/>
            </a:pPr>
            <a:r>
              <a:rPr lang="en-US" sz="2200" b="1" dirty="0">
                <a:solidFill>
                  <a:srgbClr val="FF0000"/>
                </a:solidFill>
                <a:latin typeface="Times New Roman" panose="02020603050405020304" pitchFamily="18" charset="0"/>
                <a:cs typeface="Times New Roman" panose="02020603050405020304" pitchFamily="18" charset="0"/>
              </a:rPr>
              <a:t>PARAMETER PASSING METHODS</a:t>
            </a:r>
          </a:p>
          <a:p>
            <a:pPr marL="0" indent="0" algn="just">
              <a:buNone/>
            </a:pPr>
            <a:r>
              <a:rPr lang="en-US" sz="2400" dirty="0">
                <a:latin typeface="Times New Roman" panose="02020603050405020304" pitchFamily="18" charset="0"/>
                <a:cs typeface="Times New Roman" panose="02020603050405020304" pitchFamily="18" charset="0"/>
              </a:rPr>
              <a:t>Parameter passing in Java refers to the mechanism of transferring data between methods or functions. Java supports two types of parameters passing techniques</a:t>
            </a:r>
          </a:p>
          <a:p>
            <a:pPr marL="0" lvl="0" indent="0" algn="just">
              <a:buNone/>
            </a:pPr>
            <a:r>
              <a:rPr lang="en-US" sz="2400" dirty="0">
                <a:latin typeface="Times New Roman" panose="02020603050405020304" pitchFamily="18" charset="0"/>
                <a:cs typeface="Times New Roman" panose="02020603050405020304" pitchFamily="18" charset="0"/>
              </a:rPr>
              <a:t>Call-by-value</a:t>
            </a:r>
          </a:p>
          <a:p>
            <a:pPr marL="0" lvl="0" indent="0" algn="just">
              <a:buNone/>
            </a:pPr>
            <a:r>
              <a:rPr lang="en-US" sz="2400" dirty="0">
                <a:latin typeface="Times New Roman" panose="02020603050405020304" pitchFamily="18" charset="0"/>
                <a:cs typeface="Times New Roman" panose="02020603050405020304" pitchFamily="18" charset="0"/>
              </a:rPr>
              <a:t>Call-by-reference.</a:t>
            </a:r>
          </a:p>
          <a:p>
            <a:pPr marL="0" indent="0" algn="just">
              <a:buNone/>
            </a:pPr>
            <a:r>
              <a:rPr lang="en-US" sz="2400" b="1" dirty="0">
                <a:latin typeface="Times New Roman" panose="02020603050405020304" pitchFamily="18" charset="0"/>
                <a:cs typeface="Times New Roman" panose="02020603050405020304" pitchFamily="18" charset="0"/>
              </a:rPr>
              <a:t>1. Call-by-Value</a:t>
            </a:r>
          </a:p>
          <a:p>
            <a:pPr marL="0" indent="0" algn="just">
              <a:buNone/>
            </a:pPr>
            <a:r>
              <a:rPr lang="en-US" sz="2400" dirty="0">
                <a:latin typeface="Times New Roman" panose="02020603050405020304" pitchFamily="18" charset="0"/>
                <a:cs typeface="Times New Roman" panose="02020603050405020304" pitchFamily="18" charset="0"/>
              </a:rPr>
              <a:t>In Call-by-value the copy of the value of the actual parameter is passed to the formal parameter of the method. Any of the modifications made to the formal parameter within the method do not affect the actual parameter.</a:t>
            </a:r>
          </a:p>
          <a:p>
            <a:pPr marL="0" indent="0" algn="just">
              <a:buNone/>
            </a:pPr>
            <a:r>
              <a:rPr lang="en-US" sz="2400" b="1" dirty="0">
                <a:latin typeface="Times New Roman" panose="02020603050405020304" pitchFamily="18" charset="0"/>
                <a:cs typeface="Times New Roman" panose="02020603050405020304" pitchFamily="18" charset="0"/>
              </a:rPr>
              <a:t>2. Call-by-Reference</a:t>
            </a:r>
          </a:p>
          <a:p>
            <a:pPr algn="just"/>
            <a:r>
              <a:rPr lang="en-US" sz="2400" dirty="0">
                <a:latin typeface="Times New Roman" panose="02020603050405020304" pitchFamily="18" charset="0"/>
                <a:cs typeface="Times New Roman" panose="02020603050405020304" pitchFamily="18" charset="0"/>
              </a:rPr>
              <a:t>call by reference" is a method of passing arguments to functions or methods where the memory address (or reference) of the variable is passed rather than the value itself. This means that changes made to the formal parameter within the function affect the actual parameter in the calling environment.</a:t>
            </a:r>
          </a:p>
          <a:p>
            <a:pPr algn="just"/>
            <a:r>
              <a:rPr lang="en-US" sz="2400" dirty="0">
                <a:latin typeface="Times New Roman" panose="02020603050405020304" pitchFamily="18" charset="0"/>
                <a:cs typeface="Times New Roman" panose="02020603050405020304" pitchFamily="18" charset="0"/>
              </a:rPr>
              <a:t>In "call by reference," when a reference to a variable is passed, any modifications made to the parameter inside the function are transmitted back to the caller. This is because the formal parameter receives a reference (or pointer) to the actual data.</a:t>
            </a:r>
          </a:p>
          <a:p>
            <a:pPr marL="0" indent="0">
              <a:buNone/>
            </a:pPr>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560323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05E688-AE1E-C181-1B8E-1A2BE703E6CB}"/>
              </a:ext>
            </a:extLst>
          </p:cNvPr>
          <p:cNvSpPr>
            <a:spLocks noGrp="1"/>
          </p:cNvSpPr>
          <p:nvPr>
            <p:ph idx="1"/>
          </p:nvPr>
        </p:nvSpPr>
        <p:spPr>
          <a:xfrm>
            <a:off x="457200" y="88490"/>
            <a:ext cx="8229600" cy="6693310"/>
          </a:xfrm>
        </p:spPr>
        <p:txBody>
          <a:bodyPr>
            <a:normAutofit fontScale="92500" lnSpcReduction="20000"/>
          </a:bodyPr>
          <a:lstStyle/>
          <a:p>
            <a:pPr marL="0" indent="0">
              <a:buNone/>
            </a:pPr>
            <a:r>
              <a:rPr lang="en-US" sz="2000" dirty="0">
                <a:latin typeface="Times New Roman" panose="02020603050405020304" pitchFamily="18" charset="0"/>
                <a:cs typeface="Times New Roman" panose="02020603050405020304" pitchFamily="18" charset="0"/>
              </a:rPr>
              <a:t>class </a:t>
            </a:r>
            <a:r>
              <a:rPr lang="en-US" sz="2000" dirty="0" err="1">
                <a:latin typeface="Times New Roman" panose="02020603050405020304" pitchFamily="18" charset="0"/>
                <a:cs typeface="Times New Roman" panose="02020603050405020304" pitchFamily="18" charset="0"/>
              </a:rPr>
              <a:t>CallByReference</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int </a:t>
            </a:r>
            <a:r>
              <a:rPr lang="en-US" sz="2000" dirty="0" err="1">
                <a:latin typeface="Times New Roman" panose="02020603050405020304" pitchFamily="18" charset="0"/>
                <a:cs typeface="Times New Roman" panose="02020603050405020304" pitchFamily="18" charset="0"/>
              </a:rPr>
              <a:t>a,b</a:t>
            </a:r>
            <a:r>
              <a:rPr lang="en-US" sz="2000" dirty="0">
                <a:latin typeface="Times New Roman" panose="02020603050405020304" pitchFamily="18" charset="0"/>
                <a:cs typeface="Times New Roman" panose="02020603050405020304" pitchFamily="18" charset="0"/>
              </a:rPr>
              <a:t>;</a:t>
            </a:r>
          </a:p>
          <a:p>
            <a:pPr marL="0" indent="0">
              <a:buNone/>
            </a:pPr>
            <a:r>
              <a:rPr lang="en-US" sz="2000" dirty="0" err="1">
                <a:latin typeface="Times New Roman" panose="02020603050405020304" pitchFamily="18" charset="0"/>
                <a:cs typeface="Times New Roman" panose="02020603050405020304" pitchFamily="18" charset="0"/>
              </a:rPr>
              <a:t>CallByReference</a:t>
            </a:r>
            <a:r>
              <a:rPr lang="en-US" sz="2000" dirty="0">
                <a:latin typeface="Times New Roman" panose="02020603050405020304" pitchFamily="18" charset="0"/>
                <a:cs typeface="Times New Roman" panose="02020603050405020304" pitchFamily="18" charset="0"/>
              </a:rPr>
              <a:t>(int </a:t>
            </a:r>
            <a:r>
              <a:rPr lang="en-US" sz="2000" dirty="0" err="1">
                <a:latin typeface="Times New Roman" panose="02020603050405020304" pitchFamily="18" charset="0"/>
                <a:cs typeface="Times New Roman" panose="02020603050405020304" pitchFamily="18" charset="0"/>
              </a:rPr>
              <a:t>x,int</a:t>
            </a:r>
            <a:r>
              <a:rPr lang="en-US" sz="2000" dirty="0">
                <a:latin typeface="Times New Roman" panose="02020603050405020304" pitchFamily="18" charset="0"/>
                <a:cs typeface="Times New Roman" panose="02020603050405020304" pitchFamily="18" charset="0"/>
              </a:rPr>
              <a:t> y)</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a=x; b=y;</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void </a:t>
            </a:r>
            <a:r>
              <a:rPr lang="en-US" sz="2000" dirty="0" err="1">
                <a:latin typeface="Times New Roman" panose="02020603050405020304" pitchFamily="18" charset="0"/>
                <a:cs typeface="Times New Roman" panose="02020603050405020304" pitchFamily="18" charset="0"/>
              </a:rPr>
              <a:t>changeValue</a:t>
            </a:r>
            <a:r>
              <a:rPr lang="en-US" sz="2000" dirty="0">
                <a:latin typeface="Times New Roman" panose="02020603050405020304" pitchFamily="18" charset="0"/>
                <a:cs typeface="Times New Roman" panose="02020603050405020304" pitchFamily="18" charset="0"/>
              </a:rPr>
              <a:t>(</a:t>
            </a:r>
            <a:r>
              <a:rPr lang="en-US" sz="2000" dirty="0" err="1">
                <a:latin typeface="Times New Roman" panose="02020603050405020304" pitchFamily="18" charset="0"/>
                <a:cs typeface="Times New Roman" panose="02020603050405020304" pitchFamily="18" charset="0"/>
              </a:rPr>
              <a:t>CallByReference</a:t>
            </a:r>
            <a:r>
              <a:rPr lang="en-US" sz="2000" dirty="0">
                <a:latin typeface="Times New Roman" panose="02020603050405020304" pitchFamily="18" charset="0"/>
                <a:cs typeface="Times New Roman" panose="02020603050405020304" pitchFamily="18" charset="0"/>
              </a:rPr>
              <a:t> obj)</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err="1">
                <a:latin typeface="Times New Roman" panose="02020603050405020304" pitchFamily="18" charset="0"/>
                <a:cs typeface="Times New Roman" panose="02020603050405020304" pitchFamily="18" charset="0"/>
              </a:rPr>
              <a:t>obj.a</a:t>
            </a:r>
            <a:r>
              <a:rPr lang="en-US" sz="2000" dirty="0">
                <a:latin typeface="Times New Roman" panose="02020603050405020304" pitchFamily="18" charset="0"/>
                <a:cs typeface="Times New Roman" panose="02020603050405020304" pitchFamily="18" charset="0"/>
              </a:rPr>
              <a:t>+=10; </a:t>
            </a:r>
            <a:r>
              <a:rPr lang="en-US" sz="2000" dirty="0" err="1">
                <a:latin typeface="Times New Roman" panose="02020603050405020304" pitchFamily="18" charset="0"/>
                <a:cs typeface="Times New Roman" panose="02020603050405020304" pitchFamily="18" charset="0"/>
              </a:rPr>
              <a:t>obj.b</a:t>
            </a:r>
            <a:r>
              <a:rPr lang="en-US" sz="2000" dirty="0">
                <a:latin typeface="Times New Roman" panose="02020603050405020304" pitchFamily="18" charset="0"/>
                <a:cs typeface="Times New Roman" panose="02020603050405020304" pitchFamily="18" charset="0"/>
              </a:rPr>
              <a:t>+=20;</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public class </a:t>
            </a:r>
            <a:r>
              <a:rPr lang="en-US" sz="2000" dirty="0" err="1">
                <a:latin typeface="Times New Roman" panose="02020603050405020304" pitchFamily="18" charset="0"/>
                <a:cs typeface="Times New Roman" panose="02020603050405020304" pitchFamily="18" charset="0"/>
              </a:rPr>
              <a:t>CallByReferenceExample</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public static void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err="1">
                <a:latin typeface="Times New Roman" panose="02020603050405020304" pitchFamily="18" charset="0"/>
                <a:cs typeface="Times New Roman" panose="02020603050405020304" pitchFamily="18" charset="0"/>
              </a:rPr>
              <a:t>CallByReference</a:t>
            </a:r>
            <a:r>
              <a:rPr lang="en-US" sz="2000" dirty="0">
                <a:latin typeface="Times New Roman" panose="02020603050405020304" pitchFamily="18" charset="0"/>
                <a:cs typeface="Times New Roman" panose="02020603050405020304" pitchFamily="18" charset="0"/>
              </a:rPr>
              <a:t> object=new </a:t>
            </a:r>
            <a:r>
              <a:rPr lang="en-US" sz="2000" dirty="0" err="1">
                <a:latin typeface="Times New Roman" panose="02020603050405020304" pitchFamily="18" charset="0"/>
                <a:cs typeface="Times New Roman" panose="02020603050405020304" pitchFamily="18" charset="0"/>
              </a:rPr>
              <a:t>CallByReference</a:t>
            </a:r>
            <a:r>
              <a:rPr lang="en-US" sz="2000" dirty="0">
                <a:latin typeface="Times New Roman" panose="02020603050405020304" pitchFamily="18" charset="0"/>
                <a:cs typeface="Times New Roman" panose="02020603050405020304" pitchFamily="18" charset="0"/>
              </a:rPr>
              <a:t>(10, 20); </a:t>
            </a: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("Value of a: "+</a:t>
            </a:r>
            <a:r>
              <a:rPr lang="en-US" sz="2000" dirty="0" err="1">
                <a:latin typeface="Times New Roman" panose="02020603050405020304" pitchFamily="18" charset="0"/>
                <a:cs typeface="Times New Roman" panose="02020603050405020304" pitchFamily="18" charset="0"/>
              </a:rPr>
              <a:t>object.a</a:t>
            </a:r>
            <a:r>
              <a:rPr lang="en-US" sz="2000" dirty="0">
                <a:latin typeface="Times New Roman" panose="02020603050405020304" pitchFamily="18" charset="0"/>
                <a:cs typeface="Times New Roman" panose="02020603050405020304" pitchFamily="18" charset="0"/>
              </a:rPr>
              <a:t> +" &amp; b: " +</a:t>
            </a:r>
            <a:r>
              <a:rPr lang="en-US" sz="2000" dirty="0" err="1">
                <a:latin typeface="Times New Roman" panose="02020603050405020304" pitchFamily="18" charset="0"/>
                <a:cs typeface="Times New Roman" panose="02020603050405020304" pitchFamily="18" charset="0"/>
              </a:rPr>
              <a:t>object.b</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object.changeValue</a:t>
            </a:r>
            <a:r>
              <a:rPr lang="en-US" sz="2000" dirty="0">
                <a:latin typeface="Times New Roman" panose="02020603050405020304" pitchFamily="18" charset="0"/>
                <a:cs typeface="Times New Roman" panose="02020603050405020304" pitchFamily="18" charset="0"/>
              </a:rPr>
              <a:t>(object);</a:t>
            </a:r>
          </a:p>
          <a:p>
            <a:pPr marL="0" indent="0">
              <a:buNone/>
            </a:pP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("Value of a:"+</a:t>
            </a:r>
            <a:r>
              <a:rPr lang="en-US" sz="2000" dirty="0" err="1">
                <a:latin typeface="Times New Roman" panose="02020603050405020304" pitchFamily="18" charset="0"/>
                <a:cs typeface="Times New Roman" panose="02020603050405020304" pitchFamily="18" charset="0"/>
              </a:rPr>
              <a:t>object.a</a:t>
            </a:r>
            <a:r>
              <a:rPr lang="en-US" sz="2000" dirty="0">
                <a:latin typeface="Times New Roman" panose="02020603050405020304" pitchFamily="18" charset="0"/>
                <a:cs typeface="Times New Roman" panose="02020603050405020304" pitchFamily="18" charset="0"/>
              </a:rPr>
              <a:t>+ " &amp; b: "+</a:t>
            </a:r>
            <a:r>
              <a:rPr lang="en-US" sz="2000" dirty="0" err="1">
                <a:latin typeface="Times New Roman" panose="02020603050405020304" pitchFamily="18" charset="0"/>
                <a:cs typeface="Times New Roman" panose="02020603050405020304" pitchFamily="18" charset="0"/>
              </a:rPr>
              <a:t>object.b</a:t>
            </a: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Output:</a:t>
            </a:r>
          </a:p>
          <a:p>
            <a:pPr marL="0" indent="0">
              <a:buNone/>
            </a:pPr>
            <a:r>
              <a:rPr lang="en-US" sz="2000" dirty="0">
                <a:latin typeface="Times New Roman" panose="02020603050405020304" pitchFamily="18" charset="0"/>
                <a:cs typeface="Times New Roman" panose="02020603050405020304" pitchFamily="18" charset="0"/>
              </a:rPr>
              <a:t>Value of a: 10 &amp; b: 20 Value of a: 20 &amp; b: 40</a:t>
            </a: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330415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5206417-2960-4FF4-2F09-69EAB8783AF8}"/>
              </a:ext>
            </a:extLst>
          </p:cNvPr>
          <p:cNvSpPr>
            <a:spLocks noGrp="1"/>
          </p:cNvSpPr>
          <p:nvPr>
            <p:ph idx="1"/>
          </p:nvPr>
        </p:nvSpPr>
        <p:spPr>
          <a:xfrm>
            <a:off x="457200" y="304800"/>
            <a:ext cx="8229600" cy="6400800"/>
          </a:xfrm>
        </p:spPr>
        <p:txBody>
          <a:bodyPr>
            <a:normAutofit fontScale="70000" lnSpcReduction="20000"/>
          </a:bodyPr>
          <a:lstStyle/>
          <a:p>
            <a:pPr marL="0" indent="0">
              <a:buNone/>
            </a:pPr>
            <a:r>
              <a:rPr lang="en-US" b="1" dirty="0">
                <a:latin typeface="Times New Roman" panose="02020603050405020304" pitchFamily="18" charset="0"/>
                <a:cs typeface="Times New Roman" panose="02020603050405020304" pitchFamily="18" charset="0"/>
              </a:rPr>
              <a:t>Example</a:t>
            </a:r>
          </a:p>
          <a:p>
            <a:pPr marL="0" indent="0">
              <a:buNone/>
            </a:pPr>
            <a:r>
              <a:rPr lang="en-US" dirty="0">
                <a:latin typeface="Times New Roman" panose="02020603050405020304" pitchFamily="18" charset="0"/>
                <a:cs typeface="Times New Roman" panose="02020603050405020304" pitchFamily="18" charset="0"/>
              </a:rPr>
              <a:t>public class </a:t>
            </a:r>
            <a:r>
              <a:rPr lang="en-US" dirty="0" err="1">
                <a:latin typeface="Times New Roman" panose="02020603050405020304" pitchFamily="18" charset="0"/>
                <a:cs typeface="Times New Roman" panose="02020603050405020304" pitchFamily="18" charset="0"/>
              </a:rPr>
              <a:t>CallByValueExample</a:t>
            </a: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int num = 10;</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("Before calling method:"+num); </a:t>
            </a:r>
            <a:r>
              <a:rPr lang="en-US" dirty="0" err="1">
                <a:latin typeface="Times New Roman" panose="02020603050405020304" pitchFamily="18" charset="0"/>
                <a:cs typeface="Times New Roman" panose="02020603050405020304" pitchFamily="18" charset="0"/>
              </a:rPr>
              <a:t>modifyValue</a:t>
            </a:r>
            <a:r>
              <a:rPr lang="en-US" dirty="0">
                <a:latin typeface="Times New Roman" panose="02020603050405020304" pitchFamily="18" charset="0"/>
                <a:cs typeface="Times New Roman" panose="02020603050405020304" pitchFamily="18" charset="0"/>
              </a:rPr>
              <a:t>(num);</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("After calling method:"+num);</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public static void </a:t>
            </a:r>
            <a:r>
              <a:rPr lang="en-US" dirty="0" err="1">
                <a:latin typeface="Times New Roman" panose="02020603050405020304" pitchFamily="18" charset="0"/>
                <a:cs typeface="Times New Roman" panose="02020603050405020304" pitchFamily="18" charset="0"/>
              </a:rPr>
              <a:t>modifyValue</a:t>
            </a:r>
            <a:r>
              <a:rPr lang="en-US" dirty="0">
                <a:latin typeface="Times New Roman" panose="02020603050405020304" pitchFamily="18" charset="0"/>
                <a:cs typeface="Times New Roman" panose="02020603050405020304" pitchFamily="18" charset="0"/>
              </a:rPr>
              <a:t>(int value)</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value=20;</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("Inside method:"+value);</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Output:</a:t>
            </a:r>
          </a:p>
          <a:p>
            <a:pPr marL="0" indent="0">
              <a:buNone/>
            </a:pPr>
            <a:r>
              <a:rPr lang="en-US" dirty="0">
                <a:latin typeface="Times New Roman" panose="02020603050405020304" pitchFamily="18" charset="0"/>
                <a:cs typeface="Times New Roman" panose="02020603050405020304" pitchFamily="18" charset="0"/>
              </a:rPr>
              <a:t>Before calling method: 10 Inside method: 20</a:t>
            </a:r>
          </a:p>
          <a:p>
            <a:pPr marL="0" indent="0">
              <a:buNone/>
            </a:pPr>
            <a:r>
              <a:rPr lang="en-US" dirty="0">
                <a:latin typeface="Times New Roman" panose="02020603050405020304" pitchFamily="18" charset="0"/>
                <a:cs typeface="Times New Roman" panose="02020603050405020304" pitchFamily="18" charset="0"/>
              </a:rPr>
              <a:t>After calling method: 10</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76621897"/>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68B49F3-C246-A781-BD00-21402EBA72EE}"/>
              </a:ext>
            </a:extLst>
          </p:cNvPr>
          <p:cNvSpPr>
            <a:spLocks noGrp="1"/>
          </p:cNvSpPr>
          <p:nvPr>
            <p:ph idx="1"/>
          </p:nvPr>
        </p:nvSpPr>
        <p:spPr>
          <a:xfrm>
            <a:off x="457200" y="0"/>
            <a:ext cx="8229600" cy="6858000"/>
          </a:xfrm>
        </p:spPr>
        <p:txBody>
          <a:bodyPr>
            <a:normAutofit fontScale="32500" lnSpcReduction="20000"/>
          </a:bodyPr>
          <a:lstStyle/>
          <a:p>
            <a:pPr marL="0" indent="0" algn="ctr">
              <a:buNone/>
            </a:pPr>
            <a:r>
              <a:rPr lang="en-US" sz="5500" b="1" dirty="0">
                <a:solidFill>
                  <a:srgbClr val="FF0000"/>
                </a:solidFill>
                <a:latin typeface="Times New Roman" panose="02020603050405020304" pitchFamily="18" charset="0"/>
                <a:cs typeface="Times New Roman" panose="02020603050405020304" pitchFamily="18" charset="0"/>
              </a:rPr>
              <a:t>RECURSION IN JAVA</a:t>
            </a:r>
            <a:endParaRPr lang="en-US" sz="4900" b="1" dirty="0">
              <a:solidFill>
                <a:srgbClr val="FF0000"/>
              </a:solidFill>
              <a:latin typeface="Times New Roman" panose="02020603050405020304" pitchFamily="18" charset="0"/>
              <a:cs typeface="Times New Roman" panose="02020603050405020304" pitchFamily="18" charset="0"/>
            </a:endParaRPr>
          </a:p>
          <a:p>
            <a:pPr marL="0" indent="0">
              <a:buNone/>
            </a:pPr>
            <a:r>
              <a:rPr lang="en-US" sz="5500" dirty="0">
                <a:latin typeface="Times New Roman" panose="02020603050405020304" pitchFamily="18" charset="0"/>
                <a:cs typeface="Times New Roman" panose="02020603050405020304" pitchFamily="18" charset="0"/>
              </a:rPr>
              <a:t>Recursion in java is a process in which a method calls itself continuously. A method in java that calls itself is called recursive method. It makes the code compact but complex to understand.</a:t>
            </a:r>
          </a:p>
          <a:p>
            <a:pPr marL="0" indent="0">
              <a:buNone/>
            </a:pPr>
            <a:r>
              <a:rPr lang="en-US" sz="4900" b="1" dirty="0">
                <a:latin typeface="Times New Roman" panose="02020603050405020304" pitchFamily="18" charset="0"/>
                <a:cs typeface="Times New Roman" panose="02020603050405020304" pitchFamily="18" charset="0"/>
              </a:rPr>
              <a:t>Syntax:</a:t>
            </a:r>
          </a:p>
          <a:p>
            <a:pPr marL="0" indent="0">
              <a:buNone/>
            </a:pPr>
            <a:r>
              <a:rPr lang="en-US" sz="4900" dirty="0" err="1">
                <a:latin typeface="Times New Roman" panose="02020603050405020304" pitchFamily="18" charset="0"/>
                <a:cs typeface="Times New Roman" panose="02020603050405020304" pitchFamily="18" charset="0"/>
              </a:rPr>
              <a:t>returntype</a:t>
            </a:r>
            <a:r>
              <a:rPr lang="en-US" sz="4900" dirty="0">
                <a:latin typeface="Times New Roman" panose="02020603050405020304" pitchFamily="18" charset="0"/>
                <a:cs typeface="Times New Roman" panose="02020603050405020304" pitchFamily="18" charset="0"/>
              </a:rPr>
              <a:t> </a:t>
            </a:r>
            <a:r>
              <a:rPr lang="en-US" sz="4900" dirty="0" err="1">
                <a:latin typeface="Times New Roman" panose="02020603050405020304" pitchFamily="18" charset="0"/>
                <a:cs typeface="Times New Roman" panose="02020603050405020304" pitchFamily="18" charset="0"/>
              </a:rPr>
              <a:t>methodname</a:t>
            </a:r>
            <a:r>
              <a:rPr lang="en-US" sz="4900" dirty="0">
                <a:latin typeface="Times New Roman" panose="02020603050405020304" pitchFamily="18" charset="0"/>
                <a:cs typeface="Times New Roman" panose="02020603050405020304" pitchFamily="18" charset="0"/>
              </a:rPr>
              <a:t>()</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r>
              <a:rPr lang="en-US" sz="4900" dirty="0" err="1">
                <a:latin typeface="Times New Roman" panose="02020603050405020304" pitchFamily="18" charset="0"/>
                <a:cs typeface="Times New Roman" panose="02020603050405020304" pitchFamily="18" charset="0"/>
              </a:rPr>
              <a:t>methodname</a:t>
            </a:r>
            <a:r>
              <a:rPr lang="en-US" sz="4900" dirty="0">
                <a:latin typeface="Times New Roman" panose="02020603050405020304" pitchFamily="18" charset="0"/>
                <a:cs typeface="Times New Roman" panose="02020603050405020304" pitchFamily="18" charset="0"/>
              </a:rPr>
              <a:t>();</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endParaRPr lang="en-US" sz="4900" dirty="0">
              <a:latin typeface="Times New Roman" panose="02020603050405020304" pitchFamily="18" charset="0"/>
              <a:cs typeface="Times New Roman" panose="02020603050405020304" pitchFamily="18" charset="0"/>
            </a:endParaRPr>
          </a:p>
          <a:p>
            <a:pPr marL="0" indent="0">
              <a:buNone/>
            </a:pPr>
            <a:endParaRPr lang="en-US" sz="4900" dirty="0">
              <a:latin typeface="Times New Roman" panose="02020603050405020304" pitchFamily="18" charset="0"/>
              <a:cs typeface="Times New Roman" panose="02020603050405020304" pitchFamily="18" charset="0"/>
            </a:endParaRPr>
          </a:p>
          <a:p>
            <a:pPr marL="0" indent="0">
              <a:buNone/>
            </a:pPr>
            <a:r>
              <a:rPr lang="en-US" sz="4900" dirty="0">
                <a:latin typeface="Times New Roman" panose="02020603050405020304" pitchFamily="18" charset="0"/>
                <a:cs typeface="Times New Roman" panose="02020603050405020304" pitchFamily="18" charset="0"/>
              </a:rPr>
              <a:t>public class RecursionExample3</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r>
              <a:rPr lang="en-US" sz="4900" dirty="0">
                <a:latin typeface="Times New Roman" panose="02020603050405020304" pitchFamily="18" charset="0"/>
                <a:cs typeface="Times New Roman" panose="02020603050405020304" pitchFamily="18" charset="0"/>
              </a:rPr>
              <a:t>static int factorial(int n)</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r>
              <a:rPr lang="en-US" sz="4900" dirty="0">
                <a:latin typeface="Times New Roman" panose="02020603050405020304" pitchFamily="18" charset="0"/>
                <a:cs typeface="Times New Roman" panose="02020603050405020304" pitchFamily="18" charset="0"/>
              </a:rPr>
              <a:t>if (n == 1)</a:t>
            </a:r>
          </a:p>
          <a:p>
            <a:pPr marL="0" indent="0">
              <a:buNone/>
            </a:pPr>
            <a:r>
              <a:rPr lang="en-US" sz="4900" dirty="0">
                <a:latin typeface="Times New Roman" panose="02020603050405020304" pitchFamily="18" charset="0"/>
                <a:cs typeface="Times New Roman" panose="02020603050405020304" pitchFamily="18" charset="0"/>
              </a:rPr>
              <a:t>return 1;</a:t>
            </a:r>
          </a:p>
          <a:p>
            <a:pPr marL="0" indent="0">
              <a:buNone/>
            </a:pPr>
            <a:r>
              <a:rPr lang="en-US" sz="4900" dirty="0">
                <a:latin typeface="Times New Roman" panose="02020603050405020304" pitchFamily="18" charset="0"/>
                <a:cs typeface="Times New Roman" panose="02020603050405020304" pitchFamily="18" charset="0"/>
              </a:rPr>
              <a:t>else</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r>
              <a:rPr lang="en-US" sz="4900" dirty="0">
                <a:latin typeface="Times New Roman" panose="02020603050405020304" pitchFamily="18" charset="0"/>
                <a:cs typeface="Times New Roman" panose="02020603050405020304" pitchFamily="18" charset="0"/>
              </a:rPr>
              <a:t>return(n * factorial(n-1));</a:t>
            </a:r>
          </a:p>
          <a:p>
            <a:pPr marL="0" indent="0">
              <a:buNone/>
            </a:pPr>
            <a:r>
              <a:rPr lang="en-US" sz="4900" dirty="0" err="1">
                <a:latin typeface="Times New Roman" panose="02020603050405020304" pitchFamily="18" charset="0"/>
                <a:cs typeface="Times New Roman" panose="02020603050405020304" pitchFamily="18" charset="0"/>
              </a:rPr>
              <a:t>publc</a:t>
            </a:r>
            <a:r>
              <a:rPr lang="en-US" sz="4900" dirty="0">
                <a:latin typeface="Times New Roman" panose="02020603050405020304" pitchFamily="18" charset="0"/>
                <a:cs typeface="Times New Roman" panose="02020603050405020304" pitchFamily="18" charset="0"/>
              </a:rPr>
              <a:t> static void main(String[] </a:t>
            </a:r>
            <a:r>
              <a:rPr lang="en-US" sz="4900" dirty="0" err="1">
                <a:latin typeface="Times New Roman" panose="02020603050405020304" pitchFamily="18" charset="0"/>
                <a:cs typeface="Times New Roman" panose="02020603050405020304" pitchFamily="18" charset="0"/>
              </a:rPr>
              <a:t>args</a:t>
            </a:r>
            <a:r>
              <a:rPr lang="en-US" sz="4900" dirty="0">
                <a:latin typeface="Times New Roman" panose="02020603050405020304" pitchFamily="18" charset="0"/>
                <a:cs typeface="Times New Roman" panose="02020603050405020304" pitchFamily="18" charset="0"/>
              </a:rPr>
              <a:t>)</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r>
              <a:rPr lang="en-US" sz="4900" dirty="0" err="1">
                <a:latin typeface="Times New Roman" panose="02020603050405020304" pitchFamily="18" charset="0"/>
                <a:cs typeface="Times New Roman" panose="02020603050405020304" pitchFamily="18" charset="0"/>
              </a:rPr>
              <a:t>System.out.println</a:t>
            </a:r>
            <a:r>
              <a:rPr lang="en-US" sz="4900" dirty="0">
                <a:latin typeface="Times New Roman" panose="02020603050405020304" pitchFamily="18" charset="0"/>
                <a:cs typeface="Times New Roman" panose="02020603050405020304" pitchFamily="18" charset="0"/>
              </a:rPr>
              <a:t>("Factorial of 5 is: "+factorial(5));</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r>
              <a:rPr lang="en-US" sz="4900"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6385690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ABECD4-0FEF-28A7-FEB0-211F0F696803}"/>
              </a:ext>
            </a:extLst>
          </p:cNvPr>
          <p:cNvSpPr>
            <a:spLocks noGrp="1"/>
          </p:cNvSpPr>
          <p:nvPr>
            <p:ph idx="1"/>
          </p:nvPr>
        </p:nvSpPr>
        <p:spPr>
          <a:xfrm>
            <a:off x="457200" y="0"/>
            <a:ext cx="8229600" cy="6629400"/>
          </a:xfrm>
        </p:spPr>
        <p:txBody>
          <a:bodyPr>
            <a:normAutofit fontScale="70000" lnSpcReduction="20000"/>
          </a:bodyPr>
          <a:lstStyle/>
          <a:p>
            <a:pPr marL="0" indent="0" algn="ctr">
              <a:buNone/>
            </a:pPr>
            <a:r>
              <a:rPr lang="en-US" b="1" dirty="0">
                <a:solidFill>
                  <a:srgbClr val="FF0000"/>
                </a:solidFill>
                <a:latin typeface="Times New Roman" panose="02020603050405020304" pitchFamily="18" charset="0"/>
                <a:cs typeface="Times New Roman" panose="02020603050405020304" pitchFamily="18" charset="0"/>
              </a:rPr>
              <a:t>INNER CLASSES</a:t>
            </a:r>
          </a:p>
          <a:p>
            <a:pPr marL="0" lvl="0" indent="0" algn="just">
              <a:buNone/>
            </a:pPr>
            <a:r>
              <a:rPr lang="en-US" dirty="0">
                <a:latin typeface="Times New Roman" panose="02020603050405020304" pitchFamily="18" charset="0"/>
                <a:cs typeface="Times New Roman" panose="02020603050405020304" pitchFamily="18" charset="0"/>
              </a:rPr>
              <a:t>Inner class means one class which is a member of another class.</a:t>
            </a:r>
          </a:p>
          <a:p>
            <a:pPr marL="0" lvl="0" indent="0" algn="just">
              <a:buNone/>
            </a:pPr>
            <a:r>
              <a:rPr lang="en-US" dirty="0">
                <a:latin typeface="Times New Roman" panose="02020603050405020304" pitchFamily="18" charset="0"/>
                <a:cs typeface="Times New Roman" panose="02020603050405020304" pitchFamily="18" charset="0"/>
              </a:rPr>
              <a:t>We use inner classes to logically group classes and interfaces in one place so that it can be more readable and maintainable.</a:t>
            </a:r>
          </a:p>
          <a:p>
            <a:pPr marL="0" indent="0" algn="just">
              <a:buNone/>
            </a:pPr>
            <a:r>
              <a:rPr lang="en-US" b="1" dirty="0">
                <a:latin typeface="Times New Roman" panose="02020603050405020304" pitchFamily="18" charset="0"/>
                <a:cs typeface="Times New Roman" panose="02020603050405020304" pitchFamily="18" charset="0"/>
              </a:rPr>
              <a:t>Syntax of Inner class</a:t>
            </a:r>
          </a:p>
          <a:p>
            <a:pPr marL="0" indent="0" algn="just">
              <a:buNone/>
            </a:pP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Outer_class</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a:t>
            </a:r>
          </a:p>
          <a:p>
            <a:pPr marL="0" indent="0" algn="just">
              <a:buNone/>
            </a:pPr>
            <a:r>
              <a:rPr lang="en-US" dirty="0">
                <a:latin typeface="Times New Roman" panose="02020603050405020304" pitchFamily="18" charset="0"/>
                <a:cs typeface="Times New Roman" panose="02020603050405020304" pitchFamily="18" charset="0"/>
              </a:rPr>
              <a:t>//code</a:t>
            </a:r>
          </a:p>
          <a:p>
            <a:pPr marL="0" indent="0" algn="just">
              <a:buNone/>
            </a:pP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Inner_class</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a:t>
            </a:r>
          </a:p>
          <a:p>
            <a:pPr marL="0" indent="0" algn="just">
              <a:buNone/>
            </a:pPr>
            <a:r>
              <a:rPr lang="en-US" dirty="0">
                <a:latin typeface="Times New Roman" panose="02020603050405020304" pitchFamily="18" charset="0"/>
                <a:cs typeface="Times New Roman" panose="02020603050405020304" pitchFamily="18" charset="0"/>
              </a:rPr>
              <a:t>//code</a:t>
            </a:r>
          </a:p>
          <a:p>
            <a:pPr marL="0" indent="0" algn="just">
              <a:buNone/>
            </a:pPr>
            <a:r>
              <a:rPr lang="en-US" dirty="0">
                <a:latin typeface="Times New Roman" panose="02020603050405020304" pitchFamily="18" charset="0"/>
                <a:cs typeface="Times New Roman" panose="02020603050405020304" pitchFamily="18" charset="0"/>
              </a:rPr>
              <a:t>}</a:t>
            </a:r>
          </a:p>
          <a:p>
            <a:pPr marL="0" indent="0" algn="just">
              <a:buNone/>
            </a:pPr>
            <a:r>
              <a:rPr lang="en-US" dirty="0">
                <a:latin typeface="Times New Roman" panose="02020603050405020304" pitchFamily="18" charset="0"/>
                <a:cs typeface="Times New Roman" panose="02020603050405020304" pitchFamily="18" charset="0"/>
              </a:rPr>
              <a:t>}</a:t>
            </a:r>
          </a:p>
          <a:p>
            <a:pPr marL="0" indent="0" algn="just">
              <a:buNone/>
            </a:pPr>
            <a:r>
              <a:rPr lang="en-US" b="1" dirty="0">
                <a:latin typeface="Times New Roman" panose="02020603050405020304" pitchFamily="18" charset="0"/>
                <a:cs typeface="Times New Roman" panose="02020603050405020304" pitchFamily="18" charset="0"/>
              </a:rPr>
              <a:t>Types of Inner classes</a:t>
            </a:r>
          </a:p>
          <a:p>
            <a:pPr marL="0" indent="0" algn="just">
              <a:buNone/>
            </a:pPr>
            <a:r>
              <a:rPr lang="en-US" dirty="0">
                <a:latin typeface="Times New Roman" panose="02020603050405020304" pitchFamily="18" charset="0"/>
                <a:cs typeface="Times New Roman" panose="02020603050405020304" pitchFamily="18" charset="0"/>
              </a:rPr>
              <a:t>There are four types of inner classes.</a:t>
            </a:r>
          </a:p>
          <a:p>
            <a:pPr marL="514350" lvl="0" indent="-514350" algn="just">
              <a:buFont typeface="+mj-lt"/>
              <a:buAutoNum type="arabicParenR"/>
            </a:pPr>
            <a:r>
              <a:rPr lang="en-US" dirty="0">
                <a:latin typeface="Times New Roman" panose="02020603050405020304" pitchFamily="18" charset="0"/>
                <a:cs typeface="Times New Roman" panose="02020603050405020304" pitchFamily="18" charset="0"/>
              </a:rPr>
              <a:t>Member Inner class</a:t>
            </a:r>
          </a:p>
          <a:p>
            <a:pPr marL="514350" lvl="0" indent="-514350" algn="just">
              <a:buFont typeface="+mj-lt"/>
              <a:buAutoNum type="arabicParenR"/>
            </a:pPr>
            <a:r>
              <a:rPr lang="en-US" dirty="0">
                <a:latin typeface="Times New Roman" panose="02020603050405020304" pitchFamily="18" charset="0"/>
                <a:cs typeface="Times New Roman" panose="02020603050405020304" pitchFamily="18" charset="0"/>
              </a:rPr>
              <a:t>Local inner classes</a:t>
            </a:r>
          </a:p>
          <a:p>
            <a:pPr marL="514350" lvl="0" indent="-514350" algn="just">
              <a:buFont typeface="+mj-lt"/>
              <a:buAutoNum type="arabicParenR"/>
            </a:pPr>
            <a:r>
              <a:rPr lang="en-US" dirty="0">
                <a:latin typeface="Times New Roman" panose="02020603050405020304" pitchFamily="18" charset="0"/>
                <a:cs typeface="Times New Roman" panose="02020603050405020304" pitchFamily="18" charset="0"/>
              </a:rPr>
              <a:t>Anonymous inner classes</a:t>
            </a:r>
          </a:p>
          <a:p>
            <a:pPr marL="514350" lvl="0" indent="-514350" algn="just">
              <a:buFont typeface="+mj-lt"/>
              <a:buAutoNum type="arabicParenR"/>
            </a:pPr>
            <a:r>
              <a:rPr lang="en-US" dirty="0">
                <a:latin typeface="Times New Roman" panose="02020603050405020304" pitchFamily="18" charset="0"/>
                <a:cs typeface="Times New Roman" panose="02020603050405020304" pitchFamily="18" charset="0"/>
              </a:rPr>
              <a:t>Static nested classes</a:t>
            </a:r>
          </a:p>
          <a:p>
            <a:pPr marL="0" indent="0" algn="just">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4362751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C6B1EB7-181B-991C-5367-A3FCE6C73A40}"/>
              </a:ext>
            </a:extLst>
          </p:cNvPr>
          <p:cNvSpPr>
            <a:spLocks noGrp="1"/>
          </p:cNvSpPr>
          <p:nvPr>
            <p:ph type="title"/>
          </p:nvPr>
        </p:nvSpPr>
        <p:spPr>
          <a:xfrm>
            <a:off x="457200" y="274638"/>
            <a:ext cx="8229600" cy="868362"/>
          </a:xfrm>
        </p:spPr>
        <p:txBody>
          <a:bodyPr>
            <a:normAutofit fontScale="90000"/>
          </a:bodyPr>
          <a:lstStyle/>
          <a:p>
            <a:pPr marL="0" lvl="0" indent="0" algn="l"/>
            <a:r>
              <a:rPr lang="en-US" sz="2200" b="1" dirty="0">
                <a:solidFill>
                  <a:srgbClr val="FF0000"/>
                </a:solidFill>
                <a:latin typeface="Times New Roman" panose="02020603050405020304" pitchFamily="18" charset="0"/>
                <a:cs typeface="Times New Roman" panose="02020603050405020304" pitchFamily="18" charset="0"/>
              </a:rPr>
              <a:t>1. MEMBER INNER CLASS</a:t>
            </a:r>
            <a:br>
              <a:rPr lang="en-US" sz="2200" b="1" dirty="0">
                <a:latin typeface="Times New Roman" panose="02020603050405020304" pitchFamily="18" charset="0"/>
                <a:cs typeface="Times New Roman" panose="02020603050405020304" pitchFamily="18" charset="0"/>
              </a:rPr>
            </a:br>
            <a:r>
              <a:rPr lang="en-US" sz="2200" dirty="0">
                <a:latin typeface="Times New Roman" panose="02020603050405020304" pitchFamily="18" charset="0"/>
                <a:cs typeface="Times New Roman" panose="02020603050405020304" pitchFamily="18" charset="0"/>
              </a:rPr>
              <a:t>A non-static class that is created inside a class but outside a method is called member inner class.</a:t>
            </a:r>
            <a:br>
              <a:rPr lang="en-US" sz="2200" dirty="0">
                <a:latin typeface="Times New Roman" panose="02020603050405020304" pitchFamily="18" charset="0"/>
                <a:cs typeface="Times New Roman" panose="02020603050405020304" pitchFamily="18" charset="0"/>
              </a:rPr>
            </a:br>
            <a:endParaRPr lang="en-US" sz="2200" dirty="0"/>
          </a:p>
        </p:txBody>
      </p:sp>
      <p:sp>
        <p:nvSpPr>
          <p:cNvPr id="3" name="Content Placeholder 2">
            <a:extLst>
              <a:ext uri="{FF2B5EF4-FFF2-40B4-BE49-F238E27FC236}">
                <a16:creationId xmlns:a16="http://schemas.microsoft.com/office/drawing/2014/main" id="{23607429-BAF1-20C3-CF75-954A91D65CD6}"/>
              </a:ext>
            </a:extLst>
          </p:cNvPr>
          <p:cNvSpPr>
            <a:spLocks noGrp="1"/>
          </p:cNvSpPr>
          <p:nvPr>
            <p:ph sz="half" idx="2"/>
          </p:nvPr>
        </p:nvSpPr>
        <p:spPr>
          <a:xfrm>
            <a:off x="457200" y="1587245"/>
            <a:ext cx="4040188" cy="4983162"/>
          </a:xfrm>
        </p:spPr>
        <p:txBody>
          <a:bodyPr>
            <a:normAutofit fontScale="92500" lnSpcReduction="10000"/>
          </a:bodyPr>
          <a:lstStyle/>
          <a:p>
            <a:pPr marL="0" indent="0">
              <a:buNone/>
            </a:pPr>
            <a:r>
              <a:rPr lang="en-US" b="1" dirty="0">
                <a:latin typeface="Times New Roman" panose="02020603050405020304" pitchFamily="18" charset="0"/>
                <a:cs typeface="Times New Roman" panose="02020603050405020304" pitchFamily="18" charset="0"/>
              </a:rPr>
              <a:t>Syntax:</a:t>
            </a:r>
          </a:p>
          <a:p>
            <a:pPr marL="0" indent="0">
              <a:buNone/>
            </a:pPr>
            <a:r>
              <a:rPr lang="en-US" dirty="0">
                <a:latin typeface="Times New Roman" panose="02020603050405020304" pitchFamily="18" charset="0"/>
                <a:cs typeface="Times New Roman" panose="02020603050405020304" pitchFamily="18" charset="0"/>
              </a:rPr>
              <a:t>class Outer</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//code class Inner</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//code</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endParaRPr lang="en-US" sz="1800" dirty="0"/>
          </a:p>
        </p:txBody>
      </p:sp>
      <p:sp>
        <p:nvSpPr>
          <p:cNvPr id="7" name="Content Placeholder 6">
            <a:extLst>
              <a:ext uri="{FF2B5EF4-FFF2-40B4-BE49-F238E27FC236}">
                <a16:creationId xmlns:a16="http://schemas.microsoft.com/office/drawing/2014/main" id="{DD3EE513-205B-1121-9FC6-EE1E09AA0F80}"/>
              </a:ext>
            </a:extLst>
          </p:cNvPr>
          <p:cNvSpPr>
            <a:spLocks noGrp="1"/>
          </p:cNvSpPr>
          <p:nvPr>
            <p:ph sz="quarter" idx="4"/>
          </p:nvPr>
        </p:nvSpPr>
        <p:spPr>
          <a:xfrm>
            <a:off x="4645025" y="1143000"/>
            <a:ext cx="4041775" cy="4983163"/>
          </a:xfrm>
        </p:spPr>
        <p:txBody>
          <a:bodyPr>
            <a:normAutofit fontScale="92500" lnSpcReduction="10000"/>
          </a:bodyPr>
          <a:lstStyle/>
          <a:p>
            <a:pPr marL="0" indent="0">
              <a:buNone/>
            </a:pPr>
            <a:r>
              <a:rPr lang="en-US" sz="1800" dirty="0">
                <a:latin typeface="Times New Roman" panose="02020603050405020304" pitchFamily="18" charset="0"/>
                <a:cs typeface="Times New Roman" panose="02020603050405020304" pitchFamily="18" charset="0"/>
              </a:rPr>
              <a:t>class </a:t>
            </a:r>
            <a:r>
              <a:rPr lang="en-US" sz="1800" dirty="0" err="1">
                <a:latin typeface="Times New Roman" panose="02020603050405020304" pitchFamily="18" charset="0"/>
                <a:cs typeface="Times New Roman" panose="02020603050405020304" pitchFamily="18" charset="0"/>
              </a:rPr>
              <a:t>TestMemberOuter</a:t>
            </a:r>
            <a:endParaRPr lang="en-US" sz="1800" dirty="0">
              <a:latin typeface="Times New Roman" panose="02020603050405020304" pitchFamily="18" charset="0"/>
              <a:cs typeface="Times New Roman" panose="02020603050405020304" pitchFamily="18" charset="0"/>
            </a:endParaRP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private int data=30; class Inner</a:t>
            </a: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void msg()</a:t>
            </a: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r>
              <a:rPr lang="en-US" sz="1800" dirty="0" err="1">
                <a:latin typeface="Times New Roman" panose="02020603050405020304" pitchFamily="18" charset="0"/>
                <a:cs typeface="Times New Roman" panose="02020603050405020304" pitchFamily="18" charset="0"/>
              </a:rPr>
              <a:t>System.out.println</a:t>
            </a:r>
            <a:r>
              <a:rPr lang="en-US" sz="1800" dirty="0">
                <a:latin typeface="Times New Roman" panose="02020603050405020304" pitchFamily="18" charset="0"/>
                <a:cs typeface="Times New Roman" panose="02020603050405020304" pitchFamily="18" charset="0"/>
              </a:rPr>
              <a:t>("data is "+data);</a:t>
            </a: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public static void main(String </a:t>
            </a:r>
            <a:r>
              <a:rPr lang="en-US" sz="1800" dirty="0" err="1">
                <a:latin typeface="Times New Roman" panose="02020603050405020304" pitchFamily="18" charset="0"/>
                <a:cs typeface="Times New Roman" panose="02020603050405020304" pitchFamily="18" charset="0"/>
              </a:rPr>
              <a:t>args</a:t>
            </a: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r>
              <a:rPr lang="en-US" sz="1800" dirty="0" err="1">
                <a:latin typeface="Times New Roman" panose="02020603050405020304" pitchFamily="18" charset="0"/>
                <a:cs typeface="Times New Roman" panose="02020603050405020304" pitchFamily="18" charset="0"/>
              </a:rPr>
              <a:t>TestMemberOuter</a:t>
            </a:r>
            <a:r>
              <a:rPr lang="en-US" sz="1800" dirty="0">
                <a:latin typeface="Times New Roman" panose="02020603050405020304" pitchFamily="18" charset="0"/>
                <a:cs typeface="Times New Roman" panose="02020603050405020304" pitchFamily="18" charset="0"/>
              </a:rPr>
              <a:t> obj=new </a:t>
            </a:r>
            <a:r>
              <a:rPr lang="en-US" sz="1800" dirty="0" err="1">
                <a:latin typeface="Times New Roman" panose="02020603050405020304" pitchFamily="18" charset="0"/>
                <a:cs typeface="Times New Roman" panose="02020603050405020304" pitchFamily="18" charset="0"/>
              </a:rPr>
              <a:t>TestMemberOuter</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TestMemberOuter.Inner</a:t>
            </a:r>
            <a:r>
              <a:rPr lang="en-US" sz="1800" dirty="0">
                <a:latin typeface="Times New Roman" panose="02020603050405020304" pitchFamily="18" charset="0"/>
                <a:cs typeface="Times New Roman" panose="02020603050405020304" pitchFamily="18" charset="0"/>
              </a:rPr>
              <a:t> in=</a:t>
            </a:r>
            <a:r>
              <a:rPr lang="en-US" sz="1800" dirty="0" err="1">
                <a:latin typeface="Times New Roman" panose="02020603050405020304" pitchFamily="18" charset="0"/>
                <a:cs typeface="Times New Roman" panose="02020603050405020304" pitchFamily="18" charset="0"/>
              </a:rPr>
              <a:t>obj.new</a:t>
            </a:r>
            <a:r>
              <a:rPr lang="en-US" sz="1800" dirty="0">
                <a:latin typeface="Times New Roman" panose="02020603050405020304" pitchFamily="18" charset="0"/>
                <a:cs typeface="Times New Roman" panose="02020603050405020304" pitchFamily="18" charset="0"/>
              </a:rPr>
              <a:t> Inner(); in.msg();</a:t>
            </a: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a:t>
            </a:r>
          </a:p>
          <a:p>
            <a:pPr marL="0" indent="0">
              <a:buNone/>
            </a:pPr>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1897303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9F7C5EA-589D-562B-BF9F-F41249A2D9C9}"/>
              </a:ext>
            </a:extLst>
          </p:cNvPr>
          <p:cNvSpPr>
            <a:spLocks noGrp="1"/>
          </p:cNvSpPr>
          <p:nvPr>
            <p:ph type="title"/>
          </p:nvPr>
        </p:nvSpPr>
        <p:spPr>
          <a:xfrm>
            <a:off x="457200" y="274638"/>
            <a:ext cx="8229600" cy="1325562"/>
          </a:xfrm>
        </p:spPr>
        <p:txBody>
          <a:bodyPr>
            <a:noAutofit/>
          </a:bodyPr>
          <a:lstStyle/>
          <a:p>
            <a:pPr algn="l"/>
            <a:r>
              <a:rPr lang="en-US" sz="2000" b="1" dirty="0">
                <a:solidFill>
                  <a:srgbClr val="FF0000"/>
                </a:solidFill>
                <a:latin typeface="Times New Roman" panose="02020603050405020304" pitchFamily="18" charset="0"/>
                <a:cs typeface="Times New Roman" panose="02020603050405020304" pitchFamily="18" charset="0"/>
              </a:rPr>
              <a:t>2. ANONYMOUS INNER CLASS</a:t>
            </a:r>
            <a:br>
              <a:rPr lang="en-US" sz="2000" b="1"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In Java, a class can contain another class known as nested class. It's possible to create a nested class without giving any name.</a:t>
            </a:r>
            <a:br>
              <a:rPr lang="en-US" sz="1600" dirty="0">
                <a:latin typeface="Times New Roman" panose="02020603050405020304" pitchFamily="18" charset="0"/>
                <a:cs typeface="Times New Roman" panose="02020603050405020304" pitchFamily="18" charset="0"/>
              </a:rPr>
            </a:br>
            <a:endParaRPr lang="en-US" sz="1600" dirty="0"/>
          </a:p>
        </p:txBody>
      </p:sp>
      <p:sp>
        <p:nvSpPr>
          <p:cNvPr id="8" name="Content Placeholder 7">
            <a:extLst>
              <a:ext uri="{FF2B5EF4-FFF2-40B4-BE49-F238E27FC236}">
                <a16:creationId xmlns:a16="http://schemas.microsoft.com/office/drawing/2014/main" id="{A26308E9-DE3F-D416-6A6B-7A8CD8B5CBFC}"/>
              </a:ext>
            </a:extLst>
          </p:cNvPr>
          <p:cNvSpPr>
            <a:spLocks noGrp="1"/>
          </p:cNvSpPr>
          <p:nvPr>
            <p:ph sz="half" idx="1"/>
          </p:nvPr>
        </p:nvSpPr>
        <p:spPr/>
        <p:txBody>
          <a:bodyPr>
            <a:normAutofit fontScale="62500" lnSpcReduction="20000"/>
          </a:bodyPr>
          <a:lstStyle/>
          <a:p>
            <a:pPr marL="0" indent="0">
              <a:buNone/>
            </a:pPr>
            <a:r>
              <a:rPr lang="en-US" sz="3400" dirty="0">
                <a:latin typeface="Times New Roman" panose="02020603050405020304" pitchFamily="18" charset="0"/>
                <a:cs typeface="Times New Roman" panose="02020603050405020304" pitchFamily="18" charset="0"/>
              </a:rPr>
              <a:t>A nested class that doesn't have any name is known as an anonymous class.</a:t>
            </a:r>
            <a:br>
              <a:rPr lang="en-US" sz="3400" dirty="0">
                <a:latin typeface="Times New Roman" panose="02020603050405020304" pitchFamily="18" charset="0"/>
                <a:cs typeface="Times New Roman" panose="02020603050405020304" pitchFamily="18" charset="0"/>
              </a:rPr>
            </a:br>
            <a:r>
              <a:rPr lang="en-US" sz="3400" dirty="0">
                <a:latin typeface="Times New Roman" panose="02020603050405020304" pitchFamily="18" charset="0"/>
                <a:cs typeface="Times New Roman" panose="02020603050405020304" pitchFamily="18" charset="0"/>
              </a:rPr>
              <a:t>An anonymous class must be defined inside another class. Hence, it is also known as an anonymous inner class.</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abstract class Person</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abstract void eat();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TestAnonymousInner</a:t>
            </a: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p>
        </p:txBody>
      </p:sp>
      <p:sp>
        <p:nvSpPr>
          <p:cNvPr id="9" name="Content Placeholder 8">
            <a:extLst>
              <a:ext uri="{FF2B5EF4-FFF2-40B4-BE49-F238E27FC236}">
                <a16:creationId xmlns:a16="http://schemas.microsoft.com/office/drawing/2014/main" id="{ACBB87B9-82D7-1570-7257-B17B597FC144}"/>
              </a:ext>
            </a:extLst>
          </p:cNvPr>
          <p:cNvSpPr>
            <a:spLocks noGrp="1"/>
          </p:cNvSpPr>
          <p:nvPr>
            <p:ph sz="half" idx="2"/>
          </p:nvPr>
        </p:nvSpPr>
        <p:spPr/>
        <p:txBody>
          <a:bodyPr>
            <a:normAutofit fontScale="62500" lnSpcReduction="20000"/>
          </a:bodyPr>
          <a:lstStyle/>
          <a:p>
            <a:pPr marL="0" indent="0">
              <a:buNone/>
            </a:pPr>
            <a:r>
              <a:rPr lang="en-US" sz="3800" dirty="0"/>
              <a:t>{</a:t>
            </a:r>
          </a:p>
          <a:p>
            <a:pPr marL="0" indent="0">
              <a:buNone/>
            </a:pPr>
            <a:r>
              <a:rPr lang="en-US" sz="3800" dirty="0"/>
              <a:t>Person p=new Person()</a:t>
            </a:r>
          </a:p>
          <a:p>
            <a:pPr marL="0" indent="0">
              <a:buNone/>
            </a:pPr>
            <a:r>
              <a:rPr lang="en-US" sz="3800" dirty="0"/>
              <a:t>{</a:t>
            </a:r>
          </a:p>
          <a:p>
            <a:pPr marL="0" indent="0">
              <a:buNone/>
            </a:pPr>
            <a:r>
              <a:rPr lang="en-US" sz="3800" dirty="0"/>
              <a:t>void eat()</a:t>
            </a:r>
          </a:p>
          <a:p>
            <a:pPr marL="0" indent="0">
              <a:buNone/>
            </a:pPr>
            <a:r>
              <a:rPr lang="en-US" sz="3800" dirty="0"/>
              <a:t>{</a:t>
            </a:r>
          </a:p>
          <a:p>
            <a:pPr marL="0" indent="0">
              <a:buNone/>
            </a:pPr>
            <a:r>
              <a:rPr lang="en-US" sz="3800" dirty="0" err="1"/>
              <a:t>System.out.println</a:t>
            </a:r>
            <a:r>
              <a:rPr lang="en-US" sz="3800" dirty="0"/>
              <a:t>("nice fruits");</a:t>
            </a:r>
          </a:p>
          <a:p>
            <a:pPr marL="0" indent="0">
              <a:buNone/>
            </a:pPr>
            <a:r>
              <a:rPr lang="en-US" sz="3800" dirty="0"/>
              <a:t>}</a:t>
            </a:r>
          </a:p>
          <a:p>
            <a:pPr marL="0" indent="0">
              <a:buNone/>
            </a:pPr>
            <a:r>
              <a:rPr lang="en-US" sz="3800" dirty="0"/>
              <a:t>};</a:t>
            </a:r>
          </a:p>
          <a:p>
            <a:pPr marL="0" indent="0">
              <a:buNone/>
            </a:pPr>
            <a:r>
              <a:rPr lang="en-US" sz="3800" dirty="0" err="1"/>
              <a:t>p.eat</a:t>
            </a:r>
            <a:r>
              <a:rPr lang="en-US" sz="3800" dirty="0"/>
              <a:t>();</a:t>
            </a:r>
          </a:p>
          <a:p>
            <a:pPr marL="0" indent="0">
              <a:buNone/>
            </a:pPr>
            <a:r>
              <a:rPr lang="en-US" sz="3800" dirty="0"/>
              <a:t>}</a:t>
            </a:r>
          </a:p>
          <a:p>
            <a:pPr marL="0" indent="0">
              <a:buNone/>
            </a:pPr>
            <a:r>
              <a:rPr lang="en-US" sz="3800" dirty="0"/>
              <a:t>}</a:t>
            </a:r>
          </a:p>
          <a:p>
            <a:pPr marL="0" indent="0">
              <a:buNone/>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2324759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B2EAF-4E5D-CB63-076B-42337F4F842E}"/>
              </a:ext>
            </a:extLst>
          </p:cNvPr>
          <p:cNvSpPr>
            <a:spLocks noGrp="1"/>
          </p:cNvSpPr>
          <p:nvPr>
            <p:ph type="title"/>
          </p:nvPr>
        </p:nvSpPr>
        <p:spPr>
          <a:xfrm>
            <a:off x="457200" y="274638"/>
            <a:ext cx="8229600" cy="1325562"/>
          </a:xfrm>
        </p:spPr>
        <p:txBody>
          <a:bodyPr>
            <a:noAutofit/>
          </a:bodyPr>
          <a:lstStyle/>
          <a:p>
            <a:pPr lvl="0" algn="l"/>
            <a:r>
              <a:rPr lang="en-US" sz="2200" b="1" dirty="0">
                <a:solidFill>
                  <a:srgbClr val="FF0000"/>
                </a:solidFill>
                <a:latin typeface="Times New Roman" panose="02020603050405020304" pitchFamily="18" charset="0"/>
                <a:cs typeface="Times New Roman" panose="02020603050405020304" pitchFamily="18" charset="0"/>
              </a:rPr>
              <a:t>3. LOCAL INNER CLASS</a:t>
            </a:r>
            <a:br>
              <a:rPr lang="en-US" sz="2200" b="1" dirty="0">
                <a:latin typeface="Times New Roman" panose="02020603050405020304" pitchFamily="18" charset="0"/>
                <a:cs typeface="Times New Roman" panose="02020603050405020304" pitchFamily="18" charset="0"/>
              </a:rPr>
            </a:br>
            <a:r>
              <a:rPr lang="en-US" sz="2200" dirty="0">
                <a:latin typeface="Times New Roman" panose="02020603050405020304" pitchFamily="18" charset="0"/>
                <a:cs typeface="Times New Roman" panose="02020603050405020304" pitchFamily="18" charset="0"/>
              </a:rPr>
              <a:t>A class i.e. created inside a method is called local inner class in java.</a:t>
            </a:r>
            <a:br>
              <a:rPr lang="en-US" sz="2200" dirty="0">
                <a:latin typeface="Times New Roman" panose="02020603050405020304" pitchFamily="18" charset="0"/>
                <a:cs typeface="Times New Roman" panose="02020603050405020304" pitchFamily="18" charset="0"/>
              </a:rPr>
            </a:br>
            <a:r>
              <a:rPr lang="en-US" sz="2200" dirty="0">
                <a:latin typeface="Times New Roman" panose="02020603050405020304" pitchFamily="18" charset="0"/>
                <a:cs typeface="Times New Roman" panose="02020603050405020304" pitchFamily="18" charset="0"/>
              </a:rPr>
              <a:t>If you want to invoke the methods of local inner class, you must instantiate this class inside the method.</a:t>
            </a:r>
            <a:br>
              <a:rPr lang="en-US" sz="2200" dirty="0">
                <a:latin typeface="Times New Roman" panose="02020603050405020304" pitchFamily="18" charset="0"/>
                <a:cs typeface="Times New Roman" panose="02020603050405020304" pitchFamily="18" charset="0"/>
              </a:rPr>
            </a:br>
            <a:endParaRPr lang="en-US" sz="2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261D0AD-EF5B-192D-939A-9993A0B232D2}"/>
              </a:ext>
            </a:extLst>
          </p:cNvPr>
          <p:cNvSpPr>
            <a:spLocks noGrp="1"/>
          </p:cNvSpPr>
          <p:nvPr>
            <p:ph sz="half" idx="1"/>
          </p:nvPr>
        </p:nvSpPr>
        <p:spPr/>
        <p:txBody>
          <a:bodyPr>
            <a:normAutofit fontScale="85000" lnSpcReduction="20000"/>
          </a:bodyPr>
          <a:lstStyle/>
          <a:p>
            <a:pPr marL="0" indent="0">
              <a:buNone/>
            </a:pPr>
            <a:r>
              <a:rPr lang="en-US" dirty="0"/>
              <a:t>public class </a:t>
            </a:r>
            <a:r>
              <a:rPr lang="en-US" dirty="0" err="1"/>
              <a:t>localInner</a:t>
            </a:r>
            <a:endParaRPr lang="en-US" dirty="0"/>
          </a:p>
          <a:p>
            <a:pPr marL="0" indent="0">
              <a:buNone/>
            </a:pPr>
            <a:r>
              <a:rPr lang="en-US" dirty="0"/>
              <a:t>{</a:t>
            </a:r>
            <a:endParaRPr lang="en-US" sz="4400" dirty="0"/>
          </a:p>
          <a:p>
            <a:pPr marL="0" indent="0">
              <a:buNone/>
            </a:pPr>
            <a:r>
              <a:rPr lang="en-US" dirty="0"/>
              <a:t>private int data=30; void display()</a:t>
            </a:r>
          </a:p>
          <a:p>
            <a:pPr marL="0" indent="0">
              <a:buNone/>
            </a:pPr>
            <a:r>
              <a:rPr lang="en-US" dirty="0"/>
              <a:t>{</a:t>
            </a:r>
            <a:endParaRPr lang="en-US" sz="4400" dirty="0"/>
          </a:p>
          <a:p>
            <a:pPr marL="0" indent="0">
              <a:buNone/>
            </a:pPr>
            <a:r>
              <a:rPr lang="en-US" dirty="0"/>
              <a:t>class Local</a:t>
            </a:r>
          </a:p>
          <a:p>
            <a:pPr marL="0" indent="0">
              <a:buNone/>
            </a:pPr>
            <a:r>
              <a:rPr lang="en-US" dirty="0"/>
              <a:t>{</a:t>
            </a:r>
            <a:endParaRPr lang="en-US" sz="4400" dirty="0"/>
          </a:p>
          <a:p>
            <a:pPr marL="0" indent="0">
              <a:buNone/>
            </a:pPr>
            <a:r>
              <a:rPr lang="en-US" dirty="0"/>
              <a:t>void msg()</a:t>
            </a:r>
          </a:p>
          <a:p>
            <a:pPr marL="0" indent="0">
              <a:buNone/>
            </a:pPr>
            <a:r>
              <a:rPr lang="en-US" dirty="0"/>
              <a:t>{</a:t>
            </a:r>
            <a:endParaRPr lang="en-US" sz="4400" dirty="0"/>
          </a:p>
          <a:p>
            <a:pPr marL="0" indent="0">
              <a:buNone/>
            </a:pPr>
            <a:r>
              <a:rPr lang="en-US" dirty="0" err="1"/>
              <a:t>System.out.println</a:t>
            </a:r>
            <a:r>
              <a:rPr lang="en-US" dirty="0"/>
              <a:t>(data);</a:t>
            </a:r>
          </a:p>
          <a:p>
            <a:pPr marL="0" indent="0">
              <a:buNone/>
            </a:pPr>
            <a:r>
              <a:rPr lang="en-US" dirty="0"/>
              <a:t>}</a:t>
            </a:r>
            <a:endParaRPr lang="en-US" sz="4400" dirty="0"/>
          </a:p>
          <a:p>
            <a:pPr marL="0" indent="0">
              <a:buNone/>
            </a:pPr>
            <a:r>
              <a:rPr lang="en-US" dirty="0"/>
              <a:t>}</a:t>
            </a:r>
            <a:endParaRPr lang="en-US" sz="4400" dirty="0"/>
          </a:p>
          <a:p>
            <a:pPr marL="0" indent="0">
              <a:buNone/>
            </a:pPr>
            <a:endParaRPr lang="en-US" dirty="0"/>
          </a:p>
        </p:txBody>
      </p:sp>
      <p:sp>
        <p:nvSpPr>
          <p:cNvPr id="5" name="Content Placeholder 4">
            <a:extLst>
              <a:ext uri="{FF2B5EF4-FFF2-40B4-BE49-F238E27FC236}">
                <a16:creationId xmlns:a16="http://schemas.microsoft.com/office/drawing/2014/main" id="{A314A240-2D6E-36CF-A6EA-D2BC33C79EA1}"/>
              </a:ext>
            </a:extLst>
          </p:cNvPr>
          <p:cNvSpPr>
            <a:spLocks noGrp="1"/>
          </p:cNvSpPr>
          <p:nvPr>
            <p:ph sz="half" idx="2"/>
          </p:nvPr>
        </p:nvSpPr>
        <p:spPr/>
        <p:txBody>
          <a:bodyPr>
            <a:normAutofit fontScale="85000" lnSpcReduction="20000"/>
          </a:bodyPr>
          <a:lstStyle/>
          <a:p>
            <a:pPr marL="0" indent="0">
              <a:buNone/>
            </a:pPr>
            <a:r>
              <a:rPr lang="en-US" dirty="0"/>
              <a:t>Local l=new Local(); l.msg();</a:t>
            </a:r>
          </a:p>
          <a:p>
            <a:pPr marL="0" indent="0">
              <a:buNone/>
            </a:pPr>
            <a:r>
              <a:rPr lang="en-US" dirty="0"/>
              <a:t>}</a:t>
            </a:r>
            <a:endParaRPr lang="en-US" sz="4400" dirty="0"/>
          </a:p>
          <a:p>
            <a:pPr marL="0" indent="0">
              <a:buNone/>
            </a:pPr>
            <a:r>
              <a:rPr lang="en-US" dirty="0"/>
              <a:t>public static void main(String </a:t>
            </a:r>
            <a:r>
              <a:rPr lang="en-US" dirty="0" err="1"/>
              <a:t>args</a:t>
            </a:r>
            <a:r>
              <a:rPr lang="en-US" dirty="0"/>
              <a:t>[])</a:t>
            </a:r>
          </a:p>
          <a:p>
            <a:pPr marL="0" indent="0">
              <a:buNone/>
            </a:pPr>
            <a:r>
              <a:rPr lang="en-US" dirty="0"/>
              <a:t>{</a:t>
            </a:r>
            <a:endParaRPr lang="en-US" sz="4400" dirty="0"/>
          </a:p>
          <a:p>
            <a:pPr marL="0" indent="0">
              <a:buNone/>
            </a:pPr>
            <a:r>
              <a:rPr lang="en-US" dirty="0" err="1"/>
              <a:t>localInner</a:t>
            </a:r>
            <a:r>
              <a:rPr lang="en-US" dirty="0"/>
              <a:t> obj=new </a:t>
            </a:r>
            <a:r>
              <a:rPr lang="en-US" dirty="0" err="1"/>
              <a:t>localInner</a:t>
            </a:r>
            <a:r>
              <a:rPr lang="en-US" dirty="0"/>
              <a:t>(); </a:t>
            </a:r>
            <a:r>
              <a:rPr lang="en-US" dirty="0" err="1"/>
              <a:t>obj.display</a:t>
            </a:r>
            <a:r>
              <a:rPr lang="en-US" dirty="0"/>
              <a:t>();</a:t>
            </a:r>
          </a:p>
          <a:p>
            <a:pPr marL="0" indent="0">
              <a:buNone/>
            </a:pPr>
            <a:r>
              <a:rPr lang="en-US" dirty="0"/>
              <a:t>}</a:t>
            </a:r>
            <a:endParaRPr lang="en-US" sz="4400" dirty="0"/>
          </a:p>
          <a:p>
            <a:pPr marL="0" indent="0">
              <a:buNone/>
            </a:pPr>
            <a:r>
              <a:rPr lang="en-US" dirty="0"/>
              <a:t>}</a:t>
            </a:r>
            <a:endParaRPr lang="en-US" sz="4400" dirty="0"/>
          </a:p>
          <a:p>
            <a:endParaRPr lang="en-US" dirty="0"/>
          </a:p>
        </p:txBody>
      </p:sp>
    </p:spTree>
    <p:extLst>
      <p:ext uri="{BB962C8B-B14F-4D97-AF65-F5344CB8AC3E}">
        <p14:creationId xmlns:p14="http://schemas.microsoft.com/office/powerpoint/2010/main" val="151410392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06647-CEF3-BE00-701E-91BC88DBE4DE}"/>
              </a:ext>
            </a:extLst>
          </p:cNvPr>
          <p:cNvSpPr>
            <a:spLocks noGrp="1"/>
          </p:cNvSpPr>
          <p:nvPr>
            <p:ph type="title"/>
          </p:nvPr>
        </p:nvSpPr>
        <p:spPr/>
        <p:txBody>
          <a:bodyPr>
            <a:noAutofit/>
          </a:bodyPr>
          <a:lstStyle/>
          <a:p>
            <a:pPr lvl="0" algn="l"/>
            <a:r>
              <a:rPr lang="en-US" sz="2000" b="1" dirty="0">
                <a:solidFill>
                  <a:srgbClr val="FF0000"/>
                </a:solidFill>
                <a:latin typeface="Times New Roman" panose="02020603050405020304" pitchFamily="18" charset="0"/>
                <a:cs typeface="Times New Roman" panose="02020603050405020304" pitchFamily="18" charset="0"/>
              </a:rPr>
              <a:t>4. STATIC NESTED CLASS</a:t>
            </a:r>
            <a:br>
              <a:rPr lang="en-US" sz="2000" b="1"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A static class i.e. created inside a class is called static nested class in java. It cannot access non-static data members and methods. It can be accessed by outer class name.</a:t>
            </a:r>
            <a:br>
              <a:rPr lang="en-US" sz="2000" dirty="0">
                <a:latin typeface="Times New Roman" panose="02020603050405020304" pitchFamily="18" charset="0"/>
                <a:cs typeface="Times New Roman" panose="02020603050405020304" pitchFamily="18" charset="0"/>
              </a:rPr>
            </a:br>
            <a:endParaRPr lang="en-US"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32DF439-35FB-1C01-0CAE-599C3D822333}"/>
              </a:ext>
            </a:extLst>
          </p:cNvPr>
          <p:cNvSpPr>
            <a:spLocks noGrp="1"/>
          </p:cNvSpPr>
          <p:nvPr>
            <p:ph sz="half" idx="1"/>
          </p:nvPr>
        </p:nvSpPr>
        <p:spPr/>
        <p:txBody>
          <a:bodyPr>
            <a:normAutofit lnSpcReduction="10000"/>
          </a:bodyPr>
          <a:lstStyle/>
          <a:p>
            <a:pPr algn="just"/>
            <a:r>
              <a:rPr lang="en-US" sz="2000" dirty="0">
                <a:latin typeface="Times New Roman" panose="02020603050405020304" pitchFamily="18" charset="0"/>
                <a:cs typeface="Times New Roman" panose="02020603050405020304" pitchFamily="18" charset="0"/>
              </a:rPr>
              <a:t>It can access static data members of outer class including private.</a:t>
            </a:r>
          </a:p>
          <a:p>
            <a:pPr algn="just"/>
            <a:r>
              <a:rPr lang="en-US" sz="2000" dirty="0">
                <a:latin typeface="Times New Roman" panose="02020603050405020304" pitchFamily="18" charset="0"/>
                <a:cs typeface="Times New Roman" panose="02020603050405020304" pitchFamily="18" charset="0"/>
              </a:rPr>
              <a:t>Static nested class cannot access non-static (instance) data member or method.</a:t>
            </a: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In the below example, you need to create the instance of static nested class because it has instance method msg(). But you don't need to create the object of Outer class because nested class is static and static properties, methods or classes can be accessed without object.</a:t>
            </a:r>
          </a:p>
          <a:p>
            <a:pPr algn="just"/>
            <a:endParaRPr lang="en-US" sz="2000" dirty="0"/>
          </a:p>
        </p:txBody>
      </p:sp>
      <p:sp>
        <p:nvSpPr>
          <p:cNvPr id="4" name="Content Placeholder 3">
            <a:extLst>
              <a:ext uri="{FF2B5EF4-FFF2-40B4-BE49-F238E27FC236}">
                <a16:creationId xmlns:a16="http://schemas.microsoft.com/office/drawing/2014/main" id="{0FF49889-CEE8-949B-209F-E8F0405B5C6C}"/>
              </a:ext>
            </a:extLst>
          </p:cNvPr>
          <p:cNvSpPr>
            <a:spLocks noGrp="1"/>
          </p:cNvSpPr>
          <p:nvPr>
            <p:ph sz="half" idx="2"/>
          </p:nvPr>
        </p:nvSpPr>
        <p:spPr>
          <a:xfrm>
            <a:off x="4648200" y="1417638"/>
            <a:ext cx="4038600" cy="5165724"/>
          </a:xfrm>
        </p:spPr>
        <p:txBody>
          <a:bodyPr>
            <a:normAutofit fontScale="85000" lnSpcReduction="20000"/>
          </a:bodyPr>
          <a:lstStyle/>
          <a:p>
            <a:pPr marL="0" indent="0">
              <a:buNone/>
            </a:pPr>
            <a:r>
              <a:rPr lang="en-US" sz="2000" dirty="0">
                <a:latin typeface="Times New Roman" panose="02020603050405020304" pitchFamily="18" charset="0"/>
                <a:cs typeface="Times New Roman" panose="02020603050405020304" pitchFamily="18" charset="0"/>
              </a:rPr>
              <a:t>class </a:t>
            </a:r>
            <a:r>
              <a:rPr lang="en-US" sz="2000" dirty="0" err="1">
                <a:latin typeface="Times New Roman" panose="02020603050405020304" pitchFamily="18" charset="0"/>
                <a:cs typeface="Times New Roman" panose="02020603050405020304" pitchFamily="18" charset="0"/>
              </a:rPr>
              <a:t>TestOuter</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static int data=30; static class Inner</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void msg()</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("data is "+data);</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public static void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err="1">
                <a:latin typeface="Times New Roman" panose="02020603050405020304" pitchFamily="18" charset="0"/>
                <a:cs typeface="Times New Roman" panose="02020603050405020304" pitchFamily="18" charset="0"/>
              </a:rPr>
              <a:t>TestOuter.Inner</a:t>
            </a:r>
            <a:r>
              <a:rPr lang="en-US" sz="2000" dirty="0">
                <a:latin typeface="Times New Roman" panose="02020603050405020304" pitchFamily="18" charset="0"/>
                <a:cs typeface="Times New Roman" panose="02020603050405020304" pitchFamily="18" charset="0"/>
              </a:rPr>
              <a:t> obj=new </a:t>
            </a:r>
            <a:r>
              <a:rPr lang="en-US" sz="2000" dirty="0" err="1">
                <a:latin typeface="Times New Roman" panose="02020603050405020304" pitchFamily="18" charset="0"/>
                <a:cs typeface="Times New Roman" panose="02020603050405020304" pitchFamily="18" charset="0"/>
              </a:rPr>
              <a:t>TestOuter.Inner</a:t>
            </a:r>
            <a:r>
              <a:rPr lang="en-US" sz="2000" dirty="0">
                <a:latin typeface="Times New Roman" panose="02020603050405020304" pitchFamily="18" charset="0"/>
                <a:cs typeface="Times New Roman" panose="02020603050405020304" pitchFamily="18" charset="0"/>
              </a:rPr>
              <a:t>(); obj.msg();</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762564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14112</TotalTime>
  <Words>14879</Words>
  <Application>Microsoft Office PowerPoint</Application>
  <PresentationFormat>On-screen Show (4:3)</PresentationFormat>
  <Paragraphs>2250</Paragraphs>
  <Slides>202</Slides>
  <Notes>24</Notes>
  <HiddenSlides>6</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202</vt:i4>
      </vt:variant>
    </vt:vector>
  </HeadingPairs>
  <TitlesOfParts>
    <vt:vector size="214" baseType="lpstr">
      <vt:lpstr>Arial</vt:lpstr>
      <vt:lpstr>Arial MT</vt:lpstr>
      <vt:lpstr>Calibri</vt:lpstr>
      <vt:lpstr>Cambria</vt:lpstr>
      <vt:lpstr>Courier New</vt:lpstr>
      <vt:lpstr>Lucida Bright</vt:lpstr>
      <vt:lpstr>Lucida Sans Unicode</vt:lpstr>
      <vt:lpstr>Segoe UI Symbol</vt:lpstr>
      <vt:lpstr>Times New Roman</vt:lpstr>
      <vt:lpstr>Verdana</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Java History </vt:lpstr>
      <vt:lpstr>PowerPoint Presentation</vt:lpstr>
      <vt:lpstr>Java</vt:lpstr>
      <vt:lpstr> The Java Buzzwords </vt:lpstr>
      <vt:lpstr> The Java Buzzwords </vt:lpstr>
      <vt:lpstr> The Java Buzzwords </vt:lpstr>
      <vt:lpstr> The Java Buzzwords </vt:lpstr>
      <vt:lpstr> The Java Buzzwords </vt:lpstr>
      <vt:lpstr> The Java Buzzwords </vt:lpstr>
      <vt:lpstr> The Java Buzzwords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DATA TYPES IN JAVA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Main.java</vt:lpstr>
      <vt:lpstr>PowerPoint Presentation</vt:lpstr>
      <vt:lpstr>The main Method</vt:lpstr>
      <vt:lpstr>built-in command System.out.println(...)</vt:lpstr>
      <vt:lpstr>Scanner class</vt:lpstr>
      <vt:lpstr>PowerPoint Presentation</vt:lpstr>
      <vt:lpstr>PowerPoint Presentation</vt:lpstr>
      <vt:lpstr>PowerPoint Presentation</vt:lpstr>
      <vt:lpstr>Scanner sc = new Scanner(System.in);</vt:lpstr>
      <vt:lpstr>Scanner sc = new Scanner(System.in);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ARRAYS</vt:lpstr>
      <vt:lpstr>PowerPoint Presentation</vt:lpstr>
      <vt:lpstr>PowerPoint Presentation</vt:lpstr>
      <vt:lpstr>PowerPoint Presentation</vt:lpstr>
      <vt:lpstr>Multidimensional Array </vt:lpstr>
      <vt:lpstr>PowerPoint Presentation</vt:lpstr>
      <vt:lpstr>OPERATORS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Control Statements – if statement</vt:lpstr>
      <vt:lpstr>Control Statements – if statement -</vt:lpstr>
      <vt:lpstr>Control Statements – if-else</vt:lpstr>
      <vt:lpstr>Control Statements – if-else -</vt:lpstr>
      <vt:lpstr>Control Statements – if-else-if </vt:lpstr>
      <vt:lpstr>Control Statements – if-else-if</vt:lpstr>
      <vt:lpstr>Control Statements – if-else-if</vt:lpstr>
      <vt:lpstr>Control Statements – if-else-if</vt:lpstr>
      <vt:lpstr>Control Statements – switch</vt:lpstr>
      <vt:lpstr>PowerPoint Presentation</vt:lpstr>
      <vt:lpstr>Iterative/Looping Statements – for loop</vt:lpstr>
      <vt:lpstr>Looping Statements – for loop -</vt:lpstr>
      <vt:lpstr>Looping Statements – for each</vt:lpstr>
      <vt:lpstr>Looping Statements – for each</vt:lpstr>
      <vt:lpstr>PowerPoint Presentation</vt:lpstr>
      <vt:lpstr>Looping Statements – While loop–Entry controlled </vt:lpstr>
      <vt:lpstr>Example</vt:lpstr>
      <vt:lpstr>Looping Statements–do-while loop–Exit controlled </vt:lpstr>
      <vt:lpstr>PowerPoint Presentation</vt:lpstr>
      <vt:lpstr>PowerPoint Presentation</vt:lpstr>
      <vt:lpstr>Jumping Statements – break statement</vt:lpstr>
      <vt:lpstr>Jumping Statements – break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Constructors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1. MEMBER INNER CLASS A non-static class that is created inside a class but outside a method is called member inner class. </vt:lpstr>
      <vt:lpstr>2. ANONYMOUS INNER CLASS In Java, a class can contain another class known as nested class. It's possible to create a nested class without giving any name. </vt:lpstr>
      <vt:lpstr>3. LOCAL INNER CLASS A class i.e. created inside a method is called local inner class in java. If you want to invoke the methods of local inner class, you must instantiate this class inside the method. </vt:lpstr>
      <vt:lpstr>4. STATIC NESTED CLASS A static class i.e. created inside a class is called static nested class in java. It cannot access non-static data members and methods. It can be accessed by outer class name.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mlrit</dc:creator>
  <cp:lastModifiedBy>anveshkumaraavula@outlook.com</cp:lastModifiedBy>
  <cp:revision>166</cp:revision>
  <dcterms:created xsi:type="dcterms:W3CDTF">2017-12-19T08:18:51Z</dcterms:created>
  <dcterms:modified xsi:type="dcterms:W3CDTF">2026-08-04T05:17:45Z</dcterms:modified>
</cp:coreProperties>
</file>